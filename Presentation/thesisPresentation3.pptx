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77" r:id="rId4"/>
    <p:sldMasterId id="2147483767" r:id="rId5"/>
  </p:sldMasterIdLst>
  <p:notesMasterIdLst>
    <p:notesMasterId r:id="rId85"/>
  </p:notesMasterIdLst>
  <p:handoutMasterIdLst>
    <p:handoutMasterId r:id="rId86"/>
  </p:handoutMasterIdLst>
  <p:sldIdLst>
    <p:sldId id="256" r:id="rId6"/>
    <p:sldId id="353" r:id="rId7"/>
    <p:sldId id="369" r:id="rId8"/>
    <p:sldId id="354" r:id="rId9"/>
    <p:sldId id="370" r:id="rId10"/>
    <p:sldId id="356" r:id="rId11"/>
    <p:sldId id="357" r:id="rId12"/>
    <p:sldId id="359" r:id="rId13"/>
    <p:sldId id="360" r:id="rId14"/>
    <p:sldId id="361" r:id="rId15"/>
    <p:sldId id="363" r:id="rId16"/>
    <p:sldId id="364" r:id="rId17"/>
    <p:sldId id="365" r:id="rId18"/>
    <p:sldId id="404" r:id="rId19"/>
    <p:sldId id="402" r:id="rId20"/>
    <p:sldId id="403" r:id="rId21"/>
    <p:sldId id="366" r:id="rId22"/>
    <p:sldId id="367" r:id="rId23"/>
    <p:sldId id="368" r:id="rId24"/>
    <p:sldId id="371" r:id="rId25"/>
    <p:sldId id="372" r:id="rId26"/>
    <p:sldId id="301" r:id="rId27"/>
    <p:sldId id="332" r:id="rId28"/>
    <p:sldId id="303" r:id="rId29"/>
    <p:sldId id="304" r:id="rId30"/>
    <p:sldId id="333" r:id="rId31"/>
    <p:sldId id="313" r:id="rId32"/>
    <p:sldId id="314" r:id="rId33"/>
    <p:sldId id="420" r:id="rId34"/>
    <p:sldId id="373" r:id="rId35"/>
    <p:sldId id="374" r:id="rId36"/>
    <p:sldId id="375" r:id="rId37"/>
    <p:sldId id="376" r:id="rId38"/>
    <p:sldId id="377" r:id="rId39"/>
    <p:sldId id="378" r:id="rId40"/>
    <p:sldId id="379" r:id="rId41"/>
    <p:sldId id="380" r:id="rId42"/>
    <p:sldId id="381" r:id="rId43"/>
    <p:sldId id="405" r:id="rId44"/>
    <p:sldId id="382" r:id="rId45"/>
    <p:sldId id="384" r:id="rId46"/>
    <p:sldId id="383" r:id="rId47"/>
    <p:sldId id="385" r:id="rId48"/>
    <p:sldId id="386" r:id="rId49"/>
    <p:sldId id="406" r:id="rId50"/>
    <p:sldId id="387" r:id="rId51"/>
    <p:sldId id="388" r:id="rId52"/>
    <p:sldId id="389" r:id="rId53"/>
    <p:sldId id="407" r:id="rId54"/>
    <p:sldId id="390" r:id="rId55"/>
    <p:sldId id="392" r:id="rId56"/>
    <p:sldId id="393" r:id="rId57"/>
    <p:sldId id="408" r:id="rId58"/>
    <p:sldId id="394" r:id="rId59"/>
    <p:sldId id="409" r:id="rId60"/>
    <p:sldId id="396" r:id="rId61"/>
    <p:sldId id="397" r:id="rId62"/>
    <p:sldId id="398" r:id="rId63"/>
    <p:sldId id="399" r:id="rId64"/>
    <p:sldId id="400" r:id="rId65"/>
    <p:sldId id="395" r:id="rId66"/>
    <p:sldId id="411" r:id="rId67"/>
    <p:sldId id="412" r:id="rId68"/>
    <p:sldId id="413" r:id="rId69"/>
    <p:sldId id="414" r:id="rId70"/>
    <p:sldId id="415" r:id="rId71"/>
    <p:sldId id="416" r:id="rId72"/>
    <p:sldId id="417" r:id="rId73"/>
    <p:sldId id="418" r:id="rId74"/>
    <p:sldId id="419" r:id="rId75"/>
    <p:sldId id="422" r:id="rId76"/>
    <p:sldId id="306" r:id="rId77"/>
    <p:sldId id="343" r:id="rId78"/>
    <p:sldId id="344" r:id="rId79"/>
    <p:sldId id="315" r:id="rId80"/>
    <p:sldId id="401" r:id="rId81"/>
    <p:sldId id="296" r:id="rId82"/>
    <p:sldId id="320" r:id="rId83"/>
    <p:sldId id="421" r:id="rId84"/>
  </p:sldIdLst>
  <p:sldSz cx="12192000" cy="6858000"/>
  <p:notesSz cx="6858000" cy="9144000"/>
  <p:embeddedFontLst>
    <p:embeddedFont>
      <p:font typeface="Cambria Math" panose="02040503050406030204" pitchFamily="18" charset="0"/>
      <p:regular r:id="rId87"/>
    </p:embeddedFont>
    <p:embeddedFont>
      <p:font typeface="Poppins" pitchFamily="2" charset="77"/>
      <p:regular r:id="rId88"/>
      <p:bold r:id="rId89"/>
      <p:italic r:id="rId90"/>
      <p:boldItalic r:id="rId91"/>
    </p:embeddedFont>
    <p:embeddedFont>
      <p:font typeface="Poppins Medium" panose="00000600000000000000" pitchFamily="2" charset="77"/>
      <p:regular r:id="rId92"/>
      <p:italic r:id="rId93"/>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A49"/>
    <a:srgbClr val="F2F2F2"/>
    <a:srgbClr val="016BB6"/>
    <a:srgbClr val="002B49"/>
    <a:srgbClr val="80AF98"/>
    <a:srgbClr val="AF7550"/>
    <a:srgbClr val="B2BD29"/>
    <a:srgbClr val="E9E7E7"/>
    <a:srgbClr val="006BB7"/>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39" autoAdjust="0"/>
    <p:restoredTop sz="96122" autoAdjust="0"/>
  </p:normalViewPr>
  <p:slideViewPr>
    <p:cSldViewPr snapToGrid="0" showGuides="1">
      <p:cViewPr>
        <p:scale>
          <a:sx n="116" d="100"/>
          <a:sy n="116" d="100"/>
        </p:scale>
        <p:origin x="296" y="192"/>
      </p:cViewPr>
      <p:guideLst>
        <p:guide orient="horz" pos="2160"/>
        <p:guide pos="3840"/>
      </p:guideLst>
    </p:cSldViewPr>
  </p:slideViewPr>
  <p:outlineViewPr>
    <p:cViewPr>
      <p:scale>
        <a:sx n="33" d="100"/>
        <a:sy n="33" d="100"/>
      </p:scale>
      <p:origin x="0" y="-6904"/>
    </p:cViewPr>
  </p:outlineViewPr>
  <p:notesTextViewPr>
    <p:cViewPr>
      <p:scale>
        <a:sx n="20" d="100"/>
        <a:sy n="20" d="100"/>
      </p:scale>
      <p:origin x="0" y="0"/>
    </p:cViewPr>
  </p:notesTextViewPr>
  <p:sorterViewPr>
    <p:cViewPr>
      <p:scale>
        <a:sx n="80" d="100"/>
        <a:sy n="80" d="100"/>
      </p:scale>
      <p:origin x="0" y="0"/>
    </p:cViewPr>
  </p:sorterViewPr>
  <p:notesViewPr>
    <p:cSldViewPr snapToGrid="0">
      <p:cViewPr varScale="1">
        <p:scale>
          <a:sx n="95" d="100"/>
          <a:sy n="95" d="100"/>
        </p:scale>
        <p:origin x="3720" y="184"/>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font" Target="fonts/font3.fntdata"/><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font" Target="fonts/font4.fntdata"/><Relationship Id="rId95" Type="http://schemas.openxmlformats.org/officeDocument/2006/relationships/viewProps" Target="viewProp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font" Target="fonts/font2.fntdata"/><Relationship Id="rId91" Type="http://schemas.openxmlformats.org/officeDocument/2006/relationships/font" Target="fonts/font5.fntdata"/><Relationship Id="rId9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handoutMaster" Target="handoutMasters/handoutMaster1.xml"/><Relationship Id="rId9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tableStyles" Target="tableStyle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font" Target="fonts/font6.fntdata"/><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font" Target="fonts/font1.fntdata"/><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font" Target="fonts/font7.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D6D0A9E-DD06-C7B0-946D-31F9B20149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7087193-AB98-65AF-F701-EBFEDD042C9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0833D1A-776C-2B44-AB57-E14B633AE185}" type="datetimeFigureOut">
              <a:rPr lang="en-US" smtClean="0"/>
              <a:t>1/1/26</a:t>
            </a:fld>
            <a:endParaRPr lang="en-US"/>
          </a:p>
        </p:txBody>
      </p:sp>
      <p:sp>
        <p:nvSpPr>
          <p:cNvPr id="4" name="Footer Placeholder 3">
            <a:extLst>
              <a:ext uri="{FF2B5EF4-FFF2-40B4-BE49-F238E27FC236}">
                <a16:creationId xmlns:a16="http://schemas.microsoft.com/office/drawing/2014/main" id="{3EC31572-0E60-DFDC-759E-36E167E25E0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270B3F7-BC69-9660-AD95-517F1347298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B1FF382-66A3-E447-A138-6DDB2D92ECB1}" type="slidenum">
              <a:rPr lang="en-US" smtClean="0"/>
              <a:t>‹#›</a:t>
            </a:fld>
            <a:endParaRPr lang="en-US"/>
          </a:p>
        </p:txBody>
      </p:sp>
    </p:spTree>
    <p:extLst>
      <p:ext uri="{BB962C8B-B14F-4D97-AF65-F5344CB8AC3E}">
        <p14:creationId xmlns:p14="http://schemas.microsoft.com/office/powerpoint/2010/main" val="15229183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AFB3AD-FAF9-A04B-9767-E49F4F24F3E6}" type="datetimeFigureOut">
              <a:rPr lang="it-IT" smtClean="0"/>
              <a:t>01/01/26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B8FE5C-85ED-194D-A826-552950995C66}" type="slidenum">
              <a:rPr lang="it-IT" smtClean="0"/>
              <a:t>‹#›</a:t>
            </a:fld>
            <a:endParaRPr lang="it-IT"/>
          </a:p>
        </p:txBody>
      </p:sp>
    </p:spTree>
    <p:extLst>
      <p:ext uri="{BB962C8B-B14F-4D97-AF65-F5344CB8AC3E}">
        <p14:creationId xmlns:p14="http://schemas.microsoft.com/office/powerpoint/2010/main" val="31316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1</a:t>
            </a:fld>
            <a:endParaRPr lang="it-IT"/>
          </a:p>
        </p:txBody>
      </p:sp>
    </p:spTree>
    <p:extLst>
      <p:ext uri="{BB962C8B-B14F-4D97-AF65-F5344CB8AC3E}">
        <p14:creationId xmlns:p14="http://schemas.microsoft.com/office/powerpoint/2010/main" val="1551442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2D847-AF6B-CA80-9E40-1A7C6B8E0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CD7AB-CF56-AAE3-801B-9AFCFE3CC4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591CBF-DD73-0594-5E51-0B06E12C4E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7F7349-08C9-E07E-D038-3BDA6D6221B9}"/>
              </a:ext>
            </a:extLst>
          </p:cNvPr>
          <p:cNvSpPr>
            <a:spLocks noGrp="1"/>
          </p:cNvSpPr>
          <p:nvPr>
            <p:ph type="sldNum" sz="quarter" idx="5"/>
          </p:nvPr>
        </p:nvSpPr>
        <p:spPr/>
        <p:txBody>
          <a:bodyPr/>
          <a:lstStyle/>
          <a:p>
            <a:fld id="{35B8FE5C-85ED-194D-A826-552950995C66}" type="slidenum">
              <a:rPr lang="it-IT" smtClean="0"/>
              <a:t>17</a:t>
            </a:fld>
            <a:endParaRPr lang="it-IT"/>
          </a:p>
        </p:txBody>
      </p:sp>
    </p:spTree>
    <p:extLst>
      <p:ext uri="{BB962C8B-B14F-4D97-AF65-F5344CB8AC3E}">
        <p14:creationId xmlns:p14="http://schemas.microsoft.com/office/powerpoint/2010/main" val="16859679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CE088-572D-B56A-C6CA-BA9DBE18D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381F6-7AE1-F9F4-C190-7EAF88F14D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934C1-F9DA-ABF8-A098-8E8E2F24F949}"/>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F8E5F734-5955-DA3D-FC9C-5AA806E5854D}"/>
              </a:ext>
            </a:extLst>
          </p:cNvPr>
          <p:cNvSpPr>
            <a:spLocks noGrp="1"/>
          </p:cNvSpPr>
          <p:nvPr>
            <p:ph type="sldNum" sz="quarter" idx="5"/>
          </p:nvPr>
        </p:nvSpPr>
        <p:spPr/>
        <p:txBody>
          <a:bodyPr/>
          <a:lstStyle/>
          <a:p>
            <a:fld id="{09B770B2-34DD-8442-AC65-87A3EFFB3F5B}" type="slidenum">
              <a:rPr lang="en-US" smtClean="0"/>
              <a:t>26</a:t>
            </a:fld>
            <a:endParaRPr lang="en-US"/>
          </a:p>
        </p:txBody>
      </p:sp>
    </p:spTree>
    <p:extLst>
      <p:ext uri="{BB962C8B-B14F-4D97-AF65-F5344CB8AC3E}">
        <p14:creationId xmlns:p14="http://schemas.microsoft.com/office/powerpoint/2010/main" val="1048565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AA66-82FB-B08B-46B2-512956ABC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86805-2BF1-47DE-3B7A-76E3E6A1F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8E7D78-1D59-8457-06DB-EAEB5BEE85E5}"/>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71283DD8-4C41-080A-1F40-CBBD83F38D12}"/>
              </a:ext>
            </a:extLst>
          </p:cNvPr>
          <p:cNvSpPr>
            <a:spLocks noGrp="1"/>
          </p:cNvSpPr>
          <p:nvPr>
            <p:ph type="sldNum" sz="quarter" idx="5"/>
          </p:nvPr>
        </p:nvSpPr>
        <p:spPr/>
        <p:txBody>
          <a:bodyPr/>
          <a:lstStyle/>
          <a:p>
            <a:fld id="{09B770B2-34DD-8442-AC65-87A3EFFB3F5B}" type="slidenum">
              <a:rPr lang="en-US" smtClean="0"/>
              <a:t>27</a:t>
            </a:fld>
            <a:endParaRPr lang="en-US"/>
          </a:p>
        </p:txBody>
      </p:sp>
    </p:spTree>
    <p:extLst>
      <p:ext uri="{BB962C8B-B14F-4D97-AF65-F5344CB8AC3E}">
        <p14:creationId xmlns:p14="http://schemas.microsoft.com/office/powerpoint/2010/main" val="19523041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8A8D0-E8A2-839D-8BC9-93002255C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F8837C-94BA-BA4F-146E-CB6EDFE30F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EF0076-94F1-2897-E402-A0269A12283E}"/>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60FDB19E-64DD-B619-142D-AA488B6541D7}"/>
              </a:ext>
            </a:extLst>
          </p:cNvPr>
          <p:cNvSpPr>
            <a:spLocks noGrp="1"/>
          </p:cNvSpPr>
          <p:nvPr>
            <p:ph type="sldNum" sz="quarter" idx="5"/>
          </p:nvPr>
        </p:nvSpPr>
        <p:spPr/>
        <p:txBody>
          <a:bodyPr/>
          <a:lstStyle/>
          <a:p>
            <a:fld id="{09B770B2-34DD-8442-AC65-87A3EFFB3F5B}" type="slidenum">
              <a:rPr lang="en-US" smtClean="0"/>
              <a:t>28</a:t>
            </a:fld>
            <a:endParaRPr lang="en-US"/>
          </a:p>
        </p:txBody>
      </p:sp>
    </p:spTree>
    <p:extLst>
      <p:ext uri="{BB962C8B-B14F-4D97-AF65-F5344CB8AC3E}">
        <p14:creationId xmlns:p14="http://schemas.microsoft.com/office/powerpoint/2010/main" val="24346247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99684-22E6-3505-7001-26A063343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20A10-C66A-8DF7-CEE6-822FAEA17D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CF77B-13A8-FC73-0053-AC17C184E6EC}"/>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0830CAF3-9CFC-57BA-16B4-7C97D147A154}"/>
              </a:ext>
            </a:extLst>
          </p:cNvPr>
          <p:cNvSpPr>
            <a:spLocks noGrp="1"/>
          </p:cNvSpPr>
          <p:nvPr>
            <p:ph type="sldNum" sz="quarter" idx="5"/>
          </p:nvPr>
        </p:nvSpPr>
        <p:spPr/>
        <p:txBody>
          <a:bodyPr/>
          <a:lstStyle/>
          <a:p>
            <a:fld id="{09B770B2-34DD-8442-AC65-87A3EFFB3F5B}" type="slidenum">
              <a:rPr lang="en-US" smtClean="0"/>
              <a:t>29</a:t>
            </a:fld>
            <a:endParaRPr lang="en-US"/>
          </a:p>
        </p:txBody>
      </p:sp>
    </p:spTree>
    <p:extLst>
      <p:ext uri="{BB962C8B-B14F-4D97-AF65-F5344CB8AC3E}">
        <p14:creationId xmlns:p14="http://schemas.microsoft.com/office/powerpoint/2010/main" val="38740464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74279-B1DF-E66A-02C2-48E6E2B7C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F8110F-4525-7C69-012F-C8C22A35B7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2A141-9CE5-94DA-F339-9540741779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FE7653-DDF7-FA9C-92F9-9AF90B8BA3B7}"/>
              </a:ext>
            </a:extLst>
          </p:cNvPr>
          <p:cNvSpPr>
            <a:spLocks noGrp="1"/>
          </p:cNvSpPr>
          <p:nvPr>
            <p:ph type="sldNum" sz="quarter" idx="5"/>
          </p:nvPr>
        </p:nvSpPr>
        <p:spPr/>
        <p:txBody>
          <a:bodyPr/>
          <a:lstStyle/>
          <a:p>
            <a:fld id="{35B8FE5C-85ED-194D-A826-552950995C66}" type="slidenum">
              <a:rPr lang="it-IT" smtClean="0"/>
              <a:t>30</a:t>
            </a:fld>
            <a:endParaRPr lang="it-IT"/>
          </a:p>
        </p:txBody>
      </p:sp>
    </p:spTree>
    <p:extLst>
      <p:ext uri="{BB962C8B-B14F-4D97-AF65-F5344CB8AC3E}">
        <p14:creationId xmlns:p14="http://schemas.microsoft.com/office/powerpoint/2010/main" val="24941460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38</a:t>
            </a:fld>
            <a:endParaRPr lang="it-IT"/>
          </a:p>
        </p:txBody>
      </p:sp>
    </p:spTree>
    <p:extLst>
      <p:ext uri="{BB962C8B-B14F-4D97-AF65-F5344CB8AC3E}">
        <p14:creationId xmlns:p14="http://schemas.microsoft.com/office/powerpoint/2010/main" val="471622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1975A-D813-AF40-AC7E-B64641A838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CFFA6-B7F0-179E-3722-F9A54DD96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40A6C-389D-6AC0-9A53-9D15B689DD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636088-EE35-AC36-36D1-98B0DD63296F}"/>
              </a:ext>
            </a:extLst>
          </p:cNvPr>
          <p:cNvSpPr>
            <a:spLocks noGrp="1"/>
          </p:cNvSpPr>
          <p:nvPr>
            <p:ph type="sldNum" sz="quarter" idx="5"/>
          </p:nvPr>
        </p:nvSpPr>
        <p:spPr/>
        <p:txBody>
          <a:bodyPr/>
          <a:lstStyle/>
          <a:p>
            <a:fld id="{35B8FE5C-85ED-194D-A826-552950995C66}" type="slidenum">
              <a:rPr lang="it-IT" smtClean="0"/>
              <a:t>39</a:t>
            </a:fld>
            <a:endParaRPr lang="it-IT"/>
          </a:p>
        </p:txBody>
      </p:sp>
    </p:spTree>
    <p:extLst>
      <p:ext uri="{BB962C8B-B14F-4D97-AF65-F5344CB8AC3E}">
        <p14:creationId xmlns:p14="http://schemas.microsoft.com/office/powerpoint/2010/main" val="31851609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1AA99-E237-8A22-9C37-4B6FC71CE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593675-21DD-669F-A2FA-1609371AE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3A0E32-1B8F-7C16-971D-C04CFE47E4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FA49A5-8881-6CF4-A68E-D0F13DCDA7E3}"/>
              </a:ext>
            </a:extLst>
          </p:cNvPr>
          <p:cNvSpPr>
            <a:spLocks noGrp="1"/>
          </p:cNvSpPr>
          <p:nvPr>
            <p:ph type="sldNum" sz="quarter" idx="5"/>
          </p:nvPr>
        </p:nvSpPr>
        <p:spPr/>
        <p:txBody>
          <a:bodyPr/>
          <a:lstStyle/>
          <a:p>
            <a:fld id="{35B8FE5C-85ED-194D-A826-552950995C66}" type="slidenum">
              <a:rPr lang="it-IT" smtClean="0"/>
              <a:t>54</a:t>
            </a:fld>
            <a:endParaRPr lang="it-IT"/>
          </a:p>
        </p:txBody>
      </p:sp>
    </p:spTree>
    <p:extLst>
      <p:ext uri="{BB962C8B-B14F-4D97-AF65-F5344CB8AC3E}">
        <p14:creationId xmlns:p14="http://schemas.microsoft.com/office/powerpoint/2010/main" val="15509665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777B7-98AC-2C3A-846F-1657B4DFE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7DA5B-5375-029B-0D80-74FAA9A90A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3AD049-E593-49A8-8BBA-B60B6A5AEDB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3A6CF56-22E0-E340-29D0-82D8A3654CFD}"/>
              </a:ext>
            </a:extLst>
          </p:cNvPr>
          <p:cNvSpPr>
            <a:spLocks noGrp="1"/>
          </p:cNvSpPr>
          <p:nvPr>
            <p:ph type="sldNum" sz="quarter" idx="5"/>
          </p:nvPr>
        </p:nvSpPr>
        <p:spPr/>
        <p:txBody>
          <a:bodyPr/>
          <a:lstStyle/>
          <a:p>
            <a:fld id="{09B770B2-34DD-8442-AC65-87A3EFFB3F5B}" type="slidenum">
              <a:rPr lang="en-US" smtClean="0"/>
              <a:t>55</a:t>
            </a:fld>
            <a:endParaRPr lang="en-US"/>
          </a:p>
        </p:txBody>
      </p:sp>
    </p:spTree>
    <p:extLst>
      <p:ext uri="{BB962C8B-B14F-4D97-AF65-F5344CB8AC3E}">
        <p14:creationId xmlns:p14="http://schemas.microsoft.com/office/powerpoint/2010/main" val="19444799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AEA64-DD69-6192-029E-F9ACA73FE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ABE27-CA93-AEE2-8566-589FC42541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1A538-3088-FE78-B36F-3B94F46DA14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915F3410-EB90-C431-AC48-63B7257D42A4}"/>
              </a:ext>
            </a:extLst>
          </p:cNvPr>
          <p:cNvSpPr>
            <a:spLocks noGrp="1"/>
          </p:cNvSpPr>
          <p:nvPr>
            <p:ph type="sldNum" sz="quarter" idx="5"/>
          </p:nvPr>
        </p:nvSpPr>
        <p:spPr/>
        <p:txBody>
          <a:bodyPr/>
          <a:lstStyle/>
          <a:p>
            <a:fld id="{09B770B2-34DD-8442-AC65-87A3EFFB3F5B}" type="slidenum">
              <a:rPr lang="en-US" smtClean="0"/>
              <a:t>56</a:t>
            </a:fld>
            <a:endParaRPr lang="en-US"/>
          </a:p>
        </p:txBody>
      </p:sp>
    </p:spTree>
    <p:extLst>
      <p:ext uri="{BB962C8B-B14F-4D97-AF65-F5344CB8AC3E}">
        <p14:creationId xmlns:p14="http://schemas.microsoft.com/office/powerpoint/2010/main" val="8443511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5EFC2-E88B-CF66-8961-036A843A93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32F0-FF26-FD34-6935-99A499A0D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F919C-207D-BE82-50E9-559313202F8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1F155849-57AD-F15E-88BB-3A5B7952A101}"/>
              </a:ext>
            </a:extLst>
          </p:cNvPr>
          <p:cNvSpPr>
            <a:spLocks noGrp="1"/>
          </p:cNvSpPr>
          <p:nvPr>
            <p:ph type="sldNum" sz="quarter" idx="5"/>
          </p:nvPr>
        </p:nvSpPr>
        <p:spPr/>
        <p:txBody>
          <a:bodyPr/>
          <a:lstStyle/>
          <a:p>
            <a:fld id="{09B770B2-34DD-8442-AC65-87A3EFFB3F5B}" type="slidenum">
              <a:rPr lang="en-US" smtClean="0"/>
              <a:t>57</a:t>
            </a:fld>
            <a:endParaRPr lang="en-US"/>
          </a:p>
        </p:txBody>
      </p:sp>
    </p:spTree>
    <p:extLst>
      <p:ext uri="{BB962C8B-B14F-4D97-AF65-F5344CB8AC3E}">
        <p14:creationId xmlns:p14="http://schemas.microsoft.com/office/powerpoint/2010/main" val="911874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BDF7-BD26-82E2-0088-85A2CD070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D1056D-4E5E-A041-E96C-595DD992A8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EB08A2-B189-2DD7-F359-47997EB2359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9260B3AF-DAD0-52C1-A527-F0C88D2B8F96}"/>
              </a:ext>
            </a:extLst>
          </p:cNvPr>
          <p:cNvSpPr>
            <a:spLocks noGrp="1"/>
          </p:cNvSpPr>
          <p:nvPr>
            <p:ph type="sldNum" sz="quarter" idx="5"/>
          </p:nvPr>
        </p:nvSpPr>
        <p:spPr/>
        <p:txBody>
          <a:bodyPr/>
          <a:lstStyle/>
          <a:p>
            <a:fld id="{09B770B2-34DD-8442-AC65-87A3EFFB3F5B}" type="slidenum">
              <a:rPr lang="en-US" smtClean="0"/>
              <a:t>58</a:t>
            </a:fld>
            <a:endParaRPr lang="en-US"/>
          </a:p>
        </p:txBody>
      </p:sp>
    </p:spTree>
    <p:extLst>
      <p:ext uri="{BB962C8B-B14F-4D97-AF65-F5344CB8AC3E}">
        <p14:creationId xmlns:p14="http://schemas.microsoft.com/office/powerpoint/2010/main" val="33329996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1424D-5571-8962-9316-FB934FDF1B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6F073-26C6-BC0C-81F3-AD1E09134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83139-3161-7FB7-CFFD-C28DB48A19C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442AEE0F-6E7C-5B62-EA86-8AA4CC40AEDA}"/>
              </a:ext>
            </a:extLst>
          </p:cNvPr>
          <p:cNvSpPr>
            <a:spLocks noGrp="1"/>
          </p:cNvSpPr>
          <p:nvPr>
            <p:ph type="sldNum" sz="quarter" idx="5"/>
          </p:nvPr>
        </p:nvSpPr>
        <p:spPr/>
        <p:txBody>
          <a:bodyPr/>
          <a:lstStyle/>
          <a:p>
            <a:fld id="{09B770B2-34DD-8442-AC65-87A3EFFB3F5B}" type="slidenum">
              <a:rPr lang="en-US" smtClean="0"/>
              <a:t>59</a:t>
            </a:fld>
            <a:endParaRPr lang="en-US"/>
          </a:p>
        </p:txBody>
      </p:sp>
    </p:spTree>
    <p:extLst>
      <p:ext uri="{BB962C8B-B14F-4D97-AF65-F5344CB8AC3E}">
        <p14:creationId xmlns:p14="http://schemas.microsoft.com/office/powerpoint/2010/main" val="5293422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AC501-6BE6-F369-81BD-281D66D0C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5F778-1931-9F10-17C1-67F1541F1A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D29762-E51B-709F-36EC-C4775CA05F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99B31846-FB9F-226B-5CE2-763A0915AAE0}"/>
              </a:ext>
            </a:extLst>
          </p:cNvPr>
          <p:cNvSpPr>
            <a:spLocks noGrp="1"/>
          </p:cNvSpPr>
          <p:nvPr>
            <p:ph type="sldNum" sz="quarter" idx="5"/>
          </p:nvPr>
        </p:nvSpPr>
        <p:spPr/>
        <p:txBody>
          <a:bodyPr/>
          <a:lstStyle/>
          <a:p>
            <a:fld id="{09B770B2-34DD-8442-AC65-87A3EFFB3F5B}" type="slidenum">
              <a:rPr lang="en-US" smtClean="0"/>
              <a:t>60</a:t>
            </a:fld>
            <a:endParaRPr lang="en-US"/>
          </a:p>
        </p:txBody>
      </p:sp>
    </p:spTree>
    <p:extLst>
      <p:ext uri="{BB962C8B-B14F-4D97-AF65-F5344CB8AC3E}">
        <p14:creationId xmlns:p14="http://schemas.microsoft.com/office/powerpoint/2010/main" val="19204955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11EED-CEBF-09E3-6DE6-C2D3E78B2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E82760-6324-4EB9-5FFA-4144B8655F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E5DC28-8CD6-FC21-B1A7-FFD27958FF0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E3B7912E-B234-82D7-4A64-5AB05094F816}"/>
              </a:ext>
            </a:extLst>
          </p:cNvPr>
          <p:cNvSpPr>
            <a:spLocks noGrp="1"/>
          </p:cNvSpPr>
          <p:nvPr>
            <p:ph type="sldNum" sz="quarter" idx="5"/>
          </p:nvPr>
        </p:nvSpPr>
        <p:spPr/>
        <p:txBody>
          <a:bodyPr/>
          <a:lstStyle/>
          <a:p>
            <a:fld id="{09B770B2-34DD-8442-AC65-87A3EFFB3F5B}" type="slidenum">
              <a:rPr lang="en-US" smtClean="0"/>
              <a:t>61</a:t>
            </a:fld>
            <a:endParaRPr lang="en-US"/>
          </a:p>
        </p:txBody>
      </p:sp>
    </p:spTree>
    <p:extLst>
      <p:ext uri="{BB962C8B-B14F-4D97-AF65-F5344CB8AC3E}">
        <p14:creationId xmlns:p14="http://schemas.microsoft.com/office/powerpoint/2010/main" val="14113519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8AB34-8D64-3400-88E8-99370E78D8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BDED2-EA80-0842-BCA9-7FD5AA9669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249FCD-DBBE-E0F6-DCB3-871AF0162B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73E02AD1-87BC-C89B-78CC-1F83D807D9A1}"/>
              </a:ext>
            </a:extLst>
          </p:cNvPr>
          <p:cNvSpPr>
            <a:spLocks noGrp="1"/>
          </p:cNvSpPr>
          <p:nvPr>
            <p:ph type="sldNum" sz="quarter" idx="5"/>
          </p:nvPr>
        </p:nvSpPr>
        <p:spPr/>
        <p:txBody>
          <a:bodyPr/>
          <a:lstStyle/>
          <a:p>
            <a:fld id="{09B770B2-34DD-8442-AC65-87A3EFFB3F5B}" type="slidenum">
              <a:rPr lang="en-US" smtClean="0"/>
              <a:t>62</a:t>
            </a:fld>
            <a:endParaRPr lang="en-US"/>
          </a:p>
        </p:txBody>
      </p:sp>
    </p:spTree>
    <p:extLst>
      <p:ext uri="{BB962C8B-B14F-4D97-AF65-F5344CB8AC3E}">
        <p14:creationId xmlns:p14="http://schemas.microsoft.com/office/powerpoint/2010/main" val="2709479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F600E-84C3-9684-7F92-3C26363785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72CF78-7B8F-78A8-0B07-4AE2548F1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15F186-75A1-480D-BA5A-8F7B4E4253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74184AEF-4C8E-C3B7-FF15-22E2B785E599}"/>
              </a:ext>
            </a:extLst>
          </p:cNvPr>
          <p:cNvSpPr>
            <a:spLocks noGrp="1"/>
          </p:cNvSpPr>
          <p:nvPr>
            <p:ph type="sldNum" sz="quarter" idx="5"/>
          </p:nvPr>
        </p:nvSpPr>
        <p:spPr/>
        <p:txBody>
          <a:bodyPr/>
          <a:lstStyle/>
          <a:p>
            <a:fld id="{09B770B2-34DD-8442-AC65-87A3EFFB3F5B}" type="slidenum">
              <a:rPr lang="en-US" smtClean="0"/>
              <a:t>63</a:t>
            </a:fld>
            <a:endParaRPr lang="en-US"/>
          </a:p>
        </p:txBody>
      </p:sp>
    </p:spTree>
    <p:extLst>
      <p:ext uri="{BB962C8B-B14F-4D97-AF65-F5344CB8AC3E}">
        <p14:creationId xmlns:p14="http://schemas.microsoft.com/office/powerpoint/2010/main" val="41884932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675F8-AB79-B94A-0140-54B1979328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EF4DEB-16E1-2091-E220-BD3BB029BE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C83A1-30D1-7B0C-674B-85A37F00774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3D5DA6AC-9BF8-A84C-B4EE-6A317544F3A4}"/>
              </a:ext>
            </a:extLst>
          </p:cNvPr>
          <p:cNvSpPr>
            <a:spLocks noGrp="1"/>
          </p:cNvSpPr>
          <p:nvPr>
            <p:ph type="sldNum" sz="quarter" idx="5"/>
          </p:nvPr>
        </p:nvSpPr>
        <p:spPr/>
        <p:txBody>
          <a:bodyPr/>
          <a:lstStyle/>
          <a:p>
            <a:fld id="{09B770B2-34DD-8442-AC65-87A3EFFB3F5B}" type="slidenum">
              <a:rPr lang="en-US" smtClean="0"/>
              <a:t>64</a:t>
            </a:fld>
            <a:endParaRPr lang="en-US"/>
          </a:p>
        </p:txBody>
      </p:sp>
    </p:spTree>
    <p:extLst>
      <p:ext uri="{BB962C8B-B14F-4D97-AF65-F5344CB8AC3E}">
        <p14:creationId xmlns:p14="http://schemas.microsoft.com/office/powerpoint/2010/main" val="2949968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7AC03-C99D-1AAA-0062-FEE5D50604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3EB2D4-A1C0-ACC3-2F98-D5FEAFF82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8331BF-2444-DC13-4670-920D9BF794F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308CCCA7-3F25-35D3-19A4-16DF26EF5D03}"/>
              </a:ext>
            </a:extLst>
          </p:cNvPr>
          <p:cNvSpPr>
            <a:spLocks noGrp="1"/>
          </p:cNvSpPr>
          <p:nvPr>
            <p:ph type="sldNum" sz="quarter" idx="5"/>
          </p:nvPr>
        </p:nvSpPr>
        <p:spPr/>
        <p:txBody>
          <a:bodyPr/>
          <a:lstStyle/>
          <a:p>
            <a:fld id="{09B770B2-34DD-8442-AC65-87A3EFFB3F5B}" type="slidenum">
              <a:rPr lang="en-US" smtClean="0"/>
              <a:t>65</a:t>
            </a:fld>
            <a:endParaRPr lang="en-US"/>
          </a:p>
        </p:txBody>
      </p:sp>
    </p:spTree>
    <p:extLst>
      <p:ext uri="{BB962C8B-B14F-4D97-AF65-F5344CB8AC3E}">
        <p14:creationId xmlns:p14="http://schemas.microsoft.com/office/powerpoint/2010/main" val="8224476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6597A-FD5C-A8AF-F0BD-5F72CE4633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BC2D7-C080-43CF-DC3B-186FA17C9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BA8A94-2F9D-AC0A-96FC-D9141AFA9D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DEB0A73-31F0-F60A-EE68-733267F1E3C4}"/>
              </a:ext>
            </a:extLst>
          </p:cNvPr>
          <p:cNvSpPr>
            <a:spLocks noGrp="1"/>
          </p:cNvSpPr>
          <p:nvPr>
            <p:ph type="sldNum" sz="quarter" idx="5"/>
          </p:nvPr>
        </p:nvSpPr>
        <p:spPr/>
        <p:txBody>
          <a:bodyPr/>
          <a:lstStyle/>
          <a:p>
            <a:fld id="{09B770B2-34DD-8442-AC65-87A3EFFB3F5B}" type="slidenum">
              <a:rPr lang="en-US" smtClean="0"/>
              <a:t>66</a:t>
            </a:fld>
            <a:endParaRPr lang="en-US"/>
          </a:p>
        </p:txBody>
      </p:sp>
    </p:spTree>
    <p:extLst>
      <p:ext uri="{BB962C8B-B14F-4D97-AF65-F5344CB8AC3E}">
        <p14:creationId xmlns:p14="http://schemas.microsoft.com/office/powerpoint/2010/main" val="24924759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756F3-AE69-A09D-E848-8099C8F058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3D81B5-3A95-3546-260F-EC8373AF16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B12E4-7212-DEFD-5128-C04C040136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0F363285-9C04-5984-25F6-8138BC9B1672}"/>
              </a:ext>
            </a:extLst>
          </p:cNvPr>
          <p:cNvSpPr>
            <a:spLocks noGrp="1"/>
          </p:cNvSpPr>
          <p:nvPr>
            <p:ph type="sldNum" sz="quarter" idx="5"/>
          </p:nvPr>
        </p:nvSpPr>
        <p:spPr/>
        <p:txBody>
          <a:bodyPr/>
          <a:lstStyle/>
          <a:p>
            <a:fld id="{09B770B2-34DD-8442-AC65-87A3EFFB3F5B}" type="slidenum">
              <a:rPr lang="en-US" smtClean="0"/>
              <a:t>67</a:t>
            </a:fld>
            <a:endParaRPr lang="en-US"/>
          </a:p>
        </p:txBody>
      </p:sp>
    </p:spTree>
    <p:extLst>
      <p:ext uri="{BB962C8B-B14F-4D97-AF65-F5344CB8AC3E}">
        <p14:creationId xmlns:p14="http://schemas.microsoft.com/office/powerpoint/2010/main" val="1814970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682F9-706C-77EE-E27B-FC86AE2344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D0F492-78AF-F55B-483E-75405DBB5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688ACA-803E-5A82-5A90-A7B7289759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7F51A5D2-F053-5CA9-7B38-F19522BC63CF}"/>
              </a:ext>
            </a:extLst>
          </p:cNvPr>
          <p:cNvSpPr>
            <a:spLocks noGrp="1"/>
          </p:cNvSpPr>
          <p:nvPr>
            <p:ph type="sldNum" sz="quarter" idx="5"/>
          </p:nvPr>
        </p:nvSpPr>
        <p:spPr/>
        <p:txBody>
          <a:bodyPr/>
          <a:lstStyle/>
          <a:p>
            <a:fld id="{09B770B2-34DD-8442-AC65-87A3EFFB3F5B}" type="slidenum">
              <a:rPr lang="en-US" smtClean="0"/>
              <a:t>68</a:t>
            </a:fld>
            <a:endParaRPr lang="en-US"/>
          </a:p>
        </p:txBody>
      </p:sp>
    </p:spTree>
    <p:extLst>
      <p:ext uri="{BB962C8B-B14F-4D97-AF65-F5344CB8AC3E}">
        <p14:creationId xmlns:p14="http://schemas.microsoft.com/office/powerpoint/2010/main" val="27441243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26568-73A9-408F-D8B5-0CCB801A79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2EBB2C-3F57-5FD9-4540-9B5CDE2ECD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A2312E-5D4E-DAC4-A35E-B48059221B4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8EA07A22-34E9-B532-BDB9-3ECD5D3D9311}"/>
              </a:ext>
            </a:extLst>
          </p:cNvPr>
          <p:cNvSpPr>
            <a:spLocks noGrp="1"/>
          </p:cNvSpPr>
          <p:nvPr>
            <p:ph type="sldNum" sz="quarter" idx="5"/>
          </p:nvPr>
        </p:nvSpPr>
        <p:spPr/>
        <p:txBody>
          <a:bodyPr/>
          <a:lstStyle/>
          <a:p>
            <a:fld id="{09B770B2-34DD-8442-AC65-87A3EFFB3F5B}" type="slidenum">
              <a:rPr lang="en-US" smtClean="0"/>
              <a:t>69</a:t>
            </a:fld>
            <a:endParaRPr lang="en-US"/>
          </a:p>
        </p:txBody>
      </p:sp>
    </p:spTree>
    <p:extLst>
      <p:ext uri="{BB962C8B-B14F-4D97-AF65-F5344CB8AC3E}">
        <p14:creationId xmlns:p14="http://schemas.microsoft.com/office/powerpoint/2010/main" val="9530506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D35BC-C4CA-34B7-BAB8-52FBDD0754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90C2F5-007B-7EBA-C5A7-2643642928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248662-7054-6346-C4FC-5C14F17C631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FAA9FDFC-6A4A-15A5-4881-DB8BA3DB175D}"/>
              </a:ext>
            </a:extLst>
          </p:cNvPr>
          <p:cNvSpPr>
            <a:spLocks noGrp="1"/>
          </p:cNvSpPr>
          <p:nvPr>
            <p:ph type="sldNum" sz="quarter" idx="5"/>
          </p:nvPr>
        </p:nvSpPr>
        <p:spPr/>
        <p:txBody>
          <a:bodyPr/>
          <a:lstStyle/>
          <a:p>
            <a:fld id="{09B770B2-34DD-8442-AC65-87A3EFFB3F5B}" type="slidenum">
              <a:rPr lang="en-US" smtClean="0"/>
              <a:t>70</a:t>
            </a:fld>
            <a:endParaRPr lang="en-US"/>
          </a:p>
        </p:txBody>
      </p:sp>
    </p:spTree>
    <p:extLst>
      <p:ext uri="{BB962C8B-B14F-4D97-AF65-F5344CB8AC3E}">
        <p14:creationId xmlns:p14="http://schemas.microsoft.com/office/powerpoint/2010/main" val="34485822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ED54F-84F4-485A-E120-CB514158C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C51846-29D8-666F-F865-1ACA32BBB2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C2B50-D0B3-B31D-15EC-799033BA9A2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682DD392-796D-C65D-D1AB-FA0CA4DC0929}"/>
              </a:ext>
            </a:extLst>
          </p:cNvPr>
          <p:cNvSpPr>
            <a:spLocks noGrp="1"/>
          </p:cNvSpPr>
          <p:nvPr>
            <p:ph type="sldNum" sz="quarter" idx="5"/>
          </p:nvPr>
        </p:nvSpPr>
        <p:spPr/>
        <p:txBody>
          <a:bodyPr/>
          <a:lstStyle/>
          <a:p>
            <a:fld id="{09B770B2-34DD-8442-AC65-87A3EFFB3F5B}" type="slidenum">
              <a:rPr lang="en-US" smtClean="0"/>
              <a:t>71</a:t>
            </a:fld>
            <a:endParaRPr lang="en-US"/>
          </a:p>
        </p:txBody>
      </p:sp>
    </p:spTree>
    <p:extLst>
      <p:ext uri="{BB962C8B-B14F-4D97-AF65-F5344CB8AC3E}">
        <p14:creationId xmlns:p14="http://schemas.microsoft.com/office/powerpoint/2010/main" val="10088702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p:cNvSpPr>
            <a:spLocks noGrp="1"/>
          </p:cNvSpPr>
          <p:nvPr>
            <p:ph type="sldNum" sz="quarter" idx="5"/>
          </p:nvPr>
        </p:nvSpPr>
        <p:spPr/>
        <p:txBody>
          <a:bodyPr/>
          <a:lstStyle/>
          <a:p>
            <a:fld id="{09B770B2-34DD-8442-AC65-87A3EFFB3F5B}" type="slidenum">
              <a:rPr lang="en-US" smtClean="0"/>
              <a:t>72</a:t>
            </a:fld>
            <a:endParaRPr lang="en-US"/>
          </a:p>
        </p:txBody>
      </p:sp>
    </p:spTree>
    <p:extLst>
      <p:ext uri="{BB962C8B-B14F-4D97-AF65-F5344CB8AC3E}">
        <p14:creationId xmlns:p14="http://schemas.microsoft.com/office/powerpoint/2010/main" val="27824590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F71F2-5A9D-375C-23C7-37C3E38A2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FC794-C6FD-A6A1-7C7C-211822C56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8B44C-443C-0B1D-35B4-23DDAEBCD47E}"/>
              </a:ext>
            </a:extLst>
          </p:cNvPr>
          <p:cNvSpPr>
            <a:spLocks noGrp="1"/>
          </p:cNvSpPr>
          <p:nvPr>
            <p:ph type="body" idx="1"/>
          </p:nvPr>
        </p:nvSpPr>
        <p:spPr/>
        <p:txBody>
          <a:bodyPr/>
          <a:lstStyle/>
          <a:p>
            <a:r>
              <a:rPr lang="en-US" dirty="0"/>
              <a:t>To insure avoiding overfitting we should use a separate and unseen data for evaluate the model.</a:t>
            </a:r>
          </a:p>
          <a:p>
            <a:r>
              <a:rPr lang="en-US" dirty="0"/>
              <a:t>Cross validation is a way to evaluate our model and to do that we train and test the data for few times on different subset of data.</a:t>
            </a:r>
          </a:p>
        </p:txBody>
      </p:sp>
      <p:sp>
        <p:nvSpPr>
          <p:cNvPr id="4" name="Slide Number Placeholder 3">
            <a:extLst>
              <a:ext uri="{FF2B5EF4-FFF2-40B4-BE49-F238E27FC236}">
                <a16:creationId xmlns:a16="http://schemas.microsoft.com/office/drawing/2014/main" id="{8685AE90-09E5-815B-BE13-13F1C7CF0EF2}"/>
              </a:ext>
            </a:extLst>
          </p:cNvPr>
          <p:cNvSpPr>
            <a:spLocks noGrp="1"/>
          </p:cNvSpPr>
          <p:nvPr>
            <p:ph type="sldNum" sz="quarter" idx="5"/>
          </p:nvPr>
        </p:nvSpPr>
        <p:spPr/>
        <p:txBody>
          <a:bodyPr/>
          <a:lstStyle/>
          <a:p>
            <a:fld id="{09B770B2-34DD-8442-AC65-87A3EFFB3F5B}" type="slidenum">
              <a:rPr lang="en-US" smtClean="0"/>
              <a:t>73</a:t>
            </a:fld>
            <a:endParaRPr lang="en-US"/>
          </a:p>
        </p:txBody>
      </p:sp>
    </p:spTree>
    <p:extLst>
      <p:ext uri="{BB962C8B-B14F-4D97-AF65-F5344CB8AC3E}">
        <p14:creationId xmlns:p14="http://schemas.microsoft.com/office/powerpoint/2010/main" val="17213575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CF47E-573A-F3D9-3669-8573724428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5B6AA-433A-CE65-8E86-5D46CF8B9A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B5AAAD-0E52-61AA-5F4D-E27D89DC69C0}"/>
              </a:ext>
            </a:extLst>
          </p:cNvPr>
          <p:cNvSpPr>
            <a:spLocks noGrp="1"/>
          </p:cNvSpPr>
          <p:nvPr>
            <p:ph type="body" idx="1"/>
          </p:nvPr>
        </p:nvSpPr>
        <p:spPr/>
        <p:txBody>
          <a:bodyPr/>
          <a:lstStyle/>
          <a:p>
            <a:r>
              <a:rPr lang="en-US" dirty="0"/>
              <a:t>Here is two common metrics for evaluating performance of regression and forecasting models.</a:t>
            </a:r>
          </a:p>
        </p:txBody>
      </p:sp>
      <p:sp>
        <p:nvSpPr>
          <p:cNvPr id="4" name="Slide Number Placeholder 3">
            <a:extLst>
              <a:ext uri="{FF2B5EF4-FFF2-40B4-BE49-F238E27FC236}">
                <a16:creationId xmlns:a16="http://schemas.microsoft.com/office/drawing/2014/main" id="{55FA9A0B-6C2D-BAEF-2188-6687894CD91F}"/>
              </a:ext>
            </a:extLst>
          </p:cNvPr>
          <p:cNvSpPr>
            <a:spLocks noGrp="1"/>
          </p:cNvSpPr>
          <p:nvPr>
            <p:ph type="sldNum" sz="quarter" idx="5"/>
          </p:nvPr>
        </p:nvSpPr>
        <p:spPr/>
        <p:txBody>
          <a:bodyPr/>
          <a:lstStyle/>
          <a:p>
            <a:fld id="{09B770B2-34DD-8442-AC65-87A3EFFB3F5B}" type="slidenum">
              <a:rPr lang="en-US" smtClean="0"/>
              <a:t>74</a:t>
            </a:fld>
            <a:endParaRPr lang="en-US"/>
          </a:p>
        </p:txBody>
      </p:sp>
    </p:spTree>
    <p:extLst>
      <p:ext uri="{BB962C8B-B14F-4D97-AF65-F5344CB8AC3E}">
        <p14:creationId xmlns:p14="http://schemas.microsoft.com/office/powerpoint/2010/main" val="22777668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4C22C-1B4A-D9C5-A6AE-03F09A26C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55E2C9-A751-5AB9-86E1-28E5F4F19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FE361A-A1A2-2E6B-9552-1CCE888039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56BA6B-AA6D-1CDF-2575-94BE3ADB2C24}"/>
              </a:ext>
            </a:extLst>
          </p:cNvPr>
          <p:cNvSpPr>
            <a:spLocks noGrp="1"/>
          </p:cNvSpPr>
          <p:nvPr>
            <p:ph type="sldNum" sz="quarter" idx="5"/>
          </p:nvPr>
        </p:nvSpPr>
        <p:spPr/>
        <p:txBody>
          <a:bodyPr/>
          <a:lstStyle/>
          <a:p>
            <a:fld id="{35B8FE5C-85ED-194D-A826-552950995C66}" type="slidenum">
              <a:rPr lang="it-IT" smtClean="0"/>
              <a:t>76</a:t>
            </a:fld>
            <a:endParaRPr lang="it-IT"/>
          </a:p>
        </p:txBody>
      </p:sp>
    </p:spTree>
    <p:extLst>
      <p:ext uri="{BB962C8B-B14F-4D97-AF65-F5344CB8AC3E}">
        <p14:creationId xmlns:p14="http://schemas.microsoft.com/office/powerpoint/2010/main" val="14462080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7A880-1387-5CC0-B614-E525D86C1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641D3-0EB0-D344-8106-D85D2415B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352FD1-AD6D-A6B0-D5AE-9CAEC0ED3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B02EF28-9960-490B-3EB8-064BD531EDE3}"/>
              </a:ext>
            </a:extLst>
          </p:cNvPr>
          <p:cNvSpPr>
            <a:spLocks noGrp="1"/>
          </p:cNvSpPr>
          <p:nvPr>
            <p:ph type="sldNum" sz="quarter" idx="5"/>
          </p:nvPr>
        </p:nvSpPr>
        <p:spPr/>
        <p:txBody>
          <a:bodyPr/>
          <a:lstStyle/>
          <a:p>
            <a:fld id="{35B8FE5C-85ED-194D-A826-552950995C66}" type="slidenum">
              <a:rPr lang="it-IT" smtClean="0"/>
              <a:t>79</a:t>
            </a:fld>
            <a:endParaRPr lang="it-IT"/>
          </a:p>
        </p:txBody>
      </p:sp>
    </p:spTree>
    <p:extLst>
      <p:ext uri="{BB962C8B-B14F-4D97-AF65-F5344CB8AC3E}">
        <p14:creationId xmlns:p14="http://schemas.microsoft.com/office/powerpoint/2010/main" val="207536226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25214282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U Chiusura">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72F68884-7283-48EF-B315-53827BAF1A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spTree>
    <p:extLst>
      <p:ext uri="{BB962C8B-B14F-4D97-AF65-F5344CB8AC3E}">
        <p14:creationId xmlns:p14="http://schemas.microsoft.com/office/powerpoint/2010/main" val="2539576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MAGINE Apert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DA394C85-E2AD-479A-B76F-DFA5BB41B2E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
        <p:nvSpPr>
          <p:cNvPr id="3" name="Segnaposto immagine 10">
            <a:extLst>
              <a:ext uri="{FF2B5EF4-FFF2-40B4-BE49-F238E27FC236}">
                <a16:creationId xmlns:a16="http://schemas.microsoft.com/office/drawing/2014/main" id="{9CCE0AB1-41FD-4EDC-AB39-9282210F5525}"/>
              </a:ext>
            </a:extLst>
          </p:cNvPr>
          <p:cNvSpPr>
            <a:spLocks noGrp="1"/>
          </p:cNvSpPr>
          <p:nvPr>
            <p:ph type="pic" sz="quarter" idx="11" hasCustomPrompt="1"/>
          </p:nvPr>
        </p:nvSpPr>
        <p:spPr>
          <a:xfrm>
            <a:off x="3051544" y="0"/>
            <a:ext cx="9140456" cy="6858000"/>
          </a:xfrm>
          <a:custGeom>
            <a:avLst/>
            <a:gdLst>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0456" h="6858000">
                <a:moveTo>
                  <a:pt x="0" y="0"/>
                </a:moveTo>
                <a:lnTo>
                  <a:pt x="9140456" y="0"/>
                </a:lnTo>
                <a:lnTo>
                  <a:pt x="9140456" y="6858000"/>
                </a:lnTo>
                <a:lnTo>
                  <a:pt x="0" y="6858000"/>
                </a:lnTo>
                <a:cubicBezTo>
                  <a:pt x="1265276" y="5858538"/>
                  <a:pt x="2647507" y="2509284"/>
                  <a:pt x="0" y="0"/>
                </a:cubicBezTo>
                <a:close/>
              </a:path>
            </a:pathLst>
          </a:custGeom>
          <a:solidFill>
            <a:schemeClr val="bg1">
              <a:lumMod val="95000"/>
            </a:schemeClr>
          </a:solidFill>
        </p:spPr>
        <p:txBody>
          <a:bodyPr/>
          <a:lstStyle>
            <a:lvl1pPr marL="0" indent="0">
              <a:buFontTx/>
              <a:buNone/>
              <a:defRPr>
                <a:latin typeface="Poppins" panose="00000500000000000000" pitchFamily="2" charset="0"/>
              </a:defRPr>
            </a:lvl1pPr>
          </a:lstStyle>
          <a:p>
            <a:r>
              <a:rPr lang="it-IT" dirty="0"/>
              <a:t>   </a:t>
            </a:r>
          </a:p>
        </p:txBody>
      </p:sp>
      <p:sp>
        <p:nvSpPr>
          <p:cNvPr id="5" name="Segnaposto testo 6">
            <a:extLst>
              <a:ext uri="{FF2B5EF4-FFF2-40B4-BE49-F238E27FC236}">
                <a16:creationId xmlns:a16="http://schemas.microsoft.com/office/drawing/2014/main" id="{049324E1-916B-44BE-A2CA-01572E502A9B}"/>
              </a:ext>
            </a:extLst>
          </p:cNvPr>
          <p:cNvSpPr>
            <a:spLocks noGrp="1"/>
          </p:cNvSpPr>
          <p:nvPr>
            <p:ph type="body" sz="quarter" idx="12"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6" name="Segnaposto testo 9">
            <a:extLst>
              <a:ext uri="{FF2B5EF4-FFF2-40B4-BE49-F238E27FC236}">
                <a16:creationId xmlns:a16="http://schemas.microsoft.com/office/drawing/2014/main" id="{BC83BF07-630E-48B5-9C07-F0CEF6A2BF85}"/>
              </a:ext>
            </a:extLst>
          </p:cNvPr>
          <p:cNvSpPr>
            <a:spLocks noGrp="1"/>
          </p:cNvSpPr>
          <p:nvPr>
            <p:ph type="body" sz="quarter" idx="13"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cxnSp>
        <p:nvCxnSpPr>
          <p:cNvPr id="7" name="Connettore diritto 6">
            <a:extLst>
              <a:ext uri="{FF2B5EF4-FFF2-40B4-BE49-F238E27FC236}">
                <a16:creationId xmlns:a16="http://schemas.microsoft.com/office/drawing/2014/main" id="{98F9590B-AA34-4576-A95D-7E6FD9F1FF0F}"/>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0063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MMAGINE Chius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C5F8C436-50BB-46D3-92D1-A32E72258D0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Tree>
    <p:extLst>
      <p:ext uri="{BB962C8B-B14F-4D97-AF65-F5344CB8AC3E}">
        <p14:creationId xmlns:p14="http://schemas.microsoft.com/office/powerpoint/2010/main" val="27719325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4993FE2-BDC7-854D-9E60-5881B6A9F399}"/>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6" name="Segnaposto testo 3">
            <a:extLst>
              <a:ext uri="{FF2B5EF4-FFF2-40B4-BE49-F238E27FC236}">
                <a16:creationId xmlns:a16="http://schemas.microsoft.com/office/drawing/2014/main" id="{03A3DA46-7DB4-F940-B006-60DA29DE6728}"/>
              </a:ext>
            </a:extLst>
          </p:cNvPr>
          <p:cNvSpPr>
            <a:spLocks noGrp="1"/>
          </p:cNvSpPr>
          <p:nvPr>
            <p:ph idx="1" hasCustomPrompt="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2277971463"/>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4FB4A7-FF62-53E7-CC8F-E29751CD5132}"/>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35148515"/>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olo Titol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C61AA3E-D013-404E-8B75-86054DB2A686}"/>
              </a:ext>
            </a:extLst>
          </p:cNvPr>
          <p:cNvSpPr>
            <a:spLocks noGrp="1"/>
          </p:cNvSpPr>
          <p:nvPr>
            <p:ph type="title"/>
          </p:nvPr>
        </p:nvSpPr>
        <p:spPr>
          <a:xfrm>
            <a:off x="156000" y="2441500"/>
            <a:ext cx="11880000" cy="1975000"/>
          </a:xfrm>
          <a:prstGeom prst="rect">
            <a:avLst/>
          </a:prstGeom>
        </p:spPr>
        <p:txBody>
          <a:bodyPr vert="horz" lIns="91440" tIns="45720" rIns="91440" bIns="45720" rtlCol="0" anchor="ctr" anchorCtr="0">
            <a:normAutofit/>
          </a:bodyPr>
          <a:lstStyle>
            <a:lvl1pPr algn="ctr">
              <a:defRPr/>
            </a:lvl1pPr>
          </a:lstStyle>
          <a:p>
            <a:r>
              <a:rPr lang="it-IT" dirty="0"/>
              <a:t>Fare clic per modificare il titolo</a:t>
            </a:r>
          </a:p>
        </p:txBody>
      </p:sp>
    </p:spTree>
    <p:extLst>
      <p:ext uri="{BB962C8B-B14F-4D97-AF65-F5344CB8AC3E}">
        <p14:creationId xmlns:p14="http://schemas.microsoft.com/office/powerpoint/2010/main" val="420311766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96402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5F729-938E-04F0-BCB2-18B82DCBF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607A96-EB02-AF7F-34E0-7862394563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4B780F-003D-862E-A374-B265E0000707}"/>
              </a:ext>
            </a:extLst>
          </p:cNvPr>
          <p:cNvSpPr>
            <a:spLocks noGrp="1"/>
          </p:cNvSpPr>
          <p:nvPr>
            <p:ph type="dt" sz="half" idx="10"/>
          </p:nvPr>
        </p:nvSpPr>
        <p:spPr/>
        <p:txBody>
          <a:bodyPr/>
          <a:lstStyle/>
          <a:p>
            <a:fld id="{0586965B-D52A-094D-B5E2-79AEB94E123E}" type="datetimeFigureOut">
              <a:rPr lang="en-US" smtClean="0"/>
              <a:t>1/1/26</a:t>
            </a:fld>
            <a:endParaRPr lang="en-US"/>
          </a:p>
        </p:txBody>
      </p:sp>
      <p:sp>
        <p:nvSpPr>
          <p:cNvPr id="5" name="Footer Placeholder 4">
            <a:extLst>
              <a:ext uri="{FF2B5EF4-FFF2-40B4-BE49-F238E27FC236}">
                <a16:creationId xmlns:a16="http://schemas.microsoft.com/office/drawing/2014/main" id="{1A41EE01-83FE-B654-9AB5-6911F6D4E6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94DBA-4284-1A57-D847-361E5BBFD55B}"/>
              </a:ext>
            </a:extLst>
          </p:cNvPr>
          <p:cNvSpPr>
            <a:spLocks noGrp="1"/>
          </p:cNvSpPr>
          <p:nvPr>
            <p:ph type="sldNum" sz="quarter" idx="12"/>
          </p:nvPr>
        </p:nvSpPr>
        <p:spPr/>
        <p:txBody>
          <a:bodyPr/>
          <a:lstStyle/>
          <a:p>
            <a:fld id="{12B54D11-4114-9746-AE57-51143CCC4D67}" type="slidenum">
              <a:rPr lang="en-US" smtClean="0"/>
              <a:t>‹#›</a:t>
            </a:fld>
            <a:endParaRPr lang="en-US"/>
          </a:p>
        </p:txBody>
      </p:sp>
    </p:spTree>
    <p:extLst>
      <p:ext uri="{BB962C8B-B14F-4D97-AF65-F5344CB8AC3E}">
        <p14:creationId xmlns:p14="http://schemas.microsoft.com/office/powerpoint/2010/main" val="2943775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31038739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0359207"/>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9" r:id="rId3"/>
    <p:sldLayoutId id="214748368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166" userDrawn="1">
          <p15:clr>
            <a:srgbClr val="F26B43"/>
          </p15:clr>
        </p15:guide>
        <p15:guide id="4" pos="7514" userDrawn="1">
          <p15:clr>
            <a:srgbClr val="F26B43"/>
          </p15:clr>
        </p15:guide>
        <p15:guide id="5" orient="horz" pos="164" userDrawn="1">
          <p15:clr>
            <a:srgbClr val="F26B43"/>
          </p15:clr>
        </p15:guide>
        <p15:guide id="6" orient="horz" pos="415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Rettangolo 2"/>
          <p:cNvSpPr/>
          <p:nvPr userDrawn="1"/>
        </p:nvSpPr>
        <p:spPr bwMode="auto">
          <a:xfrm>
            <a:off x="0" y="6308725"/>
            <a:ext cx="12192000" cy="549275"/>
          </a:xfrm>
          <a:prstGeom prst="rect">
            <a:avLst/>
          </a:prstGeom>
          <a:solidFill>
            <a:schemeClr val="tx1"/>
          </a:solidFill>
          <a:ln>
            <a:noFill/>
          </a:ln>
        </p:spPr>
        <p:txBody>
          <a:bodyPr vert="horz" wrap="square" lIns="91440" tIns="45720" rIns="91440" bIns="45720" numCol="1" rtlCol="0" anchor="t" anchorCtr="0" compatLnSpc="1">
            <a:prstTxWarp prst="textNoShape">
              <a:avLst/>
            </a:prstTxWarp>
          </a:bodyPr>
          <a:lstStyle/>
          <a:p>
            <a:pPr algn="ctr"/>
            <a:endParaRPr lang="it-IT"/>
          </a:p>
        </p:txBody>
      </p:sp>
      <p:pic>
        <p:nvPicPr>
          <p:cNvPr id="6" name="Immagine 5"/>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282311" y="6465212"/>
            <a:ext cx="951065" cy="269625"/>
          </a:xfrm>
          <a:prstGeom prst="rect">
            <a:avLst/>
          </a:prstGeom>
        </p:spPr>
      </p:pic>
      <p:sp>
        <p:nvSpPr>
          <p:cNvPr id="2" name="Segnaposto titolo 1">
            <a:extLst>
              <a:ext uri="{FF2B5EF4-FFF2-40B4-BE49-F238E27FC236}">
                <a16:creationId xmlns:a16="http://schemas.microsoft.com/office/drawing/2014/main" id="{FECFCC25-4FD9-414D-AE29-E50F7351E184}"/>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4" name="Segnaposto testo 3">
            <a:extLst>
              <a:ext uri="{FF2B5EF4-FFF2-40B4-BE49-F238E27FC236}">
                <a16:creationId xmlns:a16="http://schemas.microsoft.com/office/drawing/2014/main" id="{1FA7E6D1-1565-475C-8B80-AB85A60730A7}"/>
              </a:ext>
            </a:extLst>
          </p:cNvPr>
          <p:cNvSpPr>
            <a:spLocks noGrp="1"/>
          </p:cNvSpPr>
          <p:nvPr>
            <p:ph type="body" idx="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9" name="Segnaposto testo 3">
            <a:extLst>
              <a:ext uri="{FF2B5EF4-FFF2-40B4-BE49-F238E27FC236}">
                <a16:creationId xmlns:a16="http://schemas.microsoft.com/office/drawing/2014/main" id="{AFBBB134-F3B5-014C-81C1-EC3290A3567D}"/>
              </a:ext>
            </a:extLst>
          </p:cNvPr>
          <p:cNvSpPr txBox="1">
            <a:spLocks/>
          </p:cNvSpPr>
          <p:nvPr userDrawn="1"/>
        </p:nvSpPr>
        <p:spPr>
          <a:xfrm>
            <a:off x="3649451" y="6373047"/>
            <a:ext cx="8421867" cy="236542"/>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1050" kern="1200">
                <a:solidFill>
                  <a:schemeClr val="bg1"/>
                </a:solidFill>
                <a:latin typeface="+mj-lt"/>
                <a:ea typeface="+mn-ea"/>
                <a:cs typeface="+mn-cs"/>
              </a:defRPr>
            </a:lvl1pPr>
            <a:lvl2pPr marL="4572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2pPr>
            <a:lvl3pPr marL="914400" marR="0" indent="0" algn="r" defTabSz="914400" rtl="0" eaLnBrk="1" fontAlgn="auto" latinLnBrk="0" hangingPunct="1">
              <a:lnSpc>
                <a:spcPct val="90000"/>
              </a:lnSpc>
              <a:spcBef>
                <a:spcPts val="500"/>
              </a:spcBef>
              <a:spcAft>
                <a:spcPts val="0"/>
              </a:spcAft>
              <a:buClrTx/>
              <a:buSzTx/>
              <a:buFont typeface="Arial" panose="020B0604020202020204" pitchFamily="34" charset="0"/>
              <a:buNone/>
              <a:tabLst/>
              <a:defRPr sz="900" kern="1200" spc="300">
                <a:solidFill>
                  <a:schemeClr val="accent2"/>
                </a:solidFill>
                <a:latin typeface="+mn-lt"/>
                <a:ea typeface="+mn-ea"/>
                <a:cs typeface="+mn-cs"/>
              </a:defRPr>
            </a:lvl3pPr>
            <a:lvl4pPr marL="13716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4pPr>
            <a:lvl5pPr marL="18288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err="1"/>
              <a:t>mohammad.sheikh@studenti.polito.it</a:t>
            </a:r>
            <a:endParaRPr lang="it-IT" dirty="0"/>
          </a:p>
        </p:txBody>
      </p:sp>
      <p:sp>
        <p:nvSpPr>
          <p:cNvPr id="10" name="Segnaposto testo 6">
            <a:extLst>
              <a:ext uri="{FF2B5EF4-FFF2-40B4-BE49-F238E27FC236}">
                <a16:creationId xmlns:a16="http://schemas.microsoft.com/office/drawing/2014/main" id="{3AEC9288-CBBA-2949-AD51-BD9C863E1BE8}"/>
              </a:ext>
            </a:extLst>
          </p:cNvPr>
          <p:cNvSpPr txBox="1">
            <a:spLocks/>
          </p:cNvSpPr>
          <p:nvPr userDrawn="1"/>
        </p:nvSpPr>
        <p:spPr>
          <a:xfrm>
            <a:off x="3649451" y="6583362"/>
            <a:ext cx="8451065" cy="215816"/>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800" kern="1200" spc="3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lumMod val="95000"/>
                  </a:srgbClr>
                </a:solidFill>
                <a:effectLst/>
                <a:uLnTx/>
                <a:uFillTx/>
                <a:latin typeface="Poppins"/>
                <a:ea typeface="+mn-ea"/>
                <a:cs typeface="+mn-cs"/>
              </a:rPr>
              <a:t>Predictive Analytics of Climate Stress Impact on the Italian Mediterranean Buffalo</a:t>
            </a:r>
          </a:p>
        </p:txBody>
      </p:sp>
    </p:spTree>
    <p:extLst>
      <p:ext uri="{BB962C8B-B14F-4D97-AF65-F5344CB8AC3E}">
        <p14:creationId xmlns:p14="http://schemas.microsoft.com/office/powerpoint/2010/main" val="3365820312"/>
      </p:ext>
    </p:extLst>
  </p:cSld>
  <p:clrMap bg1="lt1" tx1="dk1" bg2="lt2" tx2="dk2" accent1="accent1" accent2="accent2" accent3="accent3" accent4="accent4" accent5="accent5" accent6="accent6" hlink="hlink" folHlink="folHlink"/>
  <p:sldLayoutIdLst>
    <p:sldLayoutId id="2147483768" r:id="rId1"/>
    <p:sldLayoutId id="2147483778" r:id="rId2"/>
    <p:sldLayoutId id="2147483784" r:id="rId3"/>
    <p:sldLayoutId id="2147483783" r:id="rId4"/>
    <p:sldLayoutId id="2147483785" r:id="rId5"/>
    <p:sldLayoutId id="2147483786" r:id="rId6"/>
  </p:sldLayoutIdLst>
  <p:txStyles>
    <p:titleStyle>
      <a:lvl1pPr algn="l" defTabSz="914400" rtl="0" eaLnBrk="1" latinLnBrk="0" hangingPunct="1">
        <a:lnSpc>
          <a:spcPct val="90000"/>
        </a:lnSpc>
        <a:spcBef>
          <a:spcPct val="0"/>
        </a:spcBef>
        <a:buNone/>
        <a:defRPr sz="4000" kern="1200">
          <a:solidFill>
            <a:schemeClr val="tx1">
              <a:lumMod val="75000"/>
              <a:lumOff val="25000"/>
            </a:schemeClr>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166">
          <p15:clr>
            <a:srgbClr val="F26B43"/>
          </p15:clr>
        </p15:guide>
        <p15:guide id="4" pos="7514">
          <p15:clr>
            <a:srgbClr val="F26B43"/>
          </p15:clr>
        </p15:guide>
        <p15:guide id="5" orient="horz" pos="164">
          <p15:clr>
            <a:srgbClr val="F26B43"/>
          </p15:clr>
        </p15:guide>
        <p15:guide id="6" orient="horz" pos="4156">
          <p15:clr>
            <a:srgbClr val="F26B43"/>
          </p15:clr>
        </p15:guide>
        <p15:guide id="7" orient="horz" pos="380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jp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6.xml"/><Relationship Id="rId4" Type="http://schemas.openxmlformats.org/officeDocument/2006/relationships/hyperlink" Target="https://otexts.com/fpp3/"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hyperlink" Target="https://otexts.com/fpp3/" TargetMode="External"/><Relationship Id="rId2" Type="http://schemas.openxmlformats.org/officeDocument/2006/relationships/image" Target="../media/image24.png"/><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2" Type="http://schemas.openxmlformats.org/officeDocument/2006/relationships/hyperlink" Target="https://otexts.com/fpp3/" TargetMode="Externa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8" Type="http://schemas.microsoft.com/office/2007/relationships/hdphoto" Target="../media/hdphoto4.wdp"/><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29.png"/><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31.png"/><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9.png"/><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9.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9.xml"/><Relationship Id="rId6" Type="http://schemas.openxmlformats.org/officeDocument/2006/relationships/image" Target="../media/image31.png"/><Relationship Id="rId5" Type="http://schemas.openxmlformats.org/officeDocument/2006/relationships/image" Target="../media/image30.png"/><Relationship Id="rId4" Type="http://schemas.microsoft.com/office/2007/relationships/hdphoto" Target="../media/hdphoto1.wdp"/><Relationship Id="rId9" Type="http://schemas.microsoft.com/office/2007/relationships/hdphoto" Target="../media/hdphoto4.wdp"/></Relationships>
</file>

<file path=ppt/slides/_rels/slide27.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9.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image" Target="../media/image31.png"/><Relationship Id="rId5" Type="http://schemas.openxmlformats.org/officeDocument/2006/relationships/image" Target="../media/image30.png"/><Relationship Id="rId4" Type="http://schemas.microsoft.com/office/2007/relationships/hdphoto" Target="../media/hdphoto1.wdp"/><Relationship Id="rId9" Type="http://schemas.microsoft.com/office/2007/relationships/hdphoto" Target="../media/hdphoto4.wdp"/></Relationships>
</file>

<file path=ppt/slides/_rels/slide28.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9.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31.png"/><Relationship Id="rId5" Type="http://schemas.openxmlformats.org/officeDocument/2006/relationships/image" Target="../media/image30.png"/><Relationship Id="rId4" Type="http://schemas.microsoft.com/office/2007/relationships/hdphoto" Target="../media/hdphoto1.wdp"/><Relationship Id="rId9" Type="http://schemas.microsoft.com/office/2007/relationships/hdphoto" Target="../media/hdphoto4.wdp"/></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www.amazon.science/publications/end-to-end-learning-of-coherent-probabilistic-forecasts-for-hierarchical-time-series" TargetMode="External"/><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3" Type="http://schemas.openxmlformats.org/officeDocument/2006/relationships/hyperlink" Target="https://www.amazon.science/publications/end-to-end-learning-of-coherent-probabilistic-forecasts-for-hierarchical-time-series" TargetMode="External"/><Relationship Id="rId2" Type="http://schemas.openxmlformats.org/officeDocument/2006/relationships/image" Target="../media/image35.png"/><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3" Type="http://schemas.openxmlformats.org/officeDocument/2006/relationships/hyperlink" Target="https://www.amazon.science/publications/end-to-end-learning-of-coherent-probabilistic-forecasts-for-hierarchical-time-series" TargetMode="External"/><Relationship Id="rId2" Type="http://schemas.openxmlformats.org/officeDocument/2006/relationships/image" Target="../media/image35.png"/><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3" Type="http://schemas.openxmlformats.org/officeDocument/2006/relationships/hyperlink" Target="https://www.amazon.science/publications/end-to-end-learning-of-coherent-probabilistic-forecasts-for-hierarchical-time-series" TargetMode="External"/><Relationship Id="rId2" Type="http://schemas.openxmlformats.org/officeDocument/2006/relationships/image" Target="../media/image35.png"/><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www.amazon.science/publications/end-to-end-learning-of-coherent-probabilistic-forecasts-for-hierarchical-time-series" TargetMode="Externa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5.xml.rels><?xml version="1.0" encoding="UTF-8" standalone="yes"?>
<Relationships xmlns="http://schemas.openxmlformats.org/package/2006/relationships"><Relationship Id="rId2" Type="http://schemas.openxmlformats.org/officeDocument/2006/relationships/hyperlink" Target="https://www.amazon.science/publications/end-to-end-learning-of-coherent-probabilistic-forecasts-for-hierarchical-time-series" TargetMode="Externa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9.xml"/><Relationship Id="rId5" Type="http://schemas.openxmlformats.org/officeDocument/2006/relationships/image" Target="../media/image43.png"/><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9.xml"/></Relationships>
</file>

<file path=ppt/slides/_rels/slide5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9.xml"/></Relationships>
</file>

<file path=ppt/slides/_rels/slide5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49.png"/></Relationships>
</file>

<file path=ppt/slides/_rels/slide6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61.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63.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64.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6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6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67.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4.xml"/><Relationship Id="rId1" Type="http://schemas.openxmlformats.org/officeDocument/2006/relationships/slideLayout" Target="../slideLayouts/slideLayout9.xml"/></Relationships>
</file>

<file path=ppt/slides/_rels/slide69.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5.xml"/><Relationship Id="rId1" Type="http://schemas.openxmlformats.org/officeDocument/2006/relationships/slideLayout" Target="../slideLayouts/slideLayout9.xml"/></Relationships>
</file>

<file path=ppt/slides/_rels/slide70.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72.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gif"/><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1.png"/><Relationship Id="rId7" Type="http://schemas.openxmlformats.org/officeDocument/2006/relationships/image" Target="../media/image55.gif"/><Relationship Id="rId2" Type="http://schemas.openxmlformats.org/officeDocument/2006/relationships/notesSlide" Target="../notesSlides/notesSlide29.xml"/><Relationship Id="rId1" Type="http://schemas.openxmlformats.org/officeDocument/2006/relationships/slideLayout" Target="../slideLayouts/slideLayout9.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hyperlink" Target="https://www.researchgate.net/figure/Classical-k-fold-cross-validation-vs-time-series-split-cross-validation_fig1_355889701" TargetMode="External"/></Relationships>
</file>

<file path=ppt/slides/_rels/slide74.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51.png"/><Relationship Id="rId7" Type="http://schemas.openxmlformats.org/officeDocument/2006/relationships/image" Target="../media/image55.gif"/><Relationship Id="rId2" Type="http://schemas.openxmlformats.org/officeDocument/2006/relationships/notesSlide" Target="../notesSlides/notesSlide30.xml"/><Relationship Id="rId1" Type="http://schemas.openxmlformats.org/officeDocument/2006/relationships/slideLayout" Target="../slideLayouts/slideLayout9.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58.png"/></Relationships>
</file>

<file path=ppt/slides/_rels/slide7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9.xml"/><Relationship Id="rId6" Type="http://schemas.openxmlformats.org/officeDocument/2006/relationships/image" Target="../media/image55.gif"/><Relationship Id="rId5" Type="http://schemas.openxmlformats.org/officeDocument/2006/relationships/image" Target="../media/image54.png"/><Relationship Id="rId4" Type="http://schemas.openxmlformats.org/officeDocument/2006/relationships/image" Target="../media/image53.pn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8.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hyperlink" Target="https://doi-org.ezproxy.biblio.polito.it/10.1080/01605682.2025.2566323" TargetMode="External"/><Relationship Id="rId7" Type="http://schemas.openxmlformats.org/officeDocument/2006/relationships/image" Target="../media/image55.gif"/><Relationship Id="rId2" Type="http://schemas.openxmlformats.org/officeDocument/2006/relationships/image" Target="../media/image51.png"/><Relationship Id="rId1" Type="http://schemas.openxmlformats.org/officeDocument/2006/relationships/slideLayout" Target="../slideLayouts/slideLayout9.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hyperlink" Target="https://doi.org/10.3390/electronics14173513" TargetMode="External"/></Relationships>
</file>

<file path=ppt/slides/_rels/slide7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testo 1">
            <a:extLst>
              <a:ext uri="{FF2B5EF4-FFF2-40B4-BE49-F238E27FC236}">
                <a16:creationId xmlns:a16="http://schemas.microsoft.com/office/drawing/2014/main" id="{58957977-25F6-6147-A328-F518E0A2B0CD}"/>
              </a:ext>
            </a:extLst>
          </p:cNvPr>
          <p:cNvSpPr>
            <a:spLocks noGrp="1"/>
          </p:cNvSpPr>
          <p:nvPr>
            <p:ph type="body" sz="quarter" idx="11"/>
          </p:nvPr>
        </p:nvSpPr>
        <p:spPr>
          <a:xfrm>
            <a:off x="279698" y="888227"/>
            <a:ext cx="11505901" cy="3024000"/>
          </a:xfrm>
        </p:spPr>
        <p:txBody>
          <a:bodyPr anchor="ctr">
            <a:normAutofit/>
          </a:bodyPr>
          <a:lstStyle/>
          <a:p>
            <a:r>
              <a:rPr lang="en-US" sz="4000" b="1" dirty="0"/>
              <a:t>Predictive Analytics of Climate Stress Impact on the Italian Mediterranean Buffalo</a:t>
            </a:r>
          </a:p>
          <a:p>
            <a:r>
              <a:rPr lang="en-US" sz="2400" b="1" dirty="0"/>
              <a:t>Physiological and Productive Responses</a:t>
            </a:r>
          </a:p>
        </p:txBody>
      </p:sp>
      <p:sp>
        <p:nvSpPr>
          <p:cNvPr id="3" name="Segnaposto testo 2">
            <a:extLst>
              <a:ext uri="{FF2B5EF4-FFF2-40B4-BE49-F238E27FC236}">
                <a16:creationId xmlns:a16="http://schemas.microsoft.com/office/drawing/2014/main" id="{5FFE42D3-F4C1-0542-A5D5-F64C362A9D37}"/>
              </a:ext>
            </a:extLst>
          </p:cNvPr>
          <p:cNvSpPr>
            <a:spLocks noGrp="1"/>
          </p:cNvSpPr>
          <p:nvPr>
            <p:ph type="body" sz="quarter" idx="12"/>
          </p:nvPr>
        </p:nvSpPr>
        <p:spPr>
          <a:xfrm>
            <a:off x="9275886" y="4781075"/>
            <a:ext cx="2763714" cy="722589"/>
          </a:xfrm>
        </p:spPr>
        <p:txBody>
          <a:bodyPr anchor="ctr">
            <a:normAutofit/>
          </a:bodyPr>
          <a:lstStyle/>
          <a:p>
            <a:pPr algn="ctr"/>
            <a:r>
              <a:rPr lang="it-IT" sz="2000" b="1" dirty="0"/>
              <a:t>Mohammad Sheikh</a:t>
            </a:r>
          </a:p>
        </p:txBody>
      </p:sp>
      <p:pic>
        <p:nvPicPr>
          <p:cNvPr id="9" name="Picture 8">
            <a:extLst>
              <a:ext uri="{FF2B5EF4-FFF2-40B4-BE49-F238E27FC236}">
                <a16:creationId xmlns:a16="http://schemas.microsoft.com/office/drawing/2014/main" id="{135687C7-54CD-67CF-6E2C-A748E4823F7C}"/>
              </a:ext>
            </a:extLst>
          </p:cNvPr>
          <p:cNvPicPr>
            <a:picLocks noChangeAspect="1"/>
          </p:cNvPicPr>
          <p:nvPr/>
        </p:nvPicPr>
        <p:blipFill rotWithShape="1">
          <a:blip r:embed="rId3"/>
          <a:srcRect l="55403"/>
          <a:stretch/>
        </p:blipFill>
        <p:spPr>
          <a:xfrm>
            <a:off x="5204629" y="5561039"/>
            <a:ext cx="1590839" cy="856124"/>
          </a:xfrm>
          <a:prstGeom prst="rect">
            <a:avLst/>
          </a:prstGeom>
        </p:spPr>
      </p:pic>
      <p:sp>
        <p:nvSpPr>
          <p:cNvPr id="11" name="TextBox 10">
            <a:extLst>
              <a:ext uri="{FF2B5EF4-FFF2-40B4-BE49-F238E27FC236}">
                <a16:creationId xmlns:a16="http://schemas.microsoft.com/office/drawing/2014/main" id="{3318D630-6F19-3CA6-B35B-CBADA07415D3}"/>
              </a:ext>
            </a:extLst>
          </p:cNvPr>
          <p:cNvSpPr txBox="1"/>
          <p:nvPr/>
        </p:nvSpPr>
        <p:spPr>
          <a:xfrm>
            <a:off x="6795468" y="5939576"/>
            <a:ext cx="6096000" cy="646331"/>
          </a:xfrm>
          <a:prstGeom prst="rect">
            <a:avLst/>
          </a:prstGeom>
          <a:noFill/>
        </p:spPr>
        <p:txBody>
          <a:bodyPr wrap="square">
            <a:spAutoFit/>
          </a:bodyPr>
          <a:lstStyle/>
          <a:p>
            <a:r>
              <a:rPr lang="en-GB" dirty="0" err="1">
                <a:solidFill>
                  <a:schemeClr val="accent1"/>
                </a:solidFill>
              </a:rPr>
              <a:t>Dipartimento</a:t>
            </a:r>
            <a:r>
              <a:rPr lang="en-GB" dirty="0">
                <a:solidFill>
                  <a:schemeClr val="accent1"/>
                </a:solidFill>
              </a:rPr>
              <a:t> di </a:t>
            </a:r>
            <a:r>
              <a:rPr lang="en-GB" dirty="0" err="1">
                <a:solidFill>
                  <a:schemeClr val="accent1"/>
                </a:solidFill>
              </a:rPr>
              <a:t>Automatica</a:t>
            </a:r>
            <a:r>
              <a:rPr lang="en-GB" dirty="0">
                <a:solidFill>
                  <a:schemeClr val="accent1"/>
                </a:solidFill>
              </a:rPr>
              <a:t> e Informatica</a:t>
            </a:r>
          </a:p>
          <a:p>
            <a:endParaRPr lang="en-GB" dirty="0">
              <a:solidFill>
                <a:schemeClr val="accent1"/>
              </a:solidFill>
            </a:endParaRPr>
          </a:p>
        </p:txBody>
      </p:sp>
      <p:sp>
        <p:nvSpPr>
          <p:cNvPr id="13" name="TextBox 12">
            <a:extLst>
              <a:ext uri="{FF2B5EF4-FFF2-40B4-BE49-F238E27FC236}">
                <a16:creationId xmlns:a16="http://schemas.microsoft.com/office/drawing/2014/main" id="{F209F753-137C-55E6-5518-E19AAA51D047}"/>
              </a:ext>
            </a:extLst>
          </p:cNvPr>
          <p:cNvSpPr txBox="1"/>
          <p:nvPr/>
        </p:nvSpPr>
        <p:spPr>
          <a:xfrm>
            <a:off x="6795468" y="5600441"/>
            <a:ext cx="6096000" cy="338554"/>
          </a:xfrm>
          <a:prstGeom prst="rect">
            <a:avLst/>
          </a:prstGeom>
          <a:noFill/>
        </p:spPr>
        <p:txBody>
          <a:bodyPr wrap="square">
            <a:spAutoFit/>
          </a:bodyPr>
          <a:lstStyle/>
          <a:p>
            <a:r>
              <a:rPr lang="en-GB" sz="1600" b="1" dirty="0">
                <a:solidFill>
                  <a:schemeClr val="accent1"/>
                </a:solidFill>
              </a:rPr>
              <a:t>Department of Control and Computer Engineering</a:t>
            </a:r>
          </a:p>
        </p:txBody>
      </p:sp>
      <p:cxnSp>
        <p:nvCxnSpPr>
          <p:cNvPr id="15" name="Straight Connector 14">
            <a:extLst>
              <a:ext uri="{FF2B5EF4-FFF2-40B4-BE49-F238E27FC236}">
                <a16:creationId xmlns:a16="http://schemas.microsoft.com/office/drawing/2014/main" id="{EF452FE7-E166-BF1B-2940-6137B6999FC1}"/>
              </a:ext>
            </a:extLst>
          </p:cNvPr>
          <p:cNvCxnSpPr>
            <a:cxnSpLocks/>
          </p:cNvCxnSpPr>
          <p:nvPr/>
        </p:nvCxnSpPr>
        <p:spPr>
          <a:xfrm>
            <a:off x="5287064" y="5406887"/>
            <a:ext cx="6752536"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egnaposto testo 2">
            <a:extLst>
              <a:ext uri="{FF2B5EF4-FFF2-40B4-BE49-F238E27FC236}">
                <a16:creationId xmlns:a16="http://schemas.microsoft.com/office/drawing/2014/main" id="{C6D7D03C-9B5A-1FDC-B092-BC0A1CE96270}"/>
              </a:ext>
            </a:extLst>
          </p:cNvPr>
          <p:cNvSpPr txBox="1">
            <a:spLocks/>
          </p:cNvSpPr>
          <p:nvPr/>
        </p:nvSpPr>
        <p:spPr>
          <a:xfrm>
            <a:off x="5195268" y="4163420"/>
            <a:ext cx="3200400" cy="1825681"/>
          </a:xfrm>
          <a:prstGeom prst="rect">
            <a:avLst/>
          </a:prstGeom>
        </p:spPr>
        <p:txBody>
          <a:bodyPr anchor="ctr">
            <a:normAutofit/>
          </a:bodyPr>
          <a:lstStyle>
            <a:lvl1pPr marL="0" indent="0" algn="l" defTabSz="914400" rtl="0" eaLnBrk="1" latinLnBrk="0" hangingPunct="1">
              <a:lnSpc>
                <a:spcPct val="90000"/>
              </a:lnSpc>
              <a:spcBef>
                <a:spcPts val="1000"/>
              </a:spcBef>
              <a:buFontTx/>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2000" b="1" dirty="0"/>
              <a:t>Prof. Luca Barbierato</a:t>
            </a:r>
          </a:p>
          <a:p>
            <a:r>
              <a:rPr lang="it-IT" sz="2000" b="1" dirty="0"/>
              <a:t>Prof. Matteo </a:t>
            </a:r>
            <a:r>
              <a:rPr lang="it-IT" sz="2000" b="1" dirty="0" err="1"/>
              <a:t>Santinello</a:t>
            </a:r>
            <a:r>
              <a:rPr lang="it-IT" sz="2000" b="1" dirty="0"/>
              <a:t>	</a:t>
            </a:r>
          </a:p>
        </p:txBody>
      </p:sp>
    </p:spTree>
    <p:extLst>
      <p:ext uri="{BB962C8B-B14F-4D97-AF65-F5344CB8AC3E}">
        <p14:creationId xmlns:p14="http://schemas.microsoft.com/office/powerpoint/2010/main" val="413776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EEF4D8-47C2-E7AD-5346-878C5F08C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EB7FB-5D26-B93D-8314-2ED8D868A7EA}"/>
              </a:ext>
            </a:extLst>
          </p:cNvPr>
          <p:cNvSpPr>
            <a:spLocks noGrp="1"/>
          </p:cNvSpPr>
          <p:nvPr>
            <p:ph type="title"/>
          </p:nvPr>
        </p:nvSpPr>
        <p:spPr/>
        <p:txBody>
          <a:bodyPr>
            <a:normAutofit fontScale="90000"/>
          </a:bodyPr>
          <a:lstStyle/>
          <a:p>
            <a:r>
              <a:rPr lang="en-US" dirty="0"/>
              <a:t>Milk predictions of buffalo</a:t>
            </a:r>
          </a:p>
        </p:txBody>
      </p:sp>
      <p:sp>
        <p:nvSpPr>
          <p:cNvPr id="3" name="Content Placeholder 2">
            <a:extLst>
              <a:ext uri="{FF2B5EF4-FFF2-40B4-BE49-F238E27FC236}">
                <a16:creationId xmlns:a16="http://schemas.microsoft.com/office/drawing/2014/main" id="{D9FF3D55-CD44-C28A-7E2F-8033248A7C6B}"/>
              </a:ext>
            </a:extLst>
          </p:cNvPr>
          <p:cNvSpPr>
            <a:spLocks noGrp="1"/>
          </p:cNvSpPr>
          <p:nvPr>
            <p:ph idx="1"/>
          </p:nvPr>
        </p:nvSpPr>
        <p:spPr/>
        <p:txBody>
          <a:bodyPr>
            <a:normAutofit/>
          </a:bodyPr>
          <a:lstStyle/>
          <a:p>
            <a:r>
              <a:rPr lang="en-US" dirty="0">
                <a:solidFill>
                  <a:srgbClr val="002B49"/>
                </a:solidFill>
              </a:rPr>
              <a:t>….</a:t>
            </a:r>
          </a:p>
        </p:txBody>
      </p:sp>
      <p:sp>
        <p:nvSpPr>
          <p:cNvPr id="8" name="TextBox 7">
            <a:extLst>
              <a:ext uri="{FF2B5EF4-FFF2-40B4-BE49-F238E27FC236}">
                <a16:creationId xmlns:a16="http://schemas.microsoft.com/office/drawing/2014/main" id="{1247E714-4806-8EB1-48BF-F3ED358A1C7F}"/>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34191142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94D45-BEB9-FC7F-F0D4-8616DF269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A30D-499D-0E52-5C99-E1078DC8A42F}"/>
              </a:ext>
            </a:extLst>
          </p:cNvPr>
          <p:cNvSpPr>
            <a:spLocks noGrp="1"/>
          </p:cNvSpPr>
          <p:nvPr>
            <p:ph type="title"/>
          </p:nvPr>
        </p:nvSpPr>
        <p:spPr/>
        <p:txBody>
          <a:bodyPr>
            <a:normAutofit/>
          </a:bodyPr>
          <a:lstStyle/>
          <a:p>
            <a:r>
              <a:rPr lang="en-US" sz="3600" dirty="0"/>
              <a:t>Precision livestock farming (PLF) </a:t>
            </a:r>
          </a:p>
        </p:txBody>
      </p:sp>
      <p:sp>
        <p:nvSpPr>
          <p:cNvPr id="3" name="Content Placeholder 2">
            <a:extLst>
              <a:ext uri="{FF2B5EF4-FFF2-40B4-BE49-F238E27FC236}">
                <a16:creationId xmlns:a16="http://schemas.microsoft.com/office/drawing/2014/main" id="{25CF0225-F36B-FA6C-12AD-062BB3944B10}"/>
              </a:ext>
            </a:extLst>
          </p:cNvPr>
          <p:cNvSpPr>
            <a:spLocks noGrp="1"/>
          </p:cNvSpPr>
          <p:nvPr>
            <p:ph idx="1"/>
          </p:nvPr>
        </p:nvSpPr>
        <p:spPr>
          <a:xfrm>
            <a:off x="180000" y="1283183"/>
            <a:ext cx="11880000" cy="3950370"/>
          </a:xfrm>
        </p:spPr>
        <p:txBody>
          <a:bodyPr>
            <a:normAutofit/>
          </a:bodyPr>
          <a:lstStyle/>
          <a:p>
            <a:r>
              <a:rPr lang="en-US" sz="2000" b="1" dirty="0"/>
              <a:t>Why:</a:t>
            </a:r>
            <a:r>
              <a:rPr lang="en-US" sz="2000" dirty="0"/>
              <a:t> increasing demand for animal-derived foods requires enhancement in increasing efficiency of farms and production.</a:t>
            </a:r>
          </a:p>
          <a:p>
            <a:endParaRPr lang="en-US" sz="2000" dirty="0"/>
          </a:p>
          <a:p>
            <a:r>
              <a:rPr lang="en-US" sz="2000" b="1" dirty="0"/>
              <a:t>How:</a:t>
            </a:r>
            <a:r>
              <a:rPr lang="en-US" sz="2000" dirty="0"/>
              <a:t> PLF represents a valuable strategy to tackle challenges in this area. PLF, uses digital technologies like sensors, IoT, AI, and data analytics to monitor and manage individual animals.</a:t>
            </a:r>
          </a:p>
          <a:p>
            <a:endParaRPr lang="en-US" sz="2000" dirty="0"/>
          </a:p>
          <a:p>
            <a:r>
              <a:rPr lang="en-US" sz="2000" b="1" dirty="0"/>
              <a:t>Gap:</a:t>
            </a:r>
            <a:r>
              <a:rPr lang="en-US" sz="2000" dirty="0"/>
              <a:t> While PLF technologies have been extensively adopted for </a:t>
            </a:r>
            <a:r>
              <a:rPr lang="en-US" sz="2000" b="1" dirty="0"/>
              <a:t>pigs</a:t>
            </a:r>
            <a:r>
              <a:rPr lang="en-US" sz="2000" dirty="0"/>
              <a:t>, </a:t>
            </a:r>
            <a:r>
              <a:rPr lang="en-US" sz="2000" b="1" dirty="0"/>
              <a:t>poultry</a:t>
            </a:r>
            <a:r>
              <a:rPr lang="en-US" sz="2000" dirty="0"/>
              <a:t>, and </a:t>
            </a:r>
            <a:r>
              <a:rPr lang="en-US" sz="2000" b="1" dirty="0"/>
              <a:t>dairy</a:t>
            </a:r>
            <a:r>
              <a:rPr lang="en-US" sz="2000" dirty="0"/>
              <a:t> </a:t>
            </a:r>
            <a:r>
              <a:rPr lang="en-US" sz="2000" b="1" dirty="0"/>
              <a:t>cattle</a:t>
            </a:r>
            <a:r>
              <a:rPr lang="en-US" sz="2000" dirty="0"/>
              <a:t>, there is a scarcity of research regarding </a:t>
            </a:r>
            <a:r>
              <a:rPr lang="en-US" sz="2000" b="1" dirty="0"/>
              <a:t>buffalo-specific</a:t>
            </a:r>
            <a:r>
              <a:rPr lang="en-US" sz="2000" dirty="0"/>
              <a:t> PLF applications.</a:t>
            </a:r>
          </a:p>
        </p:txBody>
      </p:sp>
      <p:sp>
        <p:nvSpPr>
          <p:cNvPr id="6" name="TextBox 5">
            <a:extLst>
              <a:ext uri="{FF2B5EF4-FFF2-40B4-BE49-F238E27FC236}">
                <a16:creationId xmlns:a16="http://schemas.microsoft.com/office/drawing/2014/main" id="{76EE143D-FC50-A5E0-369E-6C65C2542318}"/>
              </a:ext>
            </a:extLst>
          </p:cNvPr>
          <p:cNvSpPr txBox="1"/>
          <p:nvPr/>
        </p:nvSpPr>
        <p:spPr>
          <a:xfrm>
            <a:off x="643982" y="5688736"/>
            <a:ext cx="11243217" cy="584775"/>
          </a:xfrm>
          <a:prstGeom prst="rect">
            <a:avLst/>
          </a:prstGeom>
          <a:noFill/>
        </p:spPr>
        <p:txBody>
          <a:bodyPr wrap="square">
            <a:spAutoFit/>
          </a:bodyPr>
          <a:lstStyle/>
          <a:p>
            <a:r>
              <a:rPr lang="en-US" sz="1600" dirty="0">
                <a:solidFill>
                  <a:srgbClr val="333333"/>
                </a:solidFill>
                <a:latin typeface="HelveticaNeue Regular"/>
              </a:rPr>
              <a:t>G. Neglia, M. </a:t>
            </a:r>
            <a:r>
              <a:rPr lang="en-US" sz="1600" dirty="0" err="1">
                <a:solidFill>
                  <a:srgbClr val="333333"/>
                </a:solidFill>
                <a:latin typeface="HelveticaNeue Regular"/>
              </a:rPr>
              <a:t>Santinello</a:t>
            </a:r>
            <a:r>
              <a:rPr lang="en-US" sz="1600" dirty="0">
                <a:solidFill>
                  <a:srgbClr val="333333"/>
                </a:solidFill>
                <a:latin typeface="HelveticaNeue Regular"/>
              </a:rPr>
              <a:t>, </a:t>
            </a:r>
            <a:r>
              <a:rPr lang="en-US" sz="1600" i="1" dirty="0">
                <a:solidFill>
                  <a:srgbClr val="333333"/>
                </a:solidFill>
                <a:latin typeface="HelveticaNeue Regular"/>
              </a:rPr>
              <a:t>et al</a:t>
            </a:r>
            <a:r>
              <a:rPr lang="en-US" sz="1600" dirty="0">
                <a:solidFill>
                  <a:srgbClr val="333333"/>
                </a:solidFill>
                <a:latin typeface="HelveticaNeue Regular"/>
              </a:rPr>
              <a:t> "Precision livestock farming in buffalo species: a sustainable approach for the future," in </a:t>
            </a:r>
            <a:r>
              <a:rPr lang="en-US" sz="1600" i="1" dirty="0">
                <a:solidFill>
                  <a:srgbClr val="333333"/>
                </a:solidFill>
                <a:latin typeface="HelveticaNeue Regular"/>
              </a:rPr>
              <a:t>Revista </a:t>
            </a:r>
            <a:r>
              <a:rPr lang="en-US" sz="1600" i="1" dirty="0" err="1">
                <a:solidFill>
                  <a:srgbClr val="333333"/>
                </a:solidFill>
                <a:latin typeface="HelveticaNeue Regular"/>
              </a:rPr>
              <a:t>Científica</a:t>
            </a:r>
            <a:r>
              <a:rPr lang="en-US" sz="1600" i="1" dirty="0">
                <a:solidFill>
                  <a:srgbClr val="333333"/>
                </a:solidFill>
                <a:latin typeface="HelveticaNeue Regular"/>
              </a:rPr>
              <a:t> de la </a:t>
            </a:r>
            <a:r>
              <a:rPr lang="en-US" sz="1600" i="1" dirty="0" err="1">
                <a:solidFill>
                  <a:srgbClr val="333333"/>
                </a:solidFill>
                <a:latin typeface="HelveticaNeue Regular"/>
              </a:rPr>
              <a:t>Facultad</a:t>
            </a:r>
            <a:r>
              <a:rPr lang="en-US" sz="1600" i="1" dirty="0">
                <a:solidFill>
                  <a:srgbClr val="333333"/>
                </a:solidFill>
                <a:latin typeface="HelveticaNeue Regular"/>
              </a:rPr>
              <a:t> de </a:t>
            </a:r>
            <a:r>
              <a:rPr lang="en-US" sz="1600" i="1" dirty="0" err="1">
                <a:solidFill>
                  <a:srgbClr val="333333"/>
                </a:solidFill>
                <a:latin typeface="HelveticaNeue Regular"/>
              </a:rPr>
              <a:t>Ciencias</a:t>
            </a:r>
            <a:r>
              <a:rPr lang="en-US" sz="1600" i="1" dirty="0">
                <a:solidFill>
                  <a:srgbClr val="333333"/>
                </a:solidFill>
                <a:latin typeface="HelveticaNeue Regular"/>
              </a:rPr>
              <a:t> </a:t>
            </a:r>
            <a:r>
              <a:rPr lang="en-US" sz="1600" i="1" dirty="0" err="1">
                <a:solidFill>
                  <a:srgbClr val="333333"/>
                </a:solidFill>
                <a:latin typeface="HelveticaNeue Regular"/>
              </a:rPr>
              <a:t>Veterinarias</a:t>
            </a:r>
            <a:r>
              <a:rPr lang="en-US" sz="1600" dirty="0">
                <a:solidFill>
                  <a:srgbClr val="333333"/>
                </a:solidFill>
                <a:latin typeface="HelveticaNeue Regular"/>
              </a:rPr>
              <a:t>, 2023, </a:t>
            </a:r>
            <a:r>
              <a:rPr lang="en-US" sz="1600" dirty="0" err="1">
                <a:solidFill>
                  <a:srgbClr val="333333"/>
                </a:solidFill>
                <a:latin typeface="HelveticaNeue Regular"/>
              </a:rPr>
              <a:t>doi</a:t>
            </a:r>
            <a:r>
              <a:rPr lang="en-US" sz="1600" dirty="0">
                <a:solidFill>
                  <a:srgbClr val="333333"/>
                </a:solidFill>
                <a:latin typeface="HelveticaNeue Regular"/>
              </a:rPr>
              <a:t>: 10.52973/rcfcv-wbc019.</a:t>
            </a:r>
          </a:p>
        </p:txBody>
      </p:sp>
      <p:sp>
        <p:nvSpPr>
          <p:cNvPr id="5" name="TextBox 4">
            <a:extLst>
              <a:ext uri="{FF2B5EF4-FFF2-40B4-BE49-F238E27FC236}">
                <a16:creationId xmlns:a16="http://schemas.microsoft.com/office/drawing/2014/main" id="{85E11351-0E75-5E5C-51C3-E442C2FECB08}"/>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11880100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D7803-8D70-03D5-16FC-E0C1D63A1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FA75C-1BC1-EC81-9052-42CFA7D52DF8}"/>
              </a:ext>
            </a:extLst>
          </p:cNvPr>
          <p:cNvSpPr>
            <a:spLocks noGrp="1"/>
          </p:cNvSpPr>
          <p:nvPr>
            <p:ph type="title"/>
          </p:nvPr>
        </p:nvSpPr>
        <p:spPr/>
        <p:txBody>
          <a:bodyPr>
            <a:normAutofit/>
          </a:bodyPr>
          <a:lstStyle/>
          <a:p>
            <a:r>
              <a:rPr lang="en-US" sz="3600" dirty="0"/>
              <a:t>Heat Stress is affecting …</a:t>
            </a:r>
          </a:p>
        </p:txBody>
      </p:sp>
      <p:sp>
        <p:nvSpPr>
          <p:cNvPr id="6" name="TextBox 5">
            <a:extLst>
              <a:ext uri="{FF2B5EF4-FFF2-40B4-BE49-F238E27FC236}">
                <a16:creationId xmlns:a16="http://schemas.microsoft.com/office/drawing/2014/main" id="{CBE901FE-5020-0F30-AC32-DF5371B95D5E}"/>
              </a:ext>
            </a:extLst>
          </p:cNvPr>
          <p:cNvSpPr txBox="1"/>
          <p:nvPr/>
        </p:nvSpPr>
        <p:spPr>
          <a:xfrm>
            <a:off x="643982" y="5688736"/>
            <a:ext cx="11243217" cy="584775"/>
          </a:xfrm>
          <a:prstGeom prst="rect">
            <a:avLst/>
          </a:prstGeom>
          <a:noFill/>
        </p:spPr>
        <p:txBody>
          <a:bodyPr wrap="square">
            <a:spAutoFit/>
          </a:bodyPr>
          <a:lstStyle/>
          <a:p>
            <a:r>
              <a:rPr lang="en-US" sz="1600" b="0" i="0" dirty="0" err="1">
                <a:solidFill>
                  <a:srgbClr val="333333"/>
                </a:solidFill>
                <a:effectLst/>
                <a:latin typeface="HelveticaNeue Regular"/>
              </a:rPr>
              <a:t>Bernabucci</a:t>
            </a:r>
            <a:r>
              <a:rPr lang="en-US" sz="1600" b="0" i="0" dirty="0">
                <a:solidFill>
                  <a:srgbClr val="333333"/>
                </a:solidFill>
                <a:effectLst/>
                <a:latin typeface="HelveticaNeue Regular"/>
              </a:rPr>
              <a:t>, </a:t>
            </a:r>
            <a:r>
              <a:rPr lang="en-US" sz="1600" b="0" i="1" dirty="0">
                <a:solidFill>
                  <a:srgbClr val="333333"/>
                </a:solidFill>
                <a:effectLst/>
                <a:latin typeface="HelveticaNeue Regular"/>
              </a:rPr>
              <a:t>et al</a:t>
            </a:r>
            <a:r>
              <a:rPr lang="en-US" sz="1600" b="0" i="0" dirty="0">
                <a:solidFill>
                  <a:srgbClr val="333333"/>
                </a:solidFill>
                <a:effectLst/>
                <a:latin typeface="HelveticaNeue Regular"/>
              </a:rPr>
              <a:t>. “Metabolic and Hormonal Acclimation to Heat Stress in Domesticated Ruminants.” in  </a:t>
            </a:r>
            <a:r>
              <a:rPr lang="en-US" sz="1600" b="0" i="1" dirty="0">
                <a:solidFill>
                  <a:srgbClr val="333333"/>
                </a:solidFill>
                <a:effectLst/>
                <a:latin typeface="HelveticaNeue Regular"/>
              </a:rPr>
              <a:t>Animal</a:t>
            </a:r>
            <a:r>
              <a:rPr lang="en-US" sz="1600" b="0" i="0" dirty="0">
                <a:solidFill>
                  <a:srgbClr val="333333"/>
                </a:solidFill>
                <a:effectLst/>
                <a:latin typeface="HelveticaNeue Regular"/>
              </a:rPr>
              <a:t> 2010, 4, 1167–1183, </a:t>
            </a:r>
            <a:r>
              <a:rPr lang="en-US" sz="1600" b="0" i="0" dirty="0" err="1">
                <a:solidFill>
                  <a:srgbClr val="333333"/>
                </a:solidFill>
                <a:effectLst/>
                <a:latin typeface="HelveticaNeue Regular"/>
              </a:rPr>
              <a:t>doi</a:t>
            </a:r>
            <a:r>
              <a:rPr lang="en-US" sz="1600" b="0" i="0" dirty="0">
                <a:solidFill>
                  <a:srgbClr val="333333"/>
                </a:solidFill>
                <a:effectLst/>
                <a:latin typeface="HelveticaNeue Regular"/>
              </a:rPr>
              <a:t> : 10.1017/S175173111000090X</a:t>
            </a:r>
          </a:p>
        </p:txBody>
      </p:sp>
      <p:sp>
        <p:nvSpPr>
          <p:cNvPr id="8" name="TextBox 7">
            <a:extLst>
              <a:ext uri="{FF2B5EF4-FFF2-40B4-BE49-F238E27FC236}">
                <a16:creationId xmlns:a16="http://schemas.microsoft.com/office/drawing/2014/main" id="{0CF0DAC0-0FEC-1786-65FF-7008A5FAA2C2}"/>
              </a:ext>
            </a:extLst>
          </p:cNvPr>
          <p:cNvSpPr txBox="1"/>
          <p:nvPr/>
        </p:nvSpPr>
        <p:spPr>
          <a:xfrm>
            <a:off x="397238" y="1755465"/>
            <a:ext cx="4900475" cy="3347070"/>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milk</a:t>
            </a:r>
            <a:r>
              <a:rPr lang="en-US" sz="3600" dirty="0">
                <a:solidFill>
                  <a:srgbClr val="1B415D"/>
                </a:solidFill>
              </a:rPr>
              <a:t> </a:t>
            </a:r>
            <a:r>
              <a:rPr lang="en-US" sz="3600" dirty="0">
                <a:solidFill>
                  <a:srgbClr val="002B49"/>
                </a:solidFill>
              </a:rPr>
              <a:t>production</a:t>
            </a:r>
          </a:p>
          <a:p>
            <a:pPr marL="571500" indent="-571500">
              <a:lnSpc>
                <a:spcPct val="150000"/>
              </a:lnSpc>
              <a:buFont typeface="System Font Regular"/>
              <a:buChar char="↓"/>
            </a:pPr>
            <a:r>
              <a:rPr lang="en-US" sz="3600" dirty="0">
                <a:solidFill>
                  <a:srgbClr val="002B49"/>
                </a:solidFill>
              </a:rPr>
              <a:t>feed intake</a:t>
            </a:r>
          </a:p>
          <a:p>
            <a:pPr marL="571500" indent="-571500">
              <a:lnSpc>
                <a:spcPct val="150000"/>
              </a:lnSpc>
              <a:buFont typeface="System Font Regular"/>
              <a:buChar char="↓"/>
            </a:pPr>
            <a:r>
              <a:rPr lang="en-US" sz="3600" dirty="0">
                <a:solidFill>
                  <a:srgbClr val="002B49"/>
                </a:solidFill>
              </a:rPr>
              <a:t>performance.</a:t>
            </a:r>
          </a:p>
          <a:p>
            <a:pPr marL="571500" indent="-571500">
              <a:lnSpc>
                <a:spcPct val="150000"/>
              </a:lnSpc>
              <a:buFont typeface="System Font Regular"/>
              <a:buChar char="↓"/>
            </a:pPr>
            <a:endParaRPr lang="en-US" sz="3600" dirty="0">
              <a:solidFill>
                <a:srgbClr val="1B415D"/>
              </a:solidFill>
            </a:endParaRPr>
          </a:p>
        </p:txBody>
      </p:sp>
      <p:sp>
        <p:nvSpPr>
          <p:cNvPr id="9" name="TextBox 8">
            <a:extLst>
              <a:ext uri="{FF2B5EF4-FFF2-40B4-BE49-F238E27FC236}">
                <a16:creationId xmlns:a16="http://schemas.microsoft.com/office/drawing/2014/main" id="{2E859686-C0CE-317F-4316-24CCBC0A2DB3}"/>
              </a:ext>
            </a:extLst>
          </p:cNvPr>
          <p:cNvSpPr txBox="1"/>
          <p:nvPr/>
        </p:nvSpPr>
        <p:spPr>
          <a:xfrm>
            <a:off x="5499355" y="1339966"/>
            <a:ext cx="6881331" cy="4178067"/>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Diseases</a:t>
            </a:r>
          </a:p>
          <a:p>
            <a:pPr marL="571500" indent="-571500">
              <a:lnSpc>
                <a:spcPct val="150000"/>
              </a:lnSpc>
              <a:buFont typeface="System Font Regular"/>
              <a:buChar char="↑"/>
            </a:pPr>
            <a:r>
              <a:rPr lang="en-US" sz="3600" dirty="0">
                <a:solidFill>
                  <a:srgbClr val="002B49"/>
                </a:solidFill>
              </a:rPr>
              <a:t>Sweating</a:t>
            </a:r>
          </a:p>
          <a:p>
            <a:pPr marL="571500" indent="-571500">
              <a:lnSpc>
                <a:spcPct val="150000"/>
              </a:lnSpc>
              <a:buFont typeface="System Font Regular"/>
              <a:buChar char="↑"/>
            </a:pPr>
            <a:r>
              <a:rPr lang="en-US" sz="3600" dirty="0">
                <a:solidFill>
                  <a:srgbClr val="002B49"/>
                </a:solidFill>
              </a:rPr>
              <a:t>Blood flow to skin</a:t>
            </a:r>
          </a:p>
          <a:p>
            <a:pPr marL="571500" indent="-571500">
              <a:lnSpc>
                <a:spcPct val="150000"/>
              </a:lnSpc>
              <a:buFont typeface="System Font Regular"/>
              <a:buChar char="↑"/>
            </a:pPr>
            <a:r>
              <a:rPr lang="en-US" sz="3600" dirty="0">
                <a:solidFill>
                  <a:srgbClr val="002B49"/>
                </a:solidFill>
              </a:rPr>
              <a:t>heart and respiration rate   </a:t>
            </a:r>
          </a:p>
          <a:p>
            <a:pPr marL="571500" indent="-571500">
              <a:lnSpc>
                <a:spcPct val="150000"/>
              </a:lnSpc>
              <a:buFont typeface="System Font Regular"/>
              <a:buChar char="↑"/>
            </a:pPr>
            <a:endParaRPr lang="en-US" sz="3600" dirty="0">
              <a:solidFill>
                <a:srgbClr val="1B415D"/>
              </a:solidFill>
            </a:endParaRPr>
          </a:p>
        </p:txBody>
      </p:sp>
      <p:sp>
        <p:nvSpPr>
          <p:cNvPr id="12" name="TextBox 11">
            <a:extLst>
              <a:ext uri="{FF2B5EF4-FFF2-40B4-BE49-F238E27FC236}">
                <a16:creationId xmlns:a16="http://schemas.microsoft.com/office/drawing/2014/main" id="{150341E0-440C-F954-6BB1-006F58C24826}"/>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2726201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B4029-043B-EDC7-FE95-0C7228159B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90CDF2-450B-F5DE-0221-738DDB685BD0}"/>
              </a:ext>
            </a:extLst>
          </p:cNvPr>
          <p:cNvSpPr>
            <a:spLocks noGrp="1"/>
          </p:cNvSpPr>
          <p:nvPr>
            <p:ph type="title"/>
          </p:nvPr>
        </p:nvSpPr>
        <p:spPr/>
        <p:txBody>
          <a:bodyPr>
            <a:normAutofit/>
          </a:bodyPr>
          <a:lstStyle/>
          <a:p>
            <a:r>
              <a:rPr lang="en-US" sz="3600" dirty="0"/>
              <a:t>Temperature-Humidity Index (THI)</a:t>
            </a:r>
          </a:p>
        </p:txBody>
      </p:sp>
      <p:sp>
        <p:nvSpPr>
          <p:cNvPr id="6" name="TextBox 5">
            <a:extLst>
              <a:ext uri="{FF2B5EF4-FFF2-40B4-BE49-F238E27FC236}">
                <a16:creationId xmlns:a16="http://schemas.microsoft.com/office/drawing/2014/main" id="{80EB31C8-9029-95C4-C626-4B9D2B6D9897}"/>
              </a:ext>
            </a:extLst>
          </p:cNvPr>
          <p:cNvSpPr txBox="1"/>
          <p:nvPr/>
        </p:nvSpPr>
        <p:spPr>
          <a:xfrm>
            <a:off x="643982" y="5688736"/>
            <a:ext cx="11243217" cy="584775"/>
          </a:xfrm>
          <a:prstGeom prst="rect">
            <a:avLst/>
          </a:prstGeom>
          <a:noFill/>
        </p:spPr>
        <p:txBody>
          <a:bodyPr wrap="square">
            <a:spAutoFit/>
          </a:bodyPr>
          <a:lstStyle/>
          <a:p>
            <a:r>
              <a:rPr lang="en-US" sz="1600" b="0" i="0" dirty="0" err="1">
                <a:solidFill>
                  <a:srgbClr val="333333"/>
                </a:solidFill>
                <a:effectLst/>
                <a:latin typeface="HelveticaNeue Regular"/>
              </a:rPr>
              <a:t>Bohmanova</a:t>
            </a:r>
            <a:r>
              <a:rPr lang="en-US" sz="1600" b="0" i="0" dirty="0">
                <a:solidFill>
                  <a:srgbClr val="333333"/>
                </a:solidFill>
                <a:effectLst/>
                <a:latin typeface="HelveticaNeue Regular"/>
              </a:rPr>
              <a:t>, J, </a:t>
            </a:r>
            <a:r>
              <a:rPr lang="en-US" sz="1600" b="0" i="1" dirty="0">
                <a:solidFill>
                  <a:srgbClr val="333333"/>
                </a:solidFill>
                <a:effectLst/>
                <a:latin typeface="HelveticaNeue Regular"/>
              </a:rPr>
              <a:t>et al</a:t>
            </a:r>
            <a:r>
              <a:rPr lang="en-US" sz="1600" b="0" i="0" dirty="0">
                <a:solidFill>
                  <a:srgbClr val="333333"/>
                </a:solidFill>
                <a:effectLst/>
                <a:latin typeface="HelveticaNeue Regular"/>
              </a:rPr>
              <a:t>. “Temperature-humidity indices as indicators of milk production losses due to heat stress.” in </a:t>
            </a:r>
            <a:r>
              <a:rPr lang="en-US" sz="1600" b="0" i="1" dirty="0">
                <a:solidFill>
                  <a:srgbClr val="333333"/>
                </a:solidFill>
                <a:effectLst/>
                <a:latin typeface="HelveticaNeue Regular"/>
              </a:rPr>
              <a:t>Journal of Dairy Science</a:t>
            </a:r>
            <a:r>
              <a:rPr lang="en-US" sz="1600" b="0" i="0" dirty="0">
                <a:solidFill>
                  <a:srgbClr val="333333"/>
                </a:solidFill>
                <a:effectLst/>
                <a:latin typeface="HelveticaNeue Regular"/>
              </a:rPr>
              <a:t>, 90(4), 1947–1956. </a:t>
            </a:r>
            <a:r>
              <a:rPr lang="en-US" sz="1600" b="0" i="0" dirty="0" err="1">
                <a:solidFill>
                  <a:srgbClr val="333333"/>
                </a:solidFill>
                <a:effectLst/>
                <a:latin typeface="HelveticaNeue Regular"/>
              </a:rPr>
              <a:t>doi</a:t>
            </a:r>
            <a:r>
              <a:rPr lang="en-US" sz="1600" b="0" i="0" dirty="0">
                <a:solidFill>
                  <a:srgbClr val="333333"/>
                </a:solidFill>
                <a:effectLst/>
                <a:latin typeface="HelveticaNeue Regular"/>
              </a:rPr>
              <a:t>: 10.3168/jds.2006-513</a:t>
            </a:r>
          </a:p>
        </p:txBody>
      </p:sp>
      <p:sp>
        <p:nvSpPr>
          <p:cNvPr id="8" name="TextBox 7">
            <a:extLst>
              <a:ext uri="{FF2B5EF4-FFF2-40B4-BE49-F238E27FC236}">
                <a16:creationId xmlns:a16="http://schemas.microsoft.com/office/drawing/2014/main" id="{4FA44B63-7E31-4754-1BD8-C64D119E0FCC}"/>
              </a:ext>
            </a:extLst>
          </p:cNvPr>
          <p:cNvSpPr txBox="1"/>
          <p:nvPr/>
        </p:nvSpPr>
        <p:spPr>
          <a:xfrm>
            <a:off x="366242" y="1430001"/>
            <a:ext cx="10823534" cy="1900520"/>
          </a:xfrm>
          <a:prstGeom prst="rect">
            <a:avLst/>
          </a:prstGeom>
          <a:noFill/>
        </p:spPr>
        <p:txBody>
          <a:bodyPr wrap="square">
            <a:spAutoFit/>
          </a:bodyPr>
          <a:lstStyle/>
          <a:p>
            <a:pPr>
              <a:lnSpc>
                <a:spcPct val="150000"/>
              </a:lnSpc>
            </a:pPr>
            <a:r>
              <a:rPr lang="en-US" sz="2000" dirty="0"/>
              <a:t>A temperature-humidity index (THI) is a single value representing the combined effects of air temperature and humidity associated with the level of thermal stress.</a:t>
            </a:r>
            <a:endParaRPr lang="fa-IR" sz="2000" dirty="0"/>
          </a:p>
          <a:p>
            <a:pPr>
              <a:lnSpc>
                <a:spcPct val="150000"/>
              </a:lnSpc>
            </a:pPr>
            <a:endParaRPr lang="fa-IR" sz="2000" dirty="0">
              <a:solidFill>
                <a:srgbClr val="1B415D"/>
              </a:solidFill>
            </a:endParaRPr>
          </a:p>
          <a:p>
            <a:pPr>
              <a:lnSpc>
                <a:spcPct val="150000"/>
              </a:lnSpc>
            </a:pPr>
            <a:r>
              <a:rPr lang="en-US" sz="2000" dirty="0">
                <a:solidFill>
                  <a:srgbClr val="1B415D"/>
                </a:solidFill>
              </a:rPr>
              <a:t>Normally THI is Based on Temperature in Fahrenheit.</a:t>
            </a:r>
            <a:endParaRPr lang="en-US" sz="4000" dirty="0">
              <a:solidFill>
                <a:srgbClr val="1B415D"/>
              </a:solidFill>
            </a:endParaRPr>
          </a:p>
        </p:txBody>
      </p:sp>
      <p:sp>
        <p:nvSpPr>
          <p:cNvPr id="12" name="TextBox 11">
            <a:extLst>
              <a:ext uri="{FF2B5EF4-FFF2-40B4-BE49-F238E27FC236}">
                <a16:creationId xmlns:a16="http://schemas.microsoft.com/office/drawing/2014/main" id="{3A8FE1BB-B3D2-56C4-C718-032BE2068275}"/>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pic>
        <p:nvPicPr>
          <p:cNvPr id="4" name="Picture 3">
            <a:extLst>
              <a:ext uri="{FF2B5EF4-FFF2-40B4-BE49-F238E27FC236}">
                <a16:creationId xmlns:a16="http://schemas.microsoft.com/office/drawing/2014/main" id="{A5405956-FA28-257A-EC55-977FB66398CD}"/>
              </a:ext>
            </a:extLst>
          </p:cNvPr>
          <p:cNvPicPr>
            <a:picLocks noChangeAspect="1"/>
          </p:cNvPicPr>
          <p:nvPr/>
        </p:nvPicPr>
        <p:blipFill>
          <a:blip r:embed="rId3"/>
          <a:stretch>
            <a:fillRect/>
          </a:stretch>
        </p:blipFill>
        <p:spPr>
          <a:xfrm>
            <a:off x="366242" y="3429000"/>
            <a:ext cx="6838070" cy="874039"/>
          </a:xfrm>
          <a:prstGeom prst="rect">
            <a:avLst/>
          </a:prstGeom>
        </p:spPr>
      </p:pic>
      <p:pic>
        <p:nvPicPr>
          <p:cNvPr id="5" name="Picture 4">
            <a:extLst>
              <a:ext uri="{FF2B5EF4-FFF2-40B4-BE49-F238E27FC236}">
                <a16:creationId xmlns:a16="http://schemas.microsoft.com/office/drawing/2014/main" id="{009053BE-58BD-4338-8835-AA8AA69E041E}"/>
              </a:ext>
            </a:extLst>
          </p:cNvPr>
          <p:cNvPicPr>
            <a:picLocks noChangeAspect="1"/>
          </p:cNvPicPr>
          <p:nvPr/>
        </p:nvPicPr>
        <p:blipFill>
          <a:blip r:embed="rId4"/>
          <a:stretch>
            <a:fillRect/>
          </a:stretch>
        </p:blipFill>
        <p:spPr>
          <a:xfrm>
            <a:off x="366242" y="4127659"/>
            <a:ext cx="6838062" cy="874038"/>
          </a:xfrm>
          <a:prstGeom prst="rect">
            <a:avLst/>
          </a:prstGeom>
        </p:spPr>
      </p:pic>
      <p:pic>
        <p:nvPicPr>
          <p:cNvPr id="7" name="Picture 6">
            <a:extLst>
              <a:ext uri="{FF2B5EF4-FFF2-40B4-BE49-F238E27FC236}">
                <a16:creationId xmlns:a16="http://schemas.microsoft.com/office/drawing/2014/main" id="{E4A3C353-F92E-3367-4A60-73F1D244D002}"/>
              </a:ext>
            </a:extLst>
          </p:cNvPr>
          <p:cNvPicPr>
            <a:picLocks noChangeAspect="1"/>
          </p:cNvPicPr>
          <p:nvPr/>
        </p:nvPicPr>
        <p:blipFill>
          <a:blip r:embed="rId5"/>
          <a:srcRect b="57096"/>
          <a:stretch>
            <a:fillRect/>
          </a:stretch>
        </p:blipFill>
        <p:spPr>
          <a:xfrm>
            <a:off x="7711913" y="3480113"/>
            <a:ext cx="3835400" cy="370517"/>
          </a:xfrm>
          <a:prstGeom prst="rect">
            <a:avLst/>
          </a:prstGeom>
        </p:spPr>
      </p:pic>
      <p:pic>
        <p:nvPicPr>
          <p:cNvPr id="10" name="Picture 9">
            <a:extLst>
              <a:ext uri="{FF2B5EF4-FFF2-40B4-BE49-F238E27FC236}">
                <a16:creationId xmlns:a16="http://schemas.microsoft.com/office/drawing/2014/main" id="{C16777D1-3669-1F78-E8B3-FDE8F8AECD56}"/>
              </a:ext>
            </a:extLst>
          </p:cNvPr>
          <p:cNvPicPr>
            <a:picLocks noChangeAspect="1"/>
          </p:cNvPicPr>
          <p:nvPr/>
        </p:nvPicPr>
        <p:blipFill>
          <a:blip r:embed="rId6"/>
          <a:stretch>
            <a:fillRect/>
          </a:stretch>
        </p:blipFill>
        <p:spPr>
          <a:xfrm>
            <a:off x="7711913" y="4017560"/>
            <a:ext cx="3835400" cy="863600"/>
          </a:xfrm>
          <a:prstGeom prst="rect">
            <a:avLst/>
          </a:prstGeom>
        </p:spPr>
      </p:pic>
    </p:spTree>
    <p:extLst>
      <p:ext uri="{BB962C8B-B14F-4D97-AF65-F5344CB8AC3E}">
        <p14:creationId xmlns:p14="http://schemas.microsoft.com/office/powerpoint/2010/main" val="1086518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D26E-3235-FAAE-C90C-7672FDC257DF}"/>
              </a:ext>
            </a:extLst>
          </p:cNvPr>
          <p:cNvSpPr>
            <a:spLocks noGrp="1"/>
          </p:cNvSpPr>
          <p:nvPr>
            <p:ph type="title"/>
          </p:nvPr>
        </p:nvSpPr>
        <p:spPr>
          <a:xfrm>
            <a:off x="188965" y="90864"/>
            <a:ext cx="12153249" cy="890444"/>
          </a:xfrm>
        </p:spPr>
        <p:txBody>
          <a:bodyPr>
            <a:normAutofit/>
          </a:bodyPr>
          <a:lstStyle/>
          <a:p>
            <a:r>
              <a:rPr lang="en-US" sz="3600" dirty="0"/>
              <a:t>THI refers to be an important KPI in milk production.</a:t>
            </a:r>
          </a:p>
        </p:txBody>
      </p:sp>
      <p:pic>
        <p:nvPicPr>
          <p:cNvPr id="3" name="Picture 2" descr="A chart showing different levels of stress&#10;&#10;AI-generated content may be incorrect.">
            <a:extLst>
              <a:ext uri="{FF2B5EF4-FFF2-40B4-BE49-F238E27FC236}">
                <a16:creationId xmlns:a16="http://schemas.microsoft.com/office/drawing/2014/main" id="{32FF6511-BCBC-B016-2A00-51334A583079}"/>
              </a:ext>
            </a:extLst>
          </p:cNvPr>
          <p:cNvPicPr>
            <a:picLocks noChangeAspect="1"/>
          </p:cNvPicPr>
          <p:nvPr/>
        </p:nvPicPr>
        <p:blipFill>
          <a:blip r:embed="rId2">
            <a:clrChange>
              <a:clrFrom>
                <a:srgbClr val="FDFDFD"/>
              </a:clrFrom>
              <a:clrTo>
                <a:srgbClr val="FDFDFD">
                  <a:alpha val="0"/>
                </a:srgbClr>
              </a:clrTo>
            </a:clrChange>
          </a:blip>
          <a:srcRect t="33723" b="32546"/>
          <a:stretch>
            <a:fillRect/>
          </a:stretch>
        </p:blipFill>
        <p:spPr>
          <a:xfrm>
            <a:off x="1186036" y="2336799"/>
            <a:ext cx="9867927" cy="1857829"/>
          </a:xfrm>
          <a:prstGeom prst="rect">
            <a:avLst/>
          </a:prstGeom>
        </p:spPr>
      </p:pic>
      <p:pic>
        <p:nvPicPr>
          <p:cNvPr id="4" name="Picture 3" descr="A chart showing different levels of stress&#10;&#10;AI-generated content may be incorrect.">
            <a:extLst>
              <a:ext uri="{FF2B5EF4-FFF2-40B4-BE49-F238E27FC236}">
                <a16:creationId xmlns:a16="http://schemas.microsoft.com/office/drawing/2014/main" id="{0B00387F-10B3-5590-8BE8-9BA588D72951}"/>
              </a:ext>
            </a:extLst>
          </p:cNvPr>
          <p:cNvPicPr>
            <a:picLocks noChangeAspect="1"/>
          </p:cNvPicPr>
          <p:nvPr/>
        </p:nvPicPr>
        <p:blipFill>
          <a:blip r:embed="rId2">
            <a:clrChange>
              <a:clrFrom>
                <a:srgbClr val="FDFDFD"/>
              </a:clrFrom>
              <a:clrTo>
                <a:srgbClr val="FDFDFD">
                  <a:alpha val="0"/>
                </a:srgbClr>
              </a:clrTo>
            </a:clrChange>
          </a:blip>
          <a:srcRect t="83662" b="5007"/>
          <a:stretch>
            <a:fillRect/>
          </a:stretch>
        </p:blipFill>
        <p:spPr>
          <a:xfrm>
            <a:off x="1138037" y="4020457"/>
            <a:ext cx="9867927" cy="624114"/>
          </a:xfrm>
          <a:prstGeom prst="rect">
            <a:avLst/>
          </a:prstGeom>
        </p:spPr>
      </p:pic>
      <p:sp>
        <p:nvSpPr>
          <p:cNvPr id="7" name="TextBox 6">
            <a:extLst>
              <a:ext uri="{FF2B5EF4-FFF2-40B4-BE49-F238E27FC236}">
                <a16:creationId xmlns:a16="http://schemas.microsoft.com/office/drawing/2014/main" id="{E38FC03A-7AC7-D37E-C2FB-22AB14315213}"/>
              </a:ext>
            </a:extLst>
          </p:cNvPr>
          <p:cNvSpPr txBox="1"/>
          <p:nvPr/>
        </p:nvSpPr>
        <p:spPr>
          <a:xfrm>
            <a:off x="643982" y="5688736"/>
            <a:ext cx="11243217" cy="584775"/>
          </a:xfrm>
          <a:prstGeom prst="rect">
            <a:avLst/>
          </a:prstGeom>
          <a:noFill/>
        </p:spPr>
        <p:txBody>
          <a:bodyPr wrap="square">
            <a:spAutoFit/>
          </a:bodyPr>
          <a:lstStyle/>
          <a:p>
            <a:r>
              <a:rPr lang="en-US" sz="1600" dirty="0">
                <a:solidFill>
                  <a:srgbClr val="333333"/>
                </a:solidFill>
                <a:latin typeface="HelveticaNeue Regular"/>
              </a:rPr>
              <a:t>S. Dash, </a:t>
            </a:r>
            <a:r>
              <a:rPr lang="en-US" sz="1600" i="1" dirty="0">
                <a:solidFill>
                  <a:srgbClr val="333333"/>
                </a:solidFill>
                <a:latin typeface="HelveticaNeue Regular"/>
              </a:rPr>
              <a:t>et al</a:t>
            </a:r>
            <a:r>
              <a:rPr lang="en-US" sz="1600" dirty="0">
                <a:solidFill>
                  <a:srgbClr val="333333"/>
                </a:solidFill>
                <a:latin typeface="HelveticaNeue Regular"/>
              </a:rPr>
              <a:t>, "Effect of heat stress on reproductive performances of dairy cattle and buffaloes: A review," in </a:t>
            </a:r>
            <a:r>
              <a:rPr lang="en-US" sz="1600" i="1" dirty="0">
                <a:solidFill>
                  <a:srgbClr val="333333"/>
                </a:solidFill>
                <a:latin typeface="HelveticaNeue Regular"/>
              </a:rPr>
              <a:t>Veterinary World</a:t>
            </a:r>
            <a:r>
              <a:rPr lang="en-US" sz="1600" dirty="0">
                <a:solidFill>
                  <a:srgbClr val="333333"/>
                </a:solidFill>
                <a:latin typeface="HelveticaNeue Regular"/>
              </a:rPr>
              <a:t>, vol. 9, no. 3, pp. 235–244, Mar. 2016, </a:t>
            </a:r>
            <a:r>
              <a:rPr lang="en-US" sz="1600" dirty="0" err="1">
                <a:solidFill>
                  <a:srgbClr val="333333"/>
                </a:solidFill>
                <a:latin typeface="HelveticaNeue Regular"/>
              </a:rPr>
              <a:t>doi</a:t>
            </a:r>
            <a:r>
              <a:rPr lang="en-US" sz="1600" dirty="0">
                <a:solidFill>
                  <a:srgbClr val="333333"/>
                </a:solidFill>
                <a:latin typeface="HelveticaNeue Regular"/>
              </a:rPr>
              <a:t>: 10.14202/vetworld.2016.235-244.</a:t>
            </a:r>
          </a:p>
        </p:txBody>
      </p:sp>
      <p:sp>
        <p:nvSpPr>
          <p:cNvPr id="8" name="TextBox 7">
            <a:extLst>
              <a:ext uri="{FF2B5EF4-FFF2-40B4-BE49-F238E27FC236}">
                <a16:creationId xmlns:a16="http://schemas.microsoft.com/office/drawing/2014/main" id="{6FA7E73B-1175-12EE-B7CF-42B7C70D0DE2}"/>
              </a:ext>
            </a:extLst>
          </p:cNvPr>
          <p:cNvSpPr txBox="1"/>
          <p:nvPr/>
        </p:nvSpPr>
        <p:spPr>
          <a:xfrm>
            <a:off x="643982" y="5119524"/>
            <a:ext cx="11243217" cy="584775"/>
          </a:xfrm>
          <a:prstGeom prst="rect">
            <a:avLst/>
          </a:prstGeom>
          <a:noFill/>
        </p:spPr>
        <p:txBody>
          <a:bodyPr wrap="square">
            <a:spAutoFit/>
          </a:bodyPr>
          <a:lstStyle/>
          <a:p>
            <a:r>
              <a:rPr lang="en-US" sz="1600" dirty="0">
                <a:solidFill>
                  <a:srgbClr val="333333"/>
                </a:solidFill>
                <a:latin typeface="HelveticaNeue Regular"/>
              </a:rPr>
              <a:t>V. L. de Araujo </a:t>
            </a:r>
            <a:r>
              <a:rPr lang="en-US" sz="1600" i="1" dirty="0">
                <a:solidFill>
                  <a:srgbClr val="333333"/>
                </a:solidFill>
                <a:latin typeface="HelveticaNeue Regular"/>
              </a:rPr>
              <a:t>et al</a:t>
            </a:r>
            <a:r>
              <a:rPr lang="en-US" sz="1600" dirty="0">
                <a:solidFill>
                  <a:srgbClr val="333333"/>
                </a:solidFill>
                <a:latin typeface="HelveticaNeue Regular"/>
              </a:rPr>
              <a:t>, "Responses of dairy buffalo to heat stress conditions and mitigation strategies: A review," in </a:t>
            </a:r>
            <a:r>
              <a:rPr lang="en-US" sz="1600" i="1" dirty="0">
                <a:solidFill>
                  <a:srgbClr val="333333"/>
                </a:solidFill>
                <a:latin typeface="HelveticaNeue Regular"/>
              </a:rPr>
              <a:t>Animals</a:t>
            </a:r>
            <a:r>
              <a:rPr lang="en-US" sz="1600" dirty="0">
                <a:solidFill>
                  <a:srgbClr val="333333"/>
                </a:solidFill>
                <a:latin typeface="HelveticaNeue Regular"/>
              </a:rPr>
              <a:t>, vol. 14, no. 5, Art. no. 731, Feb. 2024, </a:t>
            </a:r>
            <a:r>
              <a:rPr lang="en-US" sz="1600" dirty="0" err="1">
                <a:solidFill>
                  <a:srgbClr val="333333"/>
                </a:solidFill>
                <a:latin typeface="HelveticaNeue Regular"/>
              </a:rPr>
              <a:t>doi</a:t>
            </a:r>
            <a:r>
              <a:rPr lang="en-US" sz="1600" dirty="0">
                <a:solidFill>
                  <a:srgbClr val="333333"/>
                </a:solidFill>
                <a:latin typeface="HelveticaNeue Regular"/>
              </a:rPr>
              <a:t>: 1</a:t>
            </a:r>
            <a:r>
              <a:rPr lang="en-US" sz="1600" dirty="0"/>
              <a:t>0.3390/ani13071260</a:t>
            </a:r>
            <a:endParaRPr lang="en-US" sz="1600" dirty="0">
              <a:solidFill>
                <a:srgbClr val="333333"/>
              </a:solidFill>
              <a:latin typeface="HelveticaNeue Regular"/>
            </a:endParaRPr>
          </a:p>
        </p:txBody>
      </p:sp>
    </p:spTree>
    <p:extLst>
      <p:ext uri="{BB962C8B-B14F-4D97-AF65-F5344CB8AC3E}">
        <p14:creationId xmlns:p14="http://schemas.microsoft.com/office/powerpoint/2010/main" val="40864978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65222-19B4-6B09-8703-062C5FE5B01D}"/>
              </a:ext>
            </a:extLst>
          </p:cNvPr>
          <p:cNvSpPr>
            <a:spLocks noGrp="1"/>
          </p:cNvSpPr>
          <p:nvPr>
            <p:ph type="title"/>
          </p:nvPr>
        </p:nvSpPr>
        <p:spPr>
          <a:xfrm>
            <a:off x="180000" y="180000"/>
            <a:ext cx="11880000" cy="648000"/>
          </a:xfrm>
        </p:spPr>
        <p:txBody>
          <a:bodyPr>
            <a:normAutofit fontScale="90000"/>
          </a:bodyPr>
          <a:lstStyle/>
          <a:p>
            <a:r>
              <a:rPr lang="en-US" dirty="0"/>
              <a:t>Studies on Milk Prediction</a:t>
            </a:r>
          </a:p>
        </p:txBody>
      </p:sp>
      <p:sp>
        <p:nvSpPr>
          <p:cNvPr id="3" name="TextBox 2">
            <a:extLst>
              <a:ext uri="{FF2B5EF4-FFF2-40B4-BE49-F238E27FC236}">
                <a16:creationId xmlns:a16="http://schemas.microsoft.com/office/drawing/2014/main" id="{52F2B243-E716-63AA-5F62-ED627F0F9633}"/>
              </a:ext>
            </a:extLst>
          </p:cNvPr>
          <p:cNvSpPr txBox="1"/>
          <p:nvPr/>
        </p:nvSpPr>
        <p:spPr>
          <a:xfrm>
            <a:off x="483683" y="828000"/>
            <a:ext cx="11272634" cy="5509200"/>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solidFill>
                  <a:srgbClr val="1B415D"/>
                </a:solidFill>
                <a:sym typeface="Wingdings" pitchFamily="2" charset="2"/>
              </a:rPr>
              <a:t>An effective way to incorporate temperature–humidity index to study effect of heat stress on milk yield by an </a:t>
            </a:r>
            <a:r>
              <a:rPr lang="en-US" sz="2200" dirty="0" err="1">
                <a:solidFill>
                  <a:srgbClr val="1B415D"/>
                </a:solidFill>
                <a:sym typeface="Wingdings" pitchFamily="2" charset="2"/>
              </a:rPr>
              <a:t>XGBoost</a:t>
            </a:r>
            <a:r>
              <a:rPr lang="en-US" sz="2200" dirty="0">
                <a:solidFill>
                  <a:srgbClr val="1B415D"/>
                </a:solidFill>
                <a:sym typeface="Wingdings" pitchFamily="2" charset="2"/>
              </a:rPr>
              <a:t> machine learning model</a:t>
            </a:r>
            <a:r>
              <a:rPr lang="fa-IR" sz="2200" dirty="0">
                <a:solidFill>
                  <a:srgbClr val="1B415D"/>
                </a:solidFill>
                <a:sym typeface="Wingdings" pitchFamily="2" charset="2"/>
              </a:rPr>
              <a:t> </a:t>
            </a:r>
            <a:r>
              <a:rPr lang="en-US" sz="2200" dirty="0">
                <a:solidFill>
                  <a:srgbClr val="1B415D"/>
                </a:solidFill>
                <a:sym typeface="Wingdings" pitchFamily="2" charset="2"/>
              </a:rPr>
              <a:t>,by Hassan, 2025</a:t>
            </a:r>
          </a:p>
          <a:p>
            <a:pPr marL="342900" indent="-342900">
              <a:lnSpc>
                <a:spcPct val="150000"/>
              </a:lnSpc>
              <a:buFont typeface="Arial" panose="020B0604020202020204" pitchFamily="34" charset="0"/>
              <a:buChar char="•"/>
            </a:pPr>
            <a:endParaRPr lang="en-US" sz="22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200" dirty="0">
                <a:solidFill>
                  <a:srgbClr val="1B415D"/>
                </a:solidFill>
                <a:sym typeface="Wingdings" pitchFamily="2" charset="2"/>
              </a:rPr>
              <a:t>Development of individual models for predicting cow milk production for real-time monitoring, by Song, 2025</a:t>
            </a:r>
          </a:p>
          <a:p>
            <a:pPr marL="342900" indent="-342900">
              <a:lnSpc>
                <a:spcPct val="150000"/>
              </a:lnSpc>
              <a:buFont typeface="Arial" panose="020B0604020202020204" pitchFamily="34" charset="0"/>
              <a:buChar char="•"/>
            </a:pPr>
            <a:endParaRPr lang="en-US" sz="22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200" dirty="0">
                <a:solidFill>
                  <a:srgbClr val="1B415D"/>
                </a:solidFill>
                <a:sym typeface="Wingdings" pitchFamily="2" charset="2"/>
              </a:rPr>
              <a:t>A machine learning framework to predict the next  month's daily milk yield, milk composition and  milking frequency for cows in a robotic dairy farm, by Ji,2022</a:t>
            </a:r>
          </a:p>
          <a:p>
            <a:pPr marL="342900" indent="-342900">
              <a:buFont typeface="Arial" panose="020B0604020202020204" pitchFamily="34" charset="0"/>
              <a:buChar char="•"/>
            </a:pPr>
            <a:endParaRPr lang="en-US" sz="2200" dirty="0">
              <a:solidFill>
                <a:srgbClr val="1B415D"/>
              </a:solidFill>
              <a:sym typeface="Wingdings" pitchFamily="2" charset="2"/>
            </a:endParaRPr>
          </a:p>
        </p:txBody>
      </p:sp>
    </p:spTree>
    <p:extLst>
      <p:ext uri="{BB962C8B-B14F-4D97-AF65-F5344CB8AC3E}">
        <p14:creationId xmlns:p14="http://schemas.microsoft.com/office/powerpoint/2010/main" val="4030576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B8191-6858-AD0F-847A-A6918CE6E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83EA6-C17E-EC7E-F616-5F56B9A52058}"/>
              </a:ext>
            </a:extLst>
          </p:cNvPr>
          <p:cNvSpPr>
            <a:spLocks noGrp="1"/>
          </p:cNvSpPr>
          <p:nvPr>
            <p:ph type="title"/>
          </p:nvPr>
        </p:nvSpPr>
        <p:spPr>
          <a:xfrm>
            <a:off x="180000" y="180000"/>
            <a:ext cx="11880000" cy="648000"/>
          </a:xfrm>
        </p:spPr>
        <p:txBody>
          <a:bodyPr>
            <a:normAutofit fontScale="90000"/>
          </a:bodyPr>
          <a:lstStyle/>
          <a:p>
            <a:r>
              <a:rPr lang="en-US" dirty="0"/>
              <a:t>Effect of HS on cow milk yield by Hassan, 2025</a:t>
            </a:r>
          </a:p>
        </p:txBody>
      </p:sp>
      <p:sp>
        <p:nvSpPr>
          <p:cNvPr id="3" name="TextBox 2">
            <a:extLst>
              <a:ext uri="{FF2B5EF4-FFF2-40B4-BE49-F238E27FC236}">
                <a16:creationId xmlns:a16="http://schemas.microsoft.com/office/drawing/2014/main" id="{64C3717F-B5CC-6962-F00B-8E13EDE1357B}"/>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M. F. Hasan, </a:t>
            </a:r>
            <a:r>
              <a:rPr lang="en-US" sz="1600" i="1" dirty="0">
                <a:solidFill>
                  <a:srgbClr val="333333"/>
                </a:solidFill>
                <a:latin typeface="HelveticaNeue Regular"/>
              </a:rPr>
              <a:t>et al</a:t>
            </a:r>
            <a:r>
              <a:rPr lang="en-US" sz="1600" dirty="0">
                <a:solidFill>
                  <a:srgbClr val="333333"/>
                </a:solidFill>
                <a:latin typeface="HelveticaNeue Regular"/>
              </a:rPr>
              <a:t> "An effective way to incorporate temperature–humidity index to study effect of heat stress on milk yield by an </a:t>
            </a:r>
            <a:r>
              <a:rPr lang="en-US" sz="1600" dirty="0" err="1">
                <a:solidFill>
                  <a:srgbClr val="333333"/>
                </a:solidFill>
                <a:latin typeface="HelveticaNeue Regular"/>
              </a:rPr>
              <a:t>XGBoost</a:t>
            </a:r>
            <a:r>
              <a:rPr lang="en-US" sz="1600" dirty="0">
                <a:solidFill>
                  <a:srgbClr val="333333"/>
                </a:solidFill>
                <a:latin typeface="HelveticaNeue Regular"/>
              </a:rPr>
              <a:t> machine learning model," in </a:t>
            </a:r>
            <a:r>
              <a:rPr lang="en-US" sz="1600" i="1" dirty="0">
                <a:solidFill>
                  <a:srgbClr val="333333"/>
                </a:solidFill>
                <a:latin typeface="HelveticaNeue Regular"/>
              </a:rPr>
              <a:t>Journal of Dairy Science</a:t>
            </a:r>
            <a:r>
              <a:rPr lang="en-US" sz="1600" dirty="0">
                <a:solidFill>
                  <a:srgbClr val="333333"/>
                </a:solidFill>
                <a:latin typeface="HelveticaNeue Regular"/>
              </a:rPr>
              <a:t>, vol. 108, no. 12, 2025, </a:t>
            </a:r>
            <a:r>
              <a:rPr lang="en-US" sz="1600" dirty="0" err="1">
                <a:solidFill>
                  <a:srgbClr val="333333"/>
                </a:solidFill>
                <a:latin typeface="HelveticaNeue Regular"/>
              </a:rPr>
              <a:t>doi</a:t>
            </a:r>
            <a:r>
              <a:rPr lang="en-US" sz="1600" dirty="0">
                <a:solidFill>
                  <a:srgbClr val="333333"/>
                </a:solidFill>
                <a:latin typeface="HelveticaNeue Regular"/>
              </a:rPr>
              <a:t>: 10.3168/jds.2025-27193.</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F1D6CDFA-2457-7A5E-E76C-4C81913FAD2A}"/>
                  </a:ext>
                </a:extLst>
              </p:cNvPr>
              <p:cNvSpPr txBox="1">
                <a:spLocks/>
              </p:cNvSpPr>
              <p:nvPr/>
            </p:nvSpPr>
            <p:spPr>
              <a:xfrm>
                <a:off x="180000" y="1008528"/>
                <a:ext cx="11880000" cy="4680207"/>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10</a:t>
                </a:r>
                <a:r>
                  <a:rPr lang="en-US" sz="2000" dirty="0"/>
                  <a:t> commercial dairy farms in Australia involving </a:t>
                </a:r>
                <a:r>
                  <a:rPr lang="en-US" sz="2000" u="sng" dirty="0"/>
                  <a:t>3,369</a:t>
                </a:r>
                <a:r>
                  <a:rPr lang="en-US" sz="2000" dirty="0"/>
                  <a:t> lactating cows (primarily Holstein Friesian).</a:t>
                </a:r>
              </a:p>
              <a:p>
                <a:r>
                  <a:rPr lang="en-US" sz="2000" b="1" dirty="0"/>
                  <a:t>Data:</a:t>
                </a:r>
              </a:p>
              <a:p>
                <a:r>
                  <a:rPr lang="en-US" sz="2000" b="1" dirty="0"/>
                  <a:t>	Timeframe:</a:t>
                </a:r>
                <a:r>
                  <a:rPr lang="en-US" sz="2000" dirty="0"/>
                  <a:t> from early 2019 to mid-2023</a:t>
                </a:r>
                <a:endParaRPr lang="en-US" sz="2000" b="1" dirty="0"/>
              </a:p>
              <a:p>
                <a:r>
                  <a:rPr lang="en-US" sz="2000" b="1" dirty="0"/>
                  <a:t>	Milk Data:</a:t>
                </a:r>
                <a:r>
                  <a:rPr lang="en-US" sz="2000" dirty="0"/>
                  <a:t> Daily total yield, milking time, duration, etc.</a:t>
                </a:r>
              </a:p>
              <a:p>
                <a:r>
                  <a:rPr lang="en-US" sz="2000" dirty="0"/>
                  <a:t>	</a:t>
                </a:r>
                <a:r>
                  <a:rPr lang="en-US" sz="2000" b="1" dirty="0"/>
                  <a:t>Animal Info:</a:t>
                </a:r>
                <a:r>
                  <a:rPr lang="en-US" sz="2000" dirty="0"/>
                  <a:t> National ID, birth date, calving date, etc.</a:t>
                </a:r>
              </a:p>
              <a:p>
                <a:r>
                  <a:rPr lang="en-US" sz="2000" dirty="0"/>
                  <a:t>	</a:t>
                </a:r>
                <a:r>
                  <a:rPr lang="en-US" sz="2000" b="1" dirty="0"/>
                  <a:t>Weather Data:</a:t>
                </a:r>
                <a:r>
                  <a:rPr lang="en-US" sz="2000" dirty="0"/>
                  <a:t> a station </a:t>
                </a:r>
                <a:r>
                  <a:rPr lang="en-US" sz="2000" b="1" dirty="0"/>
                  <a:t>&lt;65 km</a:t>
                </a:r>
                <a:r>
                  <a:rPr lang="en-US" sz="2000" dirty="0"/>
                  <a:t> from the farm.</a:t>
                </a:r>
              </a:p>
              <a:p>
                <a:r>
                  <a:rPr lang="en-US" sz="2000" b="1" dirty="0"/>
                  <a:t>Novelty: </a:t>
                </a:r>
                <a:r>
                  <a:rPr lang="en-US" sz="2000" dirty="0"/>
                  <a:t>Replaced standard daily THI with </a:t>
                </a:r>
                <a:r>
                  <a:rPr lang="en-US" sz="2000" b="1" dirty="0"/>
                  <a:t>THI Composite</a:t>
                </a:r>
              </a:p>
              <a:p>
                <a:r>
                  <a:rPr lang="en-US" sz="2000" dirty="0"/>
                  <a:t>	</a:t>
                </a:r>
                <a:r>
                  <a:rPr lang="en-US" sz="2000" b="1" dirty="0"/>
                  <a:t>THI Composite</a:t>
                </a:r>
                <a:r>
                  <a:rPr lang="en-US" sz="2000" dirty="0"/>
                  <a:t> is average of 5-day window of THI=</a:t>
                </a:r>
              </a:p>
              <a:p>
                <a:endParaRPr lang="en-US" sz="2000" dirty="0"/>
              </a:p>
              <a:p>
                <a:r>
                  <a:rPr lang="en-US" sz="2000" b="1" dirty="0"/>
                  <a:t>Methodology:</a:t>
                </a:r>
                <a:r>
                  <a:rPr lang="en-US" sz="2000" dirty="0"/>
                  <a:t> Developed an </a:t>
                </a:r>
                <a:r>
                  <a:rPr lang="en-US" sz="2000" b="1" dirty="0" err="1"/>
                  <a:t>eXtreme</a:t>
                </a:r>
                <a:r>
                  <a:rPr lang="en-US" sz="2000" b="1" dirty="0"/>
                  <a:t> Gradient Boosting (</a:t>
                </a:r>
                <a:r>
                  <a:rPr lang="en-US" sz="2000" b="1" dirty="0" err="1"/>
                  <a:t>XGBoost</a:t>
                </a:r>
                <a:r>
                  <a:rPr lang="en-US" sz="2000" b="1" dirty="0"/>
                  <a:t>)</a:t>
                </a:r>
                <a:r>
                  <a:rPr lang="en-US" sz="2000" dirty="0"/>
                  <a:t> model to predict daily milk </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0.73 </a:t>
                </a:r>
              </a:p>
              <a:p>
                <a:r>
                  <a:rPr lang="en-US" sz="2000" dirty="0"/>
                  <a:t>	Lin’s Concordance Correlation Coefficient (LCCC) = 0.846.</a:t>
                </a:r>
              </a:p>
              <a:p>
                <a:r>
                  <a:rPr lang="en-US" sz="2000" dirty="0"/>
                  <a:t>	</a:t>
                </a:r>
                <a:r>
                  <a:rPr lang="en-US" sz="2000" b="1" dirty="0"/>
                  <a:t>THI composite</a:t>
                </a:r>
                <a:r>
                  <a:rPr lang="en-US" sz="2000" dirty="0"/>
                  <a:t> improved prediction accuracy by up to </a:t>
                </a:r>
                <a:r>
                  <a:rPr lang="en-US" sz="2000" b="1" dirty="0"/>
                  <a:t>21%</a:t>
                </a:r>
                <a:endParaRPr lang="en-US" sz="2000" dirty="0"/>
              </a:p>
            </p:txBody>
          </p:sp>
        </mc:Choice>
        <mc:Fallback>
          <p:sp>
            <p:nvSpPr>
              <p:cNvPr id="4" name="Content Placeholder 2">
                <a:extLst>
                  <a:ext uri="{FF2B5EF4-FFF2-40B4-BE49-F238E27FC236}">
                    <a16:creationId xmlns:a16="http://schemas.microsoft.com/office/drawing/2014/main" id="{F1D6CDFA-2457-7A5E-E76C-4C81913FAD2A}"/>
                  </a:ext>
                </a:extLst>
              </p:cNvPr>
              <p:cNvSpPr txBox="1">
                <a:spLocks noRot="1" noChangeAspect="1" noMove="1" noResize="1" noEditPoints="1" noAdjustHandles="1" noChangeArrowheads="1" noChangeShapeType="1" noTextEdit="1"/>
              </p:cNvSpPr>
              <p:nvPr/>
            </p:nvSpPr>
            <p:spPr>
              <a:xfrm>
                <a:off x="180000" y="1008528"/>
                <a:ext cx="11880000" cy="4680207"/>
              </a:xfrm>
              <a:prstGeom prst="rect">
                <a:avLst/>
              </a:prstGeom>
              <a:blipFill>
                <a:blip r:embed="rId2"/>
                <a:stretch>
                  <a:fillRect l="-321" t="-1084"/>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5DE1CA6-5CD5-FE41-E0A6-724816D77EE8}"/>
              </a:ext>
            </a:extLst>
          </p:cNvPr>
          <p:cNvPicPr>
            <a:picLocks noChangeAspect="1"/>
          </p:cNvPicPr>
          <p:nvPr/>
        </p:nvPicPr>
        <p:blipFill>
          <a:blip r:embed="rId3"/>
          <a:stretch>
            <a:fillRect/>
          </a:stretch>
        </p:blipFill>
        <p:spPr>
          <a:xfrm>
            <a:off x="6323527" y="2995617"/>
            <a:ext cx="5723594" cy="691863"/>
          </a:xfrm>
          <a:prstGeom prst="rect">
            <a:avLst/>
          </a:prstGeom>
        </p:spPr>
      </p:pic>
    </p:spTree>
    <p:extLst>
      <p:ext uri="{BB962C8B-B14F-4D97-AF65-F5344CB8AC3E}">
        <p14:creationId xmlns:p14="http://schemas.microsoft.com/office/powerpoint/2010/main" val="60426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9831D-D18D-68DB-7E59-845DF911A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F2257-21B4-F396-C546-08F14F169CA2}"/>
              </a:ext>
            </a:extLst>
          </p:cNvPr>
          <p:cNvSpPr>
            <a:spLocks noGrp="1"/>
          </p:cNvSpPr>
          <p:nvPr>
            <p:ph type="title"/>
          </p:nvPr>
        </p:nvSpPr>
        <p:spPr>
          <a:xfrm>
            <a:off x="180000" y="180000"/>
            <a:ext cx="11880000" cy="1532686"/>
          </a:xfrm>
        </p:spPr>
        <p:txBody>
          <a:bodyPr>
            <a:normAutofit fontScale="90000"/>
          </a:bodyPr>
          <a:lstStyle/>
          <a:p>
            <a:r>
              <a:rPr lang="en-US" dirty="0"/>
              <a:t>individual models for predicting cow milk production in Korea, by Song,2025</a:t>
            </a:r>
            <a:br>
              <a:rPr lang="en-US" dirty="0"/>
            </a:br>
            <a:endParaRPr lang="en-US" dirty="0"/>
          </a:p>
        </p:txBody>
      </p:sp>
      <p:sp>
        <p:nvSpPr>
          <p:cNvPr id="3" name="TextBox 2">
            <a:extLst>
              <a:ext uri="{FF2B5EF4-FFF2-40B4-BE49-F238E27FC236}">
                <a16:creationId xmlns:a16="http://schemas.microsoft.com/office/drawing/2014/main" id="{AFAFDA7F-4C78-2347-EF66-63CC8EB7241E}"/>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J.-W. Song, </a:t>
            </a:r>
            <a:r>
              <a:rPr lang="en-US" sz="1600" i="1" dirty="0">
                <a:solidFill>
                  <a:srgbClr val="333333"/>
                </a:solidFill>
                <a:latin typeface="HelveticaNeue Regular"/>
              </a:rPr>
              <a:t>et al</a:t>
            </a:r>
            <a:r>
              <a:rPr lang="en-US" sz="1600" dirty="0">
                <a:solidFill>
                  <a:srgbClr val="333333"/>
                </a:solidFill>
                <a:latin typeface="HelveticaNeue Regular"/>
              </a:rPr>
              <a:t> "Development of individual models for predicting cow milk production for real-time monitoring," in </a:t>
            </a:r>
            <a:r>
              <a:rPr lang="en-US" sz="1600" i="1" dirty="0">
                <a:solidFill>
                  <a:srgbClr val="333333"/>
                </a:solidFill>
                <a:latin typeface="HelveticaNeue Regular"/>
              </a:rPr>
              <a:t>Computers and Electronics in Agriculture</a:t>
            </a:r>
            <a:r>
              <a:rPr lang="en-US" sz="1600" dirty="0">
                <a:solidFill>
                  <a:srgbClr val="333333"/>
                </a:solidFill>
                <a:latin typeface="HelveticaNeue Regular"/>
              </a:rPr>
              <a:t>, vol. 228, Art. no. 109698, Jan. 2025, </a:t>
            </a:r>
            <a:r>
              <a:rPr lang="en-US" sz="1600" dirty="0" err="1">
                <a:solidFill>
                  <a:srgbClr val="333333"/>
                </a:solidFill>
                <a:latin typeface="HelveticaNeue Regular"/>
              </a:rPr>
              <a:t>doi</a:t>
            </a:r>
            <a:r>
              <a:rPr lang="en-US" sz="1600" dirty="0">
                <a:solidFill>
                  <a:srgbClr val="333333"/>
                </a:solidFill>
                <a:latin typeface="HelveticaNeue Regular"/>
              </a:rPr>
              <a:t>: 10.1016/j.compag.2024.109698.</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A2765321-D535-CB60-B34E-7170E2DCC73C}"/>
                  </a:ext>
                </a:extLst>
              </p:cNvPr>
              <p:cNvSpPr txBox="1">
                <a:spLocks/>
              </p:cNvSpPr>
              <p:nvPr/>
            </p:nvSpPr>
            <p:spPr>
              <a:xfrm>
                <a:off x="180000" y="1366092"/>
                <a:ext cx="11880000" cy="4322643"/>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4</a:t>
                </a:r>
                <a:r>
                  <a:rPr lang="en-US" sz="2000" dirty="0"/>
                  <a:t> commercial dairy farms in South Korea involving </a:t>
                </a:r>
                <a:r>
                  <a:rPr lang="en-US" sz="2000" u="sng" dirty="0"/>
                  <a:t>727</a:t>
                </a:r>
                <a:r>
                  <a:rPr lang="en-US" sz="2000" dirty="0"/>
                  <a:t> cows</a:t>
                </a:r>
              </a:p>
              <a:p>
                <a:r>
                  <a:rPr lang="en-US" sz="2000" b="1" dirty="0"/>
                  <a:t>Data:</a:t>
                </a:r>
              </a:p>
              <a:p>
                <a:r>
                  <a:rPr lang="en-US" sz="2000" b="1" dirty="0"/>
                  <a:t>	Timeframe:</a:t>
                </a:r>
                <a:r>
                  <a:rPr lang="en-US" sz="2000" dirty="0"/>
                  <a:t> from Jan 2016 to Dec 2018 (3 years)</a:t>
                </a:r>
              </a:p>
              <a:p>
                <a:r>
                  <a:rPr lang="en-US" sz="2000" b="1" dirty="0"/>
                  <a:t>	Milk Data:</a:t>
                </a:r>
                <a:r>
                  <a:rPr lang="en-US" sz="2000" dirty="0"/>
                  <a:t> Daily production volume logged individually via RFID tags.</a:t>
                </a:r>
              </a:p>
              <a:p>
                <a:r>
                  <a:rPr lang="en-US" sz="2000" dirty="0"/>
                  <a:t>	</a:t>
                </a:r>
                <a:r>
                  <a:rPr lang="en-US" sz="2000" b="1" dirty="0"/>
                  <a:t>Animal Info:</a:t>
                </a:r>
                <a:r>
                  <a:rPr lang="en-US" sz="2000" dirty="0"/>
                  <a:t> Parity and Days in Milk (DIM).</a:t>
                </a:r>
              </a:p>
              <a:p>
                <a:r>
                  <a:rPr lang="en-US" sz="2000" dirty="0"/>
                  <a:t>	</a:t>
                </a:r>
                <a:r>
                  <a:rPr lang="en-US" sz="2000" b="1" dirty="0"/>
                  <a:t>Weather Data:</a:t>
                </a:r>
                <a:r>
                  <a:rPr lang="en-US" sz="2000" dirty="0"/>
                  <a:t> </a:t>
                </a:r>
                <a:r>
                  <a:rPr lang="en-US" sz="2000" u="sng" dirty="0"/>
                  <a:t>no weather data used.</a:t>
                </a:r>
              </a:p>
              <a:p>
                <a:r>
                  <a:rPr lang="en-US" sz="2000" b="1" dirty="0"/>
                  <a:t>Novelty: </a:t>
                </a:r>
              </a:p>
              <a:p>
                <a:r>
                  <a:rPr lang="en-US" sz="2000" dirty="0"/>
                  <a:t>	Developed </a:t>
                </a:r>
                <a:r>
                  <a:rPr lang="en-US" sz="2000" b="1" dirty="0"/>
                  <a:t>individual-based </a:t>
                </a:r>
                <a:r>
                  <a:rPr lang="en-US" sz="2000" dirty="0"/>
                  <a:t>models</a:t>
                </a:r>
                <a:r>
                  <a:rPr lang="en-US" sz="2000" b="1" dirty="0"/>
                  <a:t>.</a:t>
                </a:r>
              </a:p>
              <a:p>
                <a:r>
                  <a:rPr lang="en-US" sz="2000" b="1" dirty="0"/>
                  <a:t>	</a:t>
                </a:r>
                <a:r>
                  <a:rPr lang="en-US" sz="2000" dirty="0"/>
                  <a:t>Modified</a:t>
                </a:r>
                <a:r>
                  <a:rPr lang="en-US" sz="2000" b="1" dirty="0"/>
                  <a:t> </a:t>
                </a:r>
                <a:r>
                  <a:rPr lang="en-US" sz="2000" b="1" dirty="0" err="1"/>
                  <a:t>Wilmink</a:t>
                </a:r>
                <a:r>
                  <a:rPr lang="en-US" sz="2000" b="1" dirty="0"/>
                  <a:t> </a:t>
                </a:r>
                <a:r>
                  <a:rPr lang="en-US" sz="2000" dirty="0"/>
                  <a:t>Model used for prediction</a:t>
                </a:r>
              </a:p>
              <a:p>
                <a:r>
                  <a:rPr lang="en-US" sz="2000" b="1" dirty="0"/>
                  <a:t>Methodology:</a:t>
                </a:r>
                <a:r>
                  <a:rPr lang="en-US" sz="2000" dirty="0"/>
                  <a:t> Combined </a:t>
                </a:r>
                <a:r>
                  <a:rPr lang="en-US" sz="2000" b="1" dirty="0"/>
                  <a:t>Simple Exponential Smoothing</a:t>
                </a:r>
                <a:r>
                  <a:rPr lang="en-US" sz="2000" dirty="0"/>
                  <a:t> with </a:t>
                </a:r>
                <a:r>
                  <a:rPr lang="en-US" sz="2000" b="1" dirty="0"/>
                  <a:t>Modified </a:t>
                </a:r>
                <a:r>
                  <a:rPr lang="en-US" sz="2000" b="1" dirty="0" err="1"/>
                  <a:t>Wilmink</a:t>
                </a:r>
                <a:r>
                  <a:rPr lang="en-US" sz="2000" b="1" dirty="0"/>
                  <a:t> regression</a:t>
                </a:r>
                <a:r>
                  <a:rPr lang="en-US" sz="2000" dirty="0"/>
                  <a:t> to predict daily milk</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0.875 </a:t>
                </a:r>
              </a:p>
              <a:p>
                <a:r>
                  <a:rPr lang="en-US" sz="2000" dirty="0"/>
                  <a:t>	Root Mean Squared Error (RMSE) = 2.192</a:t>
                </a:r>
              </a:p>
            </p:txBody>
          </p:sp>
        </mc:Choice>
        <mc:Fallback>
          <p:sp>
            <p:nvSpPr>
              <p:cNvPr id="4" name="Content Placeholder 2">
                <a:extLst>
                  <a:ext uri="{FF2B5EF4-FFF2-40B4-BE49-F238E27FC236}">
                    <a16:creationId xmlns:a16="http://schemas.microsoft.com/office/drawing/2014/main" id="{A2765321-D535-CB60-B34E-7170E2DCC73C}"/>
                  </a:ext>
                </a:extLst>
              </p:cNvPr>
              <p:cNvSpPr txBox="1">
                <a:spLocks noRot="1" noChangeAspect="1" noMove="1" noResize="1" noEditPoints="1" noAdjustHandles="1" noChangeArrowheads="1" noChangeShapeType="1" noTextEdit="1"/>
              </p:cNvSpPr>
              <p:nvPr/>
            </p:nvSpPr>
            <p:spPr>
              <a:xfrm>
                <a:off x="180000" y="1366092"/>
                <a:ext cx="11880000" cy="4322643"/>
              </a:xfrm>
              <a:prstGeom prst="rect">
                <a:avLst/>
              </a:prstGeom>
              <a:blipFill>
                <a:blip r:embed="rId2"/>
                <a:stretch>
                  <a:fillRect l="-321" t="-880"/>
                </a:stretch>
              </a:blipFill>
            </p:spPr>
            <p:txBody>
              <a:bodyPr/>
              <a:lstStyle/>
              <a:p>
                <a:r>
                  <a:rPr lang="en-US">
                    <a:noFill/>
                  </a:rPr>
                  <a:t> </a:t>
                </a:r>
              </a:p>
            </p:txBody>
          </p:sp>
        </mc:Fallback>
      </mc:AlternateContent>
    </p:spTree>
    <p:extLst>
      <p:ext uri="{BB962C8B-B14F-4D97-AF65-F5344CB8AC3E}">
        <p14:creationId xmlns:p14="http://schemas.microsoft.com/office/powerpoint/2010/main" val="12193524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FBC5E-AA9F-E0B3-86DC-F1AAF9CB20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ED0AF-1052-2FCD-5190-540085366D4C}"/>
              </a:ext>
            </a:extLst>
          </p:cNvPr>
          <p:cNvSpPr>
            <a:spLocks noGrp="1"/>
          </p:cNvSpPr>
          <p:nvPr>
            <p:ph type="title"/>
          </p:nvPr>
        </p:nvSpPr>
        <p:spPr>
          <a:xfrm>
            <a:off x="180000" y="180000"/>
            <a:ext cx="11880000" cy="1663314"/>
          </a:xfrm>
        </p:spPr>
        <p:txBody>
          <a:bodyPr>
            <a:normAutofit fontScale="90000"/>
          </a:bodyPr>
          <a:lstStyle/>
          <a:p>
            <a:r>
              <a:rPr lang="en-US" dirty="0"/>
              <a:t>predict the next month's daily cow milk yield in Australia by Ji,2022</a:t>
            </a:r>
            <a:br>
              <a:rPr lang="en-US" dirty="0"/>
            </a:br>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7B599FA-FADF-5AA8-1DDF-64F4877935AF}"/>
                  </a:ext>
                </a:extLst>
              </p:cNvPr>
              <p:cNvSpPr txBox="1">
                <a:spLocks/>
              </p:cNvSpPr>
              <p:nvPr/>
            </p:nvSpPr>
            <p:spPr>
              <a:xfrm>
                <a:off x="180000" y="1366092"/>
                <a:ext cx="11880000" cy="4404513"/>
              </a:xfrm>
              <a:prstGeom prst="rect">
                <a:avLst/>
              </a:prstGeom>
            </p:spPr>
            <p:txBody>
              <a:bodyPr>
                <a:normAutofit fontScale="850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a:t>
                </a:r>
                <a:r>
                  <a:rPr lang="en-US" sz="2000" dirty="0"/>
                  <a:t> commercial robotic dairy farm in Australia involving 80 lactating cows.</a:t>
                </a:r>
              </a:p>
              <a:p>
                <a:r>
                  <a:rPr lang="en-US" sz="2000" b="1" dirty="0"/>
                  <a:t>Data:</a:t>
                </a:r>
              </a:p>
              <a:p>
                <a:r>
                  <a:rPr lang="en-US" sz="2000" b="1" dirty="0"/>
                  <a:t>	Timeframe:</a:t>
                </a:r>
                <a:r>
                  <a:rPr lang="en-US" sz="2000" dirty="0"/>
                  <a:t> from 2013 to 2018 (5 years).   </a:t>
                </a:r>
              </a:p>
              <a:p>
                <a:r>
                  <a:rPr lang="en-US" sz="2000" b="1" dirty="0"/>
                  <a:t>	Milk Data:</a:t>
                </a:r>
                <a:r>
                  <a:rPr lang="en-US" sz="2000" dirty="0"/>
                  <a:t> Daily yield (DMY), composition (fat, protein), milking frequency, milk temperature.</a:t>
                </a:r>
              </a:p>
              <a:p>
                <a:r>
                  <a:rPr lang="en-US" sz="2000" dirty="0"/>
                  <a:t>	</a:t>
                </a:r>
                <a:r>
                  <a:rPr lang="en-US" sz="2000" b="1" dirty="0"/>
                  <a:t>Animal Info:</a:t>
                </a:r>
                <a:r>
                  <a:rPr lang="en-US" sz="2000" dirty="0"/>
                  <a:t> Cow ID, age, body mass, days in milk (DIM), dry matter intake (DMI).</a:t>
                </a:r>
              </a:p>
              <a:p>
                <a:r>
                  <a:rPr lang="en-US" sz="2000" dirty="0"/>
                  <a:t>	</a:t>
                </a:r>
                <a:r>
                  <a:rPr lang="en-US" sz="2000" b="1" dirty="0"/>
                  <a:t>Weather Data:</a:t>
                </a:r>
                <a:r>
                  <a:rPr lang="en-US" sz="2000" dirty="0"/>
                  <a:t> a station </a:t>
                </a:r>
                <a:r>
                  <a:rPr lang="en-US" sz="2000" b="1" dirty="0"/>
                  <a:t>~2 km</a:t>
                </a:r>
                <a:r>
                  <a:rPr lang="en-US" sz="2000" dirty="0"/>
                  <a:t> from the farm</a:t>
                </a:r>
              </a:p>
              <a:p>
                <a:r>
                  <a:rPr lang="en-US" sz="2000" b="1" dirty="0"/>
                  <a:t>Novelty: </a:t>
                </a:r>
              </a:p>
              <a:p>
                <a:r>
                  <a:rPr lang="en-US" sz="2000" dirty="0"/>
                  <a:t>	</a:t>
                </a:r>
                <a:r>
                  <a:rPr lang="en-US" sz="2000" b="1" dirty="0"/>
                  <a:t>individual cow</a:t>
                </a:r>
                <a:r>
                  <a:rPr lang="en-US" sz="2000" dirty="0"/>
                  <a:t> prediction over a </a:t>
                </a:r>
                <a:r>
                  <a:rPr lang="en-US" sz="2000" b="1" dirty="0"/>
                  <a:t>28-day</a:t>
                </a:r>
              </a:p>
              <a:p>
                <a:r>
                  <a:rPr lang="en-US" sz="2000" b="1" dirty="0"/>
                  <a:t>Methodology:</a:t>
                </a:r>
                <a:r>
                  <a:rPr lang="en-US" sz="2000" dirty="0"/>
                  <a:t> Developed </a:t>
                </a:r>
                <a:r>
                  <a:rPr lang="en-US" sz="2000" b="1" dirty="0" err="1"/>
                  <a:t>eXtreme</a:t>
                </a:r>
                <a:r>
                  <a:rPr lang="en-US" sz="2000" b="1" dirty="0"/>
                  <a:t> Gradient Boosting (</a:t>
                </a:r>
                <a:r>
                  <a:rPr lang="en-US" sz="2000" b="1" dirty="0" err="1"/>
                  <a:t>XGBoost</a:t>
                </a:r>
                <a:r>
                  <a:rPr lang="en-US" sz="2000" b="1" dirty="0"/>
                  <a:t>)</a:t>
                </a:r>
                <a:r>
                  <a:rPr lang="en-US" sz="2000" dirty="0"/>
                  <a:t> regression and classification models to predict future production</a:t>
                </a:r>
              </a:p>
              <a:p>
                <a:r>
                  <a:rPr lang="en-US" sz="2000" b="1" dirty="0"/>
                  <a:t>Performance &amp; Metrics: </a:t>
                </a:r>
              </a:p>
              <a:p>
                <a:r>
                  <a:rPr lang="en-US" sz="2000" i="1" dirty="0">
                    <a:latin typeface="Cambria Math" panose="02040503050406030204" pitchFamily="18" charset="0"/>
                  </a:rPr>
                  <a:t>	</a:t>
                </a:r>
                <a:r>
                  <a:rPr lang="en-US" sz="2000" dirty="0"/>
                  <a:t>mean accuracy for daily milk yield = 91.92 %</a:t>
                </a: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&gt; </m:t>
                    </m:r>
                  </m:oMath>
                </a14:m>
                <a:r>
                  <a:rPr lang="en-US" sz="2000" dirty="0"/>
                  <a:t>0.9 </a:t>
                </a:r>
              </a:p>
            </p:txBody>
          </p:sp>
        </mc:Choice>
        <mc:Fallback xmlns="">
          <p:sp>
            <p:nvSpPr>
              <p:cNvPr id="4" name="Content Placeholder 2">
                <a:extLst>
                  <a:ext uri="{FF2B5EF4-FFF2-40B4-BE49-F238E27FC236}">
                    <a16:creationId xmlns:a16="http://schemas.microsoft.com/office/drawing/2014/main" id="{A7B599FA-FADF-5AA8-1DDF-64F4877935AF}"/>
                  </a:ext>
                </a:extLst>
              </p:cNvPr>
              <p:cNvSpPr txBox="1">
                <a:spLocks noRot="1" noChangeAspect="1" noMove="1" noResize="1" noEditPoints="1" noAdjustHandles="1" noChangeArrowheads="1" noChangeShapeType="1" noTextEdit="1"/>
              </p:cNvSpPr>
              <p:nvPr/>
            </p:nvSpPr>
            <p:spPr>
              <a:xfrm>
                <a:off x="180000" y="1366092"/>
                <a:ext cx="11880000" cy="4404513"/>
              </a:xfrm>
              <a:prstGeom prst="rect">
                <a:avLst/>
              </a:prstGeom>
              <a:blipFill>
                <a:blip r:embed="rId2"/>
                <a:stretch>
                  <a:fillRect l="-321" t="-143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D81D9710-E410-5B61-3247-499E0A8D0A5E}"/>
              </a:ext>
            </a:extLst>
          </p:cNvPr>
          <p:cNvSpPr txBox="1"/>
          <p:nvPr/>
        </p:nvSpPr>
        <p:spPr>
          <a:xfrm>
            <a:off x="446270" y="5688736"/>
            <a:ext cx="11725132" cy="584775"/>
          </a:xfrm>
          <a:prstGeom prst="rect">
            <a:avLst/>
          </a:prstGeom>
          <a:noFill/>
        </p:spPr>
        <p:txBody>
          <a:bodyPr wrap="square">
            <a:spAutoFit/>
          </a:bodyPr>
          <a:lstStyle/>
          <a:p>
            <a:r>
              <a:rPr lang="en-US" sz="1600" b="0" i="0" dirty="0">
                <a:solidFill>
                  <a:srgbClr val="333333"/>
                </a:solidFill>
                <a:effectLst/>
                <a:latin typeface="HelveticaNeue Regular"/>
              </a:rPr>
              <a:t>B. Ji </a:t>
            </a:r>
            <a:r>
              <a:rPr lang="en-US" sz="1600" b="0" i="1" dirty="0">
                <a:solidFill>
                  <a:srgbClr val="333333"/>
                </a:solidFill>
                <a:effectLst/>
                <a:latin typeface="HelveticaNeue Regular"/>
              </a:rPr>
              <a:t>et al., </a:t>
            </a:r>
            <a:r>
              <a:rPr lang="en-US" sz="1600" b="0" i="0" dirty="0">
                <a:solidFill>
                  <a:srgbClr val="333333"/>
                </a:solidFill>
                <a:effectLst/>
                <a:latin typeface="HelveticaNeue Regular"/>
              </a:rPr>
              <a:t>"A machine learning framework to predict the next month's daily milk yield, milk composition and milking frequency for cows in a robotic dairy farm," in </a:t>
            </a:r>
            <a:r>
              <a:rPr lang="en-US" sz="1600" b="0" i="1" dirty="0" err="1">
                <a:solidFill>
                  <a:srgbClr val="333333"/>
                </a:solidFill>
                <a:effectLst/>
                <a:latin typeface="HelveticaNeue Regular"/>
              </a:rPr>
              <a:t>Biosyst</a:t>
            </a:r>
            <a:r>
              <a:rPr lang="en-US" sz="1600" b="0" i="1" dirty="0">
                <a:solidFill>
                  <a:srgbClr val="333333"/>
                </a:solidFill>
                <a:effectLst/>
                <a:latin typeface="HelveticaNeue Regular"/>
              </a:rPr>
              <a:t>. Eng</a:t>
            </a:r>
            <a:r>
              <a:rPr lang="en-US" sz="1600" b="0" i="0" dirty="0">
                <a:solidFill>
                  <a:srgbClr val="333333"/>
                </a:solidFill>
                <a:effectLst/>
                <a:latin typeface="HelveticaNeue Regular"/>
              </a:rPr>
              <a:t>., vol. 216, pp. 186–197, Apr. 2022, </a:t>
            </a:r>
            <a:r>
              <a:rPr lang="en-US" sz="1600" b="0" i="0" dirty="0" err="1">
                <a:solidFill>
                  <a:srgbClr val="333333"/>
                </a:solidFill>
                <a:effectLst/>
                <a:latin typeface="HelveticaNeue Regular"/>
              </a:rPr>
              <a:t>doi</a:t>
            </a:r>
            <a:r>
              <a:rPr lang="en-US" sz="1600" b="0" i="0" dirty="0">
                <a:solidFill>
                  <a:srgbClr val="333333"/>
                </a:solidFill>
                <a:effectLst/>
                <a:latin typeface="HelveticaNeue Regular"/>
              </a:rPr>
              <a:t>: 10.1016/j.biosystemseng.2022.02.013.</a:t>
            </a:r>
            <a:endParaRPr lang="en-US" sz="1600" dirty="0"/>
          </a:p>
        </p:txBody>
      </p:sp>
    </p:spTree>
    <p:extLst>
      <p:ext uri="{BB962C8B-B14F-4D97-AF65-F5344CB8AC3E}">
        <p14:creationId xmlns:p14="http://schemas.microsoft.com/office/powerpoint/2010/main" val="26516401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84BF0-D328-97B4-BD00-6BACE7EC52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F1542-AF06-2670-2D78-9B5708F30D63}"/>
              </a:ext>
            </a:extLst>
          </p:cNvPr>
          <p:cNvSpPr>
            <a:spLocks noGrp="1"/>
          </p:cNvSpPr>
          <p:nvPr>
            <p:ph type="title"/>
          </p:nvPr>
        </p:nvSpPr>
        <p:spPr>
          <a:xfrm>
            <a:off x="180000" y="180000"/>
            <a:ext cx="11880000" cy="648000"/>
          </a:xfrm>
        </p:spPr>
        <p:txBody>
          <a:bodyPr>
            <a:normAutofit/>
          </a:bodyPr>
          <a:lstStyle/>
          <a:p>
            <a:r>
              <a:rPr lang="en-US" sz="3600" dirty="0"/>
              <a:t>Effect of Calving on Milk Yield</a:t>
            </a:r>
          </a:p>
        </p:txBody>
      </p:sp>
      <p:pic>
        <p:nvPicPr>
          <p:cNvPr id="4" name="Picture 3">
            <a:extLst>
              <a:ext uri="{FF2B5EF4-FFF2-40B4-BE49-F238E27FC236}">
                <a16:creationId xmlns:a16="http://schemas.microsoft.com/office/drawing/2014/main" id="{135DA577-8FED-9F61-0D01-51EB7F1D71EF}"/>
              </a:ext>
            </a:extLst>
          </p:cNvPr>
          <p:cNvPicPr>
            <a:picLocks noChangeAspect="1"/>
          </p:cNvPicPr>
          <p:nvPr/>
        </p:nvPicPr>
        <p:blipFill>
          <a:blip r:embed="rId2"/>
          <a:stretch>
            <a:fillRect/>
          </a:stretch>
        </p:blipFill>
        <p:spPr>
          <a:xfrm>
            <a:off x="461654" y="2308685"/>
            <a:ext cx="5029200" cy="3017520"/>
          </a:xfrm>
          <a:prstGeom prst="rect">
            <a:avLst/>
          </a:prstGeom>
        </p:spPr>
      </p:pic>
      <p:pic>
        <p:nvPicPr>
          <p:cNvPr id="6" name="Picture 5">
            <a:extLst>
              <a:ext uri="{FF2B5EF4-FFF2-40B4-BE49-F238E27FC236}">
                <a16:creationId xmlns:a16="http://schemas.microsoft.com/office/drawing/2014/main" id="{7E46FB0D-2EDC-7946-25AA-F5C906B1ECA3}"/>
              </a:ext>
            </a:extLst>
          </p:cNvPr>
          <p:cNvPicPr>
            <a:picLocks noChangeAspect="1"/>
          </p:cNvPicPr>
          <p:nvPr/>
        </p:nvPicPr>
        <p:blipFill>
          <a:blip r:embed="rId3"/>
          <a:stretch>
            <a:fillRect/>
          </a:stretch>
        </p:blipFill>
        <p:spPr>
          <a:xfrm>
            <a:off x="6701147" y="2308685"/>
            <a:ext cx="5029200" cy="3017520"/>
          </a:xfrm>
          <a:prstGeom prst="rect">
            <a:avLst/>
          </a:prstGeom>
        </p:spPr>
      </p:pic>
      <p:sp>
        <p:nvSpPr>
          <p:cNvPr id="8" name="TextBox 7">
            <a:extLst>
              <a:ext uri="{FF2B5EF4-FFF2-40B4-BE49-F238E27FC236}">
                <a16:creationId xmlns:a16="http://schemas.microsoft.com/office/drawing/2014/main" id="{91350020-D726-36AB-CFA3-8158B0F29ED8}"/>
              </a:ext>
            </a:extLst>
          </p:cNvPr>
          <p:cNvSpPr txBox="1"/>
          <p:nvPr/>
        </p:nvSpPr>
        <p:spPr>
          <a:xfrm>
            <a:off x="753408" y="1166866"/>
            <a:ext cx="4826777" cy="615553"/>
          </a:xfrm>
          <a:prstGeom prst="rect">
            <a:avLst/>
          </a:prstGeom>
          <a:noFill/>
        </p:spPr>
        <p:txBody>
          <a:bodyPr wrap="square">
            <a:spAutoFit/>
          </a:bodyPr>
          <a:lstStyle/>
          <a:p>
            <a:pPr rtl="0">
              <a:spcAft>
                <a:spcPts val="1200"/>
              </a:spcAft>
              <a:buNone/>
            </a:pPr>
            <a:r>
              <a:rPr lang="en-US" sz="1700" dirty="0"/>
              <a:t>A higher age at first calving is associated with an increased average daily milk yield.</a:t>
            </a:r>
          </a:p>
        </p:txBody>
      </p:sp>
      <p:sp>
        <p:nvSpPr>
          <p:cNvPr id="9" name="TextBox 8">
            <a:extLst>
              <a:ext uri="{FF2B5EF4-FFF2-40B4-BE49-F238E27FC236}">
                <a16:creationId xmlns:a16="http://schemas.microsoft.com/office/drawing/2014/main" id="{5B00CD5C-DECA-4A0C-52D1-0278474D1057}"/>
              </a:ext>
            </a:extLst>
          </p:cNvPr>
          <p:cNvSpPr txBox="1"/>
          <p:nvPr/>
        </p:nvSpPr>
        <p:spPr>
          <a:xfrm>
            <a:off x="6992902" y="1169912"/>
            <a:ext cx="4737444" cy="1138773"/>
          </a:xfrm>
          <a:prstGeom prst="rect">
            <a:avLst/>
          </a:prstGeom>
          <a:noFill/>
        </p:spPr>
        <p:txBody>
          <a:bodyPr wrap="square">
            <a:spAutoFit/>
          </a:bodyPr>
          <a:lstStyle/>
          <a:p>
            <a:pPr rtl="0">
              <a:spcAft>
                <a:spcPts val="1200"/>
              </a:spcAft>
              <a:buNone/>
            </a:pPr>
            <a:r>
              <a:rPr lang="en-US" sz="1700" dirty="0"/>
              <a:t>Average daily milk yield is significantly influenced by the calving season, with peak production observed during the winter and spring months.</a:t>
            </a:r>
          </a:p>
        </p:txBody>
      </p:sp>
      <p:sp>
        <p:nvSpPr>
          <p:cNvPr id="10" name="TextBox 9">
            <a:extLst>
              <a:ext uri="{FF2B5EF4-FFF2-40B4-BE49-F238E27FC236}">
                <a16:creationId xmlns:a16="http://schemas.microsoft.com/office/drawing/2014/main" id="{9AAF1E99-8CC4-BAA2-40C2-F205DCAE4CEA}"/>
              </a:ext>
            </a:extLst>
          </p:cNvPr>
          <p:cNvSpPr txBox="1"/>
          <p:nvPr/>
        </p:nvSpPr>
        <p:spPr>
          <a:xfrm>
            <a:off x="446270" y="5688736"/>
            <a:ext cx="11428573" cy="584775"/>
          </a:xfrm>
          <a:prstGeom prst="rect">
            <a:avLst/>
          </a:prstGeom>
          <a:noFill/>
        </p:spPr>
        <p:txBody>
          <a:bodyPr wrap="square">
            <a:spAutoFit/>
          </a:bodyPr>
          <a:lstStyle/>
          <a:p>
            <a:r>
              <a:rPr lang="en-US" sz="1600" dirty="0"/>
              <a:t>M. </a:t>
            </a:r>
            <a:r>
              <a:rPr lang="en-US" sz="1600" dirty="0" err="1"/>
              <a:t>Santinello</a:t>
            </a:r>
            <a:r>
              <a:rPr lang="en-US" sz="1600" dirty="0"/>
              <a:t>, G. Neglia, </a:t>
            </a:r>
            <a:r>
              <a:rPr lang="en-US" sz="1600" i="1" dirty="0"/>
              <a:t>et al</a:t>
            </a:r>
            <a:r>
              <a:rPr lang="en-US" sz="1600" dirty="0"/>
              <a:t>., "The role of age at first calving in shaping production and reproductive outcomes in Italian buffaloes," in </a:t>
            </a:r>
            <a:r>
              <a:rPr lang="en-US" sz="1600" i="1" dirty="0"/>
              <a:t>J. Dairy Sci.</a:t>
            </a:r>
            <a:r>
              <a:rPr lang="en-US" sz="1600" dirty="0"/>
              <a:t>, vol. 108, no. 7, pp. 7235–7247, Jul. 2025, </a:t>
            </a:r>
            <a:r>
              <a:rPr lang="en-US" sz="1600" dirty="0" err="1"/>
              <a:t>doi</a:t>
            </a:r>
            <a:r>
              <a:rPr lang="en-US" sz="1600" dirty="0"/>
              <a:t>: 10.3168/jds.2025-26369.</a:t>
            </a:r>
          </a:p>
        </p:txBody>
      </p:sp>
    </p:spTree>
    <p:extLst>
      <p:ext uri="{BB962C8B-B14F-4D97-AF65-F5344CB8AC3E}">
        <p14:creationId xmlns:p14="http://schemas.microsoft.com/office/powerpoint/2010/main" val="19049547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7399C-66C7-BA31-F885-982E18A05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8D0F4F-5F00-B158-92F8-BE610A988DAA}"/>
              </a:ext>
            </a:extLst>
          </p:cNvPr>
          <p:cNvSpPr>
            <a:spLocks noGrp="1"/>
          </p:cNvSpPr>
          <p:nvPr>
            <p:ph type="title"/>
          </p:nvPr>
        </p:nvSpPr>
        <p:spPr>
          <a:xfrm>
            <a:off x="180000" y="180000"/>
            <a:ext cx="11880000" cy="648000"/>
          </a:xfrm>
        </p:spPr>
        <p:txBody>
          <a:bodyPr>
            <a:normAutofit/>
          </a:bodyPr>
          <a:lstStyle/>
          <a:p>
            <a:r>
              <a:rPr lang="en-US" sz="3600" dirty="0"/>
              <a:t>Effect of Days in Milk and Parity on Milk Yield</a:t>
            </a:r>
          </a:p>
        </p:txBody>
      </p:sp>
      <p:pic>
        <p:nvPicPr>
          <p:cNvPr id="4" name="Picture 3" descr="A graph with a line going up&#10;&#10;AI-generated content may be incorrect.">
            <a:extLst>
              <a:ext uri="{FF2B5EF4-FFF2-40B4-BE49-F238E27FC236}">
                <a16:creationId xmlns:a16="http://schemas.microsoft.com/office/drawing/2014/main" id="{1FB86E42-A77E-A743-799A-543FC2747F1A}"/>
              </a:ext>
            </a:extLst>
          </p:cNvPr>
          <p:cNvPicPr>
            <a:picLocks noChangeAspect="1"/>
          </p:cNvPicPr>
          <p:nvPr/>
        </p:nvPicPr>
        <p:blipFill>
          <a:blip r:embed="rId2"/>
          <a:stretch>
            <a:fillRect/>
          </a:stretch>
        </p:blipFill>
        <p:spPr>
          <a:xfrm>
            <a:off x="480645" y="2283572"/>
            <a:ext cx="5029200" cy="3017520"/>
          </a:xfrm>
          <a:prstGeom prst="rect">
            <a:avLst/>
          </a:prstGeom>
        </p:spPr>
      </p:pic>
      <p:pic>
        <p:nvPicPr>
          <p:cNvPr id="6" name="Picture 5" descr="A graph of milk yield&#10;&#10;AI-generated content may be incorrect.">
            <a:extLst>
              <a:ext uri="{FF2B5EF4-FFF2-40B4-BE49-F238E27FC236}">
                <a16:creationId xmlns:a16="http://schemas.microsoft.com/office/drawing/2014/main" id="{D4DF7BE3-58C5-407D-5A98-90BFE4D15712}"/>
              </a:ext>
            </a:extLst>
          </p:cNvPr>
          <p:cNvPicPr>
            <a:picLocks noChangeAspect="1"/>
          </p:cNvPicPr>
          <p:nvPr/>
        </p:nvPicPr>
        <p:blipFill>
          <a:blip r:embed="rId3"/>
          <a:stretch>
            <a:fillRect/>
          </a:stretch>
        </p:blipFill>
        <p:spPr>
          <a:xfrm>
            <a:off x="6682157" y="2283572"/>
            <a:ext cx="5029200" cy="3017520"/>
          </a:xfrm>
          <a:prstGeom prst="rect">
            <a:avLst/>
          </a:prstGeom>
        </p:spPr>
      </p:pic>
      <p:sp>
        <p:nvSpPr>
          <p:cNvPr id="8" name="TextBox 7">
            <a:extLst>
              <a:ext uri="{FF2B5EF4-FFF2-40B4-BE49-F238E27FC236}">
                <a16:creationId xmlns:a16="http://schemas.microsoft.com/office/drawing/2014/main" id="{E45BCF09-F01B-C5FD-578B-E4210963DFE8}"/>
              </a:ext>
            </a:extLst>
          </p:cNvPr>
          <p:cNvSpPr txBox="1"/>
          <p:nvPr/>
        </p:nvSpPr>
        <p:spPr>
          <a:xfrm>
            <a:off x="753035" y="1071755"/>
            <a:ext cx="4862837" cy="877163"/>
          </a:xfrm>
          <a:prstGeom prst="rect">
            <a:avLst/>
          </a:prstGeom>
          <a:noFill/>
        </p:spPr>
        <p:txBody>
          <a:bodyPr wrap="square">
            <a:spAutoFit/>
          </a:bodyPr>
          <a:lstStyle/>
          <a:p>
            <a:pPr>
              <a:spcAft>
                <a:spcPts val="1200"/>
              </a:spcAft>
            </a:pPr>
            <a:r>
              <a:rPr lang="en-US" sz="1700" dirty="0"/>
              <a:t>Daily milk output peaks roughly one to two months after calving and then steadily decreases.</a:t>
            </a:r>
          </a:p>
        </p:txBody>
      </p:sp>
      <p:sp>
        <p:nvSpPr>
          <p:cNvPr id="10" name="TextBox 9">
            <a:extLst>
              <a:ext uri="{FF2B5EF4-FFF2-40B4-BE49-F238E27FC236}">
                <a16:creationId xmlns:a16="http://schemas.microsoft.com/office/drawing/2014/main" id="{CC55EB27-6855-DCF5-F39F-62305189C1DF}"/>
              </a:ext>
            </a:extLst>
          </p:cNvPr>
          <p:cNvSpPr txBox="1"/>
          <p:nvPr/>
        </p:nvSpPr>
        <p:spPr>
          <a:xfrm>
            <a:off x="7033846" y="938502"/>
            <a:ext cx="4677509" cy="877163"/>
          </a:xfrm>
          <a:prstGeom prst="rect">
            <a:avLst/>
          </a:prstGeom>
          <a:noFill/>
        </p:spPr>
        <p:txBody>
          <a:bodyPr wrap="square">
            <a:spAutoFit/>
          </a:bodyPr>
          <a:lstStyle/>
          <a:p>
            <a:r>
              <a:rPr lang="en-US" sz="1700" dirty="0"/>
              <a:t>Cumulative milk yield is highest in their second and third parities, regardless of their age at first calving.</a:t>
            </a:r>
          </a:p>
        </p:txBody>
      </p:sp>
      <p:sp>
        <p:nvSpPr>
          <p:cNvPr id="11" name="TextBox 10">
            <a:extLst>
              <a:ext uri="{FF2B5EF4-FFF2-40B4-BE49-F238E27FC236}">
                <a16:creationId xmlns:a16="http://schemas.microsoft.com/office/drawing/2014/main" id="{12A4C79C-7986-8D3B-EA04-A7340A30068A}"/>
              </a:ext>
            </a:extLst>
          </p:cNvPr>
          <p:cNvSpPr txBox="1"/>
          <p:nvPr/>
        </p:nvSpPr>
        <p:spPr>
          <a:xfrm>
            <a:off x="446270" y="5804848"/>
            <a:ext cx="11428573" cy="523220"/>
          </a:xfrm>
          <a:prstGeom prst="rect">
            <a:avLst/>
          </a:prstGeom>
          <a:noFill/>
        </p:spPr>
        <p:txBody>
          <a:bodyPr wrap="square">
            <a:spAutoFit/>
          </a:bodyPr>
          <a:lstStyle/>
          <a:p>
            <a:r>
              <a:rPr lang="en-US" sz="1400" dirty="0"/>
              <a:t>M. </a:t>
            </a:r>
            <a:r>
              <a:rPr lang="en-US" sz="1400" dirty="0" err="1"/>
              <a:t>Santinello</a:t>
            </a:r>
            <a:r>
              <a:rPr lang="en-US" sz="1400" dirty="0"/>
              <a:t>, G. Neglia, </a:t>
            </a:r>
            <a:r>
              <a:rPr lang="en-US" sz="1400" i="1" dirty="0"/>
              <a:t>et al</a:t>
            </a:r>
            <a:r>
              <a:rPr lang="en-US" sz="1400" dirty="0"/>
              <a:t>., "The role of age at first calving in shaping production and reproductive outcomes in Italian buffaloes," in </a:t>
            </a:r>
            <a:r>
              <a:rPr lang="en-US" sz="1400" i="1" dirty="0"/>
              <a:t>J. Dairy Sci.</a:t>
            </a:r>
            <a:r>
              <a:rPr lang="en-US" sz="1400" dirty="0"/>
              <a:t>, vol. 108, no. 7, pp. 7235–7247, Jul. 2025, </a:t>
            </a:r>
            <a:r>
              <a:rPr lang="en-US" sz="1400" dirty="0" err="1"/>
              <a:t>doi</a:t>
            </a:r>
            <a:r>
              <a:rPr lang="en-US" sz="1400" dirty="0"/>
              <a:t>: 10.3168/jds.2025-26369.</a:t>
            </a:r>
          </a:p>
        </p:txBody>
      </p:sp>
      <p:sp>
        <p:nvSpPr>
          <p:cNvPr id="12" name="TextBox 11">
            <a:extLst>
              <a:ext uri="{FF2B5EF4-FFF2-40B4-BE49-F238E27FC236}">
                <a16:creationId xmlns:a16="http://schemas.microsoft.com/office/drawing/2014/main" id="{A51102D1-C4F8-068E-122E-A9A873B88236}"/>
              </a:ext>
            </a:extLst>
          </p:cNvPr>
          <p:cNvSpPr txBox="1"/>
          <p:nvPr/>
        </p:nvSpPr>
        <p:spPr>
          <a:xfrm>
            <a:off x="446270" y="5263025"/>
            <a:ext cx="11428573" cy="523220"/>
          </a:xfrm>
          <a:prstGeom prst="rect">
            <a:avLst/>
          </a:prstGeom>
          <a:noFill/>
        </p:spPr>
        <p:txBody>
          <a:bodyPr wrap="square">
            <a:spAutoFit/>
          </a:bodyPr>
          <a:lstStyle/>
          <a:p>
            <a:r>
              <a:rPr lang="en-US" sz="1400" dirty="0"/>
              <a:t>M. </a:t>
            </a:r>
            <a:r>
              <a:rPr lang="en-US" sz="1400" dirty="0" err="1"/>
              <a:t>Santinello</a:t>
            </a:r>
            <a:r>
              <a:rPr lang="en-US" sz="1400" dirty="0"/>
              <a:t>, G. Neglia </a:t>
            </a:r>
            <a:r>
              <a:rPr lang="en-US" sz="1400" i="1" dirty="0"/>
              <a:t>et al</a:t>
            </a:r>
            <a:r>
              <a:rPr lang="en-US" sz="1400" dirty="0"/>
              <a:t>., "The cost of being early or late: Biological and economic outcomes of age at first calving in dairy buffaloes,” in </a:t>
            </a:r>
            <a:r>
              <a:rPr lang="en-US" sz="1400" i="1" dirty="0"/>
              <a:t>J. Dairy Sci.</a:t>
            </a:r>
            <a:r>
              <a:rPr lang="en-US" sz="1400" dirty="0"/>
              <a:t>, vol. TBC, no. TBC, pp. TBC, 2025, </a:t>
            </a:r>
            <a:r>
              <a:rPr lang="en-US" sz="1400" dirty="0" err="1"/>
              <a:t>doi</a:t>
            </a:r>
            <a:r>
              <a:rPr lang="en-US" sz="1400" dirty="0"/>
              <a:t>: 10.3168/jds.2025-27467.</a:t>
            </a:r>
          </a:p>
        </p:txBody>
      </p:sp>
    </p:spTree>
    <p:extLst>
      <p:ext uri="{BB962C8B-B14F-4D97-AF65-F5344CB8AC3E}">
        <p14:creationId xmlns:p14="http://schemas.microsoft.com/office/powerpoint/2010/main" val="15637660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41745-22F4-A2F3-E043-5DC581714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7AE21-8C95-9EAC-376F-D748AD286B7A}"/>
              </a:ext>
            </a:extLst>
          </p:cNvPr>
          <p:cNvSpPr>
            <a:spLocks noGrp="1"/>
          </p:cNvSpPr>
          <p:nvPr>
            <p:ph type="title"/>
          </p:nvPr>
        </p:nvSpPr>
        <p:spPr>
          <a:xfrm>
            <a:off x="179999" y="180000"/>
            <a:ext cx="11051881" cy="705371"/>
          </a:xfrm>
        </p:spPr>
        <p:txBody>
          <a:bodyPr>
            <a:normAutofit/>
          </a:bodyPr>
          <a:lstStyle/>
          <a:p>
            <a:r>
              <a:rPr lang="en-US" sz="3600" dirty="0"/>
              <a:t>Predict Subclinical Mastitis in Italian Buffaloes</a:t>
            </a:r>
          </a:p>
        </p:txBody>
      </p:sp>
      <p:sp>
        <p:nvSpPr>
          <p:cNvPr id="4" name="Content Placeholder 2">
            <a:extLst>
              <a:ext uri="{FF2B5EF4-FFF2-40B4-BE49-F238E27FC236}">
                <a16:creationId xmlns:a16="http://schemas.microsoft.com/office/drawing/2014/main" id="{E81326E7-3273-8E98-C491-E81F83E20AB6}"/>
              </a:ext>
            </a:extLst>
          </p:cNvPr>
          <p:cNvSpPr txBox="1">
            <a:spLocks/>
          </p:cNvSpPr>
          <p:nvPr/>
        </p:nvSpPr>
        <p:spPr>
          <a:xfrm>
            <a:off x="180000" y="1008528"/>
            <a:ext cx="11880000" cy="4680207"/>
          </a:xfrm>
          <a:prstGeom prst="rect">
            <a:avLst/>
          </a:prstGeom>
        </p:spPr>
        <p:txBody>
          <a:bodyPr>
            <a:normAutofit fontScale="92500" lnSpcReduction="1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6</a:t>
            </a:r>
            <a:r>
              <a:rPr lang="en-US" sz="2000" dirty="0"/>
              <a:t> herds in Southern Italy involving 1,038 Mediterranean buffaloes.</a:t>
            </a:r>
          </a:p>
          <a:p>
            <a:r>
              <a:rPr lang="en-US" sz="2000" b="1" dirty="0"/>
              <a:t>Data:</a:t>
            </a:r>
          </a:p>
          <a:p>
            <a:r>
              <a:rPr lang="en-US" sz="2000" b="1" dirty="0"/>
              <a:t>	Timeframe:</a:t>
            </a:r>
            <a:r>
              <a:rPr lang="en-US" sz="2000" dirty="0"/>
              <a:t> from August 2019 to February 2021.</a:t>
            </a:r>
          </a:p>
          <a:p>
            <a:r>
              <a:rPr lang="en-US" sz="2000" b="1" dirty="0"/>
              <a:t>	Milk Data:</a:t>
            </a:r>
            <a:r>
              <a:rPr lang="en-US" sz="2000" dirty="0"/>
              <a:t> Monthly test-day yield, composition (fat, protein, etc.), SCC, DSCC, etc.</a:t>
            </a:r>
          </a:p>
          <a:p>
            <a:r>
              <a:rPr lang="en-US" sz="2000" dirty="0"/>
              <a:t>	</a:t>
            </a:r>
            <a:r>
              <a:rPr lang="en-US" sz="2000" b="1" dirty="0"/>
              <a:t>Animal Info:</a:t>
            </a:r>
            <a:r>
              <a:rPr lang="en-US" sz="2000" dirty="0"/>
              <a:t> Parity, stage of lactation (DIM), calving date.</a:t>
            </a:r>
          </a:p>
          <a:p>
            <a:r>
              <a:rPr lang="en-US" sz="2000" dirty="0"/>
              <a:t>	</a:t>
            </a:r>
            <a:r>
              <a:rPr lang="en-US" sz="2000" b="1" dirty="0"/>
              <a:t>Weather Data:</a:t>
            </a:r>
            <a:r>
              <a:rPr lang="en-US" sz="2000" dirty="0"/>
              <a:t> NASA POWER daily averages (Temp, Humidity, UV, etc.).</a:t>
            </a:r>
          </a:p>
          <a:p>
            <a:r>
              <a:rPr lang="en-US" sz="2000" b="1" dirty="0"/>
              <a:t>Methodology:</a:t>
            </a:r>
            <a:r>
              <a:rPr lang="en-US" sz="2000" dirty="0"/>
              <a:t> Compared </a:t>
            </a:r>
            <a:r>
              <a:rPr lang="en-US" sz="2000" b="1" dirty="0"/>
              <a:t>GLM, SVM, Random Forest,</a:t>
            </a:r>
            <a:r>
              <a:rPr lang="en-US" sz="2000" dirty="0"/>
              <a:t> and </a:t>
            </a:r>
            <a:r>
              <a:rPr lang="en-US" sz="2000" b="1" dirty="0"/>
              <a:t>Neural Network</a:t>
            </a:r>
            <a:r>
              <a:rPr lang="en-US" sz="2000" dirty="0"/>
              <a:t> models.</a:t>
            </a:r>
          </a:p>
          <a:p>
            <a:r>
              <a:rPr lang="en-US" sz="2000" b="1" dirty="0"/>
              <a:t>Performance &amp; Metrics: </a:t>
            </a:r>
            <a:endParaRPr lang="en-US" sz="2000" i="1" dirty="0">
              <a:latin typeface="Cambria Math" panose="02040503050406030204" pitchFamily="18" charset="0"/>
            </a:endParaRPr>
          </a:p>
          <a:p>
            <a:r>
              <a:rPr lang="en-US" sz="2000" dirty="0"/>
              <a:t>	Best Model: </a:t>
            </a:r>
            <a:r>
              <a:rPr lang="en-US" sz="2000" b="1" dirty="0"/>
              <a:t>Neural Network (NN)</a:t>
            </a:r>
            <a:r>
              <a:rPr lang="en-US" sz="2000" dirty="0"/>
              <a:t> using Animal ID split*.</a:t>
            </a:r>
          </a:p>
          <a:p>
            <a:r>
              <a:rPr lang="en-US" sz="2000" dirty="0"/>
              <a:t>	Accuracy = 76.2%.</a:t>
            </a:r>
          </a:p>
          <a:p>
            <a:r>
              <a:rPr lang="en-US" sz="2000" dirty="0"/>
              <a:t>	Area Under Curve (AUC) = 84.0%.</a:t>
            </a:r>
          </a:p>
          <a:p>
            <a:r>
              <a:rPr lang="en-US" sz="1500" dirty="0"/>
              <a:t>* To prevent overfitting, two approaches used for splitting data, first splitting by records, second splitting by animal id</a:t>
            </a:r>
          </a:p>
          <a:p>
            <a:endParaRPr lang="en-US" sz="2000" dirty="0"/>
          </a:p>
        </p:txBody>
      </p:sp>
      <p:sp>
        <p:nvSpPr>
          <p:cNvPr id="6" name="TextBox 5">
            <a:extLst>
              <a:ext uri="{FF2B5EF4-FFF2-40B4-BE49-F238E27FC236}">
                <a16:creationId xmlns:a16="http://schemas.microsoft.com/office/drawing/2014/main" id="{B18B6488-12AB-D705-D591-AAF52B29EDD8}"/>
              </a:ext>
            </a:extLst>
          </p:cNvPr>
          <p:cNvSpPr txBox="1"/>
          <p:nvPr/>
        </p:nvSpPr>
        <p:spPr>
          <a:xfrm>
            <a:off x="446270" y="5688736"/>
            <a:ext cx="11343394" cy="523220"/>
          </a:xfrm>
          <a:prstGeom prst="rect">
            <a:avLst/>
          </a:prstGeom>
          <a:noFill/>
        </p:spPr>
        <p:txBody>
          <a:bodyPr wrap="square">
            <a:spAutoFit/>
          </a:bodyPr>
          <a:lstStyle/>
          <a:p>
            <a:r>
              <a:rPr lang="en-US" sz="1400" dirty="0">
                <a:solidFill>
                  <a:srgbClr val="333333"/>
                </a:solidFill>
                <a:latin typeface="HelveticaNeue Regular"/>
              </a:rPr>
              <a:t>G. Neglia </a:t>
            </a:r>
            <a:r>
              <a:rPr lang="en-US" sz="1400" i="1" dirty="0">
                <a:solidFill>
                  <a:srgbClr val="333333"/>
                </a:solidFill>
                <a:latin typeface="HelveticaNeue Regular"/>
              </a:rPr>
              <a:t>et </a:t>
            </a:r>
            <a:r>
              <a:rPr lang="en-US" sz="1400" b="0" i="1" dirty="0">
                <a:solidFill>
                  <a:srgbClr val="333333"/>
                </a:solidFill>
                <a:effectLst/>
                <a:latin typeface="HelveticaNeue Regular"/>
              </a:rPr>
              <a:t>al.</a:t>
            </a:r>
            <a:r>
              <a:rPr lang="en-US" sz="1400" b="0" i="0" dirty="0">
                <a:solidFill>
                  <a:srgbClr val="333333"/>
                </a:solidFill>
                <a:effectLst/>
                <a:latin typeface="HelveticaNeue Regular"/>
              </a:rPr>
              <a:t>, "Exploiting machine learning methods with monthly routine milk recording data and climatic information to predict subclinical mastitis in Italian Mediterranean buffaloes," in </a:t>
            </a:r>
            <a:r>
              <a:rPr lang="en-US" sz="1400" b="0" i="1" dirty="0">
                <a:solidFill>
                  <a:srgbClr val="333333"/>
                </a:solidFill>
                <a:effectLst/>
                <a:latin typeface="HelveticaNeue Regular"/>
              </a:rPr>
              <a:t>J. Dairy Sci.</a:t>
            </a:r>
            <a:r>
              <a:rPr lang="en-US" sz="1400" b="0" i="0" dirty="0">
                <a:solidFill>
                  <a:srgbClr val="333333"/>
                </a:solidFill>
                <a:effectLst/>
                <a:latin typeface="HelveticaNeue Regular"/>
              </a:rPr>
              <a:t>, vol. 106, no. 3, pp. 1942–1952, Mar. 2023, </a:t>
            </a:r>
            <a:r>
              <a:rPr lang="en-US" sz="1400" b="0" i="0" dirty="0" err="1">
                <a:solidFill>
                  <a:srgbClr val="333333"/>
                </a:solidFill>
                <a:effectLst/>
                <a:latin typeface="HelveticaNeue Regular"/>
              </a:rPr>
              <a:t>doi</a:t>
            </a:r>
            <a:r>
              <a:rPr lang="en-US" sz="1400" b="0" i="0" dirty="0">
                <a:solidFill>
                  <a:srgbClr val="333333"/>
                </a:solidFill>
                <a:effectLst/>
                <a:latin typeface="HelveticaNeue Regular"/>
              </a:rPr>
              <a:t>: 10.3168/jds.2022-22292.</a:t>
            </a:r>
            <a:endParaRPr lang="en-US" sz="1400" dirty="0"/>
          </a:p>
        </p:txBody>
      </p:sp>
      <p:sp>
        <p:nvSpPr>
          <p:cNvPr id="5" name="Title 1">
            <a:extLst>
              <a:ext uri="{FF2B5EF4-FFF2-40B4-BE49-F238E27FC236}">
                <a16:creationId xmlns:a16="http://schemas.microsoft.com/office/drawing/2014/main" id="{0A24B1F1-531B-E75E-FA30-C838DAD549A6}"/>
              </a:ext>
            </a:extLst>
          </p:cNvPr>
          <p:cNvSpPr txBox="1">
            <a:spLocks/>
          </p:cNvSpPr>
          <p:nvPr/>
        </p:nvSpPr>
        <p:spPr>
          <a:xfrm>
            <a:off x="12210870" y="180000"/>
            <a:ext cx="2480490" cy="705371"/>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000" kern="1200">
                <a:solidFill>
                  <a:schemeClr val="tx1">
                    <a:lumMod val="75000"/>
                    <a:lumOff val="25000"/>
                  </a:schemeClr>
                </a:solidFill>
                <a:latin typeface="+mj-lt"/>
                <a:ea typeface="+mj-ea"/>
                <a:cs typeface="+mj-cs"/>
              </a:defRPr>
            </a:lvl1pPr>
          </a:lstStyle>
          <a:p>
            <a:r>
              <a:rPr lang="en-US" sz="3200" dirty="0"/>
              <a:t>: flowchart</a:t>
            </a:r>
          </a:p>
        </p:txBody>
      </p:sp>
    </p:spTree>
    <p:extLst>
      <p:ext uri="{BB962C8B-B14F-4D97-AF65-F5344CB8AC3E}">
        <p14:creationId xmlns:p14="http://schemas.microsoft.com/office/powerpoint/2010/main" val="372519860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E36901-C70E-51B1-DCFF-427D1676FB0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086538E0-35C8-56DC-B98C-17B19108ACD3}"/>
              </a:ext>
            </a:extLst>
          </p:cNvPr>
          <p:cNvSpPr txBox="1"/>
          <p:nvPr/>
        </p:nvSpPr>
        <p:spPr>
          <a:xfrm>
            <a:off x="446270" y="5688736"/>
            <a:ext cx="11343394" cy="523220"/>
          </a:xfrm>
          <a:prstGeom prst="rect">
            <a:avLst/>
          </a:prstGeom>
          <a:noFill/>
        </p:spPr>
        <p:txBody>
          <a:bodyPr wrap="square">
            <a:spAutoFit/>
          </a:bodyPr>
          <a:lstStyle/>
          <a:p>
            <a:r>
              <a:rPr lang="en-US" sz="1400" dirty="0">
                <a:solidFill>
                  <a:srgbClr val="333333"/>
                </a:solidFill>
                <a:latin typeface="HelveticaNeue Regular"/>
              </a:rPr>
              <a:t>G. Neglia </a:t>
            </a:r>
            <a:r>
              <a:rPr lang="en-US" sz="1400" i="1" dirty="0">
                <a:solidFill>
                  <a:srgbClr val="333333"/>
                </a:solidFill>
                <a:latin typeface="HelveticaNeue Regular"/>
              </a:rPr>
              <a:t>et </a:t>
            </a:r>
            <a:r>
              <a:rPr lang="en-US" sz="1400" b="0" i="1" dirty="0">
                <a:solidFill>
                  <a:srgbClr val="333333"/>
                </a:solidFill>
                <a:effectLst/>
                <a:latin typeface="HelveticaNeue Regular"/>
              </a:rPr>
              <a:t>al.</a:t>
            </a:r>
            <a:r>
              <a:rPr lang="en-US" sz="1400" b="0" i="0" dirty="0">
                <a:solidFill>
                  <a:srgbClr val="333333"/>
                </a:solidFill>
                <a:effectLst/>
                <a:latin typeface="HelveticaNeue Regular"/>
              </a:rPr>
              <a:t>, "Exploiting machine learning methods with monthly routine milk recording data and climatic information to predict subclinical mastitis in Italian Mediterranean buffaloes," in </a:t>
            </a:r>
            <a:r>
              <a:rPr lang="en-US" sz="1400" b="0" i="1" dirty="0">
                <a:solidFill>
                  <a:srgbClr val="333333"/>
                </a:solidFill>
                <a:effectLst/>
                <a:latin typeface="HelveticaNeue Regular"/>
              </a:rPr>
              <a:t>J. Dairy Sci.</a:t>
            </a:r>
            <a:r>
              <a:rPr lang="en-US" sz="1400" b="0" i="0" dirty="0">
                <a:solidFill>
                  <a:srgbClr val="333333"/>
                </a:solidFill>
                <a:effectLst/>
                <a:latin typeface="HelveticaNeue Regular"/>
              </a:rPr>
              <a:t>, vol. 106, no. 3, pp. 1942–1952, Mar. 2023, </a:t>
            </a:r>
            <a:r>
              <a:rPr lang="en-US" sz="1400" b="0" i="0" dirty="0" err="1">
                <a:solidFill>
                  <a:srgbClr val="333333"/>
                </a:solidFill>
                <a:effectLst/>
                <a:latin typeface="HelveticaNeue Regular"/>
              </a:rPr>
              <a:t>doi</a:t>
            </a:r>
            <a:r>
              <a:rPr lang="en-US" sz="1400" b="0" i="0" dirty="0">
                <a:solidFill>
                  <a:srgbClr val="333333"/>
                </a:solidFill>
                <a:effectLst/>
                <a:latin typeface="HelveticaNeue Regular"/>
              </a:rPr>
              <a:t>: 10.3168/jds.2022-22292.</a:t>
            </a:r>
            <a:endParaRPr lang="en-US" sz="1400" dirty="0"/>
          </a:p>
        </p:txBody>
      </p:sp>
      <p:sp>
        <p:nvSpPr>
          <p:cNvPr id="11" name="Title 1">
            <a:extLst>
              <a:ext uri="{FF2B5EF4-FFF2-40B4-BE49-F238E27FC236}">
                <a16:creationId xmlns:a16="http://schemas.microsoft.com/office/drawing/2014/main" id="{CF13E3EA-4E8A-BC89-113A-33150C1098A9}"/>
              </a:ext>
            </a:extLst>
          </p:cNvPr>
          <p:cNvSpPr>
            <a:spLocks noGrp="1"/>
          </p:cNvSpPr>
          <p:nvPr>
            <p:ph type="title"/>
          </p:nvPr>
        </p:nvSpPr>
        <p:spPr>
          <a:xfrm>
            <a:off x="179999" y="180000"/>
            <a:ext cx="11474971" cy="705371"/>
          </a:xfrm>
        </p:spPr>
        <p:txBody>
          <a:bodyPr>
            <a:normAutofit/>
          </a:bodyPr>
          <a:lstStyle/>
          <a:p>
            <a:r>
              <a:rPr lang="en-US" sz="3200" dirty="0"/>
              <a:t>Predict Subclinical Mastitis in Italian Buffaloes</a:t>
            </a:r>
          </a:p>
        </p:txBody>
      </p:sp>
      <p:sp>
        <p:nvSpPr>
          <p:cNvPr id="12" name="Title 1">
            <a:extLst>
              <a:ext uri="{FF2B5EF4-FFF2-40B4-BE49-F238E27FC236}">
                <a16:creationId xmlns:a16="http://schemas.microsoft.com/office/drawing/2014/main" id="{E4115077-0C4B-F257-CE0F-62DE15026A32}"/>
              </a:ext>
            </a:extLst>
          </p:cNvPr>
          <p:cNvSpPr txBox="1">
            <a:spLocks/>
          </p:cNvSpPr>
          <p:nvPr/>
        </p:nvSpPr>
        <p:spPr>
          <a:xfrm>
            <a:off x="9711510" y="180000"/>
            <a:ext cx="2480490" cy="705371"/>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000" kern="1200">
                <a:solidFill>
                  <a:schemeClr val="tx1">
                    <a:lumMod val="75000"/>
                    <a:lumOff val="25000"/>
                  </a:schemeClr>
                </a:solidFill>
                <a:latin typeface="+mj-lt"/>
                <a:ea typeface="+mj-ea"/>
                <a:cs typeface="+mj-cs"/>
              </a:defRPr>
            </a:lvl1pPr>
          </a:lstStyle>
          <a:p>
            <a:r>
              <a:rPr lang="en-US" sz="3200" dirty="0"/>
              <a:t>: flowchart</a:t>
            </a:r>
          </a:p>
        </p:txBody>
      </p:sp>
      <p:pic>
        <p:nvPicPr>
          <p:cNvPr id="16" name="Picture 15" descr="A diagram of a model&#10;&#10;AI-generated content may be incorrect.">
            <a:extLst>
              <a:ext uri="{FF2B5EF4-FFF2-40B4-BE49-F238E27FC236}">
                <a16:creationId xmlns:a16="http://schemas.microsoft.com/office/drawing/2014/main" id="{EACC7764-69A0-C031-7FC3-13F3DE80D451}"/>
              </a:ext>
            </a:extLst>
          </p:cNvPr>
          <p:cNvPicPr>
            <a:picLocks noChangeAspect="1"/>
          </p:cNvPicPr>
          <p:nvPr/>
        </p:nvPicPr>
        <p:blipFill>
          <a:blip r:embed="rId2"/>
          <a:srcRect t="14786"/>
          <a:stretch>
            <a:fillRect/>
          </a:stretch>
        </p:blipFill>
        <p:spPr>
          <a:xfrm>
            <a:off x="693420" y="1386840"/>
            <a:ext cx="10805160" cy="4269289"/>
          </a:xfrm>
          <a:prstGeom prst="rect">
            <a:avLst/>
          </a:prstGeom>
        </p:spPr>
      </p:pic>
    </p:spTree>
    <p:extLst>
      <p:ext uri="{BB962C8B-B14F-4D97-AF65-F5344CB8AC3E}">
        <p14:creationId xmlns:p14="http://schemas.microsoft.com/office/powerpoint/2010/main" val="27900139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E92F7-231E-F0B2-8133-3381AD6B88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FD65DF-4475-7397-4615-3F840A4366EC}"/>
              </a:ext>
            </a:extLst>
          </p:cNvPr>
          <p:cNvSpPr>
            <a:spLocks noGrp="1"/>
          </p:cNvSpPr>
          <p:nvPr>
            <p:ph type="title"/>
          </p:nvPr>
        </p:nvSpPr>
        <p:spPr>
          <a:xfrm>
            <a:off x="179999" y="180000"/>
            <a:ext cx="11474971" cy="705371"/>
          </a:xfrm>
        </p:spPr>
        <p:txBody>
          <a:bodyPr>
            <a:normAutofit fontScale="90000"/>
          </a:bodyPr>
          <a:lstStyle/>
          <a:p>
            <a:r>
              <a:rPr lang="en-US" sz="3600" dirty="0"/>
              <a:t>Overview on Project, Phase 1: Baseline Reproduction</a:t>
            </a:r>
          </a:p>
        </p:txBody>
      </p:sp>
      <p:pic>
        <p:nvPicPr>
          <p:cNvPr id="8" name="Picture 7">
            <a:extLst>
              <a:ext uri="{FF2B5EF4-FFF2-40B4-BE49-F238E27FC236}">
                <a16:creationId xmlns:a16="http://schemas.microsoft.com/office/drawing/2014/main" id="{4DC8FE80-1942-94CE-449C-399B1C49D38B}"/>
              </a:ext>
            </a:extLst>
          </p:cNvPr>
          <p:cNvPicPr>
            <a:picLocks noChangeAspect="1"/>
          </p:cNvPicPr>
          <p:nvPr/>
        </p:nvPicPr>
        <p:blipFill>
          <a:blip r:embed="rId2"/>
          <a:srcRect l="81061"/>
          <a:stretch>
            <a:fillRect/>
          </a:stretch>
        </p:blipFill>
        <p:spPr>
          <a:xfrm>
            <a:off x="6905797" y="1108242"/>
            <a:ext cx="2291683" cy="4606758"/>
          </a:xfrm>
          <a:prstGeom prst="rect">
            <a:avLst/>
          </a:prstGeom>
        </p:spPr>
      </p:pic>
      <p:pic>
        <p:nvPicPr>
          <p:cNvPr id="10" name="Picture 9" descr="A diagram of a model&#10;&#10;AI-generated content may be incorrect.">
            <a:extLst>
              <a:ext uri="{FF2B5EF4-FFF2-40B4-BE49-F238E27FC236}">
                <a16:creationId xmlns:a16="http://schemas.microsoft.com/office/drawing/2014/main" id="{6074DB64-3279-C960-5CA0-BEFB2E2A7C39}"/>
              </a:ext>
            </a:extLst>
          </p:cNvPr>
          <p:cNvPicPr>
            <a:picLocks noChangeAspect="1"/>
          </p:cNvPicPr>
          <p:nvPr/>
        </p:nvPicPr>
        <p:blipFill>
          <a:blip r:embed="rId3">
            <a:alphaModFix/>
          </a:blip>
          <a:srcRect t="14786"/>
          <a:stretch>
            <a:fillRect/>
          </a:stretch>
        </p:blipFill>
        <p:spPr>
          <a:xfrm>
            <a:off x="-8717" y="1777586"/>
            <a:ext cx="9951311" cy="3931920"/>
          </a:xfrm>
          <a:prstGeom prst="rect">
            <a:avLst/>
          </a:prstGeom>
        </p:spPr>
      </p:pic>
      <p:pic>
        <p:nvPicPr>
          <p:cNvPr id="11" name="Picture 10">
            <a:extLst>
              <a:ext uri="{FF2B5EF4-FFF2-40B4-BE49-F238E27FC236}">
                <a16:creationId xmlns:a16="http://schemas.microsoft.com/office/drawing/2014/main" id="{818292EE-8A9A-AAAA-902C-E8D51EED275E}"/>
              </a:ext>
            </a:extLst>
          </p:cNvPr>
          <p:cNvPicPr>
            <a:picLocks noChangeAspect="1"/>
          </p:cNvPicPr>
          <p:nvPr/>
        </p:nvPicPr>
        <p:blipFill>
          <a:blip r:embed="rId2"/>
          <a:srcRect l="67677" t="72353" r="19701" b="4744"/>
          <a:stretch>
            <a:fillRect/>
          </a:stretch>
        </p:blipFill>
        <p:spPr>
          <a:xfrm>
            <a:off x="8189407" y="4441371"/>
            <a:ext cx="1527349" cy="1055078"/>
          </a:xfrm>
          <a:prstGeom prst="rect">
            <a:avLst/>
          </a:prstGeom>
        </p:spPr>
      </p:pic>
      <p:pic>
        <p:nvPicPr>
          <p:cNvPr id="12" name="Picture 11">
            <a:extLst>
              <a:ext uri="{FF2B5EF4-FFF2-40B4-BE49-F238E27FC236}">
                <a16:creationId xmlns:a16="http://schemas.microsoft.com/office/drawing/2014/main" id="{0CAED5F6-5CF6-16DD-50BA-84CD85034EA5}"/>
              </a:ext>
            </a:extLst>
          </p:cNvPr>
          <p:cNvPicPr>
            <a:picLocks noChangeAspect="1"/>
          </p:cNvPicPr>
          <p:nvPr/>
        </p:nvPicPr>
        <p:blipFill>
          <a:blip r:embed="rId2"/>
          <a:srcRect l="49242" t="45088" r="41208" b="43352"/>
          <a:stretch>
            <a:fillRect/>
          </a:stretch>
        </p:blipFill>
        <p:spPr>
          <a:xfrm>
            <a:off x="5958673" y="3185327"/>
            <a:ext cx="1155560" cy="532562"/>
          </a:xfrm>
          <a:prstGeom prst="rect">
            <a:avLst/>
          </a:prstGeom>
        </p:spPr>
      </p:pic>
      <p:pic>
        <p:nvPicPr>
          <p:cNvPr id="13" name="Picture 12">
            <a:extLst>
              <a:ext uri="{FF2B5EF4-FFF2-40B4-BE49-F238E27FC236}">
                <a16:creationId xmlns:a16="http://schemas.microsoft.com/office/drawing/2014/main" id="{976C99C8-9608-8B91-2A47-E8C22D05D3BA}"/>
              </a:ext>
            </a:extLst>
          </p:cNvPr>
          <p:cNvPicPr>
            <a:picLocks noChangeAspect="1"/>
          </p:cNvPicPr>
          <p:nvPr/>
        </p:nvPicPr>
        <p:blipFill>
          <a:blip r:embed="rId2"/>
          <a:srcRect l="67678" t="30033" r="19700" b="45817"/>
          <a:stretch>
            <a:fillRect/>
          </a:stretch>
        </p:blipFill>
        <p:spPr>
          <a:xfrm>
            <a:off x="8189407" y="2491740"/>
            <a:ext cx="1527349" cy="1112519"/>
          </a:xfrm>
          <a:prstGeom prst="rect">
            <a:avLst/>
          </a:prstGeom>
        </p:spPr>
      </p:pic>
    </p:spTree>
    <p:extLst>
      <p:ext uri="{BB962C8B-B14F-4D97-AF65-F5344CB8AC3E}">
        <p14:creationId xmlns:p14="http://schemas.microsoft.com/office/powerpoint/2010/main" val="256458173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00"/>
                                        <p:tgtEl>
                                          <p:spTgt spid="12"/>
                                        </p:tgtEl>
                                      </p:cBhvr>
                                    </p:animEffect>
                                  </p:childTnLst>
                                </p:cTn>
                              </p:par>
                              <p:par>
                                <p:cTn id="8" presetID="7" presetClass="emph" presetSubtype="2" fill="hold" nodeType="withEffect">
                                  <p:stCondLst>
                                    <p:cond delay="0"/>
                                  </p:stCondLst>
                                  <p:childTnLst>
                                    <p:animClr clrSpc="rgb" dir="cw">
                                      <p:cBhvr>
                                        <p:cTn id="9" dur="2000" fill="hold"/>
                                        <p:tgtEl>
                                          <p:spTgt spid="12"/>
                                        </p:tgtEl>
                                        <p:attrNameLst>
                                          <p:attrName>stroke.color</p:attrName>
                                        </p:attrNameLst>
                                      </p:cBhvr>
                                      <p:to>
                                        <a:srgbClr val="002A49"/>
                                      </p:to>
                                    </p:animClr>
                                    <p:set>
                                      <p:cBhvr>
                                        <p:cTn id="10" dur="2000" fill="hold"/>
                                        <p:tgtEl>
                                          <p:spTgt spid="12"/>
                                        </p:tgtEl>
                                        <p:attrNameLst>
                                          <p:attrName>stroke.on</p:attrName>
                                        </p:attrNameLst>
                                      </p:cBhvr>
                                      <p:to>
                                        <p:strVal val="tru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wipe(down)">
                                      <p:cBhvr>
                                        <p:cTn id="15" dur="500"/>
                                        <p:tgtEl>
                                          <p:spTgt spid="13"/>
                                        </p:tgtEl>
                                      </p:cBhvr>
                                    </p:animEffect>
                                  </p:childTnLst>
                                </p:cTn>
                              </p:par>
                              <p:par>
                                <p:cTn id="16" presetID="7" presetClass="emph" presetSubtype="2" fill="hold" nodeType="withEffect">
                                  <p:stCondLst>
                                    <p:cond delay="0"/>
                                  </p:stCondLst>
                                  <p:childTnLst>
                                    <p:animClr clrSpc="rgb" dir="cw">
                                      <p:cBhvr>
                                        <p:cTn id="17" dur="2000" fill="hold"/>
                                        <p:tgtEl>
                                          <p:spTgt spid="13"/>
                                        </p:tgtEl>
                                        <p:attrNameLst>
                                          <p:attrName>stroke.color</p:attrName>
                                        </p:attrNameLst>
                                      </p:cBhvr>
                                      <p:to>
                                        <a:schemeClr val="accent2"/>
                                      </p:to>
                                    </p:animClr>
                                    <p:set>
                                      <p:cBhvr>
                                        <p:cTn id="18" dur="2000" fill="hold"/>
                                        <p:tgtEl>
                                          <p:spTgt spid="13"/>
                                        </p:tgtEl>
                                        <p:attrNameLst>
                                          <p:attrName>stroke.on</p:attrName>
                                        </p:attrNameLst>
                                      </p:cBhvr>
                                      <p:to>
                                        <p:strVal val="tru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wipe(down)">
                                      <p:cBhvr>
                                        <p:cTn id="23" dur="500"/>
                                        <p:tgtEl>
                                          <p:spTgt spid="11"/>
                                        </p:tgtEl>
                                      </p:cBhvr>
                                    </p:animEffect>
                                  </p:childTnLst>
                                </p:cTn>
                              </p:par>
                              <p:par>
                                <p:cTn id="24" presetID="7" presetClass="emph" presetSubtype="2" fill="hold" nodeType="withEffect">
                                  <p:stCondLst>
                                    <p:cond delay="0"/>
                                  </p:stCondLst>
                                  <p:childTnLst>
                                    <p:animClr clrSpc="rgb" dir="cw">
                                      <p:cBhvr>
                                        <p:cTn id="25" dur="2000" fill="hold"/>
                                        <p:tgtEl>
                                          <p:spTgt spid="11"/>
                                        </p:tgtEl>
                                        <p:attrNameLst>
                                          <p:attrName>stroke.color</p:attrName>
                                        </p:attrNameLst>
                                      </p:cBhvr>
                                      <p:to>
                                        <a:schemeClr val="tx1"/>
                                      </p:to>
                                    </p:animClr>
                                    <p:set>
                                      <p:cBhvr>
                                        <p:cTn id="26" dur="2000" fill="hold"/>
                                        <p:tgtEl>
                                          <p:spTgt spid="11"/>
                                        </p:tgtEl>
                                        <p:attrNameLst>
                                          <p:attrName>stroke.on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63" presetClass="path" presetSubtype="0" accel="50000" decel="50000" fill="hold" nodeType="clickEffect">
                                  <p:stCondLst>
                                    <p:cond delay="0"/>
                                  </p:stCondLst>
                                  <p:childTnLst>
                                    <p:animMotion origin="layout" path="M 3.33333E-6 -3.7037E-6 L 0.23828 0.00255 " pathEditMode="relative" rAng="0" ptsTypes="AA">
                                      <p:cBhvr>
                                        <p:cTn id="30" dur="2000" fill="hold"/>
                                        <p:tgtEl>
                                          <p:spTgt spid="8"/>
                                        </p:tgtEl>
                                        <p:attrNameLst>
                                          <p:attrName>ppt_x</p:attrName>
                                          <p:attrName>ppt_y</p:attrName>
                                        </p:attrNameLst>
                                      </p:cBhvr>
                                      <p:rCtr x="11914" y="11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13FE6-BF34-2BD5-BD05-0976272FD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68954-6B6C-8B63-1339-5A05AD4C5B3C}"/>
              </a:ext>
            </a:extLst>
          </p:cNvPr>
          <p:cNvSpPr>
            <a:spLocks noGrp="1"/>
          </p:cNvSpPr>
          <p:nvPr>
            <p:ph type="title"/>
          </p:nvPr>
        </p:nvSpPr>
        <p:spPr>
          <a:xfrm>
            <a:off x="179999" y="275250"/>
            <a:ext cx="12431101" cy="705371"/>
          </a:xfrm>
        </p:spPr>
        <p:txBody>
          <a:bodyPr>
            <a:noAutofit/>
          </a:bodyPr>
          <a:lstStyle/>
          <a:p>
            <a:r>
              <a:rPr lang="en-US" sz="3000" dirty="0"/>
              <a:t>Overview on Project, Phase 2: </a:t>
            </a:r>
            <a:r>
              <a:rPr lang="en-US" sz="3200" dirty="0"/>
              <a:t>Hierarchical</a:t>
            </a:r>
            <a:r>
              <a:rPr lang="en-US" sz="3000" dirty="0"/>
              <a:t> Timeseries Approach</a:t>
            </a:r>
          </a:p>
        </p:txBody>
      </p:sp>
      <p:pic>
        <p:nvPicPr>
          <p:cNvPr id="4" name="Picture 3">
            <a:extLst>
              <a:ext uri="{FF2B5EF4-FFF2-40B4-BE49-F238E27FC236}">
                <a16:creationId xmlns:a16="http://schemas.microsoft.com/office/drawing/2014/main" id="{D64D595E-19B3-8C41-B7F0-6DAB47C286BF}"/>
              </a:ext>
            </a:extLst>
          </p:cNvPr>
          <p:cNvPicPr>
            <a:picLocks noChangeAspect="1"/>
          </p:cNvPicPr>
          <p:nvPr/>
        </p:nvPicPr>
        <p:blipFill>
          <a:blip r:embed="rId2"/>
          <a:srcRect t="8516" b="9005"/>
          <a:stretch>
            <a:fillRect/>
          </a:stretch>
        </p:blipFill>
        <p:spPr>
          <a:xfrm>
            <a:off x="166199" y="1295400"/>
            <a:ext cx="11654970" cy="4709160"/>
          </a:xfrm>
          <a:prstGeom prst="rect">
            <a:avLst/>
          </a:prstGeom>
        </p:spPr>
      </p:pic>
    </p:spTree>
    <p:extLst>
      <p:ext uri="{BB962C8B-B14F-4D97-AF65-F5344CB8AC3E}">
        <p14:creationId xmlns:p14="http://schemas.microsoft.com/office/powerpoint/2010/main" val="17725405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2B49"/>
        </a:solidFill>
        <a:effectLst/>
      </p:bgPr>
    </p:bg>
    <p:spTree>
      <p:nvGrpSpPr>
        <p:cNvPr id="1" name="">
          <a:extLst>
            <a:ext uri="{FF2B5EF4-FFF2-40B4-BE49-F238E27FC236}">
              <a16:creationId xmlns:a16="http://schemas.microsoft.com/office/drawing/2014/main" id="{BFC0B032-353C-D9A9-694D-B1F13C39909B}"/>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05494884-6E58-B123-4AD0-B0341A24162C}"/>
              </a:ext>
            </a:extLst>
          </p:cNvPr>
          <p:cNvSpPr>
            <a:spLocks noGrp="1"/>
          </p:cNvSpPr>
          <p:nvPr>
            <p:ph type="body" sz="quarter" idx="11"/>
          </p:nvPr>
        </p:nvSpPr>
        <p:spPr>
          <a:xfrm>
            <a:off x="5548393" y="1917000"/>
            <a:ext cx="6300557" cy="3024000"/>
          </a:xfrm>
        </p:spPr>
        <p:txBody>
          <a:bodyPr anchor="ctr">
            <a:normAutofit/>
          </a:bodyPr>
          <a:lstStyle/>
          <a:p>
            <a:pPr algn="ctr"/>
            <a:r>
              <a:rPr lang="en-US" sz="4400" b="1" dirty="0"/>
              <a:t>Literature Review</a:t>
            </a:r>
          </a:p>
        </p:txBody>
      </p:sp>
      <p:sp>
        <p:nvSpPr>
          <p:cNvPr id="12" name="Rectangle 11">
            <a:extLst>
              <a:ext uri="{FF2B5EF4-FFF2-40B4-BE49-F238E27FC236}">
                <a16:creationId xmlns:a16="http://schemas.microsoft.com/office/drawing/2014/main" id="{5ED6A22C-3BA3-0274-0BA9-87B112011B1B}"/>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20279306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0A032-D838-B0BA-9BB4-7C5E3C077E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BB642-8C2A-361F-9CB0-0F3E10376E58}"/>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sp>
        <p:nvSpPr>
          <p:cNvPr id="4" name="TextBox 3">
            <a:extLst>
              <a:ext uri="{FF2B5EF4-FFF2-40B4-BE49-F238E27FC236}">
                <a16:creationId xmlns:a16="http://schemas.microsoft.com/office/drawing/2014/main" id="{FD9C2676-9125-A5D2-F9BA-FEC9B3B5F067}"/>
              </a:ext>
            </a:extLst>
          </p:cNvPr>
          <p:cNvSpPr txBox="1"/>
          <p:nvPr/>
        </p:nvSpPr>
        <p:spPr>
          <a:xfrm>
            <a:off x="551542" y="1151234"/>
            <a:ext cx="11194188" cy="4003019"/>
          </a:xfrm>
          <a:prstGeom prst="rect">
            <a:avLst/>
          </a:prstGeom>
          <a:noFill/>
        </p:spPr>
        <p:txBody>
          <a:bodyPr wrap="square">
            <a:spAutoFit/>
          </a:bodyPr>
          <a:lstStyle/>
          <a:p>
            <a:pPr>
              <a:lnSpc>
                <a:spcPct val="150000"/>
              </a:lnSpc>
            </a:pPr>
            <a:r>
              <a:rPr lang="en-US" sz="1900" b="1" dirty="0"/>
              <a:t>Hierarchical time series,</a:t>
            </a:r>
            <a:r>
              <a:rPr lang="en-US" sz="1900" dirty="0"/>
              <a:t> organize </a:t>
            </a:r>
            <a:r>
              <a:rPr lang="en-US" sz="1900" b="1" dirty="0"/>
              <a:t>time series data </a:t>
            </a:r>
            <a:r>
              <a:rPr lang="en-US" sz="1900" dirty="0"/>
              <a:t>in a nested structure where </a:t>
            </a:r>
            <a:r>
              <a:rPr lang="en-US" sz="1900" b="1" dirty="0"/>
              <a:t>higher-level</a:t>
            </a:r>
            <a:r>
              <a:rPr lang="en-US" sz="1900" dirty="0"/>
              <a:t> series aggregate naturally from </a:t>
            </a:r>
            <a:r>
              <a:rPr lang="en-US" sz="1900" b="1" dirty="0"/>
              <a:t>lower-level</a:t>
            </a:r>
            <a:r>
              <a:rPr lang="en-US" sz="1900" dirty="0"/>
              <a:t> series. </a:t>
            </a:r>
          </a:p>
          <a:p>
            <a:pPr>
              <a:lnSpc>
                <a:spcPct val="150000"/>
              </a:lnSpc>
            </a:pPr>
            <a:r>
              <a:rPr lang="en-US" sz="1900" dirty="0"/>
              <a:t>Each level represents a meaningful grouping dimension.</a:t>
            </a:r>
          </a:p>
          <a:p>
            <a:pPr>
              <a:lnSpc>
                <a:spcPct val="150000"/>
              </a:lnSpc>
            </a:pPr>
            <a:r>
              <a:rPr lang="en-US" sz="1900" b="1" dirty="0">
                <a:sym typeface="Wingdings" pitchFamily="2" charset="2"/>
              </a:rPr>
              <a:t>Natural Aggregation: </a:t>
            </a:r>
            <a:r>
              <a:rPr lang="en-US" sz="1900" dirty="0">
                <a:sym typeface="Wingdings" pitchFamily="2" charset="2"/>
              </a:rPr>
              <a:t>Top-level totals equal the sum of all bottom-level series.</a:t>
            </a:r>
          </a:p>
          <a:p>
            <a:pPr>
              <a:lnSpc>
                <a:spcPct val="150000"/>
              </a:lnSpc>
            </a:pPr>
            <a:r>
              <a:rPr lang="en-US" sz="1900" b="1" dirty="0"/>
              <a:t>Multiple Levels: </a:t>
            </a:r>
            <a:r>
              <a:rPr lang="en-US" sz="1900" dirty="0"/>
              <a:t>Data can be viewed at different levels (country → farm → animal level)</a:t>
            </a:r>
          </a:p>
          <a:p>
            <a:pPr>
              <a:lnSpc>
                <a:spcPct val="150000"/>
              </a:lnSpc>
            </a:pPr>
            <a:r>
              <a:rPr lang="en-US" sz="1900" dirty="0"/>
              <a:t>Data can be aggregated or disaggregated based on:</a:t>
            </a:r>
          </a:p>
          <a:p>
            <a:pPr marL="342900" indent="-342900">
              <a:lnSpc>
                <a:spcPct val="150000"/>
              </a:lnSpc>
              <a:buFont typeface="Arial" panose="020B0604020202020204" pitchFamily="34" charset="0"/>
              <a:buChar char="•"/>
            </a:pPr>
            <a:r>
              <a:rPr lang="en-US" sz="1900" dirty="0"/>
              <a:t>Types</a:t>
            </a:r>
          </a:p>
          <a:p>
            <a:pPr marL="342900" indent="-342900">
              <a:lnSpc>
                <a:spcPct val="150000"/>
              </a:lnSpc>
              <a:buFont typeface="Arial" panose="020B0604020202020204" pitchFamily="34" charset="0"/>
              <a:buChar char="•"/>
            </a:pPr>
            <a:r>
              <a:rPr lang="en-US" sz="1900" dirty="0"/>
              <a:t>Features</a:t>
            </a:r>
          </a:p>
          <a:p>
            <a:pPr marL="342900" indent="-342900">
              <a:lnSpc>
                <a:spcPct val="150000"/>
              </a:lnSpc>
              <a:buFont typeface="Arial" panose="020B0604020202020204" pitchFamily="34" charset="0"/>
              <a:buChar char="•"/>
            </a:pPr>
            <a:r>
              <a:rPr lang="en-US" sz="1900" dirty="0"/>
              <a:t>geographic division. </a:t>
            </a:r>
          </a:p>
        </p:txBody>
      </p:sp>
      <p:pic>
        <p:nvPicPr>
          <p:cNvPr id="5" name="Graphic 4">
            <a:extLst>
              <a:ext uri="{FF2B5EF4-FFF2-40B4-BE49-F238E27FC236}">
                <a16:creationId xmlns:a16="http://schemas.microsoft.com/office/drawing/2014/main" id="{EC80AD20-4F7C-D640-06DC-AD41E4BF787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991416" y="3355630"/>
            <a:ext cx="2121857" cy="2121857"/>
          </a:xfrm>
          <a:prstGeom prst="rect">
            <a:avLst/>
          </a:prstGeom>
        </p:spPr>
      </p:pic>
      <p:sp>
        <p:nvSpPr>
          <p:cNvPr id="3" name="TextBox 2">
            <a:extLst>
              <a:ext uri="{FF2B5EF4-FFF2-40B4-BE49-F238E27FC236}">
                <a16:creationId xmlns:a16="http://schemas.microsoft.com/office/drawing/2014/main" id="{312E75EE-02EB-B108-124B-0CE24E3638EB}"/>
              </a:ext>
            </a:extLst>
          </p:cNvPr>
          <p:cNvSpPr txBox="1"/>
          <p:nvPr/>
        </p:nvSpPr>
        <p:spPr>
          <a:xfrm>
            <a:off x="446270" y="5688736"/>
            <a:ext cx="11341778" cy="523220"/>
          </a:xfrm>
          <a:prstGeom prst="rect">
            <a:avLst/>
          </a:prstGeom>
          <a:noFill/>
        </p:spPr>
        <p:txBody>
          <a:bodyPr wrap="square">
            <a:spAutoFit/>
          </a:bodyPr>
          <a:lstStyle/>
          <a:p>
            <a:r>
              <a:rPr lang="en-US" sz="1400" dirty="0"/>
              <a:t>R. J. Hyndman and G. Athanasopoulos, </a:t>
            </a:r>
            <a:r>
              <a:rPr lang="en-US" sz="1400" i="1" dirty="0"/>
              <a:t>Forecasting: Principles and Practice</a:t>
            </a:r>
            <a:r>
              <a:rPr lang="en-US" sz="1400" dirty="0"/>
              <a:t>, 3rd ed. Melbourne, Australia: </a:t>
            </a:r>
            <a:r>
              <a:rPr lang="en-US" sz="1400" dirty="0" err="1"/>
              <a:t>OTexts</a:t>
            </a:r>
            <a:r>
              <a:rPr lang="en-US" sz="1400" dirty="0"/>
              <a:t>, 2021. [Online]. Available: </a:t>
            </a:r>
            <a:r>
              <a:rPr lang="en-US" sz="1400" dirty="0">
                <a:hlinkClick r:id="rId4"/>
              </a:rPr>
              <a:t>https://otexts.com/fpp3/</a:t>
            </a:r>
            <a:r>
              <a:rPr lang="en-US" sz="1400" dirty="0"/>
              <a:t> </a:t>
            </a:r>
          </a:p>
        </p:txBody>
      </p:sp>
    </p:spTree>
    <p:extLst>
      <p:ext uri="{BB962C8B-B14F-4D97-AF65-F5344CB8AC3E}">
        <p14:creationId xmlns:p14="http://schemas.microsoft.com/office/powerpoint/2010/main" val="11221713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D1F2-972C-75A7-96EB-0E9110FFE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E44992-0371-24E0-6B2D-3686F78F1F42}"/>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pic>
        <p:nvPicPr>
          <p:cNvPr id="3" name="Picture 2">
            <a:extLst>
              <a:ext uri="{FF2B5EF4-FFF2-40B4-BE49-F238E27FC236}">
                <a16:creationId xmlns:a16="http://schemas.microsoft.com/office/drawing/2014/main" id="{5F15DD5C-9F9D-A1E0-B978-CF0799B69E3A}"/>
              </a:ext>
            </a:extLst>
          </p:cNvPr>
          <p:cNvPicPr>
            <a:picLocks noChangeAspect="1"/>
          </p:cNvPicPr>
          <p:nvPr/>
        </p:nvPicPr>
        <p:blipFill>
          <a:blip r:embed="rId2"/>
          <a:stretch>
            <a:fillRect/>
          </a:stretch>
        </p:blipFill>
        <p:spPr>
          <a:xfrm>
            <a:off x="6735586" y="2126406"/>
            <a:ext cx="4837058" cy="3229465"/>
          </a:xfrm>
          <a:prstGeom prst="rect">
            <a:avLst/>
          </a:prstGeom>
        </p:spPr>
      </p:pic>
      <p:sp>
        <p:nvSpPr>
          <p:cNvPr id="6" name="TextBox 5">
            <a:extLst>
              <a:ext uri="{FF2B5EF4-FFF2-40B4-BE49-F238E27FC236}">
                <a16:creationId xmlns:a16="http://schemas.microsoft.com/office/drawing/2014/main" id="{17843FB1-5D63-AAB3-5701-B6F998D94A18}"/>
              </a:ext>
            </a:extLst>
          </p:cNvPr>
          <p:cNvSpPr txBox="1"/>
          <p:nvPr/>
        </p:nvSpPr>
        <p:spPr>
          <a:xfrm>
            <a:off x="549314" y="901695"/>
            <a:ext cx="9762474" cy="5139869"/>
          </a:xfrm>
          <a:prstGeom prst="rect">
            <a:avLst/>
          </a:prstGeom>
          <a:noFill/>
        </p:spPr>
        <p:txBody>
          <a:bodyPr wrap="square" rtlCol="0">
            <a:spAutoFit/>
          </a:bodyPr>
          <a:lstStyle/>
          <a:p>
            <a:r>
              <a:rPr lang="en-US" sz="2800" dirty="0">
                <a:solidFill>
                  <a:srgbClr val="002B49"/>
                </a:solidFill>
              </a:rPr>
              <a:t>The value of parent is always equals to the sum of the values of its child nodes.</a:t>
            </a:r>
          </a:p>
          <a:p>
            <a:endParaRPr lang="en-US" sz="2800" dirty="0">
              <a:solidFill>
                <a:srgbClr val="002B49"/>
              </a:solidFill>
            </a:endParaRPr>
          </a:p>
          <a:p>
            <a:r>
              <a:rPr lang="en-US" sz="2800" dirty="0">
                <a:solidFill>
                  <a:srgbClr val="002B49"/>
                </a:solidFill>
              </a:rPr>
              <a:t>So, if        equals The value of j at time t,</a:t>
            </a:r>
          </a:p>
          <a:p>
            <a:r>
              <a:rPr lang="en-US" sz="2800" dirty="0">
                <a:solidFill>
                  <a:srgbClr val="002B49"/>
                </a:solidFill>
              </a:rPr>
              <a:t>then, we have : </a:t>
            </a: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r>
              <a:rPr lang="en-US" sz="2800" dirty="0">
                <a:solidFill>
                  <a:srgbClr val="002B49"/>
                </a:solidFill>
              </a:rPr>
              <a:t>Finally, we can say our data</a:t>
            </a:r>
          </a:p>
          <a:p>
            <a:r>
              <a:rPr lang="en-US" sz="2800" dirty="0">
                <a:solidFill>
                  <a:srgbClr val="002B49"/>
                </a:solidFill>
              </a:rPr>
              <a:t>is Coherent.</a:t>
            </a:r>
          </a:p>
          <a:p>
            <a:endParaRPr lang="en-US" sz="2000" b="1" dirty="0">
              <a:solidFill>
                <a:srgbClr val="1B415D"/>
              </a:solidFill>
            </a:endParaRPr>
          </a:p>
        </p:txBody>
      </p:sp>
      <p:pic>
        <p:nvPicPr>
          <p:cNvPr id="7" name="Picture 6">
            <a:extLst>
              <a:ext uri="{FF2B5EF4-FFF2-40B4-BE49-F238E27FC236}">
                <a16:creationId xmlns:a16="http://schemas.microsoft.com/office/drawing/2014/main" id="{6EDD386E-D164-E5C4-AC28-889BE3D2A0B8}"/>
              </a:ext>
            </a:extLst>
          </p:cNvPr>
          <p:cNvPicPr>
            <a:picLocks noChangeAspect="1"/>
          </p:cNvPicPr>
          <p:nvPr/>
        </p:nvPicPr>
        <p:blipFill>
          <a:blip r:embed="rId3"/>
          <a:srcRect t="20575" b="28424"/>
          <a:stretch>
            <a:fillRect/>
          </a:stretch>
        </p:blipFill>
        <p:spPr>
          <a:xfrm>
            <a:off x="675170" y="3178334"/>
            <a:ext cx="2277848" cy="450276"/>
          </a:xfrm>
          <a:prstGeom prst="rect">
            <a:avLst/>
          </a:prstGeom>
        </p:spPr>
      </p:pic>
      <p:pic>
        <p:nvPicPr>
          <p:cNvPr id="8" name="Picture 7">
            <a:extLst>
              <a:ext uri="{FF2B5EF4-FFF2-40B4-BE49-F238E27FC236}">
                <a16:creationId xmlns:a16="http://schemas.microsoft.com/office/drawing/2014/main" id="{DA002513-E7A0-63C7-B6E7-799FB2FB0506}"/>
              </a:ext>
            </a:extLst>
          </p:cNvPr>
          <p:cNvPicPr>
            <a:picLocks noChangeAspect="1"/>
          </p:cNvPicPr>
          <p:nvPr/>
        </p:nvPicPr>
        <p:blipFill>
          <a:blip r:embed="rId4"/>
          <a:stretch>
            <a:fillRect/>
          </a:stretch>
        </p:blipFill>
        <p:spPr>
          <a:xfrm>
            <a:off x="1554320" y="2126406"/>
            <a:ext cx="519548" cy="450276"/>
          </a:xfrm>
          <a:prstGeom prst="rect">
            <a:avLst/>
          </a:prstGeom>
        </p:spPr>
      </p:pic>
      <p:pic>
        <p:nvPicPr>
          <p:cNvPr id="9" name="Picture 8">
            <a:extLst>
              <a:ext uri="{FF2B5EF4-FFF2-40B4-BE49-F238E27FC236}">
                <a16:creationId xmlns:a16="http://schemas.microsoft.com/office/drawing/2014/main" id="{DE81C42B-67BC-FB3D-EC17-3D9C80A7BAB4}"/>
              </a:ext>
            </a:extLst>
          </p:cNvPr>
          <p:cNvPicPr>
            <a:picLocks noChangeAspect="1"/>
          </p:cNvPicPr>
          <p:nvPr/>
        </p:nvPicPr>
        <p:blipFill>
          <a:blip r:embed="rId5"/>
          <a:stretch>
            <a:fillRect/>
          </a:stretch>
        </p:blipFill>
        <p:spPr>
          <a:xfrm>
            <a:off x="549314" y="3551902"/>
            <a:ext cx="4220303" cy="588075"/>
          </a:xfrm>
          <a:prstGeom prst="rect">
            <a:avLst/>
          </a:prstGeom>
        </p:spPr>
      </p:pic>
      <p:pic>
        <p:nvPicPr>
          <p:cNvPr id="10" name="Picture 9">
            <a:extLst>
              <a:ext uri="{FF2B5EF4-FFF2-40B4-BE49-F238E27FC236}">
                <a16:creationId xmlns:a16="http://schemas.microsoft.com/office/drawing/2014/main" id="{48A042C0-803E-87CA-645F-0C46BB54A6B7}"/>
              </a:ext>
            </a:extLst>
          </p:cNvPr>
          <p:cNvPicPr>
            <a:picLocks noChangeAspect="1"/>
          </p:cNvPicPr>
          <p:nvPr/>
        </p:nvPicPr>
        <p:blipFill>
          <a:blip r:embed="rId6"/>
          <a:stretch>
            <a:fillRect/>
          </a:stretch>
        </p:blipFill>
        <p:spPr>
          <a:xfrm>
            <a:off x="564816" y="4033687"/>
            <a:ext cx="2957932" cy="595087"/>
          </a:xfrm>
          <a:prstGeom prst="rect">
            <a:avLst/>
          </a:prstGeom>
        </p:spPr>
      </p:pic>
      <p:sp>
        <p:nvSpPr>
          <p:cNvPr id="4" name="TextBox 3">
            <a:extLst>
              <a:ext uri="{FF2B5EF4-FFF2-40B4-BE49-F238E27FC236}">
                <a16:creationId xmlns:a16="http://schemas.microsoft.com/office/drawing/2014/main" id="{2A32AE6F-395E-5B9B-2967-0B29E4BB4E0B}"/>
              </a:ext>
            </a:extLst>
          </p:cNvPr>
          <p:cNvSpPr txBox="1"/>
          <p:nvPr/>
        </p:nvSpPr>
        <p:spPr>
          <a:xfrm>
            <a:off x="446270" y="5688736"/>
            <a:ext cx="11341778" cy="523220"/>
          </a:xfrm>
          <a:prstGeom prst="rect">
            <a:avLst/>
          </a:prstGeom>
          <a:noFill/>
        </p:spPr>
        <p:txBody>
          <a:bodyPr wrap="square">
            <a:spAutoFit/>
          </a:bodyPr>
          <a:lstStyle/>
          <a:p>
            <a:r>
              <a:rPr lang="en-US" sz="1400" dirty="0"/>
              <a:t>R. J. Hyndman and G. Athanasopoulos, </a:t>
            </a:r>
            <a:r>
              <a:rPr lang="en-US" sz="1400" i="1" dirty="0"/>
              <a:t>Forecasting: Principles and Practice</a:t>
            </a:r>
            <a:r>
              <a:rPr lang="en-US" sz="1400" dirty="0"/>
              <a:t>, 3rd ed. Melbourne, Australia: </a:t>
            </a:r>
            <a:r>
              <a:rPr lang="en-US" sz="1400" dirty="0" err="1"/>
              <a:t>OTexts</a:t>
            </a:r>
            <a:r>
              <a:rPr lang="en-US" sz="1400" dirty="0"/>
              <a:t>, 2021. [Online]. Available: </a:t>
            </a:r>
            <a:r>
              <a:rPr lang="en-US" sz="1400" dirty="0">
                <a:hlinkClick r:id="rId7"/>
              </a:rPr>
              <a:t>https://otexts.com/fpp3/</a:t>
            </a:r>
            <a:r>
              <a:rPr lang="en-US" sz="1400" dirty="0"/>
              <a:t> </a:t>
            </a:r>
          </a:p>
        </p:txBody>
      </p:sp>
    </p:spTree>
    <p:extLst>
      <p:ext uri="{BB962C8B-B14F-4D97-AF65-F5344CB8AC3E}">
        <p14:creationId xmlns:p14="http://schemas.microsoft.com/office/powerpoint/2010/main" val="22261907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447B0-5510-B3BF-2ACB-CF242C9553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8FFC3-1471-7EB3-DBC8-D3E7726662DB}"/>
              </a:ext>
            </a:extLst>
          </p:cNvPr>
          <p:cNvSpPr>
            <a:spLocks noGrp="1"/>
          </p:cNvSpPr>
          <p:nvPr>
            <p:ph type="title"/>
          </p:nvPr>
        </p:nvSpPr>
        <p:spPr>
          <a:xfrm>
            <a:off x="180000" y="180000"/>
            <a:ext cx="11880000" cy="648000"/>
          </a:xfrm>
        </p:spPr>
        <p:txBody>
          <a:bodyPr>
            <a:normAutofit/>
          </a:bodyPr>
          <a:lstStyle/>
          <a:p>
            <a:r>
              <a:rPr lang="en-US" sz="3600" dirty="0"/>
              <a:t>Applications on HTS</a:t>
            </a:r>
          </a:p>
        </p:txBody>
      </p:sp>
      <p:sp>
        <p:nvSpPr>
          <p:cNvPr id="6" name="TextBox 5">
            <a:extLst>
              <a:ext uri="{FF2B5EF4-FFF2-40B4-BE49-F238E27FC236}">
                <a16:creationId xmlns:a16="http://schemas.microsoft.com/office/drawing/2014/main" id="{A54DA513-7D37-4ACC-C1AB-DBEE1F1DB47A}"/>
              </a:ext>
            </a:extLst>
          </p:cNvPr>
          <p:cNvSpPr txBox="1"/>
          <p:nvPr/>
        </p:nvSpPr>
        <p:spPr>
          <a:xfrm>
            <a:off x="549313" y="1122035"/>
            <a:ext cx="11051447" cy="3785652"/>
          </a:xfrm>
          <a:prstGeom prst="rect">
            <a:avLst/>
          </a:prstGeom>
          <a:noFill/>
        </p:spPr>
        <p:txBody>
          <a:bodyPr wrap="square" rtlCol="0">
            <a:spAutoFit/>
          </a:bodyPr>
          <a:lstStyle/>
          <a:p>
            <a:pPr marL="457200" indent="-457200">
              <a:buFont typeface="Arial" panose="020B0604020202020204" pitchFamily="34" charset="0"/>
              <a:buChar char="•"/>
            </a:pPr>
            <a:r>
              <a:rPr lang="en-US" sz="2800" b="1" dirty="0">
                <a:solidFill>
                  <a:srgbClr val="002B49"/>
                </a:solidFill>
              </a:rPr>
              <a:t>Tourism</a:t>
            </a:r>
          </a:p>
          <a:p>
            <a:r>
              <a:rPr lang="en-US" sz="2400" b="1" dirty="0">
                <a:solidFill>
                  <a:srgbClr val="002B49"/>
                </a:solidFill>
              </a:rPr>
              <a:t>	</a:t>
            </a:r>
            <a:r>
              <a:rPr lang="en-US" sz="2400" dirty="0">
                <a:solidFill>
                  <a:srgbClr val="002B49"/>
                </a:solidFill>
              </a:rPr>
              <a:t>Forecasting number of tourists going to visit a country 	divided by </a:t>
            </a:r>
            <a:r>
              <a:rPr lang="en-US" sz="2400" b="1" dirty="0">
                <a:solidFill>
                  <a:srgbClr val="002B49"/>
                </a:solidFill>
              </a:rPr>
              <a:t>region</a:t>
            </a:r>
            <a:r>
              <a:rPr lang="en-US" sz="2400" dirty="0">
                <a:solidFill>
                  <a:srgbClr val="002B49"/>
                </a:solidFill>
              </a:rPr>
              <a:t>, </a:t>
            </a:r>
            <a:r>
              <a:rPr lang="en-US" sz="2400" b="1" dirty="0">
                <a:solidFill>
                  <a:srgbClr val="002B49"/>
                </a:solidFill>
              </a:rPr>
              <a:t>city</a:t>
            </a:r>
            <a:r>
              <a:rPr lang="en-US" sz="2400" dirty="0">
                <a:solidFill>
                  <a:srgbClr val="002B49"/>
                </a:solidFill>
              </a:rPr>
              <a:t>, </a:t>
            </a:r>
            <a:r>
              <a:rPr lang="en-US" sz="2400" b="1" dirty="0">
                <a:solidFill>
                  <a:srgbClr val="002B49"/>
                </a:solidFill>
              </a:rPr>
              <a:t>season</a:t>
            </a:r>
            <a:r>
              <a:rPr lang="en-US" sz="2400" dirty="0">
                <a:solidFill>
                  <a:srgbClr val="002B49"/>
                </a:solidFill>
              </a:rPr>
              <a:t>.</a:t>
            </a:r>
          </a:p>
          <a:p>
            <a:pPr lvl="1"/>
            <a:endParaRPr lang="en-US" sz="2800" dirty="0">
              <a:solidFill>
                <a:srgbClr val="002B49"/>
              </a:solidFill>
            </a:endParaRPr>
          </a:p>
          <a:p>
            <a:pPr marL="457200" indent="-457200">
              <a:buFont typeface="Arial" panose="020B0604020202020204" pitchFamily="34" charset="0"/>
              <a:buChar char="•"/>
            </a:pPr>
            <a:r>
              <a:rPr lang="en-US" sz="2800" b="1" dirty="0">
                <a:solidFill>
                  <a:srgbClr val="002B49"/>
                </a:solidFill>
              </a:rPr>
              <a:t>supply chain</a:t>
            </a:r>
          </a:p>
          <a:p>
            <a:r>
              <a:rPr lang="en-US" sz="2400" dirty="0">
                <a:solidFill>
                  <a:srgbClr val="002B49"/>
                </a:solidFill>
              </a:rPr>
              <a:t>	Forecasting sales of products based on </a:t>
            </a:r>
            <a:r>
              <a:rPr lang="en-US" sz="2400" b="1" dirty="0">
                <a:solidFill>
                  <a:srgbClr val="002B49"/>
                </a:solidFill>
              </a:rPr>
              <a:t>type</a:t>
            </a:r>
            <a:r>
              <a:rPr lang="en-US" sz="2400" dirty="0">
                <a:solidFill>
                  <a:srgbClr val="002B49"/>
                </a:solidFill>
              </a:rPr>
              <a:t>, </a:t>
            </a:r>
            <a:r>
              <a:rPr lang="en-US" sz="2400" b="1" dirty="0">
                <a:solidFill>
                  <a:srgbClr val="002B49"/>
                </a:solidFill>
              </a:rPr>
              <a:t>location</a:t>
            </a:r>
            <a:r>
              <a:rPr lang="en-US" sz="2400" dirty="0">
                <a:solidFill>
                  <a:srgbClr val="002B49"/>
                </a:solidFill>
              </a:rPr>
              <a:t>.</a:t>
            </a:r>
          </a:p>
          <a:p>
            <a:endParaRPr lang="en-US" sz="2800" dirty="0">
              <a:solidFill>
                <a:srgbClr val="002B49"/>
              </a:solidFill>
            </a:endParaRPr>
          </a:p>
          <a:p>
            <a:pPr marL="457200" indent="-457200">
              <a:buFont typeface="Arial" panose="020B0604020202020204" pitchFamily="34" charset="0"/>
              <a:buChar char="•"/>
            </a:pPr>
            <a:r>
              <a:rPr lang="en-US" sz="2800" b="1" dirty="0">
                <a:solidFill>
                  <a:srgbClr val="002B49"/>
                </a:solidFill>
              </a:rPr>
              <a:t>Energy Consumption</a:t>
            </a:r>
          </a:p>
          <a:p>
            <a:r>
              <a:rPr lang="en-US" sz="2800" dirty="0">
                <a:solidFill>
                  <a:srgbClr val="002B49"/>
                </a:solidFill>
              </a:rPr>
              <a:t>	</a:t>
            </a:r>
            <a:r>
              <a:rPr lang="en-US" sz="2400" dirty="0">
                <a:solidFill>
                  <a:srgbClr val="002B49"/>
                </a:solidFill>
              </a:rPr>
              <a:t>Forecasting energy consumption based on </a:t>
            </a:r>
            <a:r>
              <a:rPr lang="en-US" sz="2400" b="1" dirty="0">
                <a:solidFill>
                  <a:srgbClr val="002B49"/>
                </a:solidFill>
              </a:rPr>
              <a:t>region</a:t>
            </a:r>
            <a:r>
              <a:rPr lang="en-US" sz="2400" dirty="0">
                <a:solidFill>
                  <a:srgbClr val="002B49"/>
                </a:solidFill>
              </a:rPr>
              <a:t>, </a:t>
            </a:r>
            <a:r>
              <a:rPr lang="en-US" sz="2400" b="1" dirty="0">
                <a:solidFill>
                  <a:srgbClr val="002B49"/>
                </a:solidFill>
              </a:rPr>
              <a:t>city</a:t>
            </a:r>
            <a:r>
              <a:rPr lang="en-US" sz="2400" dirty="0">
                <a:solidFill>
                  <a:srgbClr val="002B49"/>
                </a:solidFill>
              </a:rPr>
              <a:t>, </a:t>
            </a:r>
            <a:r>
              <a:rPr lang="en-US" sz="2400" b="1" dirty="0">
                <a:solidFill>
                  <a:srgbClr val="002B49"/>
                </a:solidFill>
              </a:rPr>
              <a:t>hour</a:t>
            </a:r>
            <a:r>
              <a:rPr lang="en-US" sz="2400" dirty="0">
                <a:solidFill>
                  <a:srgbClr val="002B49"/>
                </a:solidFill>
              </a:rPr>
              <a:t>.</a:t>
            </a:r>
            <a:endParaRPr lang="en-US" sz="2800" dirty="0">
              <a:solidFill>
                <a:srgbClr val="002B49"/>
              </a:solidFill>
            </a:endParaRPr>
          </a:p>
        </p:txBody>
      </p:sp>
      <p:sp>
        <p:nvSpPr>
          <p:cNvPr id="4" name="TextBox 3">
            <a:extLst>
              <a:ext uri="{FF2B5EF4-FFF2-40B4-BE49-F238E27FC236}">
                <a16:creationId xmlns:a16="http://schemas.microsoft.com/office/drawing/2014/main" id="{F3C4C623-B75A-3264-7D34-F803CC5E642D}"/>
              </a:ext>
            </a:extLst>
          </p:cNvPr>
          <p:cNvSpPr txBox="1"/>
          <p:nvPr/>
        </p:nvSpPr>
        <p:spPr>
          <a:xfrm>
            <a:off x="449111" y="5281639"/>
            <a:ext cx="11427072" cy="261610"/>
          </a:xfrm>
          <a:prstGeom prst="rect">
            <a:avLst/>
          </a:prstGeom>
          <a:noFill/>
        </p:spPr>
        <p:txBody>
          <a:bodyPr wrap="square">
            <a:spAutoFit/>
          </a:bodyPr>
          <a:lstStyle/>
          <a:p>
            <a:r>
              <a:rPr lang="en-US" sz="1100" dirty="0"/>
              <a:t>R. J. Hyndman and G. Athanasopoulos, </a:t>
            </a:r>
            <a:r>
              <a:rPr lang="en-US" sz="1100" i="1" dirty="0"/>
              <a:t>Forecasting: Principles and Practice</a:t>
            </a:r>
            <a:r>
              <a:rPr lang="en-US" sz="1100" dirty="0"/>
              <a:t>, 3rd ed. Melbourne, Australia: </a:t>
            </a:r>
            <a:r>
              <a:rPr lang="en-US" sz="1100" dirty="0" err="1"/>
              <a:t>OTexts</a:t>
            </a:r>
            <a:r>
              <a:rPr lang="en-US" sz="1100" dirty="0"/>
              <a:t>, 2021. [Online]. Available: </a:t>
            </a:r>
            <a:r>
              <a:rPr lang="en-US" sz="1100" dirty="0">
                <a:hlinkClick r:id="rId2"/>
              </a:rPr>
              <a:t>https://otexts.com/fpp3/</a:t>
            </a:r>
            <a:r>
              <a:rPr lang="en-US" sz="1100" dirty="0"/>
              <a:t> </a:t>
            </a:r>
          </a:p>
        </p:txBody>
      </p:sp>
      <p:sp>
        <p:nvSpPr>
          <p:cNvPr id="12" name="TextBox 11">
            <a:extLst>
              <a:ext uri="{FF2B5EF4-FFF2-40B4-BE49-F238E27FC236}">
                <a16:creationId xmlns:a16="http://schemas.microsoft.com/office/drawing/2014/main" id="{A73A1ABA-28FF-2188-DC9A-0F1AC27C23DD}"/>
              </a:ext>
            </a:extLst>
          </p:cNvPr>
          <p:cNvSpPr txBox="1"/>
          <p:nvPr/>
        </p:nvSpPr>
        <p:spPr>
          <a:xfrm>
            <a:off x="449111" y="5529434"/>
            <a:ext cx="11341778" cy="430887"/>
          </a:xfrm>
          <a:prstGeom prst="rect">
            <a:avLst/>
          </a:prstGeom>
          <a:noFill/>
        </p:spPr>
        <p:txBody>
          <a:bodyPr wrap="square">
            <a:spAutoFit/>
          </a:bodyPr>
          <a:lstStyle/>
          <a:p>
            <a:r>
              <a:rPr lang="en-US" sz="1100" dirty="0"/>
              <a:t>O. Omri, </a:t>
            </a:r>
            <a:r>
              <a:rPr lang="en-US" sz="1100" i="1" dirty="0"/>
              <a:t>et al.,</a:t>
            </a:r>
            <a:r>
              <a:rPr lang="en-US" sz="1100" dirty="0"/>
              <a:t> "On the inventory performance of hierarchical forecasting approaches: case of a vaccine supply chain," J. Oper. Res. Soc., Oct. 2025, </a:t>
            </a:r>
            <a:r>
              <a:rPr lang="en-US" sz="1100" dirty="0" err="1"/>
              <a:t>doi</a:t>
            </a:r>
            <a:r>
              <a:rPr lang="en-US" sz="1100" dirty="0"/>
              <a:t>: 10.1080/01605682.2025.2566323.</a:t>
            </a:r>
          </a:p>
        </p:txBody>
      </p:sp>
      <p:sp>
        <p:nvSpPr>
          <p:cNvPr id="13" name="TextBox 12">
            <a:extLst>
              <a:ext uri="{FF2B5EF4-FFF2-40B4-BE49-F238E27FC236}">
                <a16:creationId xmlns:a16="http://schemas.microsoft.com/office/drawing/2014/main" id="{99154054-5CB3-AC6F-E66E-B825AB33D29C}"/>
              </a:ext>
            </a:extLst>
          </p:cNvPr>
          <p:cNvSpPr txBox="1"/>
          <p:nvPr/>
        </p:nvSpPr>
        <p:spPr>
          <a:xfrm>
            <a:off x="425111" y="5922920"/>
            <a:ext cx="11341778" cy="430887"/>
          </a:xfrm>
          <a:prstGeom prst="rect">
            <a:avLst/>
          </a:prstGeom>
          <a:noFill/>
        </p:spPr>
        <p:txBody>
          <a:bodyPr wrap="square">
            <a:spAutoFit/>
          </a:bodyPr>
          <a:lstStyle/>
          <a:p>
            <a:r>
              <a:rPr lang="en-US" sz="1100" dirty="0"/>
              <a:t>M. Kim, </a:t>
            </a:r>
            <a:r>
              <a:rPr lang="en-US" sz="1100" i="1" dirty="0"/>
              <a:t>et </a:t>
            </a:r>
            <a:r>
              <a:rPr lang="en-US" sz="1100" i="1" dirty="0" err="1"/>
              <a:t>al.</a:t>
            </a:r>
            <a:r>
              <a:rPr lang="en-US" sz="1100" dirty="0" err="1"/>
              <a:t>,"Beginner</a:t>
            </a:r>
            <a:r>
              <a:rPr lang="en-US" sz="1100" dirty="0"/>
              <a:t>-friendly review of research on R-based energy forecasting: Insights from text mining," in </a:t>
            </a:r>
            <a:r>
              <a:rPr lang="en-US" sz="1100" i="1" dirty="0"/>
              <a:t>Electronics</a:t>
            </a:r>
            <a:r>
              <a:rPr lang="en-US" sz="1100" dirty="0"/>
              <a:t>, vol. 14, no. 17, Art. no. 3513, Sep. 2025, </a:t>
            </a:r>
            <a:r>
              <a:rPr lang="en-US" sz="1100" dirty="0" err="1"/>
              <a:t>doi</a:t>
            </a:r>
            <a:r>
              <a:rPr lang="en-US" sz="1100" dirty="0"/>
              <a:t>: 10.3390/electronics14173513.</a:t>
            </a:r>
          </a:p>
        </p:txBody>
      </p:sp>
    </p:spTree>
    <p:extLst>
      <p:ext uri="{BB962C8B-B14F-4D97-AF65-F5344CB8AC3E}">
        <p14:creationId xmlns:p14="http://schemas.microsoft.com/office/powerpoint/2010/main" val="34249600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6FFC0-6C72-C825-351D-B1EBC55199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9A1588-3E8E-2720-0A1A-5E0FF97759DF}"/>
              </a:ext>
            </a:extLst>
          </p:cNvPr>
          <p:cNvSpPr>
            <a:spLocks noGrp="1"/>
          </p:cNvSpPr>
          <p:nvPr>
            <p:ph type="title"/>
          </p:nvPr>
        </p:nvSpPr>
        <p:spPr>
          <a:xfrm>
            <a:off x="180000" y="180000"/>
            <a:ext cx="11880000" cy="648000"/>
          </a:xfrm>
        </p:spPr>
        <p:txBody>
          <a:bodyPr>
            <a:normAutofit/>
          </a:bodyPr>
          <a:lstStyle/>
          <a:p>
            <a:r>
              <a:rPr lang="en-US" sz="3600" dirty="0"/>
              <a:t>Our Case Representation in HTS</a:t>
            </a:r>
          </a:p>
        </p:txBody>
      </p:sp>
      <p:pic>
        <p:nvPicPr>
          <p:cNvPr id="44" name="Picture 43">
            <a:extLst>
              <a:ext uri="{FF2B5EF4-FFF2-40B4-BE49-F238E27FC236}">
                <a16:creationId xmlns:a16="http://schemas.microsoft.com/office/drawing/2014/main" id="{2E4B9067-9CC8-FBB5-1FA0-F7ABB4EBBDA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452704" y="4149228"/>
            <a:ext cx="851605" cy="686497"/>
          </a:xfrm>
          <a:prstGeom prst="rect">
            <a:avLst/>
          </a:prstGeom>
        </p:spPr>
      </p:pic>
      <p:pic>
        <p:nvPicPr>
          <p:cNvPr id="45" name="Picture 44">
            <a:extLst>
              <a:ext uri="{FF2B5EF4-FFF2-40B4-BE49-F238E27FC236}">
                <a16:creationId xmlns:a16="http://schemas.microsoft.com/office/drawing/2014/main" id="{C9B02BAD-AAE3-DF45-C4BD-A61923AE3FCB}"/>
              </a:ext>
            </a:extLst>
          </p:cNvPr>
          <p:cNvPicPr>
            <a:picLocks noChangeAspect="1"/>
          </p:cNvPicPr>
          <p:nvPr/>
        </p:nvPicPr>
        <p:blipFill>
          <a:blip r:embed="rId4"/>
          <a:srcRect l="22961" t="57864" r="62119" b="30040"/>
          <a:stretch>
            <a:fillRect/>
          </a:stretch>
        </p:blipFill>
        <p:spPr>
          <a:xfrm>
            <a:off x="3059750" y="5385988"/>
            <a:ext cx="829706" cy="366508"/>
          </a:xfrm>
          <a:prstGeom prst="rect">
            <a:avLst/>
          </a:prstGeom>
        </p:spPr>
      </p:pic>
      <p:pic>
        <p:nvPicPr>
          <p:cNvPr id="46" name="Picture 45">
            <a:extLst>
              <a:ext uri="{FF2B5EF4-FFF2-40B4-BE49-F238E27FC236}">
                <a16:creationId xmlns:a16="http://schemas.microsoft.com/office/drawing/2014/main" id="{CDB6DF68-27CE-F17B-735A-966B554382B1}"/>
              </a:ext>
            </a:extLst>
          </p:cNvPr>
          <p:cNvPicPr>
            <a:picLocks noChangeAspect="1"/>
          </p:cNvPicPr>
          <p:nvPr/>
        </p:nvPicPr>
        <p:blipFill>
          <a:blip r:embed="rId5">
            <a:clrChange>
              <a:clrFrom>
                <a:srgbClr val="FEFEFC"/>
              </a:clrFrom>
              <a:clrTo>
                <a:srgbClr val="FEFEFC">
                  <a:alpha val="0"/>
                </a:srgbClr>
              </a:clrTo>
            </a:clrChange>
          </a:blip>
          <a:srcRect l="44569" t="30016" r="44627" b="57306"/>
          <a:stretch>
            <a:fillRect/>
          </a:stretch>
        </p:blipFill>
        <p:spPr>
          <a:xfrm>
            <a:off x="4158344" y="2626062"/>
            <a:ext cx="1098105" cy="702134"/>
          </a:xfrm>
          <a:prstGeom prst="rect">
            <a:avLst/>
          </a:prstGeom>
        </p:spPr>
      </p:pic>
      <p:pic>
        <p:nvPicPr>
          <p:cNvPr id="47" name="Picture 46">
            <a:extLst>
              <a:ext uri="{FF2B5EF4-FFF2-40B4-BE49-F238E27FC236}">
                <a16:creationId xmlns:a16="http://schemas.microsoft.com/office/drawing/2014/main" id="{3F303D11-FE26-03FA-9099-82C5C2E7021A}"/>
              </a:ext>
            </a:extLst>
          </p:cNvPr>
          <p:cNvPicPr>
            <a:picLocks noChangeAspect="1"/>
          </p:cNvPicPr>
          <p:nvPr/>
        </p:nvPicPr>
        <p:blipFill>
          <a:blip r:embed="rId2">
            <a:extLst>
              <a:ext uri="{BEBA8EAE-BF5A-486C-A8C5-ECC9F3942E4B}">
                <a14:imgProps xmlns:a14="http://schemas.microsoft.com/office/drawing/2010/main">
                  <a14:imgLayer r:embed="rId6">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88181" y="4149227"/>
            <a:ext cx="851605" cy="686497"/>
          </a:xfrm>
          <a:prstGeom prst="rect">
            <a:avLst/>
          </a:prstGeom>
        </p:spPr>
      </p:pic>
      <p:cxnSp>
        <p:nvCxnSpPr>
          <p:cNvPr id="48" name="Straight Arrow Connector 47">
            <a:extLst>
              <a:ext uri="{FF2B5EF4-FFF2-40B4-BE49-F238E27FC236}">
                <a16:creationId xmlns:a16="http://schemas.microsoft.com/office/drawing/2014/main" id="{40BB6F82-4E25-D332-E12C-2DA955135D7E}"/>
              </a:ext>
            </a:extLst>
          </p:cNvPr>
          <p:cNvCxnSpPr>
            <a:cxnSpLocks/>
            <a:stCxn id="46" idx="2"/>
            <a:endCxn id="47" idx="0"/>
          </p:cNvCxnSpPr>
          <p:nvPr/>
        </p:nvCxnSpPr>
        <p:spPr>
          <a:xfrm>
            <a:off x="4707397" y="3328196"/>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9" name="Straight Arrow Connector 48">
            <a:extLst>
              <a:ext uri="{FF2B5EF4-FFF2-40B4-BE49-F238E27FC236}">
                <a16:creationId xmlns:a16="http://schemas.microsoft.com/office/drawing/2014/main" id="{D56F8A1B-EC12-F541-D8CE-478456FC9DD4}"/>
              </a:ext>
            </a:extLst>
          </p:cNvPr>
          <p:cNvCxnSpPr>
            <a:cxnSpLocks/>
            <a:endCxn id="44" idx="0"/>
          </p:cNvCxnSpPr>
          <p:nvPr/>
        </p:nvCxnSpPr>
        <p:spPr>
          <a:xfrm flipH="1">
            <a:off x="3878507" y="3328196"/>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0" name="Picture 49">
            <a:extLst>
              <a:ext uri="{FF2B5EF4-FFF2-40B4-BE49-F238E27FC236}">
                <a16:creationId xmlns:a16="http://schemas.microsoft.com/office/drawing/2014/main" id="{0E3E4520-D863-7AFD-F03D-8D178F9711A0}"/>
              </a:ext>
            </a:extLst>
          </p:cNvPr>
          <p:cNvPicPr>
            <a:picLocks noChangeAspect="1"/>
          </p:cNvPicPr>
          <p:nvPr/>
        </p:nvPicPr>
        <p:blipFill>
          <a:blip r:embed="rId4"/>
          <a:srcRect l="22961" t="57864" r="62119" b="30040"/>
          <a:stretch>
            <a:fillRect/>
          </a:stretch>
        </p:blipFill>
        <p:spPr>
          <a:xfrm>
            <a:off x="3889456" y="5385988"/>
            <a:ext cx="829706" cy="366508"/>
          </a:xfrm>
          <a:prstGeom prst="rect">
            <a:avLst/>
          </a:prstGeom>
        </p:spPr>
      </p:pic>
      <p:pic>
        <p:nvPicPr>
          <p:cNvPr id="51" name="Picture 50">
            <a:extLst>
              <a:ext uri="{FF2B5EF4-FFF2-40B4-BE49-F238E27FC236}">
                <a16:creationId xmlns:a16="http://schemas.microsoft.com/office/drawing/2014/main" id="{5C3A94B9-F531-EF97-9A33-384972769809}"/>
              </a:ext>
            </a:extLst>
          </p:cNvPr>
          <p:cNvPicPr>
            <a:picLocks noChangeAspect="1"/>
          </p:cNvPicPr>
          <p:nvPr/>
        </p:nvPicPr>
        <p:blipFill>
          <a:blip r:embed="rId4"/>
          <a:srcRect l="22961" t="57864" r="62119" b="30040"/>
          <a:stretch>
            <a:fillRect/>
          </a:stretch>
        </p:blipFill>
        <p:spPr>
          <a:xfrm>
            <a:off x="4719162" y="5385987"/>
            <a:ext cx="829706" cy="366508"/>
          </a:xfrm>
          <a:prstGeom prst="rect">
            <a:avLst/>
          </a:prstGeom>
        </p:spPr>
      </p:pic>
      <p:pic>
        <p:nvPicPr>
          <p:cNvPr id="52" name="Picture 51">
            <a:extLst>
              <a:ext uri="{FF2B5EF4-FFF2-40B4-BE49-F238E27FC236}">
                <a16:creationId xmlns:a16="http://schemas.microsoft.com/office/drawing/2014/main" id="{87E53146-4AAD-83C3-EE48-AE21464264B2}"/>
              </a:ext>
            </a:extLst>
          </p:cNvPr>
          <p:cNvPicPr>
            <a:picLocks noChangeAspect="1"/>
          </p:cNvPicPr>
          <p:nvPr/>
        </p:nvPicPr>
        <p:blipFill>
          <a:blip r:embed="rId4"/>
          <a:srcRect l="22961" t="57864" r="62119" b="30040"/>
          <a:stretch>
            <a:fillRect/>
          </a:stretch>
        </p:blipFill>
        <p:spPr>
          <a:xfrm>
            <a:off x="5548868" y="5385987"/>
            <a:ext cx="829706" cy="366508"/>
          </a:xfrm>
          <a:prstGeom prst="rect">
            <a:avLst/>
          </a:prstGeom>
        </p:spPr>
      </p:pic>
      <p:cxnSp>
        <p:nvCxnSpPr>
          <p:cNvPr id="53" name="Straight Arrow Connector 52">
            <a:extLst>
              <a:ext uri="{FF2B5EF4-FFF2-40B4-BE49-F238E27FC236}">
                <a16:creationId xmlns:a16="http://schemas.microsoft.com/office/drawing/2014/main" id="{1D4DB928-3271-721D-96D6-2555FB0344EC}"/>
              </a:ext>
            </a:extLst>
          </p:cNvPr>
          <p:cNvCxnSpPr>
            <a:cxnSpLocks/>
            <a:endCxn id="45" idx="0"/>
          </p:cNvCxnSpPr>
          <p:nvPr/>
        </p:nvCxnSpPr>
        <p:spPr>
          <a:xfrm flipH="1">
            <a:off x="3474603" y="4873712"/>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4" name="Straight Arrow Connector 53">
            <a:extLst>
              <a:ext uri="{FF2B5EF4-FFF2-40B4-BE49-F238E27FC236}">
                <a16:creationId xmlns:a16="http://schemas.microsoft.com/office/drawing/2014/main" id="{9002CCAA-94CE-366E-C699-226D7B87A6AA}"/>
              </a:ext>
            </a:extLst>
          </p:cNvPr>
          <p:cNvCxnSpPr>
            <a:cxnSpLocks/>
          </p:cNvCxnSpPr>
          <p:nvPr/>
        </p:nvCxnSpPr>
        <p:spPr>
          <a:xfrm flipH="1">
            <a:off x="5134015" y="4866010"/>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2EEE2927-8B69-A314-8EE9-F3814F91B4E7}"/>
              </a:ext>
            </a:extLst>
          </p:cNvPr>
          <p:cNvCxnSpPr>
            <a:cxnSpLocks/>
            <a:endCxn id="50" idx="0"/>
          </p:cNvCxnSpPr>
          <p:nvPr/>
        </p:nvCxnSpPr>
        <p:spPr>
          <a:xfrm>
            <a:off x="3889456" y="4873712"/>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74EF858D-1BE6-FB89-BB8E-1E35611DB88B}"/>
              </a:ext>
            </a:extLst>
          </p:cNvPr>
          <p:cNvCxnSpPr>
            <a:cxnSpLocks/>
          </p:cNvCxnSpPr>
          <p:nvPr/>
        </p:nvCxnSpPr>
        <p:spPr>
          <a:xfrm>
            <a:off x="5548868" y="4854717"/>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5FB262B4-2983-FD34-24A2-93BB2F0FE87C}"/>
              </a:ext>
            </a:extLst>
          </p:cNvPr>
          <p:cNvPicPr>
            <a:picLocks noChangeAspect="1"/>
          </p:cNvPicPr>
          <p:nvPr/>
        </p:nvPicPr>
        <p:blipFill>
          <a:blip r:embed="rId2">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791626" y="4149229"/>
            <a:ext cx="851605" cy="686497"/>
          </a:xfrm>
          <a:prstGeom prst="rect">
            <a:avLst/>
          </a:prstGeom>
        </p:spPr>
      </p:pic>
      <p:pic>
        <p:nvPicPr>
          <p:cNvPr id="58" name="Picture 57">
            <a:extLst>
              <a:ext uri="{FF2B5EF4-FFF2-40B4-BE49-F238E27FC236}">
                <a16:creationId xmlns:a16="http://schemas.microsoft.com/office/drawing/2014/main" id="{FFD6E84B-F206-1915-7413-04616559D630}"/>
              </a:ext>
            </a:extLst>
          </p:cNvPr>
          <p:cNvPicPr>
            <a:picLocks noChangeAspect="1"/>
          </p:cNvPicPr>
          <p:nvPr/>
        </p:nvPicPr>
        <p:blipFill>
          <a:blip r:embed="rId4"/>
          <a:srcRect l="22961" t="57864" r="62119" b="30040"/>
          <a:stretch>
            <a:fillRect/>
          </a:stretch>
        </p:blipFill>
        <p:spPr>
          <a:xfrm>
            <a:off x="7398672" y="5385989"/>
            <a:ext cx="829706" cy="366508"/>
          </a:xfrm>
          <a:prstGeom prst="rect">
            <a:avLst/>
          </a:prstGeom>
        </p:spPr>
      </p:pic>
      <p:pic>
        <p:nvPicPr>
          <p:cNvPr id="59" name="Picture 58">
            <a:extLst>
              <a:ext uri="{FF2B5EF4-FFF2-40B4-BE49-F238E27FC236}">
                <a16:creationId xmlns:a16="http://schemas.microsoft.com/office/drawing/2014/main" id="{A4E7718B-368D-735E-E8C4-9D63A781CE24}"/>
              </a:ext>
            </a:extLst>
          </p:cNvPr>
          <p:cNvPicPr>
            <a:picLocks noChangeAspect="1"/>
          </p:cNvPicPr>
          <p:nvPr/>
        </p:nvPicPr>
        <p:blipFill>
          <a:blip r:embed="rId5">
            <a:clrChange>
              <a:clrFrom>
                <a:srgbClr val="FEFEFC"/>
              </a:clrFrom>
              <a:clrTo>
                <a:srgbClr val="FEFEFC">
                  <a:alpha val="0"/>
                </a:srgbClr>
              </a:clrTo>
            </a:clrChange>
          </a:blip>
          <a:srcRect l="44569" t="30016" r="44627" b="57306"/>
          <a:stretch>
            <a:fillRect/>
          </a:stretch>
        </p:blipFill>
        <p:spPr>
          <a:xfrm>
            <a:off x="8497266" y="2626063"/>
            <a:ext cx="1098105" cy="702134"/>
          </a:xfrm>
          <a:prstGeom prst="rect">
            <a:avLst/>
          </a:prstGeom>
        </p:spPr>
      </p:pic>
      <p:pic>
        <p:nvPicPr>
          <p:cNvPr id="60" name="Picture 59">
            <a:extLst>
              <a:ext uri="{FF2B5EF4-FFF2-40B4-BE49-F238E27FC236}">
                <a16:creationId xmlns:a16="http://schemas.microsoft.com/office/drawing/2014/main" id="{E277CC58-7E76-01B2-8C68-9EE77B31CC27}"/>
              </a:ext>
            </a:extLst>
          </p:cNvPr>
          <p:cNvPicPr>
            <a:picLocks noChangeAspect="1"/>
          </p:cNvPicPr>
          <p:nvPr/>
        </p:nvPicPr>
        <p:blipFill>
          <a:blip r:embed="rId2">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427103" y="4149228"/>
            <a:ext cx="851605" cy="686497"/>
          </a:xfrm>
          <a:prstGeom prst="rect">
            <a:avLst/>
          </a:prstGeom>
        </p:spPr>
      </p:pic>
      <p:cxnSp>
        <p:nvCxnSpPr>
          <p:cNvPr id="61" name="Straight Arrow Connector 60">
            <a:extLst>
              <a:ext uri="{FF2B5EF4-FFF2-40B4-BE49-F238E27FC236}">
                <a16:creationId xmlns:a16="http://schemas.microsoft.com/office/drawing/2014/main" id="{85C58362-A0A2-81ED-F43F-2726874BA9EA}"/>
              </a:ext>
            </a:extLst>
          </p:cNvPr>
          <p:cNvCxnSpPr>
            <a:cxnSpLocks/>
            <a:stCxn id="59" idx="2"/>
            <a:endCxn id="60" idx="0"/>
          </p:cNvCxnSpPr>
          <p:nvPr/>
        </p:nvCxnSpPr>
        <p:spPr>
          <a:xfrm>
            <a:off x="9046319" y="3328197"/>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7FE429CF-23C3-7458-A919-FE0764ACD40B}"/>
              </a:ext>
            </a:extLst>
          </p:cNvPr>
          <p:cNvCxnSpPr>
            <a:cxnSpLocks/>
            <a:endCxn id="57" idx="0"/>
          </p:cNvCxnSpPr>
          <p:nvPr/>
        </p:nvCxnSpPr>
        <p:spPr>
          <a:xfrm flipH="1">
            <a:off x="8217429" y="3328197"/>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63" name="Picture 62">
            <a:extLst>
              <a:ext uri="{FF2B5EF4-FFF2-40B4-BE49-F238E27FC236}">
                <a16:creationId xmlns:a16="http://schemas.microsoft.com/office/drawing/2014/main" id="{591D5CFE-9035-3F75-F221-AFC0099C973A}"/>
              </a:ext>
            </a:extLst>
          </p:cNvPr>
          <p:cNvPicPr>
            <a:picLocks noChangeAspect="1"/>
          </p:cNvPicPr>
          <p:nvPr/>
        </p:nvPicPr>
        <p:blipFill>
          <a:blip r:embed="rId4"/>
          <a:srcRect l="22961" t="57864" r="62119" b="30040"/>
          <a:stretch>
            <a:fillRect/>
          </a:stretch>
        </p:blipFill>
        <p:spPr>
          <a:xfrm>
            <a:off x="8228378" y="5385989"/>
            <a:ext cx="829706" cy="366508"/>
          </a:xfrm>
          <a:prstGeom prst="rect">
            <a:avLst/>
          </a:prstGeom>
        </p:spPr>
      </p:pic>
      <p:pic>
        <p:nvPicPr>
          <p:cNvPr id="64" name="Picture 63">
            <a:extLst>
              <a:ext uri="{FF2B5EF4-FFF2-40B4-BE49-F238E27FC236}">
                <a16:creationId xmlns:a16="http://schemas.microsoft.com/office/drawing/2014/main" id="{FC8D6A37-AB3E-8676-EABF-A5826456834D}"/>
              </a:ext>
            </a:extLst>
          </p:cNvPr>
          <p:cNvPicPr>
            <a:picLocks noChangeAspect="1"/>
          </p:cNvPicPr>
          <p:nvPr/>
        </p:nvPicPr>
        <p:blipFill>
          <a:blip r:embed="rId4"/>
          <a:srcRect l="22961" t="57864" r="62119" b="30040"/>
          <a:stretch>
            <a:fillRect/>
          </a:stretch>
        </p:blipFill>
        <p:spPr>
          <a:xfrm>
            <a:off x="9058084" y="5385988"/>
            <a:ext cx="829706" cy="366508"/>
          </a:xfrm>
          <a:prstGeom prst="rect">
            <a:avLst/>
          </a:prstGeom>
        </p:spPr>
      </p:pic>
      <p:pic>
        <p:nvPicPr>
          <p:cNvPr id="65" name="Picture 64">
            <a:extLst>
              <a:ext uri="{FF2B5EF4-FFF2-40B4-BE49-F238E27FC236}">
                <a16:creationId xmlns:a16="http://schemas.microsoft.com/office/drawing/2014/main" id="{D9F0A07D-01C6-2BBC-FFE2-64B43A10EDAD}"/>
              </a:ext>
            </a:extLst>
          </p:cNvPr>
          <p:cNvPicPr>
            <a:picLocks noChangeAspect="1"/>
          </p:cNvPicPr>
          <p:nvPr/>
        </p:nvPicPr>
        <p:blipFill>
          <a:blip r:embed="rId4"/>
          <a:srcRect l="22961" t="57864" r="62119" b="30040"/>
          <a:stretch>
            <a:fillRect/>
          </a:stretch>
        </p:blipFill>
        <p:spPr>
          <a:xfrm>
            <a:off x="9887790" y="5385988"/>
            <a:ext cx="829706" cy="366508"/>
          </a:xfrm>
          <a:prstGeom prst="rect">
            <a:avLst/>
          </a:prstGeom>
        </p:spPr>
      </p:pic>
      <p:cxnSp>
        <p:nvCxnSpPr>
          <p:cNvPr id="66" name="Straight Arrow Connector 65">
            <a:extLst>
              <a:ext uri="{FF2B5EF4-FFF2-40B4-BE49-F238E27FC236}">
                <a16:creationId xmlns:a16="http://schemas.microsoft.com/office/drawing/2014/main" id="{5E0A5196-27C6-73D1-854E-CA6B6ABB5C9A}"/>
              </a:ext>
            </a:extLst>
          </p:cNvPr>
          <p:cNvCxnSpPr>
            <a:cxnSpLocks/>
            <a:endCxn id="58" idx="0"/>
          </p:cNvCxnSpPr>
          <p:nvPr/>
        </p:nvCxnSpPr>
        <p:spPr>
          <a:xfrm flipH="1">
            <a:off x="7813525" y="4873713"/>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7" name="Straight Arrow Connector 66">
            <a:extLst>
              <a:ext uri="{FF2B5EF4-FFF2-40B4-BE49-F238E27FC236}">
                <a16:creationId xmlns:a16="http://schemas.microsoft.com/office/drawing/2014/main" id="{AFD33B86-BCAE-63FD-5B07-0779B650FB19}"/>
              </a:ext>
            </a:extLst>
          </p:cNvPr>
          <p:cNvCxnSpPr>
            <a:cxnSpLocks/>
          </p:cNvCxnSpPr>
          <p:nvPr/>
        </p:nvCxnSpPr>
        <p:spPr>
          <a:xfrm flipH="1">
            <a:off x="9472937" y="4866011"/>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8" name="Straight Arrow Connector 67">
            <a:extLst>
              <a:ext uri="{FF2B5EF4-FFF2-40B4-BE49-F238E27FC236}">
                <a16:creationId xmlns:a16="http://schemas.microsoft.com/office/drawing/2014/main" id="{2DEBA84D-85D5-E95B-49BE-3DCB4AFE2F5F}"/>
              </a:ext>
            </a:extLst>
          </p:cNvPr>
          <p:cNvCxnSpPr>
            <a:cxnSpLocks/>
            <a:endCxn id="63" idx="0"/>
          </p:cNvCxnSpPr>
          <p:nvPr/>
        </p:nvCxnSpPr>
        <p:spPr>
          <a:xfrm>
            <a:off x="8228378" y="4873713"/>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9" name="Straight Arrow Connector 68">
            <a:extLst>
              <a:ext uri="{FF2B5EF4-FFF2-40B4-BE49-F238E27FC236}">
                <a16:creationId xmlns:a16="http://schemas.microsoft.com/office/drawing/2014/main" id="{8CACB811-D4C4-73A3-2FD3-DEBBDF4F661E}"/>
              </a:ext>
            </a:extLst>
          </p:cNvPr>
          <p:cNvCxnSpPr>
            <a:cxnSpLocks/>
          </p:cNvCxnSpPr>
          <p:nvPr/>
        </p:nvCxnSpPr>
        <p:spPr>
          <a:xfrm>
            <a:off x="9887790" y="4854718"/>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0" name="Straight Arrow Connector 69">
            <a:extLst>
              <a:ext uri="{FF2B5EF4-FFF2-40B4-BE49-F238E27FC236}">
                <a16:creationId xmlns:a16="http://schemas.microsoft.com/office/drawing/2014/main" id="{17787835-9EFA-F175-0354-5C3CEF324789}"/>
              </a:ext>
            </a:extLst>
          </p:cNvPr>
          <p:cNvCxnSpPr>
            <a:cxnSpLocks/>
          </p:cNvCxnSpPr>
          <p:nvPr/>
        </p:nvCxnSpPr>
        <p:spPr>
          <a:xfrm>
            <a:off x="2361760" y="3017400"/>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1" name="TextBox 70">
            <a:extLst>
              <a:ext uri="{FF2B5EF4-FFF2-40B4-BE49-F238E27FC236}">
                <a16:creationId xmlns:a16="http://schemas.microsoft.com/office/drawing/2014/main" id="{8085BD9D-4DFD-E27A-2952-82AD2A0BA60F}"/>
              </a:ext>
            </a:extLst>
          </p:cNvPr>
          <p:cNvSpPr txBox="1"/>
          <p:nvPr/>
        </p:nvSpPr>
        <p:spPr>
          <a:xfrm>
            <a:off x="729959" y="2832734"/>
            <a:ext cx="1412567" cy="369332"/>
          </a:xfrm>
          <a:prstGeom prst="rect">
            <a:avLst/>
          </a:prstGeom>
          <a:noFill/>
        </p:spPr>
        <p:txBody>
          <a:bodyPr wrap="none" rtlCol="0">
            <a:spAutoFit/>
          </a:bodyPr>
          <a:lstStyle/>
          <a:p>
            <a:pPr algn="r"/>
            <a:r>
              <a:rPr lang="en-US" dirty="0"/>
              <a:t>Farm Level</a:t>
            </a:r>
          </a:p>
        </p:txBody>
      </p:sp>
      <p:cxnSp>
        <p:nvCxnSpPr>
          <p:cNvPr id="72" name="Straight Arrow Connector 71">
            <a:extLst>
              <a:ext uri="{FF2B5EF4-FFF2-40B4-BE49-F238E27FC236}">
                <a16:creationId xmlns:a16="http://schemas.microsoft.com/office/drawing/2014/main" id="{4BCC6149-2184-E048-1A0D-AE02034145EA}"/>
              </a:ext>
            </a:extLst>
          </p:cNvPr>
          <p:cNvCxnSpPr>
            <a:cxnSpLocks/>
          </p:cNvCxnSpPr>
          <p:nvPr/>
        </p:nvCxnSpPr>
        <p:spPr>
          <a:xfrm>
            <a:off x="2361760" y="4498467"/>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3" name="TextBox 72">
            <a:extLst>
              <a:ext uri="{FF2B5EF4-FFF2-40B4-BE49-F238E27FC236}">
                <a16:creationId xmlns:a16="http://schemas.microsoft.com/office/drawing/2014/main" id="{4108550C-D623-00E4-54E7-FE41CF77D867}"/>
              </a:ext>
            </a:extLst>
          </p:cNvPr>
          <p:cNvSpPr txBox="1"/>
          <p:nvPr/>
        </p:nvSpPr>
        <p:spPr>
          <a:xfrm>
            <a:off x="453089" y="4307809"/>
            <a:ext cx="1689437" cy="369332"/>
          </a:xfrm>
          <a:prstGeom prst="rect">
            <a:avLst/>
          </a:prstGeom>
          <a:noFill/>
        </p:spPr>
        <p:txBody>
          <a:bodyPr wrap="square" rtlCol="0">
            <a:spAutoFit/>
          </a:bodyPr>
          <a:lstStyle/>
          <a:p>
            <a:pPr algn="r"/>
            <a:r>
              <a:rPr lang="en-US" dirty="0"/>
              <a:t>Animal Level</a:t>
            </a:r>
          </a:p>
        </p:txBody>
      </p:sp>
      <p:cxnSp>
        <p:nvCxnSpPr>
          <p:cNvPr id="74" name="Straight Arrow Connector 73">
            <a:extLst>
              <a:ext uri="{FF2B5EF4-FFF2-40B4-BE49-F238E27FC236}">
                <a16:creationId xmlns:a16="http://schemas.microsoft.com/office/drawing/2014/main" id="{F188CBF4-2090-8B66-BBAC-89616837B5C3}"/>
              </a:ext>
            </a:extLst>
          </p:cNvPr>
          <p:cNvCxnSpPr>
            <a:cxnSpLocks/>
          </p:cNvCxnSpPr>
          <p:nvPr/>
        </p:nvCxnSpPr>
        <p:spPr>
          <a:xfrm>
            <a:off x="2337895" y="5508916"/>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5" name="TextBox 74">
            <a:extLst>
              <a:ext uri="{FF2B5EF4-FFF2-40B4-BE49-F238E27FC236}">
                <a16:creationId xmlns:a16="http://schemas.microsoft.com/office/drawing/2014/main" id="{D097A9CA-3F00-1275-519E-3DEC54F1CDF2}"/>
              </a:ext>
            </a:extLst>
          </p:cNvPr>
          <p:cNvSpPr txBox="1"/>
          <p:nvPr/>
        </p:nvSpPr>
        <p:spPr>
          <a:xfrm>
            <a:off x="896671" y="5324250"/>
            <a:ext cx="1245855" cy="369332"/>
          </a:xfrm>
          <a:prstGeom prst="rect">
            <a:avLst/>
          </a:prstGeom>
          <a:noFill/>
        </p:spPr>
        <p:txBody>
          <a:bodyPr wrap="none" rtlCol="0">
            <a:spAutoFit/>
          </a:bodyPr>
          <a:lstStyle/>
          <a:p>
            <a:pPr algn="r"/>
            <a:r>
              <a:rPr lang="en-US" dirty="0"/>
              <a:t>Milk Level</a:t>
            </a:r>
          </a:p>
        </p:txBody>
      </p:sp>
      <p:sp>
        <p:nvSpPr>
          <p:cNvPr id="76" name="TextBox 75">
            <a:extLst>
              <a:ext uri="{FF2B5EF4-FFF2-40B4-BE49-F238E27FC236}">
                <a16:creationId xmlns:a16="http://schemas.microsoft.com/office/drawing/2014/main" id="{C0F4D0C9-AB8B-13CE-1114-104873A7080B}"/>
              </a:ext>
            </a:extLst>
          </p:cNvPr>
          <p:cNvSpPr txBox="1"/>
          <p:nvPr/>
        </p:nvSpPr>
        <p:spPr>
          <a:xfrm>
            <a:off x="6493565" y="1638689"/>
            <a:ext cx="802720" cy="369332"/>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77" name="Straight Arrow Connector 76">
            <a:extLst>
              <a:ext uri="{FF2B5EF4-FFF2-40B4-BE49-F238E27FC236}">
                <a16:creationId xmlns:a16="http://schemas.microsoft.com/office/drawing/2014/main" id="{CEDA4D1E-443E-C185-2A38-F6F800CB082D}"/>
              </a:ext>
            </a:extLst>
          </p:cNvPr>
          <p:cNvCxnSpPr>
            <a:cxnSpLocks/>
            <a:stCxn id="76" idx="2"/>
            <a:endCxn id="46" idx="0"/>
          </p:cNvCxnSpPr>
          <p:nvPr/>
        </p:nvCxnSpPr>
        <p:spPr>
          <a:xfrm flipH="1">
            <a:off x="4707397" y="2008021"/>
            <a:ext cx="2187528" cy="61804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8" name="Straight Arrow Connector 77">
            <a:extLst>
              <a:ext uri="{FF2B5EF4-FFF2-40B4-BE49-F238E27FC236}">
                <a16:creationId xmlns:a16="http://schemas.microsoft.com/office/drawing/2014/main" id="{C6AF1CD9-554B-6B50-FD0D-1C2F4EEE875E}"/>
              </a:ext>
            </a:extLst>
          </p:cNvPr>
          <p:cNvCxnSpPr>
            <a:cxnSpLocks/>
            <a:stCxn id="76" idx="2"/>
            <a:endCxn id="59" idx="0"/>
          </p:cNvCxnSpPr>
          <p:nvPr/>
        </p:nvCxnSpPr>
        <p:spPr>
          <a:xfrm>
            <a:off x="6894925" y="2008021"/>
            <a:ext cx="2151394" cy="61804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9" name="Straight Arrow Connector 78">
            <a:extLst>
              <a:ext uri="{FF2B5EF4-FFF2-40B4-BE49-F238E27FC236}">
                <a16:creationId xmlns:a16="http://schemas.microsoft.com/office/drawing/2014/main" id="{0202EC0C-EC4E-E6C7-051F-8A940BDD0A72}"/>
              </a:ext>
            </a:extLst>
          </p:cNvPr>
          <p:cNvCxnSpPr>
            <a:cxnSpLocks/>
          </p:cNvCxnSpPr>
          <p:nvPr/>
        </p:nvCxnSpPr>
        <p:spPr>
          <a:xfrm>
            <a:off x="2337895" y="1930469"/>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80" name="TextBox 79">
            <a:extLst>
              <a:ext uri="{FF2B5EF4-FFF2-40B4-BE49-F238E27FC236}">
                <a16:creationId xmlns:a16="http://schemas.microsoft.com/office/drawing/2014/main" id="{06FE4200-0299-D407-A6CF-8A80BD4BFE4F}"/>
              </a:ext>
            </a:extLst>
          </p:cNvPr>
          <p:cNvSpPr txBox="1"/>
          <p:nvPr/>
        </p:nvSpPr>
        <p:spPr>
          <a:xfrm>
            <a:off x="1182007" y="1745803"/>
            <a:ext cx="960519" cy="369332"/>
          </a:xfrm>
          <a:prstGeom prst="rect">
            <a:avLst/>
          </a:prstGeom>
          <a:noFill/>
        </p:spPr>
        <p:txBody>
          <a:bodyPr wrap="none" rtlCol="0">
            <a:spAutoFit/>
          </a:bodyPr>
          <a:lstStyle/>
          <a:p>
            <a:pPr algn="r"/>
            <a:r>
              <a:rPr lang="en-US" dirty="0"/>
              <a:t>Level 0</a:t>
            </a:r>
          </a:p>
        </p:txBody>
      </p:sp>
    </p:spTree>
    <p:extLst>
      <p:ext uri="{BB962C8B-B14F-4D97-AF65-F5344CB8AC3E}">
        <p14:creationId xmlns:p14="http://schemas.microsoft.com/office/powerpoint/2010/main" val="15271869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CA2C8-6759-840E-1A5D-B6C67C690528}"/>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479C28-EC72-7986-2151-FD94273489F6}"/>
              </a:ext>
            </a:extLst>
          </p:cNvPr>
          <p:cNvGraphicFramePr>
            <a:graphicFrameLocks noGrp="1"/>
          </p:cNvGraphicFramePr>
          <p:nvPr>
            <p:extLst>
              <p:ext uri="{D42A27DB-BD31-4B8C-83A1-F6EECF244321}">
                <p14:modId xmlns:p14="http://schemas.microsoft.com/office/powerpoint/2010/main" val="3413599344"/>
              </p:ext>
            </p:extLst>
          </p:nvPr>
        </p:nvGraphicFramePr>
        <p:xfrm>
          <a:off x="1825408" y="2099011"/>
          <a:ext cx="9334395" cy="370840"/>
        </p:xfrm>
        <a:graphic>
          <a:graphicData uri="http://schemas.openxmlformats.org/drawingml/2006/table">
            <a:tbl>
              <a:tblPr firstRow="1" bandRow="1">
                <a:tableStyleId>{21E4AEA4-8DFA-4A89-87EB-49C32662AFE0}</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solidFill>
                      <a:srgbClr val="016BB6"/>
                    </a:solidFill>
                  </a:tcPr>
                </a:tc>
                <a:tc>
                  <a:txBody>
                    <a:bodyPr/>
                    <a:lstStyle/>
                    <a:p>
                      <a:pPr algn="ctr"/>
                      <a:r>
                        <a:rPr lang="en-US" sz="1200" dirty="0" err="1"/>
                        <a:t>Farm_ID</a:t>
                      </a:r>
                      <a:endParaRPr lang="en-US" sz="1200" dirty="0"/>
                    </a:p>
                  </a:txBody>
                  <a:tcPr>
                    <a:solidFill>
                      <a:srgbClr val="016BB6"/>
                    </a:solidFill>
                  </a:tcPr>
                </a:tc>
                <a:tc>
                  <a:txBody>
                    <a:bodyPr/>
                    <a:lstStyle/>
                    <a:p>
                      <a:pPr algn="ctr"/>
                      <a:r>
                        <a:rPr lang="en-US" sz="1200" dirty="0"/>
                        <a:t>Date</a:t>
                      </a:r>
                    </a:p>
                  </a:txBody>
                  <a:tcPr>
                    <a:solidFill>
                      <a:srgbClr val="016BB6"/>
                    </a:solidFill>
                  </a:tcPr>
                </a:tc>
                <a:tc>
                  <a:txBody>
                    <a:bodyPr/>
                    <a:lstStyle/>
                    <a:p>
                      <a:pPr algn="ctr"/>
                      <a:r>
                        <a:rPr lang="en-US" sz="1200" dirty="0"/>
                        <a:t>Age</a:t>
                      </a:r>
                    </a:p>
                  </a:txBody>
                  <a:tcPr>
                    <a:solidFill>
                      <a:srgbClr val="016BB6"/>
                    </a:solidFill>
                  </a:tcPr>
                </a:tc>
                <a:tc>
                  <a:txBody>
                    <a:bodyPr/>
                    <a:lstStyle/>
                    <a:p>
                      <a:pPr algn="ctr"/>
                      <a:r>
                        <a:rPr lang="en-US" sz="1200" dirty="0"/>
                        <a:t>MILK</a:t>
                      </a:r>
                    </a:p>
                  </a:txBody>
                  <a:tcPr>
                    <a:solidFill>
                      <a:srgbClr val="016BB6"/>
                    </a:solidFill>
                  </a:tcPr>
                </a:tc>
                <a:tc>
                  <a:txBody>
                    <a:bodyPr/>
                    <a:lstStyle/>
                    <a:p>
                      <a:pPr algn="ctr"/>
                      <a:r>
                        <a:rPr lang="en-US" sz="1200" dirty="0"/>
                        <a:t>DIM</a:t>
                      </a:r>
                    </a:p>
                  </a:txBody>
                  <a:tcPr>
                    <a:solidFill>
                      <a:srgbClr val="016BB6"/>
                    </a:solidFill>
                  </a:tcPr>
                </a:tc>
                <a:tc>
                  <a:txBody>
                    <a:bodyPr/>
                    <a:lstStyle/>
                    <a:p>
                      <a:pPr algn="ctr"/>
                      <a:r>
                        <a:rPr lang="en-US" sz="1200" dirty="0"/>
                        <a:t>Protein</a:t>
                      </a:r>
                    </a:p>
                  </a:txBody>
                  <a:tcPr>
                    <a:solidFill>
                      <a:srgbClr val="016BB6"/>
                    </a:solidFill>
                  </a:tcPr>
                </a:tc>
                <a:tc>
                  <a:txBody>
                    <a:bodyPr/>
                    <a:lstStyle/>
                    <a:p>
                      <a:pPr algn="ctr"/>
                      <a:r>
                        <a:rPr lang="en-US" sz="1200" dirty="0"/>
                        <a:t>Fat</a:t>
                      </a:r>
                    </a:p>
                  </a:txBody>
                  <a:tcPr>
                    <a:solidFill>
                      <a:srgbClr val="016BB6"/>
                    </a:solidFill>
                  </a:tcPr>
                </a:tc>
                <a:tc>
                  <a:txBody>
                    <a:bodyPr/>
                    <a:lstStyle/>
                    <a:p>
                      <a:pPr algn="ctr"/>
                      <a:r>
                        <a:rPr lang="en-US" sz="1200" dirty="0"/>
                        <a:t>SCC</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CC85836B-AA04-E8C7-C08A-F07EB4DBD77B}"/>
              </a:ext>
            </a:extLst>
          </p:cNvPr>
          <p:cNvGraphicFramePr>
            <a:graphicFrameLocks noGrp="1"/>
          </p:cNvGraphicFramePr>
          <p:nvPr>
            <p:extLst>
              <p:ext uri="{D42A27DB-BD31-4B8C-83A1-F6EECF244321}">
                <p14:modId xmlns:p14="http://schemas.microsoft.com/office/powerpoint/2010/main" val="2939954106"/>
              </p:ext>
            </p:extLst>
          </p:nvPr>
        </p:nvGraphicFramePr>
        <p:xfrm>
          <a:off x="1825407" y="2467801"/>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20 Kg</a:t>
                      </a:r>
                    </a:p>
                  </a:txBody>
                  <a:tcPr>
                    <a:solidFill>
                      <a:srgbClr val="016BB6"/>
                    </a:solidFill>
                  </a:tcPr>
                </a:tc>
                <a:tc>
                  <a:txBody>
                    <a:bodyPr/>
                    <a:lstStyle/>
                    <a:p>
                      <a:pPr algn="ctr"/>
                      <a:r>
                        <a:rPr lang="en-US" sz="1200" dirty="0"/>
                        <a:t>154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6B0F1585-9803-4B11-74DF-1524C75D48FC}"/>
              </a:ext>
            </a:extLst>
          </p:cNvPr>
          <p:cNvGraphicFramePr>
            <a:graphicFrameLocks noGrp="1"/>
          </p:cNvGraphicFramePr>
          <p:nvPr>
            <p:extLst>
              <p:ext uri="{D42A27DB-BD31-4B8C-83A1-F6EECF244321}">
                <p14:modId xmlns:p14="http://schemas.microsoft.com/office/powerpoint/2010/main" val="2381777127"/>
              </p:ext>
            </p:extLst>
          </p:nvPr>
        </p:nvGraphicFramePr>
        <p:xfrm>
          <a:off x="1825407" y="284352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6</a:t>
                      </a:r>
                    </a:p>
                  </a:txBody>
                  <a:tcPr>
                    <a:solidFill>
                      <a:srgbClr val="016BB6"/>
                    </a:solidFill>
                  </a:tcPr>
                </a:tc>
                <a:tc>
                  <a:txBody>
                    <a:bodyPr/>
                    <a:lstStyle/>
                    <a:p>
                      <a:pPr algn="ctr"/>
                      <a:r>
                        <a:rPr lang="en-US" sz="1200" dirty="0"/>
                        <a:t>35 Kg</a:t>
                      </a:r>
                    </a:p>
                  </a:txBody>
                  <a:tcPr>
                    <a:solidFill>
                      <a:srgbClr val="016BB6"/>
                    </a:solidFill>
                  </a:tcPr>
                </a:tc>
                <a:tc>
                  <a:txBody>
                    <a:bodyPr/>
                    <a:lstStyle/>
                    <a:p>
                      <a:pPr algn="ctr"/>
                      <a:r>
                        <a:rPr lang="en-US" sz="1200" dirty="0"/>
                        <a:t>114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B9C3C1DF-537E-02CA-4F5F-96751F713D5B}"/>
              </a:ext>
            </a:extLst>
          </p:cNvPr>
          <p:cNvGraphicFramePr>
            <a:graphicFrameLocks noGrp="1"/>
          </p:cNvGraphicFramePr>
          <p:nvPr>
            <p:extLst>
              <p:ext uri="{D42A27DB-BD31-4B8C-83A1-F6EECF244321}">
                <p14:modId xmlns:p14="http://schemas.microsoft.com/office/powerpoint/2010/main" val="2670712021"/>
              </p:ext>
            </p:extLst>
          </p:nvPr>
        </p:nvGraphicFramePr>
        <p:xfrm>
          <a:off x="1825410" y="321192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5</a:t>
                      </a:r>
                    </a:p>
                  </a:txBody>
                  <a:tcPr>
                    <a:solidFill>
                      <a:srgbClr val="016BB6"/>
                    </a:solidFill>
                  </a:tcPr>
                </a:tc>
                <a:tc>
                  <a:txBody>
                    <a:bodyPr/>
                    <a:lstStyle/>
                    <a:p>
                      <a:pPr algn="ctr"/>
                      <a:r>
                        <a:rPr lang="en-US" sz="1200" dirty="0"/>
                        <a:t>15 Kg</a:t>
                      </a:r>
                    </a:p>
                  </a:txBody>
                  <a:tcPr>
                    <a:solidFill>
                      <a:srgbClr val="016BB6"/>
                    </a:solidFill>
                  </a:tcPr>
                </a:tc>
                <a:tc>
                  <a:txBody>
                    <a:bodyPr/>
                    <a:lstStyle/>
                    <a:p>
                      <a:pPr algn="ctr"/>
                      <a:r>
                        <a:rPr lang="en-US" sz="1200" dirty="0"/>
                        <a:t>204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0D3EC7D8-7CC0-E29C-6D70-6E93015DBDFE}"/>
              </a:ext>
            </a:extLst>
          </p:cNvPr>
          <p:cNvGraphicFramePr>
            <a:graphicFrameLocks noGrp="1"/>
          </p:cNvGraphicFramePr>
          <p:nvPr>
            <p:extLst>
              <p:ext uri="{D42A27DB-BD31-4B8C-83A1-F6EECF244321}">
                <p14:modId xmlns:p14="http://schemas.microsoft.com/office/powerpoint/2010/main" val="2750405994"/>
              </p:ext>
            </p:extLst>
          </p:nvPr>
        </p:nvGraphicFramePr>
        <p:xfrm>
          <a:off x="1825410" y="358071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7</a:t>
                      </a:r>
                    </a:p>
                  </a:txBody>
                  <a:tcPr>
                    <a:solidFill>
                      <a:srgbClr val="016BB6"/>
                    </a:solidFill>
                  </a:tcPr>
                </a:tc>
                <a:tc>
                  <a:txBody>
                    <a:bodyPr/>
                    <a:lstStyle/>
                    <a:p>
                      <a:pPr algn="ctr"/>
                      <a:r>
                        <a:rPr lang="en-US" sz="1200" dirty="0"/>
                        <a:t>30 Kg</a:t>
                      </a:r>
                    </a:p>
                  </a:txBody>
                  <a:tcPr>
                    <a:solidFill>
                      <a:srgbClr val="016BB6"/>
                    </a:solidFill>
                  </a:tcPr>
                </a:tc>
                <a:tc>
                  <a:txBody>
                    <a:bodyPr/>
                    <a:lstStyle/>
                    <a:p>
                      <a:pPr algn="ctr"/>
                      <a:r>
                        <a:rPr lang="en-US" sz="1200" dirty="0"/>
                        <a:t>94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35DBCA64-ADF0-C2EB-B4C9-0508C4FE590C}"/>
              </a:ext>
            </a:extLst>
          </p:cNvPr>
          <p:cNvGraphicFramePr>
            <a:graphicFrameLocks noGrp="1"/>
          </p:cNvGraphicFramePr>
          <p:nvPr>
            <p:extLst>
              <p:ext uri="{D42A27DB-BD31-4B8C-83A1-F6EECF244321}">
                <p14:modId xmlns:p14="http://schemas.microsoft.com/office/powerpoint/2010/main" val="78621962"/>
              </p:ext>
            </p:extLst>
          </p:nvPr>
        </p:nvGraphicFramePr>
        <p:xfrm>
          <a:off x="1825407" y="3936583"/>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5</a:t>
                      </a:r>
                    </a:p>
                  </a:txBody>
                  <a:tcPr>
                    <a:solidFill>
                      <a:srgbClr val="016BB6"/>
                    </a:solidFill>
                  </a:tcPr>
                </a:tc>
                <a:tc>
                  <a:txBody>
                    <a:bodyPr/>
                    <a:lstStyle/>
                    <a:p>
                      <a:pPr algn="ctr"/>
                      <a:r>
                        <a:rPr lang="en-US" sz="1200" dirty="0"/>
                        <a:t>20 Kg</a:t>
                      </a:r>
                    </a:p>
                  </a:txBody>
                  <a:tcPr>
                    <a:solidFill>
                      <a:srgbClr val="016BB6"/>
                    </a:solidFill>
                  </a:tcPr>
                </a:tc>
                <a:tc>
                  <a:txBody>
                    <a:bodyPr/>
                    <a:lstStyle/>
                    <a:p>
                      <a:pPr algn="ctr"/>
                      <a:r>
                        <a:rPr lang="en-US" sz="1200" dirty="0"/>
                        <a:t>204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40F73878-1D80-6079-0559-F6608385FED7}"/>
              </a:ext>
            </a:extLst>
          </p:cNvPr>
          <p:cNvGraphicFramePr>
            <a:graphicFrameLocks noGrp="1"/>
          </p:cNvGraphicFramePr>
          <p:nvPr>
            <p:extLst>
              <p:ext uri="{D42A27DB-BD31-4B8C-83A1-F6EECF244321}">
                <p14:modId xmlns:p14="http://schemas.microsoft.com/office/powerpoint/2010/main" val="1946240184"/>
              </p:ext>
            </p:extLst>
          </p:nvPr>
        </p:nvGraphicFramePr>
        <p:xfrm>
          <a:off x="1825407" y="4300339"/>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25 Kg</a:t>
                      </a:r>
                    </a:p>
                  </a:txBody>
                  <a:tcPr>
                    <a:solidFill>
                      <a:srgbClr val="016BB6"/>
                    </a:solidFill>
                  </a:tcPr>
                </a:tc>
                <a:tc>
                  <a:txBody>
                    <a:bodyPr/>
                    <a:lstStyle/>
                    <a:p>
                      <a:pPr algn="ctr"/>
                      <a:r>
                        <a:rPr lang="en-US" sz="1200" dirty="0"/>
                        <a:t>155</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C319D6AA-AB32-A4FF-7110-1E6424D3180C}"/>
              </a:ext>
            </a:extLst>
          </p:cNvPr>
          <p:cNvGraphicFramePr>
            <a:graphicFrameLocks noGrp="1"/>
          </p:cNvGraphicFramePr>
          <p:nvPr>
            <p:extLst>
              <p:ext uri="{D42A27DB-BD31-4B8C-83A1-F6EECF244321}">
                <p14:modId xmlns:p14="http://schemas.microsoft.com/office/powerpoint/2010/main" val="685021692"/>
              </p:ext>
            </p:extLst>
          </p:nvPr>
        </p:nvGraphicFramePr>
        <p:xfrm>
          <a:off x="1825410" y="466955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35 Kg</a:t>
                      </a:r>
                    </a:p>
                  </a:txBody>
                  <a:tcPr>
                    <a:solidFill>
                      <a:srgbClr val="016BB6"/>
                    </a:solidFill>
                  </a:tcPr>
                </a:tc>
                <a:tc>
                  <a:txBody>
                    <a:bodyPr/>
                    <a:lstStyle/>
                    <a:p>
                      <a:pPr algn="ctr"/>
                      <a:r>
                        <a:rPr lang="en-US" sz="1200" dirty="0"/>
                        <a:t>115</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61F9F7A0-69A5-FD0B-49A3-1E7744465B51}"/>
              </a:ext>
            </a:extLst>
          </p:cNvPr>
          <p:cNvGraphicFramePr>
            <a:graphicFrameLocks noGrp="1"/>
          </p:cNvGraphicFramePr>
          <p:nvPr>
            <p:extLst>
              <p:ext uri="{D42A27DB-BD31-4B8C-83A1-F6EECF244321}">
                <p14:modId xmlns:p14="http://schemas.microsoft.com/office/powerpoint/2010/main" val="2164201053"/>
              </p:ext>
            </p:extLst>
          </p:nvPr>
        </p:nvGraphicFramePr>
        <p:xfrm>
          <a:off x="1825410" y="503834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7</a:t>
                      </a:r>
                    </a:p>
                  </a:txBody>
                  <a:tcPr>
                    <a:solidFill>
                      <a:srgbClr val="016BB6"/>
                    </a:solidFill>
                  </a:tcPr>
                </a:tc>
                <a:tc>
                  <a:txBody>
                    <a:bodyPr/>
                    <a:lstStyle/>
                    <a:p>
                      <a:pPr algn="ctr"/>
                      <a:r>
                        <a:rPr lang="en-US" sz="1200" dirty="0"/>
                        <a:t>15 Kg</a:t>
                      </a:r>
                    </a:p>
                  </a:txBody>
                  <a:tcPr>
                    <a:solidFill>
                      <a:srgbClr val="016BB6"/>
                    </a:solidFill>
                  </a:tcPr>
                </a:tc>
                <a:tc>
                  <a:txBody>
                    <a:bodyPr/>
                    <a:lstStyle/>
                    <a:p>
                      <a:pPr algn="ctr"/>
                      <a:r>
                        <a:rPr lang="en-US" sz="1200" dirty="0"/>
                        <a:t>93</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sp>
        <p:nvSpPr>
          <p:cNvPr id="9" name="Title 1">
            <a:extLst>
              <a:ext uri="{FF2B5EF4-FFF2-40B4-BE49-F238E27FC236}">
                <a16:creationId xmlns:a16="http://schemas.microsoft.com/office/drawing/2014/main" id="{5F15A01D-04CD-EEBE-BEF6-2E3D4665856B}"/>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22" name="Picture 21">
            <a:extLst>
              <a:ext uri="{FF2B5EF4-FFF2-40B4-BE49-F238E27FC236}">
                <a16:creationId xmlns:a16="http://schemas.microsoft.com/office/drawing/2014/main" id="{E1B46C11-F331-D19C-DBF6-EB7176EACB27}"/>
              </a:ext>
            </a:extLst>
          </p:cNvPr>
          <p:cNvPicPr>
            <a:picLocks noChangeAspect="1"/>
          </p:cNvPicPr>
          <p:nvPr/>
        </p:nvPicPr>
        <p:blipFill>
          <a:blip r:embed="rId2"/>
          <a:srcRect l="22961" t="57864" r="62119" b="30040"/>
          <a:stretch>
            <a:fillRect/>
          </a:stretch>
        </p:blipFill>
        <p:spPr>
          <a:xfrm>
            <a:off x="610655" y="1326987"/>
            <a:ext cx="829706" cy="366508"/>
          </a:xfrm>
          <a:prstGeom prst="rect">
            <a:avLst/>
          </a:prstGeom>
        </p:spPr>
      </p:pic>
      <p:sp>
        <p:nvSpPr>
          <p:cNvPr id="23" name="TextBox 22">
            <a:extLst>
              <a:ext uri="{FF2B5EF4-FFF2-40B4-BE49-F238E27FC236}">
                <a16:creationId xmlns:a16="http://schemas.microsoft.com/office/drawing/2014/main" id="{2DB62BA9-3F0D-DCEE-0A00-51C64DBFBD17}"/>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Milk Level</a:t>
            </a:r>
            <a:endParaRPr lang="en-US" dirty="0"/>
          </a:p>
        </p:txBody>
      </p:sp>
    </p:spTree>
    <p:extLst>
      <p:ext uri="{BB962C8B-B14F-4D97-AF65-F5344CB8AC3E}">
        <p14:creationId xmlns:p14="http://schemas.microsoft.com/office/powerpoint/2010/main" val="4009782835"/>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6839-4FD6-9339-F7A0-688AAB43D30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190711F-6D0E-2BC5-D513-FBDB27AA2E21}"/>
              </a:ext>
            </a:extLst>
          </p:cNvPr>
          <p:cNvGraphicFramePr>
            <a:graphicFrameLocks noGrp="1"/>
          </p:cNvGraphicFramePr>
          <p:nvPr>
            <p:extLst>
              <p:ext uri="{D42A27DB-BD31-4B8C-83A1-F6EECF244321}">
                <p14:modId xmlns:p14="http://schemas.microsoft.com/office/powerpoint/2010/main" val="3998644384"/>
              </p:ext>
            </p:extLst>
          </p:nvPr>
        </p:nvGraphicFramePr>
        <p:xfrm>
          <a:off x="1825407" y="2106545"/>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BB842D63-E953-9355-8E5E-EA2A76982E7D}"/>
              </a:ext>
            </a:extLst>
          </p:cNvPr>
          <p:cNvGraphicFramePr>
            <a:graphicFrameLocks noGrp="1"/>
          </p:cNvGraphicFramePr>
          <p:nvPr>
            <p:extLst>
              <p:ext uri="{D42A27DB-BD31-4B8C-83A1-F6EECF244321}">
                <p14:modId xmlns:p14="http://schemas.microsoft.com/office/powerpoint/2010/main" val="625912039"/>
              </p:ext>
            </p:extLst>
          </p:nvPr>
        </p:nvGraphicFramePr>
        <p:xfrm>
          <a:off x="1825406" y="2475335"/>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256F301-6FCD-D325-CDAA-6D4433927061}"/>
              </a:ext>
            </a:extLst>
          </p:cNvPr>
          <p:cNvGraphicFramePr>
            <a:graphicFrameLocks noGrp="1"/>
          </p:cNvGraphicFramePr>
          <p:nvPr>
            <p:extLst>
              <p:ext uri="{D42A27DB-BD31-4B8C-83A1-F6EECF244321}">
                <p14:modId xmlns:p14="http://schemas.microsoft.com/office/powerpoint/2010/main" val="1848455015"/>
              </p:ext>
            </p:extLst>
          </p:nvPr>
        </p:nvGraphicFramePr>
        <p:xfrm>
          <a:off x="1825406" y="2851062"/>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4578DD3B-3E1D-3EBB-13E6-E6F76E8582F9}"/>
              </a:ext>
            </a:extLst>
          </p:cNvPr>
          <p:cNvGraphicFramePr>
            <a:graphicFrameLocks noGrp="1"/>
          </p:cNvGraphicFramePr>
          <p:nvPr>
            <p:extLst>
              <p:ext uri="{D42A27DB-BD31-4B8C-83A1-F6EECF244321}">
                <p14:modId xmlns:p14="http://schemas.microsoft.com/office/powerpoint/2010/main" val="2664935107"/>
              </p:ext>
            </p:extLst>
          </p:nvPr>
        </p:nvGraphicFramePr>
        <p:xfrm>
          <a:off x="1825409" y="3219461"/>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811EEF54-82C5-3399-3C70-180B5934A668}"/>
              </a:ext>
            </a:extLst>
          </p:cNvPr>
          <p:cNvGraphicFramePr>
            <a:graphicFrameLocks noGrp="1"/>
          </p:cNvGraphicFramePr>
          <p:nvPr>
            <p:extLst>
              <p:ext uri="{D42A27DB-BD31-4B8C-83A1-F6EECF244321}">
                <p14:modId xmlns:p14="http://schemas.microsoft.com/office/powerpoint/2010/main" val="526640705"/>
              </p:ext>
            </p:extLst>
          </p:nvPr>
        </p:nvGraphicFramePr>
        <p:xfrm>
          <a:off x="1825409" y="3588251"/>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71F225AF-041E-E9E8-0ED8-29B7FE06A21D}"/>
              </a:ext>
            </a:extLst>
          </p:cNvPr>
          <p:cNvGraphicFramePr>
            <a:graphicFrameLocks noGrp="1"/>
          </p:cNvGraphicFramePr>
          <p:nvPr>
            <p:extLst>
              <p:ext uri="{D42A27DB-BD31-4B8C-83A1-F6EECF244321}">
                <p14:modId xmlns:p14="http://schemas.microsoft.com/office/powerpoint/2010/main" val="3269585942"/>
              </p:ext>
            </p:extLst>
          </p:nvPr>
        </p:nvGraphicFramePr>
        <p:xfrm>
          <a:off x="1825406" y="3944117"/>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E3A2E539-8C32-6138-95FC-4B5A50E21D23}"/>
              </a:ext>
            </a:extLst>
          </p:cNvPr>
          <p:cNvGraphicFramePr>
            <a:graphicFrameLocks noGrp="1"/>
          </p:cNvGraphicFramePr>
          <p:nvPr>
            <p:extLst>
              <p:ext uri="{D42A27DB-BD31-4B8C-83A1-F6EECF244321}">
                <p14:modId xmlns:p14="http://schemas.microsoft.com/office/powerpoint/2010/main" val="1327221948"/>
              </p:ext>
            </p:extLst>
          </p:nvPr>
        </p:nvGraphicFramePr>
        <p:xfrm>
          <a:off x="1825406" y="4307873"/>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F582B2D0-E0F6-A306-9A8B-AF040CF4D0A5}"/>
              </a:ext>
            </a:extLst>
          </p:cNvPr>
          <p:cNvGraphicFramePr>
            <a:graphicFrameLocks noGrp="1"/>
          </p:cNvGraphicFramePr>
          <p:nvPr>
            <p:extLst>
              <p:ext uri="{D42A27DB-BD31-4B8C-83A1-F6EECF244321}">
                <p14:modId xmlns:p14="http://schemas.microsoft.com/office/powerpoint/2010/main" val="1024802070"/>
              </p:ext>
            </p:extLst>
          </p:nvPr>
        </p:nvGraphicFramePr>
        <p:xfrm>
          <a:off x="1825409" y="4677092"/>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4A89309E-0F07-513C-731D-F169011A8EBF}"/>
              </a:ext>
            </a:extLst>
          </p:cNvPr>
          <p:cNvGraphicFramePr>
            <a:graphicFrameLocks noGrp="1"/>
          </p:cNvGraphicFramePr>
          <p:nvPr>
            <p:extLst>
              <p:ext uri="{D42A27DB-BD31-4B8C-83A1-F6EECF244321}">
                <p14:modId xmlns:p14="http://schemas.microsoft.com/office/powerpoint/2010/main" val="3166828806"/>
              </p:ext>
            </p:extLst>
          </p:nvPr>
        </p:nvGraphicFramePr>
        <p:xfrm>
          <a:off x="1825409" y="5045882"/>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9" name="Title 1">
            <a:extLst>
              <a:ext uri="{FF2B5EF4-FFF2-40B4-BE49-F238E27FC236}">
                <a16:creationId xmlns:a16="http://schemas.microsoft.com/office/drawing/2014/main" id="{644B4DD9-2E20-9E3F-6558-12B5E9B2B6F5}"/>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19" name="Picture 18">
            <a:extLst>
              <a:ext uri="{FF2B5EF4-FFF2-40B4-BE49-F238E27FC236}">
                <a16:creationId xmlns:a16="http://schemas.microsoft.com/office/drawing/2014/main" id="{CCC88A81-0925-3B20-4191-4A8B04D763D8}"/>
              </a:ext>
            </a:extLst>
          </p:cNvPr>
          <p:cNvPicPr>
            <a:picLocks noChangeAspect="1"/>
          </p:cNvPicPr>
          <p:nvPr/>
        </p:nvPicPr>
        <p:blipFill>
          <a:blip r:embed="rId2"/>
          <a:srcRect l="22961" t="57864" r="62119" b="30040"/>
          <a:stretch>
            <a:fillRect/>
          </a:stretch>
        </p:blipFill>
        <p:spPr>
          <a:xfrm>
            <a:off x="610655" y="1326987"/>
            <a:ext cx="829706" cy="366508"/>
          </a:xfrm>
          <a:prstGeom prst="rect">
            <a:avLst/>
          </a:prstGeom>
        </p:spPr>
      </p:pic>
      <p:sp>
        <p:nvSpPr>
          <p:cNvPr id="24" name="TextBox 23">
            <a:extLst>
              <a:ext uri="{FF2B5EF4-FFF2-40B4-BE49-F238E27FC236}">
                <a16:creationId xmlns:a16="http://schemas.microsoft.com/office/drawing/2014/main" id="{D12920F1-2666-19AF-6841-95DB0B885FA3}"/>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Milk Level</a:t>
            </a:r>
            <a:endParaRPr lang="en-US" dirty="0"/>
          </a:p>
        </p:txBody>
      </p:sp>
    </p:spTree>
    <p:extLst>
      <p:ext uri="{BB962C8B-B14F-4D97-AF65-F5344CB8AC3E}">
        <p14:creationId xmlns:p14="http://schemas.microsoft.com/office/powerpoint/2010/main" val="414190679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6B3E0-F09F-7ABE-1CA5-431F07BCA7C6}"/>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571722C8-01CC-69C6-633A-6F143271F5AE}"/>
              </a:ext>
            </a:extLst>
          </p:cNvPr>
          <p:cNvGraphicFramePr>
            <a:graphicFrameLocks noGrp="1"/>
          </p:cNvGraphicFramePr>
          <p:nvPr>
            <p:extLst>
              <p:ext uri="{D42A27DB-BD31-4B8C-83A1-F6EECF244321}">
                <p14:modId xmlns:p14="http://schemas.microsoft.com/office/powerpoint/2010/main" val="1681540337"/>
              </p:ext>
            </p:extLst>
          </p:nvPr>
        </p:nvGraphicFramePr>
        <p:xfrm>
          <a:off x="1811443" y="4064454"/>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2" name="Table 1">
            <a:extLst>
              <a:ext uri="{FF2B5EF4-FFF2-40B4-BE49-F238E27FC236}">
                <a16:creationId xmlns:a16="http://schemas.microsoft.com/office/drawing/2014/main" id="{D0584D7A-E53A-C410-B8C2-3653F685DF88}"/>
              </a:ext>
            </a:extLst>
          </p:cNvPr>
          <p:cNvGraphicFramePr>
            <a:graphicFrameLocks noGrp="1"/>
          </p:cNvGraphicFramePr>
          <p:nvPr>
            <p:extLst>
              <p:ext uri="{D42A27DB-BD31-4B8C-83A1-F6EECF244321}">
                <p14:modId xmlns:p14="http://schemas.microsoft.com/office/powerpoint/2010/main" val="882971150"/>
              </p:ext>
            </p:extLst>
          </p:nvPr>
        </p:nvGraphicFramePr>
        <p:xfrm>
          <a:off x="1822305" y="2095544"/>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0E73EB17-9AD2-B8E4-0E0D-3126C5123910}"/>
              </a:ext>
            </a:extLst>
          </p:cNvPr>
          <p:cNvGraphicFramePr>
            <a:graphicFrameLocks noGrp="1"/>
          </p:cNvGraphicFramePr>
          <p:nvPr>
            <p:extLst>
              <p:ext uri="{D42A27DB-BD31-4B8C-83A1-F6EECF244321}">
                <p14:modId xmlns:p14="http://schemas.microsoft.com/office/powerpoint/2010/main" val="418826466"/>
              </p:ext>
            </p:extLst>
          </p:nvPr>
        </p:nvGraphicFramePr>
        <p:xfrm>
          <a:off x="1822304" y="2464334"/>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81984DF2-C5DB-ACA6-95D0-BBF147BC9C0C}"/>
              </a:ext>
            </a:extLst>
          </p:cNvPr>
          <p:cNvGraphicFramePr>
            <a:graphicFrameLocks noGrp="1"/>
          </p:cNvGraphicFramePr>
          <p:nvPr>
            <p:extLst>
              <p:ext uri="{D42A27DB-BD31-4B8C-83A1-F6EECF244321}">
                <p14:modId xmlns:p14="http://schemas.microsoft.com/office/powerpoint/2010/main" val="272750716"/>
              </p:ext>
            </p:extLst>
          </p:nvPr>
        </p:nvGraphicFramePr>
        <p:xfrm>
          <a:off x="1822304" y="5246805"/>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05501705-38B1-6E70-7A31-7CDF16197FB0}"/>
              </a:ext>
            </a:extLst>
          </p:cNvPr>
          <p:cNvGraphicFramePr>
            <a:graphicFrameLocks noGrp="1"/>
          </p:cNvGraphicFramePr>
          <p:nvPr>
            <p:extLst>
              <p:ext uri="{D42A27DB-BD31-4B8C-83A1-F6EECF244321}">
                <p14:modId xmlns:p14="http://schemas.microsoft.com/office/powerpoint/2010/main" val="556487078"/>
              </p:ext>
            </p:extLst>
          </p:nvPr>
        </p:nvGraphicFramePr>
        <p:xfrm>
          <a:off x="1811442" y="4428201"/>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1A096C84-E28D-F837-9340-FFBD9B499598}"/>
              </a:ext>
            </a:extLst>
          </p:cNvPr>
          <p:cNvGraphicFramePr>
            <a:graphicFrameLocks noGrp="1"/>
          </p:cNvGraphicFramePr>
          <p:nvPr>
            <p:extLst>
              <p:ext uri="{D42A27DB-BD31-4B8C-83A1-F6EECF244321}">
                <p14:modId xmlns:p14="http://schemas.microsoft.com/office/powerpoint/2010/main" val="1716178078"/>
              </p:ext>
            </p:extLst>
          </p:nvPr>
        </p:nvGraphicFramePr>
        <p:xfrm>
          <a:off x="1822304" y="3264860"/>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634D7B07-2699-9ED8-A681-1C0C12274942}"/>
              </a:ext>
            </a:extLst>
          </p:cNvPr>
          <p:cNvGraphicFramePr>
            <a:graphicFrameLocks noGrp="1"/>
          </p:cNvGraphicFramePr>
          <p:nvPr>
            <p:extLst>
              <p:ext uri="{D42A27DB-BD31-4B8C-83A1-F6EECF244321}">
                <p14:modId xmlns:p14="http://schemas.microsoft.com/office/powerpoint/2010/main" val="1340778124"/>
              </p:ext>
            </p:extLst>
          </p:nvPr>
        </p:nvGraphicFramePr>
        <p:xfrm>
          <a:off x="1822304" y="2835559"/>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7921A330-4B46-5C12-3B34-E9189EF11268}"/>
              </a:ext>
            </a:extLst>
          </p:cNvPr>
          <p:cNvGraphicFramePr>
            <a:graphicFrameLocks noGrp="1"/>
          </p:cNvGraphicFramePr>
          <p:nvPr>
            <p:extLst>
              <p:ext uri="{D42A27DB-BD31-4B8C-83A1-F6EECF244321}">
                <p14:modId xmlns:p14="http://schemas.microsoft.com/office/powerpoint/2010/main" val="77222580"/>
              </p:ext>
            </p:extLst>
          </p:nvPr>
        </p:nvGraphicFramePr>
        <p:xfrm>
          <a:off x="1822304" y="4851264"/>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258F445C-FA1A-E418-294C-D772457CE42B}"/>
              </a:ext>
            </a:extLst>
          </p:cNvPr>
          <p:cNvGraphicFramePr>
            <a:graphicFrameLocks noGrp="1"/>
          </p:cNvGraphicFramePr>
          <p:nvPr>
            <p:extLst>
              <p:ext uri="{D42A27DB-BD31-4B8C-83A1-F6EECF244321}">
                <p14:modId xmlns:p14="http://schemas.microsoft.com/office/powerpoint/2010/main" val="190634487"/>
              </p:ext>
            </p:extLst>
          </p:nvPr>
        </p:nvGraphicFramePr>
        <p:xfrm>
          <a:off x="1822594" y="3633741"/>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810D13B9-FCD3-0FD0-109F-FE6A89DE3402}"/>
              </a:ext>
            </a:extLst>
          </p:cNvPr>
          <p:cNvSpPr/>
          <p:nvPr/>
        </p:nvSpPr>
        <p:spPr>
          <a:xfrm>
            <a:off x="1569751" y="2527948"/>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F9634308-D1A9-023C-94EA-062FF678E747}"/>
              </a:ext>
            </a:extLst>
          </p:cNvPr>
          <p:cNvSpPr txBox="1"/>
          <p:nvPr/>
        </p:nvSpPr>
        <p:spPr>
          <a:xfrm>
            <a:off x="180000" y="2663955"/>
            <a:ext cx="1389750" cy="338554"/>
          </a:xfrm>
          <a:prstGeom prst="rect">
            <a:avLst/>
          </a:prstGeom>
          <a:noFill/>
        </p:spPr>
        <p:txBody>
          <a:bodyPr wrap="square" rtlCol="0">
            <a:spAutoFit/>
          </a:bodyPr>
          <a:lstStyle/>
          <a:p>
            <a:pPr algn="ctr"/>
            <a:r>
              <a:rPr lang="en-US" sz="1600" dirty="0"/>
              <a:t>Animal 1001</a:t>
            </a:r>
          </a:p>
        </p:txBody>
      </p:sp>
      <p:sp>
        <p:nvSpPr>
          <p:cNvPr id="19" name="Left Brace 18">
            <a:extLst>
              <a:ext uri="{FF2B5EF4-FFF2-40B4-BE49-F238E27FC236}">
                <a16:creationId xmlns:a16="http://schemas.microsoft.com/office/drawing/2014/main" id="{7A104237-5511-E377-1119-F9D77B3872D6}"/>
              </a:ext>
            </a:extLst>
          </p:cNvPr>
          <p:cNvSpPr/>
          <p:nvPr/>
        </p:nvSpPr>
        <p:spPr>
          <a:xfrm>
            <a:off x="1569751" y="3326515"/>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Left Brace 21">
            <a:extLst>
              <a:ext uri="{FF2B5EF4-FFF2-40B4-BE49-F238E27FC236}">
                <a16:creationId xmlns:a16="http://schemas.microsoft.com/office/drawing/2014/main" id="{65124001-DEC5-6471-462F-9F1B2C1B34F1}"/>
              </a:ext>
            </a:extLst>
          </p:cNvPr>
          <p:cNvSpPr/>
          <p:nvPr/>
        </p:nvSpPr>
        <p:spPr>
          <a:xfrm>
            <a:off x="1569751" y="4116619"/>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4" name="Left Brace 23">
            <a:extLst>
              <a:ext uri="{FF2B5EF4-FFF2-40B4-BE49-F238E27FC236}">
                <a16:creationId xmlns:a16="http://schemas.microsoft.com/office/drawing/2014/main" id="{DCF38F57-A137-EBD1-CA0A-88608C79E40C}"/>
              </a:ext>
            </a:extLst>
          </p:cNvPr>
          <p:cNvSpPr/>
          <p:nvPr/>
        </p:nvSpPr>
        <p:spPr>
          <a:xfrm>
            <a:off x="1569751" y="4914878"/>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26" name="Picture 25">
            <a:extLst>
              <a:ext uri="{FF2B5EF4-FFF2-40B4-BE49-F238E27FC236}">
                <a16:creationId xmlns:a16="http://schemas.microsoft.com/office/drawing/2014/main" id="{0B8D50E7-92CF-7164-FEA8-D4932F984754}"/>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48783" y="1179012"/>
            <a:ext cx="851605" cy="686497"/>
          </a:xfrm>
          <a:prstGeom prst="rect">
            <a:avLst/>
          </a:prstGeom>
        </p:spPr>
      </p:pic>
      <p:sp>
        <p:nvSpPr>
          <p:cNvPr id="27" name="Title 1">
            <a:extLst>
              <a:ext uri="{FF2B5EF4-FFF2-40B4-BE49-F238E27FC236}">
                <a16:creationId xmlns:a16="http://schemas.microsoft.com/office/drawing/2014/main" id="{A33425D6-E5B7-850A-B28E-D7CB277A5A07}"/>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sp>
        <p:nvSpPr>
          <p:cNvPr id="29" name="TextBox 28">
            <a:extLst>
              <a:ext uri="{FF2B5EF4-FFF2-40B4-BE49-F238E27FC236}">
                <a16:creationId xmlns:a16="http://schemas.microsoft.com/office/drawing/2014/main" id="{D160DDA6-6A67-BA59-D548-6566A54A67EC}"/>
              </a:ext>
            </a:extLst>
          </p:cNvPr>
          <p:cNvSpPr txBox="1"/>
          <p:nvPr/>
        </p:nvSpPr>
        <p:spPr>
          <a:xfrm>
            <a:off x="179711" y="3464471"/>
            <a:ext cx="1389750" cy="338554"/>
          </a:xfrm>
          <a:prstGeom prst="rect">
            <a:avLst/>
          </a:prstGeom>
          <a:noFill/>
        </p:spPr>
        <p:txBody>
          <a:bodyPr wrap="square" rtlCol="0">
            <a:spAutoFit/>
          </a:bodyPr>
          <a:lstStyle/>
          <a:p>
            <a:pPr algn="ctr"/>
            <a:r>
              <a:rPr lang="en-US" sz="1600" dirty="0"/>
              <a:t>Animal 1002</a:t>
            </a:r>
          </a:p>
        </p:txBody>
      </p:sp>
      <p:sp>
        <p:nvSpPr>
          <p:cNvPr id="30" name="TextBox 29">
            <a:extLst>
              <a:ext uri="{FF2B5EF4-FFF2-40B4-BE49-F238E27FC236}">
                <a16:creationId xmlns:a16="http://schemas.microsoft.com/office/drawing/2014/main" id="{4B3F388E-7E53-85A9-2CAA-593912E7CD2C}"/>
              </a:ext>
            </a:extLst>
          </p:cNvPr>
          <p:cNvSpPr txBox="1"/>
          <p:nvPr/>
        </p:nvSpPr>
        <p:spPr>
          <a:xfrm>
            <a:off x="179711" y="4266017"/>
            <a:ext cx="1389750" cy="338554"/>
          </a:xfrm>
          <a:prstGeom prst="rect">
            <a:avLst/>
          </a:prstGeom>
          <a:noFill/>
        </p:spPr>
        <p:txBody>
          <a:bodyPr wrap="square" rtlCol="0">
            <a:spAutoFit/>
          </a:bodyPr>
          <a:lstStyle/>
          <a:p>
            <a:pPr algn="ctr"/>
            <a:r>
              <a:rPr lang="en-US" sz="1600" dirty="0"/>
              <a:t>Animal 1003</a:t>
            </a:r>
          </a:p>
        </p:txBody>
      </p:sp>
      <p:sp>
        <p:nvSpPr>
          <p:cNvPr id="31" name="TextBox 30">
            <a:extLst>
              <a:ext uri="{FF2B5EF4-FFF2-40B4-BE49-F238E27FC236}">
                <a16:creationId xmlns:a16="http://schemas.microsoft.com/office/drawing/2014/main" id="{88414D21-1080-5BDC-1B3B-C314964513A0}"/>
              </a:ext>
            </a:extLst>
          </p:cNvPr>
          <p:cNvSpPr txBox="1"/>
          <p:nvPr/>
        </p:nvSpPr>
        <p:spPr>
          <a:xfrm>
            <a:off x="157677" y="5077528"/>
            <a:ext cx="1483836" cy="338554"/>
          </a:xfrm>
          <a:prstGeom prst="rect">
            <a:avLst/>
          </a:prstGeom>
          <a:noFill/>
        </p:spPr>
        <p:txBody>
          <a:bodyPr wrap="square" rtlCol="0">
            <a:spAutoFit/>
          </a:bodyPr>
          <a:lstStyle/>
          <a:p>
            <a:pPr algn="ctr"/>
            <a:r>
              <a:rPr lang="en-US" sz="1600" dirty="0"/>
              <a:t>Animal 1004</a:t>
            </a:r>
          </a:p>
        </p:txBody>
      </p:sp>
      <p:sp>
        <p:nvSpPr>
          <p:cNvPr id="32" name="TextBox 31">
            <a:extLst>
              <a:ext uri="{FF2B5EF4-FFF2-40B4-BE49-F238E27FC236}">
                <a16:creationId xmlns:a16="http://schemas.microsoft.com/office/drawing/2014/main" id="{C79D3F5C-FB63-2525-1F1D-9EE63C61C9A7}"/>
              </a:ext>
            </a:extLst>
          </p:cNvPr>
          <p:cNvSpPr txBox="1"/>
          <p:nvPr/>
        </p:nvSpPr>
        <p:spPr>
          <a:xfrm>
            <a:off x="1440361" y="1326987"/>
            <a:ext cx="1666396" cy="369332"/>
          </a:xfrm>
          <a:prstGeom prst="rect">
            <a:avLst/>
          </a:prstGeom>
          <a:noFill/>
        </p:spPr>
        <p:txBody>
          <a:bodyPr wrap="square">
            <a:spAutoFit/>
          </a:bodyPr>
          <a:lstStyle/>
          <a:p>
            <a:pPr algn="ctr"/>
            <a:r>
              <a:rPr lang="en-US" sz="1800" dirty="0">
                <a:solidFill>
                  <a:srgbClr val="002B49"/>
                </a:solidFill>
              </a:rPr>
              <a:t>Animal Level</a:t>
            </a:r>
            <a:endParaRPr lang="en-US" dirty="0"/>
          </a:p>
        </p:txBody>
      </p:sp>
    </p:spTree>
    <p:extLst>
      <p:ext uri="{BB962C8B-B14F-4D97-AF65-F5344CB8AC3E}">
        <p14:creationId xmlns:p14="http://schemas.microsoft.com/office/powerpoint/2010/main" val="27060919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7969-29D0-518A-BFC8-ABAEB6AC1017}"/>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AD8BA056-6324-2CDC-74C3-39A5437E35B9}"/>
              </a:ext>
            </a:extLst>
          </p:cNvPr>
          <p:cNvGraphicFramePr>
            <a:graphicFrameLocks noGrp="1"/>
          </p:cNvGraphicFramePr>
          <p:nvPr>
            <p:extLst>
              <p:ext uri="{D42A27DB-BD31-4B8C-83A1-F6EECF244321}">
                <p14:modId xmlns:p14="http://schemas.microsoft.com/office/powerpoint/2010/main" val="400051080"/>
              </p:ext>
            </p:extLst>
          </p:nvPr>
        </p:nvGraphicFramePr>
        <p:xfrm>
          <a:off x="1825406" y="3218913"/>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2" name="Table 1">
            <a:extLst>
              <a:ext uri="{FF2B5EF4-FFF2-40B4-BE49-F238E27FC236}">
                <a16:creationId xmlns:a16="http://schemas.microsoft.com/office/drawing/2014/main" id="{2C5E88DB-85D5-318B-13AD-428E10A3B29D}"/>
              </a:ext>
            </a:extLst>
          </p:cNvPr>
          <p:cNvGraphicFramePr>
            <a:graphicFrameLocks noGrp="1"/>
          </p:cNvGraphicFramePr>
          <p:nvPr>
            <p:extLst>
              <p:ext uri="{D42A27DB-BD31-4B8C-83A1-F6EECF244321}">
                <p14:modId xmlns:p14="http://schemas.microsoft.com/office/powerpoint/2010/main" val="2564185334"/>
              </p:ext>
            </p:extLst>
          </p:nvPr>
        </p:nvGraphicFramePr>
        <p:xfrm>
          <a:off x="1825407" y="2085756"/>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7E285EF7-A2C2-91DE-82C0-44F251870241}"/>
              </a:ext>
            </a:extLst>
          </p:cNvPr>
          <p:cNvGraphicFramePr>
            <a:graphicFrameLocks noGrp="1"/>
          </p:cNvGraphicFramePr>
          <p:nvPr>
            <p:extLst>
              <p:ext uri="{D42A27DB-BD31-4B8C-83A1-F6EECF244321}">
                <p14:modId xmlns:p14="http://schemas.microsoft.com/office/powerpoint/2010/main" val="1183533812"/>
              </p:ext>
            </p:extLst>
          </p:nvPr>
        </p:nvGraphicFramePr>
        <p:xfrm>
          <a:off x="1825406" y="2454546"/>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A55A298-4F52-FED4-5EDE-DAB18122D968}"/>
              </a:ext>
            </a:extLst>
          </p:cNvPr>
          <p:cNvGraphicFramePr>
            <a:graphicFrameLocks noGrp="1"/>
          </p:cNvGraphicFramePr>
          <p:nvPr>
            <p:extLst>
              <p:ext uri="{D42A27DB-BD31-4B8C-83A1-F6EECF244321}">
                <p14:modId xmlns:p14="http://schemas.microsoft.com/office/powerpoint/2010/main" val="2219087931"/>
              </p:ext>
            </p:extLst>
          </p:nvPr>
        </p:nvGraphicFramePr>
        <p:xfrm>
          <a:off x="1825406" y="5237017"/>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FF43A6E7-7DF9-764B-5A50-3D265D5E7669}"/>
              </a:ext>
            </a:extLst>
          </p:cNvPr>
          <p:cNvGraphicFramePr>
            <a:graphicFrameLocks noGrp="1"/>
          </p:cNvGraphicFramePr>
          <p:nvPr>
            <p:extLst>
              <p:ext uri="{D42A27DB-BD31-4B8C-83A1-F6EECF244321}">
                <p14:modId xmlns:p14="http://schemas.microsoft.com/office/powerpoint/2010/main" val="561274313"/>
              </p:ext>
            </p:extLst>
          </p:nvPr>
        </p:nvGraphicFramePr>
        <p:xfrm>
          <a:off x="1825405" y="3582660"/>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5259FFBE-CF69-96EF-A160-0262A61730ED}"/>
              </a:ext>
            </a:extLst>
          </p:cNvPr>
          <p:cNvGraphicFramePr>
            <a:graphicFrameLocks noGrp="1"/>
          </p:cNvGraphicFramePr>
          <p:nvPr>
            <p:extLst>
              <p:ext uri="{D42A27DB-BD31-4B8C-83A1-F6EECF244321}">
                <p14:modId xmlns:p14="http://schemas.microsoft.com/office/powerpoint/2010/main" val="997408949"/>
              </p:ext>
            </p:extLst>
          </p:nvPr>
        </p:nvGraphicFramePr>
        <p:xfrm>
          <a:off x="1825405" y="4061094"/>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71E3ADB7-C34D-9CAE-B768-D886D16B34B0}"/>
              </a:ext>
            </a:extLst>
          </p:cNvPr>
          <p:cNvGraphicFramePr>
            <a:graphicFrameLocks noGrp="1"/>
          </p:cNvGraphicFramePr>
          <p:nvPr>
            <p:extLst>
              <p:ext uri="{D42A27DB-BD31-4B8C-83A1-F6EECF244321}">
                <p14:modId xmlns:p14="http://schemas.microsoft.com/office/powerpoint/2010/main" val="1415231651"/>
              </p:ext>
            </p:extLst>
          </p:nvPr>
        </p:nvGraphicFramePr>
        <p:xfrm>
          <a:off x="1825406" y="2825771"/>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8A608E57-C253-EBF5-6785-72194219CC9F}"/>
              </a:ext>
            </a:extLst>
          </p:cNvPr>
          <p:cNvGraphicFramePr>
            <a:graphicFrameLocks noGrp="1"/>
          </p:cNvGraphicFramePr>
          <p:nvPr>
            <p:extLst>
              <p:ext uri="{D42A27DB-BD31-4B8C-83A1-F6EECF244321}">
                <p14:modId xmlns:p14="http://schemas.microsoft.com/office/powerpoint/2010/main" val="2720150161"/>
              </p:ext>
            </p:extLst>
          </p:nvPr>
        </p:nvGraphicFramePr>
        <p:xfrm>
          <a:off x="1825406" y="4841476"/>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30C83294-A122-B0DA-C9BC-1A662DF9DEF6}"/>
              </a:ext>
            </a:extLst>
          </p:cNvPr>
          <p:cNvGraphicFramePr>
            <a:graphicFrameLocks noGrp="1"/>
          </p:cNvGraphicFramePr>
          <p:nvPr>
            <p:extLst>
              <p:ext uri="{D42A27DB-BD31-4B8C-83A1-F6EECF244321}">
                <p14:modId xmlns:p14="http://schemas.microsoft.com/office/powerpoint/2010/main" val="2724240397"/>
              </p:ext>
            </p:extLst>
          </p:nvPr>
        </p:nvGraphicFramePr>
        <p:xfrm>
          <a:off x="1825695" y="4429975"/>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521FF41A-ED90-172D-A94B-1243C193E53E}"/>
              </a:ext>
            </a:extLst>
          </p:cNvPr>
          <p:cNvSpPr/>
          <p:nvPr/>
        </p:nvSpPr>
        <p:spPr>
          <a:xfrm>
            <a:off x="1560547" y="2447134"/>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2BEB5CFE-ACD8-C656-AE8F-201CB5AFEDC9}"/>
              </a:ext>
            </a:extLst>
          </p:cNvPr>
          <p:cNvSpPr txBox="1"/>
          <p:nvPr/>
        </p:nvSpPr>
        <p:spPr>
          <a:xfrm>
            <a:off x="310510" y="3027334"/>
            <a:ext cx="1129851" cy="338554"/>
          </a:xfrm>
          <a:prstGeom prst="rect">
            <a:avLst/>
          </a:prstGeom>
          <a:noFill/>
        </p:spPr>
        <p:txBody>
          <a:bodyPr wrap="square" rtlCol="0">
            <a:spAutoFit/>
          </a:bodyPr>
          <a:lstStyle/>
          <a:p>
            <a:pPr algn="ctr"/>
            <a:r>
              <a:rPr lang="en-US" sz="1600" dirty="0"/>
              <a:t>Farm 102</a:t>
            </a:r>
          </a:p>
        </p:txBody>
      </p:sp>
      <p:sp>
        <p:nvSpPr>
          <p:cNvPr id="19" name="Left Brace 18">
            <a:extLst>
              <a:ext uri="{FF2B5EF4-FFF2-40B4-BE49-F238E27FC236}">
                <a16:creationId xmlns:a16="http://schemas.microsoft.com/office/drawing/2014/main" id="{8BC27AA1-BFC9-99CB-9407-DBC5BE9E95F1}"/>
              </a:ext>
            </a:extLst>
          </p:cNvPr>
          <p:cNvSpPr/>
          <p:nvPr/>
        </p:nvSpPr>
        <p:spPr>
          <a:xfrm>
            <a:off x="1560546" y="4051338"/>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BB93C3D5-067C-393E-BD30-25D13911B2C3}"/>
              </a:ext>
            </a:extLst>
          </p:cNvPr>
          <p:cNvSpPr txBox="1"/>
          <p:nvPr/>
        </p:nvSpPr>
        <p:spPr>
          <a:xfrm>
            <a:off x="310510" y="4631538"/>
            <a:ext cx="1129851" cy="338554"/>
          </a:xfrm>
          <a:prstGeom prst="rect">
            <a:avLst/>
          </a:prstGeom>
          <a:noFill/>
        </p:spPr>
        <p:txBody>
          <a:bodyPr wrap="square" rtlCol="0">
            <a:spAutoFit/>
          </a:bodyPr>
          <a:lstStyle/>
          <a:p>
            <a:pPr algn="ctr"/>
            <a:r>
              <a:rPr lang="en-US" sz="1600" dirty="0"/>
              <a:t>Farm 103</a:t>
            </a:r>
          </a:p>
        </p:txBody>
      </p:sp>
      <p:sp>
        <p:nvSpPr>
          <p:cNvPr id="24" name="TextBox 23">
            <a:extLst>
              <a:ext uri="{FF2B5EF4-FFF2-40B4-BE49-F238E27FC236}">
                <a16:creationId xmlns:a16="http://schemas.microsoft.com/office/drawing/2014/main" id="{88B26647-257D-9B3C-1C34-644F00BE8A1B}"/>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Farm Level</a:t>
            </a:r>
            <a:endParaRPr lang="en-US" dirty="0"/>
          </a:p>
        </p:txBody>
      </p:sp>
      <p:sp>
        <p:nvSpPr>
          <p:cNvPr id="25" name="Title 1">
            <a:extLst>
              <a:ext uri="{FF2B5EF4-FFF2-40B4-BE49-F238E27FC236}">
                <a16:creationId xmlns:a16="http://schemas.microsoft.com/office/drawing/2014/main" id="{B1741A0A-43B7-5738-EFCE-B58A7A18CC6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26" name="Picture 25">
            <a:extLst>
              <a:ext uri="{FF2B5EF4-FFF2-40B4-BE49-F238E27FC236}">
                <a16:creationId xmlns:a16="http://schemas.microsoft.com/office/drawing/2014/main" id="{64DB9959-B17B-483D-D3E3-CBB7BC894ABE}"/>
              </a:ext>
            </a:extLst>
          </p:cNvPr>
          <p:cNvPicPr>
            <a:picLocks noChangeAspect="1"/>
          </p:cNvPicPr>
          <p:nvPr/>
        </p:nvPicPr>
        <p:blipFill>
          <a:blip r:embed="rId2"/>
          <a:stretch>
            <a:fillRect/>
          </a:stretch>
        </p:blipFill>
        <p:spPr>
          <a:xfrm>
            <a:off x="442891" y="940850"/>
            <a:ext cx="997470" cy="947318"/>
          </a:xfrm>
          <a:prstGeom prst="rect">
            <a:avLst/>
          </a:prstGeom>
        </p:spPr>
      </p:pic>
    </p:spTree>
    <p:extLst>
      <p:ext uri="{BB962C8B-B14F-4D97-AF65-F5344CB8AC3E}">
        <p14:creationId xmlns:p14="http://schemas.microsoft.com/office/powerpoint/2010/main" val="2571434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3736-AE64-408B-BB1A-53803F22CDC4}"/>
            </a:ext>
          </a:extLst>
        </p:cNvPr>
        <p:cNvGrpSpPr/>
        <p:nvPr/>
      </p:nvGrpSpPr>
      <p:grpSpPr>
        <a:xfrm>
          <a:off x="0" y="0"/>
          <a:ext cx="0" cy="0"/>
          <a:chOff x="0" y="0"/>
          <a:chExt cx="0" cy="0"/>
        </a:xfrm>
      </p:grpSpPr>
      <p:pic>
        <p:nvPicPr>
          <p:cNvPr id="51" name="Picture 50">
            <a:extLst>
              <a:ext uri="{FF2B5EF4-FFF2-40B4-BE49-F238E27FC236}">
                <a16:creationId xmlns:a16="http://schemas.microsoft.com/office/drawing/2014/main" id="{A2AF90CA-B8A3-1774-12D6-48F04B5E35AC}"/>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085639" y="3975431"/>
            <a:ext cx="945088" cy="608375"/>
          </a:xfrm>
          <a:prstGeom prst="rect">
            <a:avLst/>
          </a:prstGeom>
        </p:spPr>
      </p:pic>
      <p:pic>
        <p:nvPicPr>
          <p:cNvPr id="52" name="Picture 51">
            <a:extLst>
              <a:ext uri="{FF2B5EF4-FFF2-40B4-BE49-F238E27FC236}">
                <a16:creationId xmlns:a16="http://schemas.microsoft.com/office/drawing/2014/main" id="{78C703F7-7D94-A87F-9ABD-BC9B364809AF}"/>
              </a:ext>
            </a:extLst>
          </p:cNvPr>
          <p:cNvPicPr>
            <a:picLocks noChangeAspect="1"/>
          </p:cNvPicPr>
          <p:nvPr/>
        </p:nvPicPr>
        <p:blipFill>
          <a:blip r:embed="rId5"/>
          <a:srcRect l="22961" t="57864" r="62119" b="30040"/>
          <a:stretch>
            <a:fillRect/>
          </a:stretch>
        </p:blipFill>
        <p:spPr>
          <a:xfrm>
            <a:off x="2649549" y="5071451"/>
            <a:ext cx="920785" cy="324800"/>
          </a:xfrm>
          <a:prstGeom prst="rect">
            <a:avLst/>
          </a:prstGeom>
        </p:spPr>
      </p:pic>
      <p:pic>
        <p:nvPicPr>
          <p:cNvPr id="53" name="Picture 52">
            <a:extLst>
              <a:ext uri="{FF2B5EF4-FFF2-40B4-BE49-F238E27FC236}">
                <a16:creationId xmlns:a16="http://schemas.microsoft.com/office/drawing/2014/main" id="{E7D74209-1147-82C8-0903-A6F642AB5AD3}"/>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3868739" y="2625598"/>
            <a:ext cx="1218647" cy="622233"/>
          </a:xfrm>
          <a:prstGeom prst="rect">
            <a:avLst/>
          </a:prstGeom>
        </p:spPr>
      </p:pic>
      <p:pic>
        <p:nvPicPr>
          <p:cNvPr id="54" name="Picture 53">
            <a:extLst>
              <a:ext uri="{FF2B5EF4-FFF2-40B4-BE49-F238E27FC236}">
                <a16:creationId xmlns:a16="http://schemas.microsoft.com/office/drawing/2014/main" id="{731BD3E7-802E-8C96-D336-666C87D700F8}"/>
              </a:ext>
            </a:extLst>
          </p:cNvPr>
          <p:cNvPicPr>
            <a:picLocks noChangeAspect="1"/>
          </p:cNvPicPr>
          <p:nvPr/>
        </p:nvPicPr>
        <p:blipFill>
          <a:blip r:embed="rId3">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900646" y="3975430"/>
            <a:ext cx="945088" cy="608375"/>
          </a:xfrm>
          <a:prstGeom prst="rect">
            <a:avLst/>
          </a:prstGeom>
        </p:spPr>
      </p:pic>
      <p:cxnSp>
        <p:nvCxnSpPr>
          <p:cNvPr id="55" name="Straight Arrow Connector 54">
            <a:extLst>
              <a:ext uri="{FF2B5EF4-FFF2-40B4-BE49-F238E27FC236}">
                <a16:creationId xmlns:a16="http://schemas.microsoft.com/office/drawing/2014/main" id="{92704778-56CA-CD67-4876-CE39CEA24E6B}"/>
              </a:ext>
            </a:extLst>
          </p:cNvPr>
          <p:cNvCxnSpPr>
            <a:cxnSpLocks/>
            <a:stCxn id="53" idx="2"/>
            <a:endCxn id="54" idx="0"/>
          </p:cNvCxnSpPr>
          <p:nvPr/>
        </p:nvCxnSpPr>
        <p:spPr>
          <a:xfrm>
            <a:off x="4478062" y="3247831"/>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CF7A83C4-87B4-B83E-85D0-37853901A969}"/>
              </a:ext>
            </a:extLst>
          </p:cNvPr>
          <p:cNvCxnSpPr>
            <a:cxnSpLocks/>
            <a:endCxn id="51" idx="0"/>
          </p:cNvCxnSpPr>
          <p:nvPr/>
        </p:nvCxnSpPr>
        <p:spPr>
          <a:xfrm flipH="1">
            <a:off x="3558183" y="3247831"/>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128434F8-08C7-874F-CE6D-A4B87BCA7EFC}"/>
              </a:ext>
            </a:extLst>
          </p:cNvPr>
          <p:cNvPicPr>
            <a:picLocks noChangeAspect="1"/>
          </p:cNvPicPr>
          <p:nvPr/>
        </p:nvPicPr>
        <p:blipFill>
          <a:blip r:embed="rId5"/>
          <a:srcRect l="22961" t="57864" r="62119" b="30040"/>
          <a:stretch>
            <a:fillRect/>
          </a:stretch>
        </p:blipFill>
        <p:spPr>
          <a:xfrm>
            <a:off x="3570334" y="5071451"/>
            <a:ext cx="920785" cy="324800"/>
          </a:xfrm>
          <a:prstGeom prst="rect">
            <a:avLst/>
          </a:prstGeom>
        </p:spPr>
      </p:pic>
      <p:pic>
        <p:nvPicPr>
          <p:cNvPr id="58" name="Picture 57">
            <a:extLst>
              <a:ext uri="{FF2B5EF4-FFF2-40B4-BE49-F238E27FC236}">
                <a16:creationId xmlns:a16="http://schemas.microsoft.com/office/drawing/2014/main" id="{8007E261-1F9D-1EA6-8984-00CD66E01D2B}"/>
              </a:ext>
            </a:extLst>
          </p:cNvPr>
          <p:cNvPicPr>
            <a:picLocks noChangeAspect="1"/>
          </p:cNvPicPr>
          <p:nvPr/>
        </p:nvPicPr>
        <p:blipFill>
          <a:blip r:embed="rId5"/>
          <a:srcRect l="22961" t="57864" r="62119" b="30040"/>
          <a:stretch>
            <a:fillRect/>
          </a:stretch>
        </p:blipFill>
        <p:spPr>
          <a:xfrm>
            <a:off x="4491119" y="5071450"/>
            <a:ext cx="920785" cy="324800"/>
          </a:xfrm>
          <a:prstGeom prst="rect">
            <a:avLst/>
          </a:prstGeom>
        </p:spPr>
      </p:pic>
      <p:pic>
        <p:nvPicPr>
          <p:cNvPr id="59" name="Picture 58">
            <a:extLst>
              <a:ext uri="{FF2B5EF4-FFF2-40B4-BE49-F238E27FC236}">
                <a16:creationId xmlns:a16="http://schemas.microsoft.com/office/drawing/2014/main" id="{0FDBD862-59EF-8A92-B4AE-EC1B80959C94}"/>
              </a:ext>
            </a:extLst>
          </p:cNvPr>
          <p:cNvPicPr>
            <a:picLocks noChangeAspect="1"/>
          </p:cNvPicPr>
          <p:nvPr/>
        </p:nvPicPr>
        <p:blipFill>
          <a:blip r:embed="rId5"/>
          <a:srcRect l="22961" t="57864" r="62119" b="30040"/>
          <a:stretch>
            <a:fillRect/>
          </a:stretch>
        </p:blipFill>
        <p:spPr>
          <a:xfrm>
            <a:off x="5411904" y="5071450"/>
            <a:ext cx="920785" cy="324800"/>
          </a:xfrm>
          <a:prstGeom prst="rect">
            <a:avLst/>
          </a:prstGeom>
        </p:spPr>
      </p:pic>
      <p:cxnSp>
        <p:nvCxnSpPr>
          <p:cNvPr id="60" name="Straight Arrow Connector 59">
            <a:extLst>
              <a:ext uri="{FF2B5EF4-FFF2-40B4-BE49-F238E27FC236}">
                <a16:creationId xmlns:a16="http://schemas.microsoft.com/office/drawing/2014/main" id="{1425DA29-3901-6561-2EF7-2F92FF850C91}"/>
              </a:ext>
            </a:extLst>
          </p:cNvPr>
          <p:cNvCxnSpPr>
            <a:cxnSpLocks/>
            <a:endCxn id="52" idx="0"/>
          </p:cNvCxnSpPr>
          <p:nvPr/>
        </p:nvCxnSpPr>
        <p:spPr>
          <a:xfrm flipH="1">
            <a:off x="3109942" y="4617471"/>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082FE7A9-00A0-D452-D40A-D24E5E615C08}"/>
              </a:ext>
            </a:extLst>
          </p:cNvPr>
          <p:cNvCxnSpPr>
            <a:cxnSpLocks/>
          </p:cNvCxnSpPr>
          <p:nvPr/>
        </p:nvCxnSpPr>
        <p:spPr>
          <a:xfrm flipH="1">
            <a:off x="4951511" y="4610645"/>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3F6093A8-5FF2-700A-9D52-3E347281923A}"/>
              </a:ext>
            </a:extLst>
          </p:cNvPr>
          <p:cNvCxnSpPr>
            <a:cxnSpLocks/>
            <a:endCxn id="57" idx="0"/>
          </p:cNvCxnSpPr>
          <p:nvPr/>
        </p:nvCxnSpPr>
        <p:spPr>
          <a:xfrm>
            <a:off x="3570334" y="4617471"/>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40AC8D58-CFBC-9779-FE75-C0C914D9691B}"/>
              </a:ext>
            </a:extLst>
          </p:cNvPr>
          <p:cNvCxnSpPr>
            <a:cxnSpLocks/>
          </p:cNvCxnSpPr>
          <p:nvPr/>
        </p:nvCxnSpPr>
        <p:spPr>
          <a:xfrm>
            <a:off x="5411904" y="4600637"/>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5E591B66-23BF-FB72-BF0B-92F2E7651464}"/>
              </a:ext>
            </a:extLst>
          </p:cNvPr>
          <p:cNvPicPr>
            <a:picLocks noChangeAspect="1"/>
          </p:cNvPicPr>
          <p:nvPr/>
        </p:nvPicPr>
        <p:blipFill>
          <a:blip r:embed="rId3">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900855" y="3975432"/>
            <a:ext cx="945088" cy="608375"/>
          </a:xfrm>
          <a:prstGeom prst="rect">
            <a:avLst/>
          </a:prstGeom>
        </p:spPr>
      </p:pic>
      <p:pic>
        <p:nvPicPr>
          <p:cNvPr id="3073" name="Picture 3072">
            <a:extLst>
              <a:ext uri="{FF2B5EF4-FFF2-40B4-BE49-F238E27FC236}">
                <a16:creationId xmlns:a16="http://schemas.microsoft.com/office/drawing/2014/main" id="{65AED1A4-4990-250E-4745-7ED81777A9E5}"/>
              </a:ext>
            </a:extLst>
          </p:cNvPr>
          <p:cNvPicPr>
            <a:picLocks noChangeAspect="1"/>
          </p:cNvPicPr>
          <p:nvPr/>
        </p:nvPicPr>
        <p:blipFill>
          <a:blip r:embed="rId5"/>
          <a:srcRect l="22961" t="57864" r="62119" b="30040"/>
          <a:stretch>
            <a:fillRect/>
          </a:stretch>
        </p:blipFill>
        <p:spPr>
          <a:xfrm>
            <a:off x="7464765" y="5071452"/>
            <a:ext cx="920785" cy="324800"/>
          </a:xfrm>
          <a:prstGeom prst="rect">
            <a:avLst/>
          </a:prstGeom>
        </p:spPr>
      </p:pic>
      <p:pic>
        <p:nvPicPr>
          <p:cNvPr id="3075" name="Picture 3074">
            <a:extLst>
              <a:ext uri="{FF2B5EF4-FFF2-40B4-BE49-F238E27FC236}">
                <a16:creationId xmlns:a16="http://schemas.microsoft.com/office/drawing/2014/main" id="{FA114540-F6D5-7B0E-CF37-0D24CE23A44F}"/>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8683955" y="2625599"/>
            <a:ext cx="1218647" cy="622233"/>
          </a:xfrm>
          <a:prstGeom prst="rect">
            <a:avLst/>
          </a:prstGeom>
        </p:spPr>
      </p:pic>
      <p:pic>
        <p:nvPicPr>
          <p:cNvPr id="3076" name="Picture 3075">
            <a:extLst>
              <a:ext uri="{FF2B5EF4-FFF2-40B4-BE49-F238E27FC236}">
                <a16:creationId xmlns:a16="http://schemas.microsoft.com/office/drawing/2014/main" id="{BA7FEBFE-8562-E8E9-E527-A4899AA2A5F8}"/>
              </a:ext>
            </a:extLst>
          </p:cNvPr>
          <p:cNvPicPr>
            <a:picLocks noChangeAspect="1"/>
          </p:cNvPicPr>
          <p:nvPr/>
        </p:nvPicPr>
        <p:blipFill>
          <a:blip r:embed="rId3">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715862" y="3975431"/>
            <a:ext cx="945088" cy="608375"/>
          </a:xfrm>
          <a:prstGeom prst="rect">
            <a:avLst/>
          </a:prstGeom>
        </p:spPr>
      </p:pic>
      <p:cxnSp>
        <p:nvCxnSpPr>
          <p:cNvPr id="3077" name="Straight Arrow Connector 3076">
            <a:extLst>
              <a:ext uri="{FF2B5EF4-FFF2-40B4-BE49-F238E27FC236}">
                <a16:creationId xmlns:a16="http://schemas.microsoft.com/office/drawing/2014/main" id="{E474FEBF-8BFC-FEC4-B36A-9EDB6362922B}"/>
              </a:ext>
            </a:extLst>
          </p:cNvPr>
          <p:cNvCxnSpPr>
            <a:cxnSpLocks/>
            <a:stCxn id="3075" idx="2"/>
            <a:endCxn id="3076" idx="0"/>
          </p:cNvCxnSpPr>
          <p:nvPr/>
        </p:nvCxnSpPr>
        <p:spPr>
          <a:xfrm>
            <a:off x="9293279" y="3247832"/>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303F1C0-A75D-B020-9690-838E56EFA24C}"/>
              </a:ext>
            </a:extLst>
          </p:cNvPr>
          <p:cNvCxnSpPr>
            <a:cxnSpLocks/>
            <a:endCxn id="3072" idx="0"/>
          </p:cNvCxnSpPr>
          <p:nvPr/>
        </p:nvCxnSpPr>
        <p:spPr>
          <a:xfrm flipH="1">
            <a:off x="8373399" y="3247832"/>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3CD49717-5742-7B33-9A5B-EBB076EA2EF0}"/>
              </a:ext>
            </a:extLst>
          </p:cNvPr>
          <p:cNvPicPr>
            <a:picLocks noChangeAspect="1"/>
          </p:cNvPicPr>
          <p:nvPr/>
        </p:nvPicPr>
        <p:blipFill>
          <a:blip r:embed="rId5"/>
          <a:srcRect l="22961" t="57864" r="62119" b="30040"/>
          <a:stretch>
            <a:fillRect/>
          </a:stretch>
        </p:blipFill>
        <p:spPr>
          <a:xfrm>
            <a:off x="8385550" y="5071452"/>
            <a:ext cx="920785" cy="324800"/>
          </a:xfrm>
          <a:prstGeom prst="rect">
            <a:avLst/>
          </a:prstGeom>
        </p:spPr>
      </p:pic>
      <p:pic>
        <p:nvPicPr>
          <p:cNvPr id="3080" name="Picture 3079">
            <a:extLst>
              <a:ext uri="{FF2B5EF4-FFF2-40B4-BE49-F238E27FC236}">
                <a16:creationId xmlns:a16="http://schemas.microsoft.com/office/drawing/2014/main" id="{4EF31FC0-A868-16EF-1544-E47436394BA0}"/>
              </a:ext>
            </a:extLst>
          </p:cNvPr>
          <p:cNvPicPr>
            <a:picLocks noChangeAspect="1"/>
          </p:cNvPicPr>
          <p:nvPr/>
        </p:nvPicPr>
        <p:blipFill>
          <a:blip r:embed="rId5"/>
          <a:srcRect l="22961" t="57864" r="62119" b="30040"/>
          <a:stretch>
            <a:fillRect/>
          </a:stretch>
        </p:blipFill>
        <p:spPr>
          <a:xfrm>
            <a:off x="9306335" y="5071451"/>
            <a:ext cx="920785" cy="324800"/>
          </a:xfrm>
          <a:prstGeom prst="rect">
            <a:avLst/>
          </a:prstGeom>
        </p:spPr>
      </p:pic>
      <p:pic>
        <p:nvPicPr>
          <p:cNvPr id="3081" name="Picture 3080">
            <a:extLst>
              <a:ext uri="{FF2B5EF4-FFF2-40B4-BE49-F238E27FC236}">
                <a16:creationId xmlns:a16="http://schemas.microsoft.com/office/drawing/2014/main" id="{EEE71F8C-623F-EC04-603B-A06D67FD9309}"/>
              </a:ext>
            </a:extLst>
          </p:cNvPr>
          <p:cNvPicPr>
            <a:picLocks noChangeAspect="1"/>
          </p:cNvPicPr>
          <p:nvPr/>
        </p:nvPicPr>
        <p:blipFill>
          <a:blip r:embed="rId5"/>
          <a:srcRect l="22961" t="57864" r="62119" b="30040"/>
          <a:stretch>
            <a:fillRect/>
          </a:stretch>
        </p:blipFill>
        <p:spPr>
          <a:xfrm>
            <a:off x="10227120" y="5071451"/>
            <a:ext cx="920785" cy="324800"/>
          </a:xfrm>
          <a:prstGeom prst="rect">
            <a:avLst/>
          </a:prstGeom>
        </p:spPr>
      </p:pic>
      <p:cxnSp>
        <p:nvCxnSpPr>
          <p:cNvPr id="3082" name="Straight Arrow Connector 3081">
            <a:extLst>
              <a:ext uri="{FF2B5EF4-FFF2-40B4-BE49-F238E27FC236}">
                <a16:creationId xmlns:a16="http://schemas.microsoft.com/office/drawing/2014/main" id="{9B9DC83D-57DA-5AC2-7852-A90A9BE83708}"/>
              </a:ext>
            </a:extLst>
          </p:cNvPr>
          <p:cNvCxnSpPr>
            <a:cxnSpLocks/>
            <a:endCxn id="3073" idx="0"/>
          </p:cNvCxnSpPr>
          <p:nvPr/>
        </p:nvCxnSpPr>
        <p:spPr>
          <a:xfrm flipH="1">
            <a:off x="7925158" y="4617472"/>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BA414EAC-B93B-79F3-6361-6BDAF2A6FF53}"/>
              </a:ext>
            </a:extLst>
          </p:cNvPr>
          <p:cNvCxnSpPr>
            <a:cxnSpLocks/>
          </p:cNvCxnSpPr>
          <p:nvPr/>
        </p:nvCxnSpPr>
        <p:spPr>
          <a:xfrm flipH="1">
            <a:off x="9766728" y="4610646"/>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82F1909-A3BE-79B6-B2F0-9B10B7C66003}"/>
              </a:ext>
            </a:extLst>
          </p:cNvPr>
          <p:cNvCxnSpPr>
            <a:cxnSpLocks/>
            <a:endCxn id="3079" idx="0"/>
          </p:cNvCxnSpPr>
          <p:nvPr/>
        </p:nvCxnSpPr>
        <p:spPr>
          <a:xfrm>
            <a:off x="8385550" y="4617472"/>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A66634B2-AD6A-D3B8-8FDB-B2E693D601E6}"/>
              </a:ext>
            </a:extLst>
          </p:cNvPr>
          <p:cNvCxnSpPr>
            <a:cxnSpLocks/>
          </p:cNvCxnSpPr>
          <p:nvPr/>
        </p:nvCxnSpPr>
        <p:spPr>
          <a:xfrm>
            <a:off x="10227120" y="4600638"/>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5EC21389-014F-5396-80EF-4D4F38160338}"/>
              </a:ext>
            </a:extLst>
          </p:cNvPr>
          <p:cNvSpPr txBox="1"/>
          <p:nvPr/>
        </p:nvSpPr>
        <p:spPr>
          <a:xfrm>
            <a:off x="6460303" y="1750586"/>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E843DCBF-AEF3-574B-3F48-94A034794D9E}"/>
              </a:ext>
            </a:extLst>
          </p:cNvPr>
          <p:cNvCxnSpPr>
            <a:cxnSpLocks/>
            <a:stCxn id="3092" idx="2"/>
            <a:endCxn id="53" idx="0"/>
          </p:cNvCxnSpPr>
          <p:nvPr/>
        </p:nvCxnSpPr>
        <p:spPr>
          <a:xfrm flipH="1">
            <a:off x="4478062" y="2077889"/>
            <a:ext cx="2427658" cy="54770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184EE433-7CC1-E6AB-4550-A4CC7FCE7B0A}"/>
              </a:ext>
            </a:extLst>
          </p:cNvPr>
          <p:cNvCxnSpPr>
            <a:cxnSpLocks/>
            <a:stCxn id="3092" idx="2"/>
            <a:endCxn id="3075" idx="0"/>
          </p:cNvCxnSpPr>
          <p:nvPr/>
        </p:nvCxnSpPr>
        <p:spPr>
          <a:xfrm>
            <a:off x="6905721" y="2077889"/>
            <a:ext cx="2387558" cy="54771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CF6B3656-4850-4478-7636-604E95ABAD6A}"/>
              </a:ext>
            </a:extLst>
          </p:cNvPr>
          <p:cNvCxnSpPr>
            <a:cxnSpLocks/>
          </p:cNvCxnSpPr>
          <p:nvPr/>
        </p:nvCxnSpPr>
        <p:spPr>
          <a:xfrm>
            <a:off x="1343873" y="2009162"/>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6D37D692-42F0-9D68-E281-722641A748E3}"/>
              </a:ext>
            </a:extLst>
          </p:cNvPr>
          <p:cNvSpPr txBox="1"/>
          <p:nvPr/>
        </p:nvSpPr>
        <p:spPr>
          <a:xfrm>
            <a:off x="1494101" y="1469110"/>
            <a:ext cx="1536703" cy="523220"/>
          </a:xfrm>
          <a:prstGeom prst="rect">
            <a:avLst/>
          </a:prstGeom>
          <a:noFill/>
        </p:spPr>
        <p:txBody>
          <a:bodyPr wrap="none" rtlCol="0">
            <a:spAutoFit/>
          </a:bodyPr>
          <a:lstStyle/>
          <a:p>
            <a:r>
              <a:rPr lang="en-US" sz="2800" dirty="0">
                <a:solidFill>
                  <a:srgbClr val="1B415D"/>
                </a:solidFill>
              </a:rPr>
              <a:t>Forecast</a:t>
            </a:r>
          </a:p>
        </p:txBody>
      </p:sp>
      <p:sp>
        <p:nvSpPr>
          <p:cNvPr id="3102" name="TextBox 3101">
            <a:extLst>
              <a:ext uri="{FF2B5EF4-FFF2-40B4-BE49-F238E27FC236}">
                <a16:creationId xmlns:a16="http://schemas.microsoft.com/office/drawing/2014/main" id="{5E5792D3-F603-0AE2-51C6-5FE61E2E8BBD}"/>
              </a:ext>
            </a:extLst>
          </p:cNvPr>
          <p:cNvSpPr txBox="1"/>
          <p:nvPr/>
        </p:nvSpPr>
        <p:spPr>
          <a:xfrm>
            <a:off x="5552233" y="2340342"/>
            <a:ext cx="587002" cy="369332"/>
          </a:xfrm>
          <a:prstGeom prst="rect">
            <a:avLst/>
          </a:prstGeom>
          <a:noFill/>
        </p:spPr>
        <p:txBody>
          <a:bodyPr wrap="square" rtlCol="0">
            <a:spAutoFit/>
          </a:bodyPr>
          <a:lstStyle/>
          <a:p>
            <a:r>
              <a:rPr lang="en-US" b="1" dirty="0">
                <a:solidFill>
                  <a:srgbClr val="1B415D"/>
                </a:solidFill>
              </a:rPr>
              <a:t>2/3</a:t>
            </a:r>
          </a:p>
        </p:txBody>
      </p:sp>
      <p:sp>
        <p:nvSpPr>
          <p:cNvPr id="3103" name="TextBox 3102">
            <a:extLst>
              <a:ext uri="{FF2B5EF4-FFF2-40B4-BE49-F238E27FC236}">
                <a16:creationId xmlns:a16="http://schemas.microsoft.com/office/drawing/2014/main" id="{E8B723EA-3C1C-7C31-ABC2-9867A093B0E0}"/>
              </a:ext>
            </a:extLst>
          </p:cNvPr>
          <p:cNvSpPr txBox="1"/>
          <p:nvPr/>
        </p:nvSpPr>
        <p:spPr>
          <a:xfrm>
            <a:off x="7722491" y="2351743"/>
            <a:ext cx="587002" cy="369332"/>
          </a:xfrm>
          <a:prstGeom prst="rect">
            <a:avLst/>
          </a:prstGeom>
          <a:noFill/>
        </p:spPr>
        <p:txBody>
          <a:bodyPr wrap="square" rtlCol="0">
            <a:spAutoFit/>
          </a:bodyPr>
          <a:lstStyle/>
          <a:p>
            <a:r>
              <a:rPr lang="en-US" b="1" dirty="0">
                <a:solidFill>
                  <a:srgbClr val="1B415D"/>
                </a:solidFill>
              </a:rPr>
              <a:t>1/3</a:t>
            </a:r>
          </a:p>
        </p:txBody>
      </p:sp>
      <p:sp>
        <p:nvSpPr>
          <p:cNvPr id="3104" name="TextBox 3103">
            <a:extLst>
              <a:ext uri="{FF2B5EF4-FFF2-40B4-BE49-F238E27FC236}">
                <a16:creationId xmlns:a16="http://schemas.microsoft.com/office/drawing/2014/main" id="{8183FF61-090A-896D-A8F5-43759D41AE22}"/>
              </a:ext>
            </a:extLst>
          </p:cNvPr>
          <p:cNvSpPr txBox="1"/>
          <p:nvPr/>
        </p:nvSpPr>
        <p:spPr>
          <a:xfrm>
            <a:off x="3541235" y="3367056"/>
            <a:ext cx="587002" cy="369332"/>
          </a:xfrm>
          <a:prstGeom prst="rect">
            <a:avLst/>
          </a:prstGeom>
          <a:noFill/>
        </p:spPr>
        <p:txBody>
          <a:bodyPr wrap="square" rtlCol="0">
            <a:spAutoFit/>
          </a:bodyPr>
          <a:lstStyle/>
          <a:p>
            <a:r>
              <a:rPr lang="en-US" b="1" dirty="0">
                <a:solidFill>
                  <a:srgbClr val="1B415D"/>
                </a:solidFill>
              </a:rPr>
              <a:t>3/8</a:t>
            </a:r>
          </a:p>
        </p:txBody>
      </p:sp>
      <p:sp>
        <p:nvSpPr>
          <p:cNvPr id="3105" name="TextBox 3104">
            <a:extLst>
              <a:ext uri="{FF2B5EF4-FFF2-40B4-BE49-F238E27FC236}">
                <a16:creationId xmlns:a16="http://schemas.microsoft.com/office/drawing/2014/main" id="{B0ED0EE2-3C89-23B8-4952-ADB5153D879E}"/>
              </a:ext>
            </a:extLst>
          </p:cNvPr>
          <p:cNvSpPr txBox="1"/>
          <p:nvPr/>
        </p:nvSpPr>
        <p:spPr>
          <a:xfrm>
            <a:off x="4951511" y="3396554"/>
            <a:ext cx="587002" cy="369332"/>
          </a:xfrm>
          <a:prstGeom prst="rect">
            <a:avLst/>
          </a:prstGeom>
          <a:noFill/>
        </p:spPr>
        <p:txBody>
          <a:bodyPr wrap="square" rtlCol="0">
            <a:spAutoFit/>
          </a:bodyPr>
          <a:lstStyle/>
          <a:p>
            <a:r>
              <a:rPr lang="en-US" b="1" dirty="0">
                <a:solidFill>
                  <a:srgbClr val="1B415D"/>
                </a:solidFill>
              </a:rPr>
              <a:t>5/8</a:t>
            </a:r>
          </a:p>
        </p:txBody>
      </p:sp>
      <p:sp>
        <p:nvSpPr>
          <p:cNvPr id="3106" name="TextBox 3105">
            <a:extLst>
              <a:ext uri="{FF2B5EF4-FFF2-40B4-BE49-F238E27FC236}">
                <a16:creationId xmlns:a16="http://schemas.microsoft.com/office/drawing/2014/main" id="{EF0F453C-5E81-6CF5-D8B2-1879D6556057}"/>
              </a:ext>
            </a:extLst>
          </p:cNvPr>
          <p:cNvSpPr txBox="1"/>
          <p:nvPr/>
        </p:nvSpPr>
        <p:spPr>
          <a:xfrm>
            <a:off x="8394364" y="3338536"/>
            <a:ext cx="587002" cy="369332"/>
          </a:xfrm>
          <a:prstGeom prst="rect">
            <a:avLst/>
          </a:prstGeom>
          <a:noFill/>
        </p:spPr>
        <p:txBody>
          <a:bodyPr wrap="square" rtlCol="0">
            <a:spAutoFit/>
          </a:bodyPr>
          <a:lstStyle/>
          <a:p>
            <a:r>
              <a:rPr lang="en-US" b="1" dirty="0">
                <a:solidFill>
                  <a:srgbClr val="1B415D"/>
                </a:solidFill>
              </a:rPr>
              <a:t>2/5</a:t>
            </a:r>
          </a:p>
        </p:txBody>
      </p:sp>
      <p:sp>
        <p:nvSpPr>
          <p:cNvPr id="3107" name="TextBox 3106">
            <a:extLst>
              <a:ext uri="{FF2B5EF4-FFF2-40B4-BE49-F238E27FC236}">
                <a16:creationId xmlns:a16="http://schemas.microsoft.com/office/drawing/2014/main" id="{C8C0332E-9CC6-B1FA-8138-D501B8A66E32}"/>
              </a:ext>
            </a:extLst>
          </p:cNvPr>
          <p:cNvSpPr txBox="1"/>
          <p:nvPr/>
        </p:nvSpPr>
        <p:spPr>
          <a:xfrm>
            <a:off x="9740843" y="3362277"/>
            <a:ext cx="587002" cy="369332"/>
          </a:xfrm>
          <a:prstGeom prst="rect">
            <a:avLst/>
          </a:prstGeom>
          <a:noFill/>
        </p:spPr>
        <p:txBody>
          <a:bodyPr wrap="square" rtlCol="0">
            <a:spAutoFit/>
          </a:bodyPr>
          <a:lstStyle/>
          <a:p>
            <a:r>
              <a:rPr lang="en-US" b="1" dirty="0">
                <a:solidFill>
                  <a:srgbClr val="1B415D"/>
                </a:solidFill>
              </a:rPr>
              <a:t>3/5</a:t>
            </a:r>
          </a:p>
        </p:txBody>
      </p:sp>
      <p:sp>
        <p:nvSpPr>
          <p:cNvPr id="3108" name="TextBox 3107">
            <a:extLst>
              <a:ext uri="{FF2B5EF4-FFF2-40B4-BE49-F238E27FC236}">
                <a16:creationId xmlns:a16="http://schemas.microsoft.com/office/drawing/2014/main" id="{EA8A8EA4-7E83-C038-E3D2-0A5C1511B47C}"/>
              </a:ext>
            </a:extLst>
          </p:cNvPr>
          <p:cNvSpPr txBox="1"/>
          <p:nvPr/>
        </p:nvSpPr>
        <p:spPr>
          <a:xfrm>
            <a:off x="2940991" y="4617471"/>
            <a:ext cx="587002" cy="307777"/>
          </a:xfrm>
          <a:prstGeom prst="rect">
            <a:avLst/>
          </a:prstGeom>
          <a:noFill/>
        </p:spPr>
        <p:txBody>
          <a:bodyPr wrap="square" rtlCol="0">
            <a:spAutoFit/>
          </a:bodyPr>
          <a:lstStyle/>
          <a:p>
            <a:r>
              <a:rPr lang="en-US" sz="1400" b="1" dirty="0">
                <a:solidFill>
                  <a:srgbClr val="1B415D"/>
                </a:solidFill>
              </a:rPr>
              <a:t>1/3</a:t>
            </a:r>
          </a:p>
        </p:txBody>
      </p:sp>
      <p:sp>
        <p:nvSpPr>
          <p:cNvPr id="3109" name="TextBox 3108">
            <a:extLst>
              <a:ext uri="{FF2B5EF4-FFF2-40B4-BE49-F238E27FC236}">
                <a16:creationId xmlns:a16="http://schemas.microsoft.com/office/drawing/2014/main" id="{25158AA5-3BA6-E5FE-9D9C-00749B4BCA88}"/>
              </a:ext>
            </a:extLst>
          </p:cNvPr>
          <p:cNvSpPr txBox="1"/>
          <p:nvPr/>
        </p:nvSpPr>
        <p:spPr>
          <a:xfrm>
            <a:off x="3752955" y="4649950"/>
            <a:ext cx="587002" cy="307777"/>
          </a:xfrm>
          <a:prstGeom prst="rect">
            <a:avLst/>
          </a:prstGeom>
          <a:noFill/>
        </p:spPr>
        <p:txBody>
          <a:bodyPr wrap="square" rtlCol="0">
            <a:spAutoFit/>
          </a:bodyPr>
          <a:lstStyle/>
          <a:p>
            <a:r>
              <a:rPr lang="en-US" sz="1400" b="1" dirty="0">
                <a:solidFill>
                  <a:srgbClr val="1B415D"/>
                </a:solidFill>
              </a:rPr>
              <a:t>2/3</a:t>
            </a:r>
          </a:p>
        </p:txBody>
      </p:sp>
      <p:sp>
        <p:nvSpPr>
          <p:cNvPr id="3110" name="TextBox 3109">
            <a:extLst>
              <a:ext uri="{FF2B5EF4-FFF2-40B4-BE49-F238E27FC236}">
                <a16:creationId xmlns:a16="http://schemas.microsoft.com/office/drawing/2014/main" id="{1AE5E6D6-EF87-AF66-EA9C-644EA8028750}"/>
              </a:ext>
            </a:extLst>
          </p:cNvPr>
          <p:cNvSpPr txBox="1"/>
          <p:nvPr/>
        </p:nvSpPr>
        <p:spPr>
          <a:xfrm>
            <a:off x="4727314" y="4619970"/>
            <a:ext cx="587002" cy="307777"/>
          </a:xfrm>
          <a:prstGeom prst="rect">
            <a:avLst/>
          </a:prstGeom>
          <a:noFill/>
        </p:spPr>
        <p:txBody>
          <a:bodyPr wrap="square" rtlCol="0">
            <a:spAutoFit/>
          </a:bodyPr>
          <a:lstStyle/>
          <a:p>
            <a:r>
              <a:rPr lang="en-US" sz="1400" b="1" dirty="0">
                <a:solidFill>
                  <a:srgbClr val="1B415D"/>
                </a:solidFill>
              </a:rPr>
              <a:t>2/5</a:t>
            </a:r>
          </a:p>
        </p:txBody>
      </p:sp>
      <p:sp>
        <p:nvSpPr>
          <p:cNvPr id="3111" name="TextBox 3110">
            <a:extLst>
              <a:ext uri="{FF2B5EF4-FFF2-40B4-BE49-F238E27FC236}">
                <a16:creationId xmlns:a16="http://schemas.microsoft.com/office/drawing/2014/main" id="{0CE07C6C-A82F-585A-A4DB-5A413397E244}"/>
              </a:ext>
            </a:extLst>
          </p:cNvPr>
          <p:cNvSpPr txBox="1"/>
          <p:nvPr/>
        </p:nvSpPr>
        <p:spPr>
          <a:xfrm>
            <a:off x="5644211" y="4592489"/>
            <a:ext cx="587002" cy="307777"/>
          </a:xfrm>
          <a:prstGeom prst="rect">
            <a:avLst/>
          </a:prstGeom>
          <a:noFill/>
        </p:spPr>
        <p:txBody>
          <a:bodyPr wrap="square" rtlCol="0">
            <a:spAutoFit/>
          </a:bodyPr>
          <a:lstStyle/>
          <a:p>
            <a:r>
              <a:rPr lang="en-US" sz="1400" b="1" dirty="0">
                <a:solidFill>
                  <a:srgbClr val="1B415D"/>
                </a:solidFill>
              </a:rPr>
              <a:t>3/5</a:t>
            </a:r>
          </a:p>
        </p:txBody>
      </p:sp>
      <p:sp>
        <p:nvSpPr>
          <p:cNvPr id="3112" name="TextBox 3111">
            <a:extLst>
              <a:ext uri="{FF2B5EF4-FFF2-40B4-BE49-F238E27FC236}">
                <a16:creationId xmlns:a16="http://schemas.microsoft.com/office/drawing/2014/main" id="{E7B7D0C8-DC2C-F1D9-FA1E-146926B9365B}"/>
              </a:ext>
            </a:extLst>
          </p:cNvPr>
          <p:cNvSpPr txBox="1"/>
          <p:nvPr/>
        </p:nvSpPr>
        <p:spPr>
          <a:xfrm>
            <a:off x="7745327" y="4594988"/>
            <a:ext cx="587002" cy="307777"/>
          </a:xfrm>
          <a:prstGeom prst="rect">
            <a:avLst/>
          </a:prstGeom>
          <a:noFill/>
        </p:spPr>
        <p:txBody>
          <a:bodyPr wrap="square" rtlCol="0">
            <a:spAutoFit/>
          </a:bodyPr>
          <a:lstStyle/>
          <a:p>
            <a:r>
              <a:rPr lang="en-US" sz="1400" b="1" dirty="0">
                <a:solidFill>
                  <a:srgbClr val="1B415D"/>
                </a:solidFill>
              </a:rPr>
              <a:t>1/3</a:t>
            </a:r>
          </a:p>
        </p:txBody>
      </p:sp>
      <p:sp>
        <p:nvSpPr>
          <p:cNvPr id="3113" name="TextBox 3112">
            <a:extLst>
              <a:ext uri="{FF2B5EF4-FFF2-40B4-BE49-F238E27FC236}">
                <a16:creationId xmlns:a16="http://schemas.microsoft.com/office/drawing/2014/main" id="{7F0EBA4F-15C5-1097-10F3-7873CFF8D2E9}"/>
              </a:ext>
            </a:extLst>
          </p:cNvPr>
          <p:cNvSpPr txBox="1"/>
          <p:nvPr/>
        </p:nvSpPr>
        <p:spPr>
          <a:xfrm>
            <a:off x="8572281" y="4642457"/>
            <a:ext cx="587002" cy="307777"/>
          </a:xfrm>
          <a:prstGeom prst="rect">
            <a:avLst/>
          </a:prstGeom>
          <a:noFill/>
        </p:spPr>
        <p:txBody>
          <a:bodyPr wrap="square" rtlCol="0">
            <a:spAutoFit/>
          </a:bodyPr>
          <a:lstStyle/>
          <a:p>
            <a:r>
              <a:rPr lang="en-US" sz="1400" b="1" dirty="0">
                <a:solidFill>
                  <a:srgbClr val="1B415D"/>
                </a:solidFill>
              </a:rPr>
              <a:t>2/3</a:t>
            </a:r>
          </a:p>
        </p:txBody>
      </p:sp>
      <p:sp>
        <p:nvSpPr>
          <p:cNvPr id="3114" name="TextBox 3113">
            <a:extLst>
              <a:ext uri="{FF2B5EF4-FFF2-40B4-BE49-F238E27FC236}">
                <a16:creationId xmlns:a16="http://schemas.microsoft.com/office/drawing/2014/main" id="{5B69B6EE-B48D-44FE-DC83-CBB4A02C13F1}"/>
              </a:ext>
            </a:extLst>
          </p:cNvPr>
          <p:cNvSpPr txBox="1"/>
          <p:nvPr/>
        </p:nvSpPr>
        <p:spPr>
          <a:xfrm>
            <a:off x="9594109" y="4629966"/>
            <a:ext cx="587002" cy="307777"/>
          </a:xfrm>
          <a:prstGeom prst="rect">
            <a:avLst/>
          </a:prstGeom>
          <a:noFill/>
        </p:spPr>
        <p:txBody>
          <a:bodyPr wrap="square" rtlCol="0">
            <a:spAutoFit/>
          </a:bodyPr>
          <a:lstStyle/>
          <a:p>
            <a:r>
              <a:rPr lang="en-US" sz="1400" b="1" dirty="0">
                <a:solidFill>
                  <a:srgbClr val="1B415D"/>
                </a:solidFill>
              </a:rPr>
              <a:t>1/2</a:t>
            </a:r>
          </a:p>
        </p:txBody>
      </p:sp>
      <p:sp>
        <p:nvSpPr>
          <p:cNvPr id="3115" name="TextBox 3114">
            <a:extLst>
              <a:ext uri="{FF2B5EF4-FFF2-40B4-BE49-F238E27FC236}">
                <a16:creationId xmlns:a16="http://schemas.microsoft.com/office/drawing/2014/main" id="{94606727-4C4F-2D86-1BC3-37B0149C009C}"/>
              </a:ext>
            </a:extLst>
          </p:cNvPr>
          <p:cNvSpPr txBox="1"/>
          <p:nvPr/>
        </p:nvSpPr>
        <p:spPr>
          <a:xfrm>
            <a:off x="10406073" y="4632465"/>
            <a:ext cx="587002" cy="307777"/>
          </a:xfrm>
          <a:prstGeom prst="rect">
            <a:avLst/>
          </a:prstGeom>
          <a:noFill/>
        </p:spPr>
        <p:txBody>
          <a:bodyPr wrap="square" rtlCol="0">
            <a:spAutoFit/>
          </a:bodyPr>
          <a:lstStyle/>
          <a:p>
            <a:r>
              <a:rPr lang="en-US" sz="1400" b="1" dirty="0">
                <a:solidFill>
                  <a:srgbClr val="1B415D"/>
                </a:solidFill>
              </a:rPr>
              <a:t>1/2</a:t>
            </a:r>
          </a:p>
        </p:txBody>
      </p:sp>
      <p:sp>
        <p:nvSpPr>
          <p:cNvPr id="3" name="Title 1">
            <a:extLst>
              <a:ext uri="{FF2B5EF4-FFF2-40B4-BE49-F238E27FC236}">
                <a16:creationId xmlns:a16="http://schemas.microsoft.com/office/drawing/2014/main" id="{A015C93B-B8A0-1BEB-B0B5-28D8CE28C0F4}"/>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Traditional Approaches of Implementation: Top Down</a:t>
            </a:r>
          </a:p>
        </p:txBody>
      </p:sp>
      <p:sp>
        <p:nvSpPr>
          <p:cNvPr id="4" name="TextBox 3">
            <a:extLst>
              <a:ext uri="{FF2B5EF4-FFF2-40B4-BE49-F238E27FC236}">
                <a16:creationId xmlns:a16="http://schemas.microsoft.com/office/drawing/2014/main" id="{70D23630-514B-CC0C-655B-EF672CB80D23}"/>
              </a:ext>
            </a:extLst>
          </p:cNvPr>
          <p:cNvSpPr txBox="1"/>
          <p:nvPr/>
        </p:nvSpPr>
        <p:spPr>
          <a:xfrm>
            <a:off x="446270" y="5688736"/>
            <a:ext cx="11341778" cy="523220"/>
          </a:xfrm>
          <a:prstGeom prst="rect">
            <a:avLst/>
          </a:prstGeom>
          <a:noFill/>
        </p:spPr>
        <p:txBody>
          <a:bodyPr wrap="square">
            <a:spAutoFit/>
          </a:bodyPr>
          <a:lstStyle/>
          <a:p>
            <a:r>
              <a:rPr lang="en-US" sz="1400" dirty="0"/>
              <a:t>R. J. Hyndman </a:t>
            </a:r>
            <a:r>
              <a:rPr lang="en-US" sz="1400" i="1" dirty="0"/>
              <a:t>et al,</a:t>
            </a:r>
            <a:r>
              <a:rPr lang="en-US" sz="1400" dirty="0"/>
              <a:t> "Optimal combination forecasts for hierarchical time series," in </a:t>
            </a:r>
            <a:r>
              <a:rPr lang="en-US" sz="1400" i="1" dirty="0" err="1"/>
              <a:t>Comput</a:t>
            </a:r>
            <a:r>
              <a:rPr lang="en-US" sz="1400" i="1" dirty="0"/>
              <a:t>. Stat. Data Anal.</a:t>
            </a:r>
            <a:r>
              <a:rPr lang="en-US" sz="1400" dirty="0"/>
              <a:t>, vol. 55, no. 9, pp. 2579–2589, Sep. 2011, </a:t>
            </a:r>
            <a:r>
              <a:rPr lang="en-US" sz="1400" dirty="0" err="1"/>
              <a:t>doi</a:t>
            </a:r>
            <a:r>
              <a:rPr lang="en-US" sz="1400" dirty="0"/>
              <a:t>: 10.1016/j.csda.2011.03.006.</a:t>
            </a:r>
          </a:p>
        </p:txBody>
      </p:sp>
    </p:spTree>
    <p:extLst>
      <p:ext uri="{BB962C8B-B14F-4D97-AF65-F5344CB8AC3E}">
        <p14:creationId xmlns:p14="http://schemas.microsoft.com/office/powerpoint/2010/main" val="2239703991"/>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A67D6-8B9B-2108-C732-53CCDAF43415}"/>
            </a:ext>
          </a:extLst>
        </p:cNvPr>
        <p:cNvGrpSpPr/>
        <p:nvPr/>
      </p:nvGrpSpPr>
      <p:grpSpPr>
        <a:xfrm>
          <a:off x="0" y="0"/>
          <a:ext cx="0" cy="0"/>
          <a:chOff x="0" y="0"/>
          <a:chExt cx="0" cy="0"/>
        </a:xfrm>
      </p:grpSpPr>
      <p:pic>
        <p:nvPicPr>
          <p:cNvPr id="51" name="Picture 50">
            <a:extLst>
              <a:ext uri="{FF2B5EF4-FFF2-40B4-BE49-F238E27FC236}">
                <a16:creationId xmlns:a16="http://schemas.microsoft.com/office/drawing/2014/main" id="{CFCDE129-5494-E17E-AD24-89EB9011960A}"/>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085638" y="3968817"/>
            <a:ext cx="945088" cy="608375"/>
          </a:xfrm>
          <a:prstGeom prst="rect">
            <a:avLst/>
          </a:prstGeom>
        </p:spPr>
      </p:pic>
      <p:pic>
        <p:nvPicPr>
          <p:cNvPr id="52" name="Picture 51">
            <a:extLst>
              <a:ext uri="{FF2B5EF4-FFF2-40B4-BE49-F238E27FC236}">
                <a16:creationId xmlns:a16="http://schemas.microsoft.com/office/drawing/2014/main" id="{1704745C-3208-5F65-D0F3-1591AF2E4A8C}"/>
              </a:ext>
            </a:extLst>
          </p:cNvPr>
          <p:cNvPicPr>
            <a:picLocks noChangeAspect="1"/>
          </p:cNvPicPr>
          <p:nvPr/>
        </p:nvPicPr>
        <p:blipFill>
          <a:blip r:embed="rId5"/>
          <a:srcRect l="22961" t="57864" r="62119" b="30040"/>
          <a:stretch>
            <a:fillRect/>
          </a:stretch>
        </p:blipFill>
        <p:spPr>
          <a:xfrm>
            <a:off x="2649549" y="5064837"/>
            <a:ext cx="920785" cy="324800"/>
          </a:xfrm>
          <a:prstGeom prst="rect">
            <a:avLst/>
          </a:prstGeom>
        </p:spPr>
      </p:pic>
      <p:pic>
        <p:nvPicPr>
          <p:cNvPr id="53" name="Picture 52">
            <a:extLst>
              <a:ext uri="{FF2B5EF4-FFF2-40B4-BE49-F238E27FC236}">
                <a16:creationId xmlns:a16="http://schemas.microsoft.com/office/drawing/2014/main" id="{5BC97AD1-D9E9-65F9-7652-D9B14756FE7F}"/>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3868738" y="2618984"/>
            <a:ext cx="1218647" cy="622233"/>
          </a:xfrm>
          <a:prstGeom prst="rect">
            <a:avLst/>
          </a:prstGeom>
        </p:spPr>
      </p:pic>
      <p:pic>
        <p:nvPicPr>
          <p:cNvPr id="54" name="Picture 53">
            <a:extLst>
              <a:ext uri="{FF2B5EF4-FFF2-40B4-BE49-F238E27FC236}">
                <a16:creationId xmlns:a16="http://schemas.microsoft.com/office/drawing/2014/main" id="{F73E67B8-FD25-88D4-C125-54C31AF6649C}"/>
              </a:ext>
            </a:extLst>
          </p:cNvPr>
          <p:cNvPicPr>
            <a:picLocks noChangeAspect="1"/>
          </p:cNvPicPr>
          <p:nvPr/>
        </p:nvPicPr>
        <p:blipFill>
          <a:blip r:embed="rId3">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900646" y="3968816"/>
            <a:ext cx="945088" cy="608375"/>
          </a:xfrm>
          <a:prstGeom prst="rect">
            <a:avLst/>
          </a:prstGeom>
        </p:spPr>
      </p:pic>
      <p:cxnSp>
        <p:nvCxnSpPr>
          <p:cNvPr id="55" name="Straight Arrow Connector 54">
            <a:extLst>
              <a:ext uri="{FF2B5EF4-FFF2-40B4-BE49-F238E27FC236}">
                <a16:creationId xmlns:a16="http://schemas.microsoft.com/office/drawing/2014/main" id="{FA8994FD-38CA-B65C-45DC-7FA0E4CC4CCF}"/>
              </a:ext>
            </a:extLst>
          </p:cNvPr>
          <p:cNvCxnSpPr>
            <a:cxnSpLocks/>
            <a:stCxn id="54" idx="0"/>
            <a:endCxn id="53" idx="2"/>
          </p:cNvCxnSpPr>
          <p:nvPr/>
        </p:nvCxnSpPr>
        <p:spPr>
          <a:xfrm flipH="1" flipV="1">
            <a:off x="4478062" y="3241217"/>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3A3E9A68-2592-FF8D-0929-7D850C0814EB}"/>
              </a:ext>
            </a:extLst>
          </p:cNvPr>
          <p:cNvCxnSpPr>
            <a:cxnSpLocks/>
            <a:stCxn id="51" idx="0"/>
            <a:endCxn id="53" idx="2"/>
          </p:cNvCxnSpPr>
          <p:nvPr/>
        </p:nvCxnSpPr>
        <p:spPr>
          <a:xfrm flipV="1">
            <a:off x="3558182" y="3241217"/>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4829D5EE-0CF3-AA40-00E0-2BE91214B302}"/>
              </a:ext>
            </a:extLst>
          </p:cNvPr>
          <p:cNvPicPr>
            <a:picLocks noChangeAspect="1"/>
          </p:cNvPicPr>
          <p:nvPr/>
        </p:nvPicPr>
        <p:blipFill>
          <a:blip r:embed="rId5"/>
          <a:srcRect l="22961" t="57864" r="62119" b="30040"/>
          <a:stretch>
            <a:fillRect/>
          </a:stretch>
        </p:blipFill>
        <p:spPr>
          <a:xfrm>
            <a:off x="3570334" y="5064837"/>
            <a:ext cx="920785" cy="324800"/>
          </a:xfrm>
          <a:prstGeom prst="rect">
            <a:avLst/>
          </a:prstGeom>
        </p:spPr>
      </p:pic>
      <p:pic>
        <p:nvPicPr>
          <p:cNvPr id="58" name="Picture 57">
            <a:extLst>
              <a:ext uri="{FF2B5EF4-FFF2-40B4-BE49-F238E27FC236}">
                <a16:creationId xmlns:a16="http://schemas.microsoft.com/office/drawing/2014/main" id="{C617CF3B-4B3B-01B3-B66B-FBCACDEFFA15}"/>
              </a:ext>
            </a:extLst>
          </p:cNvPr>
          <p:cNvPicPr>
            <a:picLocks noChangeAspect="1"/>
          </p:cNvPicPr>
          <p:nvPr/>
        </p:nvPicPr>
        <p:blipFill>
          <a:blip r:embed="rId5"/>
          <a:srcRect l="22961" t="57864" r="62119" b="30040"/>
          <a:stretch>
            <a:fillRect/>
          </a:stretch>
        </p:blipFill>
        <p:spPr>
          <a:xfrm>
            <a:off x="4491119" y="5064836"/>
            <a:ext cx="920785" cy="324800"/>
          </a:xfrm>
          <a:prstGeom prst="rect">
            <a:avLst/>
          </a:prstGeom>
        </p:spPr>
      </p:pic>
      <p:pic>
        <p:nvPicPr>
          <p:cNvPr id="59" name="Picture 58">
            <a:extLst>
              <a:ext uri="{FF2B5EF4-FFF2-40B4-BE49-F238E27FC236}">
                <a16:creationId xmlns:a16="http://schemas.microsoft.com/office/drawing/2014/main" id="{31DC5ADB-9AC2-8FB2-9D87-F0B07CB0F86D}"/>
              </a:ext>
            </a:extLst>
          </p:cNvPr>
          <p:cNvPicPr>
            <a:picLocks noChangeAspect="1"/>
          </p:cNvPicPr>
          <p:nvPr/>
        </p:nvPicPr>
        <p:blipFill>
          <a:blip r:embed="rId5"/>
          <a:srcRect l="22961" t="57864" r="62119" b="30040"/>
          <a:stretch>
            <a:fillRect/>
          </a:stretch>
        </p:blipFill>
        <p:spPr>
          <a:xfrm>
            <a:off x="5411904" y="5064836"/>
            <a:ext cx="920785" cy="324800"/>
          </a:xfrm>
          <a:prstGeom prst="rect">
            <a:avLst/>
          </a:prstGeom>
        </p:spPr>
      </p:pic>
      <p:cxnSp>
        <p:nvCxnSpPr>
          <p:cNvPr id="60" name="Straight Arrow Connector 59">
            <a:extLst>
              <a:ext uri="{FF2B5EF4-FFF2-40B4-BE49-F238E27FC236}">
                <a16:creationId xmlns:a16="http://schemas.microsoft.com/office/drawing/2014/main" id="{A352E00F-776E-E2B1-359D-FF1822669938}"/>
              </a:ext>
            </a:extLst>
          </p:cNvPr>
          <p:cNvCxnSpPr>
            <a:cxnSpLocks/>
            <a:stCxn id="51" idx="2"/>
            <a:endCxn id="52" idx="0"/>
          </p:cNvCxnSpPr>
          <p:nvPr/>
        </p:nvCxnSpPr>
        <p:spPr>
          <a:xfrm flipH="1">
            <a:off x="3109942" y="4577192"/>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7E90432C-004D-C635-563A-A49FD092F381}"/>
              </a:ext>
            </a:extLst>
          </p:cNvPr>
          <p:cNvCxnSpPr>
            <a:cxnSpLocks/>
            <a:stCxn id="54" idx="2"/>
            <a:endCxn id="58" idx="0"/>
          </p:cNvCxnSpPr>
          <p:nvPr/>
        </p:nvCxnSpPr>
        <p:spPr>
          <a:xfrm flipH="1">
            <a:off x="4951512" y="4577191"/>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EA404A17-28C2-061B-0F46-DFCEB812978B}"/>
              </a:ext>
            </a:extLst>
          </p:cNvPr>
          <p:cNvCxnSpPr>
            <a:cxnSpLocks/>
            <a:stCxn id="51" idx="2"/>
            <a:endCxn id="57" idx="0"/>
          </p:cNvCxnSpPr>
          <p:nvPr/>
        </p:nvCxnSpPr>
        <p:spPr>
          <a:xfrm>
            <a:off x="3558182" y="4577192"/>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09AFE3E-118A-9C57-CC6F-7EA631E77D33}"/>
              </a:ext>
            </a:extLst>
          </p:cNvPr>
          <p:cNvCxnSpPr>
            <a:cxnSpLocks/>
            <a:stCxn id="54" idx="2"/>
            <a:endCxn id="59" idx="0"/>
          </p:cNvCxnSpPr>
          <p:nvPr/>
        </p:nvCxnSpPr>
        <p:spPr>
          <a:xfrm>
            <a:off x="5373190" y="4577191"/>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0C098D6B-4AEA-F297-BD63-8EB4A864BD7E}"/>
              </a:ext>
            </a:extLst>
          </p:cNvPr>
          <p:cNvPicPr>
            <a:picLocks noChangeAspect="1"/>
          </p:cNvPicPr>
          <p:nvPr/>
        </p:nvPicPr>
        <p:blipFill>
          <a:blip r:embed="rId3">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900855" y="3968818"/>
            <a:ext cx="945088" cy="608375"/>
          </a:xfrm>
          <a:prstGeom prst="rect">
            <a:avLst/>
          </a:prstGeom>
        </p:spPr>
      </p:pic>
      <p:pic>
        <p:nvPicPr>
          <p:cNvPr id="3073" name="Picture 3072">
            <a:extLst>
              <a:ext uri="{FF2B5EF4-FFF2-40B4-BE49-F238E27FC236}">
                <a16:creationId xmlns:a16="http://schemas.microsoft.com/office/drawing/2014/main" id="{E500C299-6788-7175-AE86-CBE84DA6E190}"/>
              </a:ext>
            </a:extLst>
          </p:cNvPr>
          <p:cNvPicPr>
            <a:picLocks noChangeAspect="1"/>
          </p:cNvPicPr>
          <p:nvPr/>
        </p:nvPicPr>
        <p:blipFill>
          <a:blip r:embed="rId5"/>
          <a:srcRect l="22961" t="57864" r="62119" b="30040"/>
          <a:stretch>
            <a:fillRect/>
          </a:stretch>
        </p:blipFill>
        <p:spPr>
          <a:xfrm>
            <a:off x="7464765" y="5064838"/>
            <a:ext cx="920785" cy="324800"/>
          </a:xfrm>
          <a:prstGeom prst="rect">
            <a:avLst/>
          </a:prstGeom>
        </p:spPr>
      </p:pic>
      <p:pic>
        <p:nvPicPr>
          <p:cNvPr id="3075" name="Picture 3074">
            <a:extLst>
              <a:ext uri="{FF2B5EF4-FFF2-40B4-BE49-F238E27FC236}">
                <a16:creationId xmlns:a16="http://schemas.microsoft.com/office/drawing/2014/main" id="{9CB2A48D-D4B4-8748-F326-2160083E9B9D}"/>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8683955" y="2618985"/>
            <a:ext cx="1218647" cy="622233"/>
          </a:xfrm>
          <a:prstGeom prst="rect">
            <a:avLst/>
          </a:prstGeom>
        </p:spPr>
      </p:pic>
      <p:pic>
        <p:nvPicPr>
          <p:cNvPr id="3076" name="Picture 3075">
            <a:extLst>
              <a:ext uri="{FF2B5EF4-FFF2-40B4-BE49-F238E27FC236}">
                <a16:creationId xmlns:a16="http://schemas.microsoft.com/office/drawing/2014/main" id="{D99FA006-EADD-E881-5856-2DADC19F5067}"/>
              </a:ext>
            </a:extLst>
          </p:cNvPr>
          <p:cNvPicPr>
            <a:picLocks noChangeAspect="1"/>
          </p:cNvPicPr>
          <p:nvPr/>
        </p:nvPicPr>
        <p:blipFill>
          <a:blip r:embed="rId3">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715862" y="3968817"/>
            <a:ext cx="945088" cy="608375"/>
          </a:xfrm>
          <a:prstGeom prst="rect">
            <a:avLst/>
          </a:prstGeom>
        </p:spPr>
      </p:pic>
      <p:cxnSp>
        <p:nvCxnSpPr>
          <p:cNvPr id="3077" name="Straight Arrow Connector 3076">
            <a:extLst>
              <a:ext uri="{FF2B5EF4-FFF2-40B4-BE49-F238E27FC236}">
                <a16:creationId xmlns:a16="http://schemas.microsoft.com/office/drawing/2014/main" id="{B94E6A97-1BDB-C8C9-CF01-3BFDEB1AACC3}"/>
              </a:ext>
            </a:extLst>
          </p:cNvPr>
          <p:cNvCxnSpPr>
            <a:cxnSpLocks/>
            <a:stCxn id="3076" idx="0"/>
            <a:endCxn id="3075" idx="2"/>
          </p:cNvCxnSpPr>
          <p:nvPr/>
        </p:nvCxnSpPr>
        <p:spPr>
          <a:xfrm flipH="1" flipV="1">
            <a:off x="9293279" y="3241218"/>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2EBB983C-8F66-5CD1-880A-C1B2A1AE0645}"/>
              </a:ext>
            </a:extLst>
          </p:cNvPr>
          <p:cNvCxnSpPr>
            <a:cxnSpLocks/>
            <a:stCxn id="3072" idx="0"/>
            <a:endCxn id="3075" idx="2"/>
          </p:cNvCxnSpPr>
          <p:nvPr/>
        </p:nvCxnSpPr>
        <p:spPr>
          <a:xfrm flipV="1">
            <a:off x="8373399" y="3241218"/>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C99D2792-CE4D-5527-2FBE-EDD19EA71E44}"/>
              </a:ext>
            </a:extLst>
          </p:cNvPr>
          <p:cNvPicPr>
            <a:picLocks noChangeAspect="1"/>
          </p:cNvPicPr>
          <p:nvPr/>
        </p:nvPicPr>
        <p:blipFill>
          <a:blip r:embed="rId5"/>
          <a:srcRect l="22961" t="57864" r="62119" b="30040"/>
          <a:stretch>
            <a:fillRect/>
          </a:stretch>
        </p:blipFill>
        <p:spPr>
          <a:xfrm>
            <a:off x="8385550" y="5064838"/>
            <a:ext cx="920785" cy="324800"/>
          </a:xfrm>
          <a:prstGeom prst="rect">
            <a:avLst/>
          </a:prstGeom>
        </p:spPr>
      </p:pic>
      <p:pic>
        <p:nvPicPr>
          <p:cNvPr id="3080" name="Picture 3079">
            <a:extLst>
              <a:ext uri="{FF2B5EF4-FFF2-40B4-BE49-F238E27FC236}">
                <a16:creationId xmlns:a16="http://schemas.microsoft.com/office/drawing/2014/main" id="{98B655B0-CFC5-04EC-F34F-DE1C54181892}"/>
              </a:ext>
            </a:extLst>
          </p:cNvPr>
          <p:cNvPicPr>
            <a:picLocks noChangeAspect="1"/>
          </p:cNvPicPr>
          <p:nvPr/>
        </p:nvPicPr>
        <p:blipFill>
          <a:blip r:embed="rId5"/>
          <a:srcRect l="22961" t="57864" r="62119" b="30040"/>
          <a:stretch>
            <a:fillRect/>
          </a:stretch>
        </p:blipFill>
        <p:spPr>
          <a:xfrm>
            <a:off x="9306335" y="5064837"/>
            <a:ext cx="920785" cy="324800"/>
          </a:xfrm>
          <a:prstGeom prst="rect">
            <a:avLst/>
          </a:prstGeom>
        </p:spPr>
      </p:pic>
      <p:pic>
        <p:nvPicPr>
          <p:cNvPr id="3081" name="Picture 3080">
            <a:extLst>
              <a:ext uri="{FF2B5EF4-FFF2-40B4-BE49-F238E27FC236}">
                <a16:creationId xmlns:a16="http://schemas.microsoft.com/office/drawing/2014/main" id="{4F3EE232-55B7-0F5F-2052-2517ED82998D}"/>
              </a:ext>
            </a:extLst>
          </p:cNvPr>
          <p:cNvPicPr>
            <a:picLocks noChangeAspect="1"/>
          </p:cNvPicPr>
          <p:nvPr/>
        </p:nvPicPr>
        <p:blipFill>
          <a:blip r:embed="rId5"/>
          <a:srcRect l="22961" t="57864" r="62119" b="30040"/>
          <a:stretch>
            <a:fillRect/>
          </a:stretch>
        </p:blipFill>
        <p:spPr>
          <a:xfrm>
            <a:off x="10227120" y="5064837"/>
            <a:ext cx="920785" cy="324800"/>
          </a:xfrm>
          <a:prstGeom prst="rect">
            <a:avLst/>
          </a:prstGeom>
        </p:spPr>
      </p:pic>
      <p:cxnSp>
        <p:nvCxnSpPr>
          <p:cNvPr id="3082" name="Straight Arrow Connector 3081">
            <a:extLst>
              <a:ext uri="{FF2B5EF4-FFF2-40B4-BE49-F238E27FC236}">
                <a16:creationId xmlns:a16="http://schemas.microsoft.com/office/drawing/2014/main" id="{07B31CEA-16EA-2BE0-41B2-2EF5027E138F}"/>
              </a:ext>
            </a:extLst>
          </p:cNvPr>
          <p:cNvCxnSpPr>
            <a:cxnSpLocks/>
            <a:stCxn id="3072" idx="2"/>
            <a:endCxn id="3073" idx="0"/>
          </p:cNvCxnSpPr>
          <p:nvPr/>
        </p:nvCxnSpPr>
        <p:spPr>
          <a:xfrm flipH="1">
            <a:off x="7925158" y="4577193"/>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27FBA0FC-DEA7-2828-988B-4FB78DB2DE98}"/>
              </a:ext>
            </a:extLst>
          </p:cNvPr>
          <p:cNvCxnSpPr>
            <a:cxnSpLocks/>
            <a:stCxn id="3076" idx="2"/>
            <a:endCxn id="3080" idx="0"/>
          </p:cNvCxnSpPr>
          <p:nvPr/>
        </p:nvCxnSpPr>
        <p:spPr>
          <a:xfrm flipH="1">
            <a:off x="9766728" y="4577192"/>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D1E0BC4-33F4-6EAF-0300-82A1ED3D97D3}"/>
              </a:ext>
            </a:extLst>
          </p:cNvPr>
          <p:cNvCxnSpPr>
            <a:cxnSpLocks/>
            <a:stCxn id="3072" idx="2"/>
            <a:endCxn id="3079" idx="0"/>
          </p:cNvCxnSpPr>
          <p:nvPr/>
        </p:nvCxnSpPr>
        <p:spPr>
          <a:xfrm>
            <a:off x="8373399" y="4577193"/>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C89C9BA7-9271-3F13-D517-50921DFC3A79}"/>
              </a:ext>
            </a:extLst>
          </p:cNvPr>
          <p:cNvCxnSpPr>
            <a:cxnSpLocks/>
            <a:stCxn id="3076" idx="2"/>
            <a:endCxn id="3081" idx="0"/>
          </p:cNvCxnSpPr>
          <p:nvPr/>
        </p:nvCxnSpPr>
        <p:spPr>
          <a:xfrm>
            <a:off x="10188406" y="4577192"/>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A8FD345B-D4D4-32BA-9682-A99B55FD1818}"/>
              </a:ext>
            </a:extLst>
          </p:cNvPr>
          <p:cNvSpPr txBox="1"/>
          <p:nvPr/>
        </p:nvSpPr>
        <p:spPr>
          <a:xfrm>
            <a:off x="6460302" y="1743972"/>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4A5F9B5E-9F43-A6A2-68D6-FEBBB50B7A29}"/>
              </a:ext>
            </a:extLst>
          </p:cNvPr>
          <p:cNvCxnSpPr>
            <a:cxnSpLocks/>
            <a:stCxn id="53" idx="0"/>
            <a:endCxn id="3092" idx="2"/>
          </p:cNvCxnSpPr>
          <p:nvPr/>
        </p:nvCxnSpPr>
        <p:spPr>
          <a:xfrm flipV="1">
            <a:off x="4478062" y="2071275"/>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67F2DB60-5790-F786-D596-55E6A41FEAD0}"/>
              </a:ext>
            </a:extLst>
          </p:cNvPr>
          <p:cNvCxnSpPr>
            <a:cxnSpLocks/>
            <a:stCxn id="3075" idx="0"/>
            <a:endCxn id="3092" idx="2"/>
          </p:cNvCxnSpPr>
          <p:nvPr/>
        </p:nvCxnSpPr>
        <p:spPr>
          <a:xfrm flipH="1" flipV="1">
            <a:off x="6905721" y="2071275"/>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5F1D70A3-96B3-BC4B-6767-3E72AFC85192}"/>
              </a:ext>
            </a:extLst>
          </p:cNvPr>
          <p:cNvCxnSpPr>
            <a:cxnSpLocks/>
          </p:cNvCxnSpPr>
          <p:nvPr/>
        </p:nvCxnSpPr>
        <p:spPr>
          <a:xfrm>
            <a:off x="370806" y="4267595"/>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BEB1F6AF-A200-1688-AA34-6E6A174E1BD4}"/>
              </a:ext>
            </a:extLst>
          </p:cNvPr>
          <p:cNvSpPr txBox="1"/>
          <p:nvPr/>
        </p:nvSpPr>
        <p:spPr>
          <a:xfrm>
            <a:off x="632069" y="3744023"/>
            <a:ext cx="1536703" cy="523220"/>
          </a:xfrm>
          <a:prstGeom prst="rect">
            <a:avLst/>
          </a:prstGeom>
          <a:noFill/>
        </p:spPr>
        <p:txBody>
          <a:bodyPr wrap="none" rtlCol="0">
            <a:spAutoFit/>
          </a:bodyPr>
          <a:lstStyle/>
          <a:p>
            <a:r>
              <a:rPr lang="en-US" sz="2800" dirty="0">
                <a:solidFill>
                  <a:srgbClr val="1B415D"/>
                </a:solidFill>
              </a:rPr>
              <a:t>Forecast</a:t>
            </a:r>
          </a:p>
        </p:txBody>
      </p:sp>
      <p:sp>
        <p:nvSpPr>
          <p:cNvPr id="3088" name="TextBox 3087">
            <a:extLst>
              <a:ext uri="{FF2B5EF4-FFF2-40B4-BE49-F238E27FC236}">
                <a16:creationId xmlns:a16="http://schemas.microsoft.com/office/drawing/2014/main" id="{462ABB72-0226-4E23-A593-A7812330FECC}"/>
              </a:ext>
            </a:extLst>
          </p:cNvPr>
          <p:cNvSpPr txBox="1"/>
          <p:nvPr/>
        </p:nvSpPr>
        <p:spPr>
          <a:xfrm>
            <a:off x="4312866" y="3239921"/>
            <a:ext cx="308098" cy="369332"/>
          </a:xfrm>
          <a:prstGeom prst="rect">
            <a:avLst/>
          </a:prstGeom>
          <a:noFill/>
        </p:spPr>
        <p:txBody>
          <a:bodyPr wrap="none" rtlCol="0">
            <a:spAutoFit/>
          </a:bodyPr>
          <a:lstStyle/>
          <a:p>
            <a:r>
              <a:rPr lang="en-US" dirty="0"/>
              <a:t>+</a:t>
            </a:r>
          </a:p>
        </p:txBody>
      </p:sp>
      <p:sp>
        <p:nvSpPr>
          <p:cNvPr id="3098" name="TextBox 3097">
            <a:extLst>
              <a:ext uri="{FF2B5EF4-FFF2-40B4-BE49-F238E27FC236}">
                <a16:creationId xmlns:a16="http://schemas.microsoft.com/office/drawing/2014/main" id="{305B50AB-EEDA-FBD2-B3D3-C459B6439A66}"/>
              </a:ext>
            </a:extLst>
          </p:cNvPr>
          <p:cNvSpPr txBox="1"/>
          <p:nvPr/>
        </p:nvSpPr>
        <p:spPr>
          <a:xfrm>
            <a:off x="9152286" y="3239921"/>
            <a:ext cx="308098" cy="369332"/>
          </a:xfrm>
          <a:prstGeom prst="rect">
            <a:avLst/>
          </a:prstGeom>
          <a:noFill/>
        </p:spPr>
        <p:txBody>
          <a:bodyPr wrap="none" rtlCol="0">
            <a:spAutoFit/>
          </a:bodyPr>
          <a:lstStyle/>
          <a:p>
            <a:r>
              <a:rPr lang="en-US" dirty="0"/>
              <a:t>+</a:t>
            </a:r>
          </a:p>
        </p:txBody>
      </p:sp>
      <p:sp>
        <p:nvSpPr>
          <p:cNvPr id="3100" name="TextBox 3099">
            <a:extLst>
              <a:ext uri="{FF2B5EF4-FFF2-40B4-BE49-F238E27FC236}">
                <a16:creationId xmlns:a16="http://schemas.microsoft.com/office/drawing/2014/main" id="{2BEB42FC-E202-F4C6-91AB-B3310EC4CF5B}"/>
              </a:ext>
            </a:extLst>
          </p:cNvPr>
          <p:cNvSpPr txBox="1"/>
          <p:nvPr/>
        </p:nvSpPr>
        <p:spPr>
          <a:xfrm>
            <a:off x="6748235" y="2042793"/>
            <a:ext cx="308098" cy="369332"/>
          </a:xfrm>
          <a:prstGeom prst="rect">
            <a:avLst/>
          </a:prstGeom>
          <a:noFill/>
        </p:spPr>
        <p:txBody>
          <a:bodyPr wrap="none" rtlCol="0">
            <a:spAutoFit/>
          </a:bodyPr>
          <a:lstStyle/>
          <a:p>
            <a:r>
              <a:rPr lang="en-US" dirty="0"/>
              <a:t>+</a:t>
            </a:r>
          </a:p>
        </p:txBody>
      </p:sp>
      <p:sp>
        <p:nvSpPr>
          <p:cNvPr id="3" name="TextBox 2">
            <a:extLst>
              <a:ext uri="{FF2B5EF4-FFF2-40B4-BE49-F238E27FC236}">
                <a16:creationId xmlns:a16="http://schemas.microsoft.com/office/drawing/2014/main" id="{F32B09EC-35CA-B63D-0A62-5FB48747E74B}"/>
              </a:ext>
            </a:extLst>
          </p:cNvPr>
          <p:cNvSpPr txBox="1"/>
          <p:nvPr/>
        </p:nvSpPr>
        <p:spPr>
          <a:xfrm>
            <a:off x="446270" y="5688736"/>
            <a:ext cx="11341778" cy="523220"/>
          </a:xfrm>
          <a:prstGeom prst="rect">
            <a:avLst/>
          </a:prstGeom>
          <a:noFill/>
        </p:spPr>
        <p:txBody>
          <a:bodyPr wrap="square">
            <a:spAutoFit/>
          </a:bodyPr>
          <a:lstStyle/>
          <a:p>
            <a:r>
              <a:rPr lang="en-US" sz="1400" dirty="0"/>
              <a:t>R. J. Hyndman </a:t>
            </a:r>
            <a:r>
              <a:rPr lang="en-US" sz="1400" i="1" dirty="0"/>
              <a:t>et al,</a:t>
            </a:r>
            <a:r>
              <a:rPr lang="en-US" sz="1400" dirty="0"/>
              <a:t> "Optimal combination forecasts for hierarchical time series," in </a:t>
            </a:r>
            <a:r>
              <a:rPr lang="en-US" sz="1400" i="1" dirty="0" err="1"/>
              <a:t>Comput</a:t>
            </a:r>
            <a:r>
              <a:rPr lang="en-US" sz="1400" i="1" dirty="0"/>
              <a:t>. Stat. Data Anal.</a:t>
            </a:r>
            <a:r>
              <a:rPr lang="en-US" sz="1400" dirty="0"/>
              <a:t>, vol. 55, no. 9, pp. 2579–2589, Sep. 2011, </a:t>
            </a:r>
            <a:r>
              <a:rPr lang="en-US" sz="1400" dirty="0" err="1"/>
              <a:t>doi</a:t>
            </a:r>
            <a:r>
              <a:rPr lang="en-US" sz="1400" dirty="0"/>
              <a:t>: 10.1016/j.csda.2011.03.006.</a:t>
            </a:r>
          </a:p>
        </p:txBody>
      </p:sp>
      <p:sp>
        <p:nvSpPr>
          <p:cNvPr id="4" name="Title 1">
            <a:extLst>
              <a:ext uri="{FF2B5EF4-FFF2-40B4-BE49-F238E27FC236}">
                <a16:creationId xmlns:a16="http://schemas.microsoft.com/office/drawing/2014/main" id="{1898C142-DDD7-D7C7-8012-68B8B23C888C}"/>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Traditional Approaches of Implementation: Bottom Up</a:t>
            </a:r>
          </a:p>
        </p:txBody>
      </p:sp>
    </p:spTree>
    <p:extLst>
      <p:ext uri="{BB962C8B-B14F-4D97-AF65-F5344CB8AC3E}">
        <p14:creationId xmlns:p14="http://schemas.microsoft.com/office/powerpoint/2010/main" val="420411946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A81F-1A90-B0E8-1347-2370CF3ABC0D}"/>
            </a:ext>
          </a:extLst>
        </p:cNvPr>
        <p:cNvGrpSpPr/>
        <p:nvPr/>
      </p:nvGrpSpPr>
      <p:grpSpPr>
        <a:xfrm>
          <a:off x="0" y="0"/>
          <a:ext cx="0" cy="0"/>
          <a:chOff x="0" y="0"/>
          <a:chExt cx="0" cy="0"/>
        </a:xfrm>
      </p:grpSpPr>
      <p:pic>
        <p:nvPicPr>
          <p:cNvPr id="51" name="Picture 50">
            <a:extLst>
              <a:ext uri="{FF2B5EF4-FFF2-40B4-BE49-F238E27FC236}">
                <a16:creationId xmlns:a16="http://schemas.microsoft.com/office/drawing/2014/main" id="{AB86641E-4DBD-344C-AB51-7BD295664293}"/>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085641" y="3965551"/>
            <a:ext cx="945088" cy="608375"/>
          </a:xfrm>
          <a:prstGeom prst="rect">
            <a:avLst/>
          </a:prstGeom>
        </p:spPr>
      </p:pic>
      <p:pic>
        <p:nvPicPr>
          <p:cNvPr id="52" name="Picture 51">
            <a:extLst>
              <a:ext uri="{FF2B5EF4-FFF2-40B4-BE49-F238E27FC236}">
                <a16:creationId xmlns:a16="http://schemas.microsoft.com/office/drawing/2014/main" id="{F086249B-A787-B95C-FDE3-5D1FBC813B2A}"/>
              </a:ext>
            </a:extLst>
          </p:cNvPr>
          <p:cNvPicPr>
            <a:picLocks noChangeAspect="1"/>
          </p:cNvPicPr>
          <p:nvPr/>
        </p:nvPicPr>
        <p:blipFill>
          <a:blip r:embed="rId5"/>
          <a:srcRect l="22961" t="57864" r="62119" b="30040"/>
          <a:stretch>
            <a:fillRect/>
          </a:stretch>
        </p:blipFill>
        <p:spPr>
          <a:xfrm>
            <a:off x="2649552" y="5061571"/>
            <a:ext cx="920785" cy="324800"/>
          </a:xfrm>
          <a:prstGeom prst="rect">
            <a:avLst/>
          </a:prstGeom>
        </p:spPr>
      </p:pic>
      <p:pic>
        <p:nvPicPr>
          <p:cNvPr id="53" name="Picture 52">
            <a:extLst>
              <a:ext uri="{FF2B5EF4-FFF2-40B4-BE49-F238E27FC236}">
                <a16:creationId xmlns:a16="http://schemas.microsoft.com/office/drawing/2014/main" id="{88D01243-5CFE-CF20-8BC1-D7672364DB4C}"/>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3868741" y="2615718"/>
            <a:ext cx="1218647" cy="622233"/>
          </a:xfrm>
          <a:prstGeom prst="rect">
            <a:avLst/>
          </a:prstGeom>
        </p:spPr>
      </p:pic>
      <p:pic>
        <p:nvPicPr>
          <p:cNvPr id="54" name="Picture 53">
            <a:extLst>
              <a:ext uri="{FF2B5EF4-FFF2-40B4-BE49-F238E27FC236}">
                <a16:creationId xmlns:a16="http://schemas.microsoft.com/office/drawing/2014/main" id="{2C7F056F-F8BB-0405-63CB-AEEB32AD5754}"/>
              </a:ext>
            </a:extLst>
          </p:cNvPr>
          <p:cNvPicPr>
            <a:picLocks noChangeAspect="1"/>
          </p:cNvPicPr>
          <p:nvPr/>
        </p:nvPicPr>
        <p:blipFill>
          <a:blip r:embed="rId3">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900649" y="3965550"/>
            <a:ext cx="945088" cy="608375"/>
          </a:xfrm>
          <a:prstGeom prst="rect">
            <a:avLst/>
          </a:prstGeom>
        </p:spPr>
      </p:pic>
      <p:cxnSp>
        <p:nvCxnSpPr>
          <p:cNvPr id="55" name="Straight Arrow Connector 54">
            <a:extLst>
              <a:ext uri="{FF2B5EF4-FFF2-40B4-BE49-F238E27FC236}">
                <a16:creationId xmlns:a16="http://schemas.microsoft.com/office/drawing/2014/main" id="{FB3EEC17-8C20-A393-F9DB-B95104AE8FC3}"/>
              </a:ext>
            </a:extLst>
          </p:cNvPr>
          <p:cNvCxnSpPr>
            <a:cxnSpLocks/>
            <a:stCxn id="54" idx="0"/>
            <a:endCxn id="53" idx="2"/>
          </p:cNvCxnSpPr>
          <p:nvPr/>
        </p:nvCxnSpPr>
        <p:spPr>
          <a:xfrm flipH="1" flipV="1">
            <a:off x="4478065" y="3237951"/>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F2A0B03F-7E6B-A8DB-229D-7941DFDE7A4A}"/>
              </a:ext>
            </a:extLst>
          </p:cNvPr>
          <p:cNvCxnSpPr>
            <a:cxnSpLocks/>
          </p:cNvCxnSpPr>
          <p:nvPr/>
        </p:nvCxnSpPr>
        <p:spPr>
          <a:xfrm flipV="1">
            <a:off x="3459329" y="3262665"/>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9DDBEDA5-D02F-FDE9-5D06-2467FC093581}"/>
              </a:ext>
            </a:extLst>
          </p:cNvPr>
          <p:cNvPicPr>
            <a:picLocks noChangeAspect="1"/>
          </p:cNvPicPr>
          <p:nvPr/>
        </p:nvPicPr>
        <p:blipFill>
          <a:blip r:embed="rId5"/>
          <a:srcRect l="22961" t="57864" r="62119" b="30040"/>
          <a:stretch>
            <a:fillRect/>
          </a:stretch>
        </p:blipFill>
        <p:spPr>
          <a:xfrm>
            <a:off x="3570337" y="5061571"/>
            <a:ext cx="920785" cy="324800"/>
          </a:xfrm>
          <a:prstGeom prst="rect">
            <a:avLst/>
          </a:prstGeom>
        </p:spPr>
      </p:pic>
      <p:pic>
        <p:nvPicPr>
          <p:cNvPr id="58" name="Picture 57">
            <a:extLst>
              <a:ext uri="{FF2B5EF4-FFF2-40B4-BE49-F238E27FC236}">
                <a16:creationId xmlns:a16="http://schemas.microsoft.com/office/drawing/2014/main" id="{42730D43-9E5F-DF02-B223-73EA287B28EF}"/>
              </a:ext>
            </a:extLst>
          </p:cNvPr>
          <p:cNvPicPr>
            <a:picLocks noChangeAspect="1"/>
          </p:cNvPicPr>
          <p:nvPr/>
        </p:nvPicPr>
        <p:blipFill>
          <a:blip r:embed="rId5"/>
          <a:srcRect l="22961" t="57864" r="62119" b="30040"/>
          <a:stretch>
            <a:fillRect/>
          </a:stretch>
        </p:blipFill>
        <p:spPr>
          <a:xfrm>
            <a:off x="4491122" y="5061570"/>
            <a:ext cx="920785" cy="324800"/>
          </a:xfrm>
          <a:prstGeom prst="rect">
            <a:avLst/>
          </a:prstGeom>
        </p:spPr>
      </p:pic>
      <p:pic>
        <p:nvPicPr>
          <p:cNvPr id="59" name="Picture 58">
            <a:extLst>
              <a:ext uri="{FF2B5EF4-FFF2-40B4-BE49-F238E27FC236}">
                <a16:creationId xmlns:a16="http://schemas.microsoft.com/office/drawing/2014/main" id="{B387A384-716C-65C7-E111-DE0D2C076529}"/>
              </a:ext>
            </a:extLst>
          </p:cNvPr>
          <p:cNvPicPr>
            <a:picLocks noChangeAspect="1"/>
          </p:cNvPicPr>
          <p:nvPr/>
        </p:nvPicPr>
        <p:blipFill>
          <a:blip r:embed="rId5"/>
          <a:srcRect l="22961" t="57864" r="62119" b="30040"/>
          <a:stretch>
            <a:fillRect/>
          </a:stretch>
        </p:blipFill>
        <p:spPr>
          <a:xfrm>
            <a:off x="5411907" y="5061570"/>
            <a:ext cx="920785" cy="324800"/>
          </a:xfrm>
          <a:prstGeom prst="rect">
            <a:avLst/>
          </a:prstGeom>
        </p:spPr>
      </p:pic>
      <p:cxnSp>
        <p:nvCxnSpPr>
          <p:cNvPr id="60" name="Straight Arrow Connector 59">
            <a:extLst>
              <a:ext uri="{FF2B5EF4-FFF2-40B4-BE49-F238E27FC236}">
                <a16:creationId xmlns:a16="http://schemas.microsoft.com/office/drawing/2014/main" id="{0E79ACE0-22BB-ACF9-E243-5816812F2DFC}"/>
              </a:ext>
            </a:extLst>
          </p:cNvPr>
          <p:cNvCxnSpPr>
            <a:cxnSpLocks/>
            <a:stCxn id="51" idx="2"/>
            <a:endCxn id="52" idx="0"/>
          </p:cNvCxnSpPr>
          <p:nvPr/>
        </p:nvCxnSpPr>
        <p:spPr>
          <a:xfrm flipH="1">
            <a:off x="3109945" y="4573926"/>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2145A9C4-2A5B-B2CC-1DA5-22D7D96A5ACD}"/>
              </a:ext>
            </a:extLst>
          </p:cNvPr>
          <p:cNvCxnSpPr>
            <a:cxnSpLocks/>
            <a:stCxn id="54" idx="2"/>
            <a:endCxn id="58" idx="0"/>
          </p:cNvCxnSpPr>
          <p:nvPr/>
        </p:nvCxnSpPr>
        <p:spPr>
          <a:xfrm flipH="1">
            <a:off x="4951515" y="4573925"/>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76776E72-C2C4-D2FA-CD21-47C391E75FF6}"/>
              </a:ext>
            </a:extLst>
          </p:cNvPr>
          <p:cNvCxnSpPr>
            <a:cxnSpLocks/>
            <a:stCxn id="51" idx="2"/>
            <a:endCxn id="57" idx="0"/>
          </p:cNvCxnSpPr>
          <p:nvPr/>
        </p:nvCxnSpPr>
        <p:spPr>
          <a:xfrm>
            <a:off x="3558185" y="4573926"/>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5B8C2D1-4587-C12B-54C5-0D1B30384F04}"/>
              </a:ext>
            </a:extLst>
          </p:cNvPr>
          <p:cNvCxnSpPr>
            <a:cxnSpLocks/>
            <a:stCxn id="54" idx="2"/>
            <a:endCxn id="59" idx="0"/>
          </p:cNvCxnSpPr>
          <p:nvPr/>
        </p:nvCxnSpPr>
        <p:spPr>
          <a:xfrm>
            <a:off x="5373193" y="4573925"/>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11CFE18B-333C-E6CE-971E-452D1E940229}"/>
              </a:ext>
            </a:extLst>
          </p:cNvPr>
          <p:cNvPicPr>
            <a:picLocks noChangeAspect="1"/>
          </p:cNvPicPr>
          <p:nvPr/>
        </p:nvPicPr>
        <p:blipFill>
          <a:blip r:embed="rId3">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900858" y="3965552"/>
            <a:ext cx="945088" cy="608375"/>
          </a:xfrm>
          <a:prstGeom prst="rect">
            <a:avLst/>
          </a:prstGeom>
        </p:spPr>
      </p:pic>
      <p:pic>
        <p:nvPicPr>
          <p:cNvPr id="3073" name="Picture 3072">
            <a:extLst>
              <a:ext uri="{FF2B5EF4-FFF2-40B4-BE49-F238E27FC236}">
                <a16:creationId xmlns:a16="http://schemas.microsoft.com/office/drawing/2014/main" id="{E4F0F089-7329-B2C3-A6A7-228C97A570F1}"/>
              </a:ext>
            </a:extLst>
          </p:cNvPr>
          <p:cNvPicPr>
            <a:picLocks noChangeAspect="1"/>
          </p:cNvPicPr>
          <p:nvPr/>
        </p:nvPicPr>
        <p:blipFill>
          <a:blip r:embed="rId5"/>
          <a:srcRect l="22961" t="57864" r="62119" b="30040"/>
          <a:stretch>
            <a:fillRect/>
          </a:stretch>
        </p:blipFill>
        <p:spPr>
          <a:xfrm>
            <a:off x="7464768" y="5061572"/>
            <a:ext cx="920785" cy="324800"/>
          </a:xfrm>
          <a:prstGeom prst="rect">
            <a:avLst/>
          </a:prstGeom>
        </p:spPr>
      </p:pic>
      <p:pic>
        <p:nvPicPr>
          <p:cNvPr id="3075" name="Picture 3074">
            <a:extLst>
              <a:ext uri="{FF2B5EF4-FFF2-40B4-BE49-F238E27FC236}">
                <a16:creationId xmlns:a16="http://schemas.microsoft.com/office/drawing/2014/main" id="{C1F03042-B81C-4D62-DBF7-573B9FFE3A48}"/>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8683958" y="2615719"/>
            <a:ext cx="1218647" cy="622233"/>
          </a:xfrm>
          <a:prstGeom prst="rect">
            <a:avLst/>
          </a:prstGeom>
        </p:spPr>
      </p:pic>
      <p:pic>
        <p:nvPicPr>
          <p:cNvPr id="3076" name="Picture 3075">
            <a:extLst>
              <a:ext uri="{FF2B5EF4-FFF2-40B4-BE49-F238E27FC236}">
                <a16:creationId xmlns:a16="http://schemas.microsoft.com/office/drawing/2014/main" id="{25805382-4037-CAC1-4E41-7CAB5837E56F}"/>
              </a:ext>
            </a:extLst>
          </p:cNvPr>
          <p:cNvPicPr>
            <a:picLocks noChangeAspect="1"/>
          </p:cNvPicPr>
          <p:nvPr/>
        </p:nvPicPr>
        <p:blipFill>
          <a:blip r:embed="rId3">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715865" y="3965551"/>
            <a:ext cx="945088" cy="608375"/>
          </a:xfrm>
          <a:prstGeom prst="rect">
            <a:avLst/>
          </a:prstGeom>
        </p:spPr>
      </p:pic>
      <p:cxnSp>
        <p:nvCxnSpPr>
          <p:cNvPr id="3077" name="Straight Arrow Connector 3076">
            <a:extLst>
              <a:ext uri="{FF2B5EF4-FFF2-40B4-BE49-F238E27FC236}">
                <a16:creationId xmlns:a16="http://schemas.microsoft.com/office/drawing/2014/main" id="{F7FFFB34-A58C-B7EB-3FF7-CC56AD3605AE}"/>
              </a:ext>
            </a:extLst>
          </p:cNvPr>
          <p:cNvCxnSpPr>
            <a:cxnSpLocks/>
            <a:stCxn id="3076" idx="0"/>
            <a:endCxn id="3075" idx="2"/>
          </p:cNvCxnSpPr>
          <p:nvPr/>
        </p:nvCxnSpPr>
        <p:spPr>
          <a:xfrm flipH="1" flipV="1">
            <a:off x="9293282" y="3237952"/>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BD48895-E58F-7227-C9DB-2EF92A0E4222}"/>
              </a:ext>
            </a:extLst>
          </p:cNvPr>
          <p:cNvCxnSpPr>
            <a:cxnSpLocks/>
          </p:cNvCxnSpPr>
          <p:nvPr/>
        </p:nvCxnSpPr>
        <p:spPr>
          <a:xfrm flipV="1">
            <a:off x="8323974" y="3237952"/>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47E6E3D8-33B8-0F4F-B58A-4D4A8E2BAA01}"/>
              </a:ext>
            </a:extLst>
          </p:cNvPr>
          <p:cNvPicPr>
            <a:picLocks noChangeAspect="1"/>
          </p:cNvPicPr>
          <p:nvPr/>
        </p:nvPicPr>
        <p:blipFill>
          <a:blip r:embed="rId5"/>
          <a:srcRect l="22961" t="57864" r="62119" b="30040"/>
          <a:stretch>
            <a:fillRect/>
          </a:stretch>
        </p:blipFill>
        <p:spPr>
          <a:xfrm>
            <a:off x="8385553" y="5061572"/>
            <a:ext cx="920785" cy="324800"/>
          </a:xfrm>
          <a:prstGeom prst="rect">
            <a:avLst/>
          </a:prstGeom>
        </p:spPr>
      </p:pic>
      <p:pic>
        <p:nvPicPr>
          <p:cNvPr id="3080" name="Picture 3079">
            <a:extLst>
              <a:ext uri="{FF2B5EF4-FFF2-40B4-BE49-F238E27FC236}">
                <a16:creationId xmlns:a16="http://schemas.microsoft.com/office/drawing/2014/main" id="{7CD39BDF-C62C-A140-483E-215259A0BBD8}"/>
              </a:ext>
            </a:extLst>
          </p:cNvPr>
          <p:cNvPicPr>
            <a:picLocks noChangeAspect="1"/>
          </p:cNvPicPr>
          <p:nvPr/>
        </p:nvPicPr>
        <p:blipFill>
          <a:blip r:embed="rId5"/>
          <a:srcRect l="22961" t="57864" r="62119" b="30040"/>
          <a:stretch>
            <a:fillRect/>
          </a:stretch>
        </p:blipFill>
        <p:spPr>
          <a:xfrm>
            <a:off x="9306338" y="5061571"/>
            <a:ext cx="920785" cy="324800"/>
          </a:xfrm>
          <a:prstGeom prst="rect">
            <a:avLst/>
          </a:prstGeom>
        </p:spPr>
      </p:pic>
      <p:pic>
        <p:nvPicPr>
          <p:cNvPr id="3081" name="Picture 3080">
            <a:extLst>
              <a:ext uri="{FF2B5EF4-FFF2-40B4-BE49-F238E27FC236}">
                <a16:creationId xmlns:a16="http://schemas.microsoft.com/office/drawing/2014/main" id="{A06F2108-4872-2314-F6B0-0C1882C36924}"/>
              </a:ext>
            </a:extLst>
          </p:cNvPr>
          <p:cNvPicPr>
            <a:picLocks noChangeAspect="1"/>
          </p:cNvPicPr>
          <p:nvPr/>
        </p:nvPicPr>
        <p:blipFill>
          <a:blip r:embed="rId5"/>
          <a:srcRect l="22961" t="57864" r="62119" b="30040"/>
          <a:stretch>
            <a:fillRect/>
          </a:stretch>
        </p:blipFill>
        <p:spPr>
          <a:xfrm>
            <a:off x="10227123" y="5061571"/>
            <a:ext cx="920785" cy="324800"/>
          </a:xfrm>
          <a:prstGeom prst="rect">
            <a:avLst/>
          </a:prstGeom>
        </p:spPr>
      </p:pic>
      <p:cxnSp>
        <p:nvCxnSpPr>
          <p:cNvPr id="3082" name="Straight Arrow Connector 3081">
            <a:extLst>
              <a:ext uri="{FF2B5EF4-FFF2-40B4-BE49-F238E27FC236}">
                <a16:creationId xmlns:a16="http://schemas.microsoft.com/office/drawing/2014/main" id="{973AA649-B9B1-0E09-C83A-0DF2AACA27E9}"/>
              </a:ext>
            </a:extLst>
          </p:cNvPr>
          <p:cNvCxnSpPr>
            <a:cxnSpLocks/>
            <a:stCxn id="3072" idx="2"/>
            <a:endCxn id="3073" idx="0"/>
          </p:cNvCxnSpPr>
          <p:nvPr/>
        </p:nvCxnSpPr>
        <p:spPr>
          <a:xfrm flipH="1">
            <a:off x="7925161" y="4573927"/>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63F964DA-E98F-320F-A8A6-75A60476D2C7}"/>
              </a:ext>
            </a:extLst>
          </p:cNvPr>
          <p:cNvCxnSpPr>
            <a:cxnSpLocks/>
            <a:stCxn id="3076" idx="2"/>
            <a:endCxn id="3080" idx="0"/>
          </p:cNvCxnSpPr>
          <p:nvPr/>
        </p:nvCxnSpPr>
        <p:spPr>
          <a:xfrm flipH="1">
            <a:off x="9766731" y="4573926"/>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36808D91-6054-1E87-7F4E-FD5BABEE580B}"/>
              </a:ext>
            </a:extLst>
          </p:cNvPr>
          <p:cNvCxnSpPr>
            <a:cxnSpLocks/>
            <a:stCxn id="3072" idx="2"/>
            <a:endCxn id="3079" idx="0"/>
          </p:cNvCxnSpPr>
          <p:nvPr/>
        </p:nvCxnSpPr>
        <p:spPr>
          <a:xfrm>
            <a:off x="8373402" y="4573927"/>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16893E64-A53C-2EF2-A5CD-352049E32DC0}"/>
              </a:ext>
            </a:extLst>
          </p:cNvPr>
          <p:cNvCxnSpPr>
            <a:cxnSpLocks/>
            <a:stCxn id="3076" idx="2"/>
            <a:endCxn id="3081" idx="0"/>
          </p:cNvCxnSpPr>
          <p:nvPr/>
        </p:nvCxnSpPr>
        <p:spPr>
          <a:xfrm>
            <a:off x="10188409" y="4573926"/>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FC39E8E5-C6F8-1871-EEA3-98FBE7F043BF}"/>
              </a:ext>
            </a:extLst>
          </p:cNvPr>
          <p:cNvSpPr txBox="1"/>
          <p:nvPr/>
        </p:nvSpPr>
        <p:spPr>
          <a:xfrm>
            <a:off x="6460305" y="1740706"/>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048B44AA-CD92-7019-FCF6-0C97F4944349}"/>
              </a:ext>
            </a:extLst>
          </p:cNvPr>
          <p:cNvCxnSpPr>
            <a:cxnSpLocks/>
            <a:stCxn id="53" idx="0"/>
            <a:endCxn id="3092" idx="2"/>
          </p:cNvCxnSpPr>
          <p:nvPr/>
        </p:nvCxnSpPr>
        <p:spPr>
          <a:xfrm flipV="1">
            <a:off x="4478065" y="2068009"/>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0417ED91-F584-4654-A0D2-BBEC57A5529C}"/>
              </a:ext>
            </a:extLst>
          </p:cNvPr>
          <p:cNvCxnSpPr>
            <a:cxnSpLocks/>
            <a:stCxn id="3075" idx="0"/>
            <a:endCxn id="3092" idx="2"/>
          </p:cNvCxnSpPr>
          <p:nvPr/>
        </p:nvCxnSpPr>
        <p:spPr>
          <a:xfrm flipH="1" flipV="1">
            <a:off x="6905724" y="2068009"/>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2EAA780D-55B8-9A69-5292-25CD9C2544B6}"/>
              </a:ext>
            </a:extLst>
          </p:cNvPr>
          <p:cNvCxnSpPr>
            <a:cxnSpLocks/>
          </p:cNvCxnSpPr>
          <p:nvPr/>
        </p:nvCxnSpPr>
        <p:spPr>
          <a:xfrm>
            <a:off x="240180" y="4351416"/>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E1F8138D-AA3A-A7B8-02EE-7133D2B6E2EF}"/>
              </a:ext>
            </a:extLst>
          </p:cNvPr>
          <p:cNvSpPr txBox="1"/>
          <p:nvPr/>
        </p:nvSpPr>
        <p:spPr>
          <a:xfrm>
            <a:off x="501443" y="3827844"/>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3" name="Straight Arrow Connector 2">
            <a:extLst>
              <a:ext uri="{FF2B5EF4-FFF2-40B4-BE49-F238E27FC236}">
                <a16:creationId xmlns:a16="http://schemas.microsoft.com/office/drawing/2014/main" id="{68378DD6-78CE-A722-88E4-6D0F6E2444E5}"/>
              </a:ext>
            </a:extLst>
          </p:cNvPr>
          <p:cNvCxnSpPr>
            <a:cxnSpLocks/>
          </p:cNvCxnSpPr>
          <p:nvPr/>
        </p:nvCxnSpPr>
        <p:spPr>
          <a:xfrm>
            <a:off x="272490" y="3030265"/>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TextBox 3">
            <a:extLst>
              <a:ext uri="{FF2B5EF4-FFF2-40B4-BE49-F238E27FC236}">
                <a16:creationId xmlns:a16="http://schemas.microsoft.com/office/drawing/2014/main" id="{EC0C56EC-3AA7-F1AD-E196-13E60FE15093}"/>
              </a:ext>
            </a:extLst>
          </p:cNvPr>
          <p:cNvSpPr txBox="1"/>
          <p:nvPr/>
        </p:nvSpPr>
        <p:spPr>
          <a:xfrm>
            <a:off x="533753" y="2506693"/>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6" name="Straight Arrow Connector 5">
            <a:extLst>
              <a:ext uri="{FF2B5EF4-FFF2-40B4-BE49-F238E27FC236}">
                <a16:creationId xmlns:a16="http://schemas.microsoft.com/office/drawing/2014/main" id="{D964184F-7FB1-6876-F663-09A5ED840A4F}"/>
              </a:ext>
            </a:extLst>
          </p:cNvPr>
          <p:cNvCxnSpPr>
            <a:cxnSpLocks/>
          </p:cNvCxnSpPr>
          <p:nvPr/>
        </p:nvCxnSpPr>
        <p:spPr>
          <a:xfrm>
            <a:off x="314260" y="1958819"/>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FA5D3AF5-4D1F-34B6-545E-F5F594066150}"/>
              </a:ext>
            </a:extLst>
          </p:cNvPr>
          <p:cNvSpPr txBox="1"/>
          <p:nvPr/>
        </p:nvSpPr>
        <p:spPr>
          <a:xfrm>
            <a:off x="575523" y="1435247"/>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8" name="Straight Arrow Connector 7">
            <a:extLst>
              <a:ext uri="{FF2B5EF4-FFF2-40B4-BE49-F238E27FC236}">
                <a16:creationId xmlns:a16="http://schemas.microsoft.com/office/drawing/2014/main" id="{2AB032EF-7B9F-EF92-32D8-AF4715EA6A21}"/>
              </a:ext>
            </a:extLst>
          </p:cNvPr>
          <p:cNvCxnSpPr>
            <a:cxnSpLocks/>
          </p:cNvCxnSpPr>
          <p:nvPr/>
        </p:nvCxnSpPr>
        <p:spPr>
          <a:xfrm flipH="1">
            <a:off x="3592916" y="3344032"/>
            <a:ext cx="811501" cy="6760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9" name="Straight Arrow Connector 18">
            <a:extLst>
              <a:ext uri="{FF2B5EF4-FFF2-40B4-BE49-F238E27FC236}">
                <a16:creationId xmlns:a16="http://schemas.microsoft.com/office/drawing/2014/main" id="{3572351C-9FC0-8534-24B5-1BFA3735E21E}"/>
              </a:ext>
            </a:extLst>
          </p:cNvPr>
          <p:cNvCxnSpPr>
            <a:cxnSpLocks/>
          </p:cNvCxnSpPr>
          <p:nvPr/>
        </p:nvCxnSpPr>
        <p:spPr>
          <a:xfrm flipH="1">
            <a:off x="8446123" y="3383154"/>
            <a:ext cx="797198" cy="66035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67E64BB8-7B27-89A0-803B-11996E1BC18F}"/>
              </a:ext>
            </a:extLst>
          </p:cNvPr>
          <p:cNvCxnSpPr>
            <a:cxnSpLocks/>
          </p:cNvCxnSpPr>
          <p:nvPr/>
        </p:nvCxnSpPr>
        <p:spPr>
          <a:xfrm>
            <a:off x="4478064" y="3368031"/>
            <a:ext cx="769621" cy="6469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7" name="Straight Arrow Connector 26">
            <a:extLst>
              <a:ext uri="{FF2B5EF4-FFF2-40B4-BE49-F238E27FC236}">
                <a16:creationId xmlns:a16="http://schemas.microsoft.com/office/drawing/2014/main" id="{7DD60AA4-A915-B31B-F6F1-A6C3CFF7D361}"/>
              </a:ext>
            </a:extLst>
          </p:cNvPr>
          <p:cNvCxnSpPr>
            <a:cxnSpLocks/>
          </p:cNvCxnSpPr>
          <p:nvPr/>
        </p:nvCxnSpPr>
        <p:spPr>
          <a:xfrm>
            <a:off x="9306338" y="3368031"/>
            <a:ext cx="744682" cy="625853"/>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8" name="Straight Arrow Connector 27">
            <a:extLst>
              <a:ext uri="{FF2B5EF4-FFF2-40B4-BE49-F238E27FC236}">
                <a16:creationId xmlns:a16="http://schemas.microsoft.com/office/drawing/2014/main" id="{F3F06E16-F9CB-4DC1-327C-2D6BFE0ED7D0}"/>
              </a:ext>
            </a:extLst>
          </p:cNvPr>
          <p:cNvCxnSpPr>
            <a:cxnSpLocks/>
          </p:cNvCxnSpPr>
          <p:nvPr/>
        </p:nvCxnSpPr>
        <p:spPr>
          <a:xfrm flipH="1">
            <a:off x="4951514" y="2147912"/>
            <a:ext cx="1934159" cy="49147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2" name="Straight Arrow Connector 31">
            <a:extLst>
              <a:ext uri="{FF2B5EF4-FFF2-40B4-BE49-F238E27FC236}">
                <a16:creationId xmlns:a16="http://schemas.microsoft.com/office/drawing/2014/main" id="{590DA9F6-F777-7237-33A4-11E15895927C}"/>
              </a:ext>
            </a:extLst>
          </p:cNvPr>
          <p:cNvCxnSpPr>
            <a:cxnSpLocks/>
          </p:cNvCxnSpPr>
          <p:nvPr/>
        </p:nvCxnSpPr>
        <p:spPr>
          <a:xfrm>
            <a:off x="6925775" y="2178327"/>
            <a:ext cx="2208802" cy="498057"/>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9" name="Title 1">
            <a:extLst>
              <a:ext uri="{FF2B5EF4-FFF2-40B4-BE49-F238E27FC236}">
                <a16:creationId xmlns:a16="http://schemas.microsoft.com/office/drawing/2014/main" id="{C17A4059-15ED-0112-0A77-E4C2137EACE0}"/>
              </a:ext>
            </a:extLst>
          </p:cNvPr>
          <p:cNvSpPr txBox="1">
            <a:spLocks/>
          </p:cNvSpPr>
          <p:nvPr/>
        </p:nvSpPr>
        <p:spPr>
          <a:xfrm>
            <a:off x="180000" y="310627"/>
            <a:ext cx="12012000" cy="964966"/>
          </a:xfrm>
          <a:prstGeom prst="rect">
            <a:avLst/>
          </a:prstGeom>
        </p:spPr>
        <p:txBody>
          <a:bodyPr vert="horz" lIns="91440" tIns="45720" rIns="91440" bIns="45720" rtlCol="0" anchor="b" anchorCtr="0">
            <a:no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300" dirty="0"/>
              <a:t>Traditional Approaches of Implementation: Optimal Combination</a:t>
            </a:r>
          </a:p>
        </p:txBody>
      </p:sp>
      <p:sp>
        <p:nvSpPr>
          <p:cNvPr id="10" name="TextBox 9">
            <a:extLst>
              <a:ext uri="{FF2B5EF4-FFF2-40B4-BE49-F238E27FC236}">
                <a16:creationId xmlns:a16="http://schemas.microsoft.com/office/drawing/2014/main" id="{47EA67B8-0AA4-CE26-FCB6-9214578EB6F3}"/>
              </a:ext>
            </a:extLst>
          </p:cNvPr>
          <p:cNvSpPr txBox="1"/>
          <p:nvPr/>
        </p:nvSpPr>
        <p:spPr>
          <a:xfrm>
            <a:off x="446269" y="5688736"/>
            <a:ext cx="11600587" cy="523220"/>
          </a:xfrm>
          <a:prstGeom prst="rect">
            <a:avLst/>
          </a:prstGeom>
          <a:noFill/>
        </p:spPr>
        <p:txBody>
          <a:bodyPr wrap="square">
            <a:spAutoFit/>
          </a:bodyPr>
          <a:lstStyle/>
          <a:p>
            <a:r>
              <a:rPr lang="en-US" sz="1400" dirty="0"/>
              <a:t>S. L. </a:t>
            </a:r>
            <a:r>
              <a:rPr lang="en-US" sz="1400" dirty="0" err="1"/>
              <a:t>Wickramasuriya</a:t>
            </a:r>
            <a:r>
              <a:rPr lang="en-US" sz="1400" dirty="0"/>
              <a:t>, </a:t>
            </a:r>
            <a:r>
              <a:rPr lang="en-US" sz="1400" i="1" dirty="0"/>
              <a:t>et al</a:t>
            </a:r>
            <a:r>
              <a:rPr lang="en-US" sz="1400" dirty="0"/>
              <a:t>., "Optimal forecast reconciliation for hierarchical and grouped time series through trace minimization,” in </a:t>
            </a:r>
            <a:r>
              <a:rPr lang="en-US" sz="1400" i="1" dirty="0"/>
              <a:t>J. Amer. Stat. Assoc.</a:t>
            </a:r>
            <a:r>
              <a:rPr lang="en-US" sz="1400" dirty="0"/>
              <a:t>, vol. 114, no. 526, pp. 804–819, 2019, </a:t>
            </a:r>
            <a:r>
              <a:rPr lang="en-US" sz="1400" dirty="0" err="1"/>
              <a:t>doi</a:t>
            </a:r>
            <a:r>
              <a:rPr lang="en-US" sz="1400" dirty="0"/>
              <a:t>: 10.1080/01621459.2018.1448825.</a:t>
            </a:r>
          </a:p>
        </p:txBody>
      </p:sp>
    </p:spTree>
    <p:extLst>
      <p:ext uri="{BB962C8B-B14F-4D97-AF65-F5344CB8AC3E}">
        <p14:creationId xmlns:p14="http://schemas.microsoft.com/office/powerpoint/2010/main" val="1348620114"/>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093CC-AC28-6872-9142-51DC620B80C3}"/>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FE21878-7324-2FE9-C035-E6C462EE1C50}"/>
              </a:ext>
            </a:extLst>
          </p:cNvPr>
          <p:cNvSpPr txBox="1">
            <a:spLocks/>
          </p:cNvSpPr>
          <p:nvPr/>
        </p:nvSpPr>
        <p:spPr>
          <a:xfrm>
            <a:off x="180000" y="310627"/>
            <a:ext cx="12012000" cy="511124"/>
          </a:xfrm>
          <a:prstGeom prst="rect">
            <a:avLst/>
          </a:prstGeom>
        </p:spPr>
        <p:txBody>
          <a:bodyPr vert="horz" lIns="91440" tIns="45720" rIns="91440" bIns="45720" rtlCol="0" anchor="b" anchorCtr="0">
            <a:no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300" dirty="0"/>
              <a:t>The Problem in Traditional Approaches</a:t>
            </a:r>
          </a:p>
        </p:txBody>
      </p:sp>
      <p:sp>
        <p:nvSpPr>
          <p:cNvPr id="10" name="TextBox 9">
            <a:extLst>
              <a:ext uri="{FF2B5EF4-FFF2-40B4-BE49-F238E27FC236}">
                <a16:creationId xmlns:a16="http://schemas.microsoft.com/office/drawing/2014/main" id="{D46590DB-0366-92F9-BD24-FF93C12C6E1D}"/>
              </a:ext>
            </a:extLst>
          </p:cNvPr>
          <p:cNvSpPr txBox="1"/>
          <p:nvPr/>
        </p:nvSpPr>
        <p:spPr>
          <a:xfrm>
            <a:off x="446269" y="5688736"/>
            <a:ext cx="11600587" cy="523220"/>
          </a:xfrm>
          <a:prstGeom prst="rect">
            <a:avLst/>
          </a:prstGeom>
          <a:noFill/>
        </p:spPr>
        <p:txBody>
          <a:bodyPr wrap="square">
            <a:spAutoFit/>
          </a:bodyPr>
          <a:lstStyle/>
          <a:p>
            <a:r>
              <a:rPr lang="en-US" sz="1400" dirty="0"/>
              <a:t>S. L. </a:t>
            </a:r>
            <a:r>
              <a:rPr lang="en-US" sz="1400" dirty="0" err="1"/>
              <a:t>Wickramasuriya</a:t>
            </a:r>
            <a:r>
              <a:rPr lang="en-US" sz="1400" dirty="0"/>
              <a:t>, </a:t>
            </a:r>
            <a:r>
              <a:rPr lang="en-US" sz="1400" i="1" dirty="0"/>
              <a:t>et al</a:t>
            </a:r>
            <a:r>
              <a:rPr lang="en-US" sz="1400" dirty="0"/>
              <a:t>., "Optimal forecast reconciliation for hierarchical and grouped time series through trace minimization,” in </a:t>
            </a:r>
            <a:r>
              <a:rPr lang="en-US" sz="1400" i="1" dirty="0"/>
              <a:t>J. Amer. Stat. Assoc.</a:t>
            </a:r>
            <a:r>
              <a:rPr lang="en-US" sz="1400" dirty="0"/>
              <a:t>, vol. 114, no. 526, pp. 804–819, 2019, </a:t>
            </a:r>
            <a:r>
              <a:rPr lang="en-US" sz="1400" dirty="0" err="1"/>
              <a:t>doi</a:t>
            </a:r>
            <a:r>
              <a:rPr lang="en-US" sz="1400" dirty="0"/>
              <a:t>: 10.1080/01621459.2018.1448825.</a:t>
            </a:r>
          </a:p>
        </p:txBody>
      </p:sp>
      <p:sp>
        <p:nvSpPr>
          <p:cNvPr id="5" name="TextBox 4">
            <a:extLst>
              <a:ext uri="{FF2B5EF4-FFF2-40B4-BE49-F238E27FC236}">
                <a16:creationId xmlns:a16="http://schemas.microsoft.com/office/drawing/2014/main" id="{7D9E2C1D-39D9-2BC3-365F-BAAFF7C5B320}"/>
              </a:ext>
            </a:extLst>
          </p:cNvPr>
          <p:cNvSpPr txBox="1"/>
          <p:nvPr/>
        </p:nvSpPr>
        <p:spPr>
          <a:xfrm>
            <a:off x="446269" y="1245161"/>
            <a:ext cx="8491087" cy="2031325"/>
          </a:xfrm>
          <a:prstGeom prst="rect">
            <a:avLst/>
          </a:prstGeom>
          <a:noFill/>
        </p:spPr>
        <p:txBody>
          <a:bodyPr wrap="square">
            <a:spAutoFit/>
          </a:bodyPr>
          <a:lstStyle/>
          <a:p>
            <a:pPr algn="just"/>
            <a:r>
              <a:rPr lang="en-US" b="1" dirty="0"/>
              <a:t>The Problem</a:t>
            </a:r>
            <a:r>
              <a:rPr lang="en-US" dirty="0"/>
              <a:t>: When you forecast each level </a:t>
            </a:r>
            <a:r>
              <a:rPr lang="en-US" b="1" dirty="0"/>
              <a:t>independently</a:t>
            </a:r>
            <a:r>
              <a:rPr lang="en-US" dirty="0"/>
              <a:t>,                    the predictions don't add up correctly.</a:t>
            </a:r>
          </a:p>
          <a:p>
            <a:pPr algn="just"/>
            <a:endParaRPr lang="en-US" dirty="0"/>
          </a:p>
          <a:p>
            <a:pPr algn="just"/>
            <a:r>
              <a:rPr lang="en-US" dirty="0"/>
              <a:t>	Farm </a:t>
            </a:r>
            <a:r>
              <a:rPr lang="en-US" b="1" dirty="0"/>
              <a:t>102</a:t>
            </a:r>
            <a:r>
              <a:rPr lang="en-US" dirty="0"/>
              <a:t> prediction = 50</a:t>
            </a:r>
          </a:p>
          <a:p>
            <a:pPr algn="just"/>
            <a:r>
              <a:rPr lang="en-US" dirty="0"/>
              <a:t>	Farm </a:t>
            </a:r>
            <a:r>
              <a:rPr lang="en-US" b="1" dirty="0"/>
              <a:t>103</a:t>
            </a:r>
            <a:r>
              <a:rPr lang="en-US" dirty="0"/>
              <a:t> prediction = 55</a:t>
            </a:r>
          </a:p>
          <a:p>
            <a:pPr algn="just"/>
            <a:r>
              <a:rPr lang="en-US" dirty="0"/>
              <a:t>	Total prediction = 100</a:t>
            </a:r>
          </a:p>
          <a:p>
            <a:pPr algn="just"/>
            <a:r>
              <a:rPr lang="en-US" dirty="0"/>
              <a:t>	Farm </a:t>
            </a:r>
            <a:r>
              <a:rPr lang="en-US" b="1" dirty="0"/>
              <a:t>102</a:t>
            </a:r>
            <a:r>
              <a:rPr lang="en-US" dirty="0"/>
              <a:t> prediction + Farm </a:t>
            </a:r>
            <a:r>
              <a:rPr lang="en-US" b="1" dirty="0"/>
              <a:t>103</a:t>
            </a:r>
            <a:r>
              <a:rPr lang="en-US" dirty="0"/>
              <a:t> prediction ≠ </a:t>
            </a:r>
            <a:r>
              <a:rPr lang="en-US" b="1" dirty="0"/>
              <a:t>Total</a:t>
            </a:r>
            <a:r>
              <a:rPr lang="en-US" dirty="0"/>
              <a:t> prediction</a:t>
            </a:r>
          </a:p>
        </p:txBody>
      </p:sp>
      <p:pic>
        <p:nvPicPr>
          <p:cNvPr id="18" name="Picture 17">
            <a:extLst>
              <a:ext uri="{FF2B5EF4-FFF2-40B4-BE49-F238E27FC236}">
                <a16:creationId xmlns:a16="http://schemas.microsoft.com/office/drawing/2014/main" id="{DE2C26C9-A91B-7C59-0DB0-8835557B7C0F}"/>
              </a:ext>
            </a:extLst>
          </p:cNvPr>
          <p:cNvPicPr>
            <a:picLocks noChangeAspect="1"/>
          </p:cNvPicPr>
          <p:nvPr/>
        </p:nvPicPr>
        <p:blipFill>
          <a:blip r:embed="rId3">
            <a:clrChange>
              <a:clrFrom>
                <a:srgbClr val="FEFEFC"/>
              </a:clrFrom>
              <a:clrTo>
                <a:srgbClr val="FEFEFC">
                  <a:alpha val="0"/>
                </a:srgbClr>
              </a:clrTo>
            </a:clrChange>
          </a:blip>
          <a:srcRect l="44569" t="30016" r="44627" b="57306"/>
          <a:stretch>
            <a:fillRect/>
          </a:stretch>
        </p:blipFill>
        <p:spPr>
          <a:xfrm>
            <a:off x="8818235" y="2611768"/>
            <a:ext cx="1218647" cy="622233"/>
          </a:xfrm>
          <a:prstGeom prst="rect">
            <a:avLst/>
          </a:prstGeom>
        </p:spPr>
      </p:pic>
      <p:pic>
        <p:nvPicPr>
          <p:cNvPr id="20" name="Picture 19">
            <a:extLst>
              <a:ext uri="{FF2B5EF4-FFF2-40B4-BE49-F238E27FC236}">
                <a16:creationId xmlns:a16="http://schemas.microsoft.com/office/drawing/2014/main" id="{83FFD480-4036-CDA9-822B-FD2E127373A1}"/>
              </a:ext>
            </a:extLst>
          </p:cNvPr>
          <p:cNvPicPr>
            <a:picLocks noChangeAspect="1"/>
          </p:cNvPicPr>
          <p:nvPr/>
        </p:nvPicPr>
        <p:blipFill>
          <a:blip r:embed="rId3">
            <a:clrChange>
              <a:clrFrom>
                <a:srgbClr val="FEFEFC"/>
              </a:clrFrom>
              <a:clrTo>
                <a:srgbClr val="FEFEFC">
                  <a:alpha val="0"/>
                </a:srgbClr>
              </a:clrTo>
            </a:clrChange>
          </a:blip>
          <a:srcRect l="44569" t="30016" r="44627" b="57306"/>
          <a:stretch>
            <a:fillRect/>
          </a:stretch>
        </p:blipFill>
        <p:spPr>
          <a:xfrm>
            <a:off x="10527085" y="2603752"/>
            <a:ext cx="1218647" cy="622233"/>
          </a:xfrm>
          <a:prstGeom prst="rect">
            <a:avLst/>
          </a:prstGeom>
        </p:spPr>
      </p:pic>
      <p:sp>
        <p:nvSpPr>
          <p:cNvPr id="22" name="TextBox 21">
            <a:extLst>
              <a:ext uri="{FF2B5EF4-FFF2-40B4-BE49-F238E27FC236}">
                <a16:creationId xmlns:a16="http://schemas.microsoft.com/office/drawing/2014/main" id="{83100BBB-F577-3885-E2D2-BD06EAB839A9}"/>
              </a:ext>
            </a:extLst>
          </p:cNvPr>
          <p:cNvSpPr txBox="1"/>
          <p:nvPr/>
        </p:nvSpPr>
        <p:spPr>
          <a:xfrm>
            <a:off x="9836823" y="1736756"/>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25" name="Straight Arrow Connector 24">
            <a:extLst>
              <a:ext uri="{FF2B5EF4-FFF2-40B4-BE49-F238E27FC236}">
                <a16:creationId xmlns:a16="http://schemas.microsoft.com/office/drawing/2014/main" id="{FF6C9DBC-6D5A-3820-A26E-3D6206E321D9}"/>
              </a:ext>
            </a:extLst>
          </p:cNvPr>
          <p:cNvCxnSpPr>
            <a:cxnSpLocks/>
            <a:endCxn id="18" idx="0"/>
          </p:cNvCxnSpPr>
          <p:nvPr/>
        </p:nvCxnSpPr>
        <p:spPr>
          <a:xfrm flipH="1">
            <a:off x="9427559" y="2143962"/>
            <a:ext cx="834632" cy="467806"/>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6" name="Straight Arrow Connector 25">
            <a:extLst>
              <a:ext uri="{FF2B5EF4-FFF2-40B4-BE49-F238E27FC236}">
                <a16:creationId xmlns:a16="http://schemas.microsoft.com/office/drawing/2014/main" id="{55812C87-3265-6CB1-22D2-3649F06F1A2F}"/>
              </a:ext>
            </a:extLst>
          </p:cNvPr>
          <p:cNvCxnSpPr>
            <a:cxnSpLocks/>
          </p:cNvCxnSpPr>
          <p:nvPr/>
        </p:nvCxnSpPr>
        <p:spPr>
          <a:xfrm>
            <a:off x="10302293" y="2152343"/>
            <a:ext cx="834116" cy="429375"/>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37" name="TextBox 36">
            <a:extLst>
              <a:ext uri="{FF2B5EF4-FFF2-40B4-BE49-F238E27FC236}">
                <a16:creationId xmlns:a16="http://schemas.microsoft.com/office/drawing/2014/main" id="{AF822A6D-E9C0-4AD8-0FC7-A0DDE7C8969A}"/>
              </a:ext>
            </a:extLst>
          </p:cNvPr>
          <p:cNvSpPr txBox="1"/>
          <p:nvPr/>
        </p:nvSpPr>
        <p:spPr>
          <a:xfrm>
            <a:off x="446268" y="3534031"/>
            <a:ext cx="8371967" cy="1754326"/>
          </a:xfrm>
          <a:prstGeom prst="rect">
            <a:avLst/>
          </a:prstGeom>
          <a:noFill/>
        </p:spPr>
        <p:txBody>
          <a:bodyPr wrap="square">
            <a:spAutoFit/>
          </a:bodyPr>
          <a:lstStyle/>
          <a:p>
            <a:pPr algn="just"/>
            <a:r>
              <a:rPr lang="en-US" b="1" dirty="0"/>
              <a:t>The Solution</a:t>
            </a:r>
            <a:r>
              <a:rPr lang="en-US" dirty="0"/>
              <a:t>: Reconciliation is the way to tackle this problem. Reconciliation process of adjusting forecasts across all hierarchical levels to ensure they are mathematically coherent.</a:t>
            </a:r>
          </a:p>
          <a:p>
            <a:pPr algn="just"/>
            <a:endParaRPr lang="en-US" dirty="0"/>
          </a:p>
          <a:p>
            <a:pPr algn="just"/>
            <a:r>
              <a:rPr lang="en-US" b="1" dirty="0" err="1">
                <a:solidFill>
                  <a:srgbClr val="1B415D"/>
                </a:solidFill>
              </a:rPr>
              <a:t>MinT</a:t>
            </a:r>
            <a:r>
              <a:rPr lang="en-US" b="1" dirty="0">
                <a:solidFill>
                  <a:srgbClr val="1B415D"/>
                </a:solidFill>
              </a:rPr>
              <a:t> : </a:t>
            </a:r>
            <a:r>
              <a:rPr lang="en-US" dirty="0">
                <a:solidFill>
                  <a:srgbClr val="1B415D"/>
                </a:solidFill>
              </a:rPr>
              <a:t>Is one of the methods for </a:t>
            </a:r>
            <a:r>
              <a:rPr lang="en-US" b="1" dirty="0">
                <a:solidFill>
                  <a:srgbClr val="1B415D"/>
                </a:solidFill>
              </a:rPr>
              <a:t>reconciliation</a:t>
            </a:r>
            <a:r>
              <a:rPr lang="en-US" dirty="0">
                <a:solidFill>
                  <a:srgbClr val="1B415D"/>
                </a:solidFill>
              </a:rPr>
              <a:t>,</a:t>
            </a:r>
            <a:r>
              <a:rPr lang="en-US" b="1" dirty="0">
                <a:solidFill>
                  <a:srgbClr val="1B415D"/>
                </a:solidFill>
              </a:rPr>
              <a:t> </a:t>
            </a:r>
            <a:r>
              <a:rPr lang="en-US" dirty="0">
                <a:solidFill>
                  <a:srgbClr val="1B415D"/>
                </a:solidFill>
              </a:rPr>
              <a:t>minimizes the variance between </a:t>
            </a:r>
            <a:r>
              <a:rPr lang="en-US" b="1" dirty="0">
                <a:solidFill>
                  <a:srgbClr val="1B415D"/>
                </a:solidFill>
              </a:rPr>
              <a:t>reconciled</a:t>
            </a:r>
            <a:r>
              <a:rPr lang="en-US" dirty="0">
                <a:solidFill>
                  <a:srgbClr val="1B415D"/>
                </a:solidFill>
              </a:rPr>
              <a:t> values and </a:t>
            </a:r>
            <a:r>
              <a:rPr lang="en-US" b="1" dirty="0">
                <a:solidFill>
                  <a:srgbClr val="1B415D"/>
                </a:solidFill>
              </a:rPr>
              <a:t>base</a:t>
            </a:r>
            <a:r>
              <a:rPr lang="en-US" dirty="0">
                <a:solidFill>
                  <a:srgbClr val="1B415D"/>
                </a:solidFill>
              </a:rPr>
              <a:t> forecast </a:t>
            </a:r>
            <a:r>
              <a:rPr lang="en-US" b="1" dirty="0">
                <a:solidFill>
                  <a:srgbClr val="1B415D"/>
                </a:solidFill>
              </a:rPr>
              <a:t>error</a:t>
            </a:r>
            <a:r>
              <a:rPr lang="en-US" dirty="0">
                <a:solidFill>
                  <a:srgbClr val="1B415D"/>
                </a:solidFill>
              </a:rPr>
              <a:t>.</a:t>
            </a:r>
          </a:p>
        </p:txBody>
      </p:sp>
      <p:sp>
        <p:nvSpPr>
          <p:cNvPr id="39" name="TextBox 38">
            <a:extLst>
              <a:ext uri="{FF2B5EF4-FFF2-40B4-BE49-F238E27FC236}">
                <a16:creationId xmlns:a16="http://schemas.microsoft.com/office/drawing/2014/main" id="{C6AE3EF2-FD16-0B57-AD3D-2EC7D54AF924}"/>
              </a:ext>
            </a:extLst>
          </p:cNvPr>
          <p:cNvSpPr txBox="1"/>
          <p:nvPr/>
        </p:nvSpPr>
        <p:spPr>
          <a:xfrm>
            <a:off x="8937356" y="3269122"/>
            <a:ext cx="691386" cy="369332"/>
          </a:xfrm>
          <a:prstGeom prst="rect">
            <a:avLst/>
          </a:prstGeom>
          <a:noFill/>
        </p:spPr>
        <p:txBody>
          <a:bodyPr wrap="square">
            <a:spAutoFit/>
          </a:bodyPr>
          <a:lstStyle/>
          <a:p>
            <a:r>
              <a:rPr lang="en-US" dirty="0"/>
              <a:t> </a:t>
            </a:r>
            <a:r>
              <a:rPr lang="en-US" b="1" dirty="0"/>
              <a:t>102  </a:t>
            </a:r>
            <a:endParaRPr lang="en-US" dirty="0"/>
          </a:p>
        </p:txBody>
      </p:sp>
      <p:sp>
        <p:nvSpPr>
          <p:cNvPr id="40" name="TextBox 39">
            <a:extLst>
              <a:ext uri="{FF2B5EF4-FFF2-40B4-BE49-F238E27FC236}">
                <a16:creationId xmlns:a16="http://schemas.microsoft.com/office/drawing/2014/main" id="{9E817116-C899-FD0F-DD15-5769B32B0FF5}"/>
              </a:ext>
            </a:extLst>
          </p:cNvPr>
          <p:cNvSpPr txBox="1"/>
          <p:nvPr/>
        </p:nvSpPr>
        <p:spPr>
          <a:xfrm>
            <a:off x="10790715" y="3284502"/>
            <a:ext cx="691386" cy="369332"/>
          </a:xfrm>
          <a:prstGeom prst="rect">
            <a:avLst/>
          </a:prstGeom>
          <a:noFill/>
        </p:spPr>
        <p:txBody>
          <a:bodyPr wrap="square">
            <a:spAutoFit/>
          </a:bodyPr>
          <a:lstStyle/>
          <a:p>
            <a:r>
              <a:rPr lang="en-US" dirty="0"/>
              <a:t> </a:t>
            </a:r>
            <a:r>
              <a:rPr lang="en-US" b="1" dirty="0"/>
              <a:t>103  </a:t>
            </a:r>
            <a:endParaRPr lang="en-US" dirty="0"/>
          </a:p>
        </p:txBody>
      </p:sp>
    </p:spTree>
    <p:extLst>
      <p:ext uri="{BB962C8B-B14F-4D97-AF65-F5344CB8AC3E}">
        <p14:creationId xmlns:p14="http://schemas.microsoft.com/office/powerpoint/2010/main" val="3333059965"/>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2A49"/>
        </a:solidFill>
        <a:effectLst/>
      </p:bgPr>
    </p:bg>
    <p:spTree>
      <p:nvGrpSpPr>
        <p:cNvPr id="1" name="">
          <a:extLst>
            <a:ext uri="{FF2B5EF4-FFF2-40B4-BE49-F238E27FC236}">
              <a16:creationId xmlns:a16="http://schemas.microsoft.com/office/drawing/2014/main" id="{D823A795-8B49-F68C-2945-4633B177D2A3}"/>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078B2E89-FD84-1F73-6034-87B28301D6B2}"/>
              </a:ext>
            </a:extLst>
          </p:cNvPr>
          <p:cNvSpPr>
            <a:spLocks noGrp="1"/>
          </p:cNvSpPr>
          <p:nvPr>
            <p:ph type="body" sz="quarter" idx="11"/>
          </p:nvPr>
        </p:nvSpPr>
        <p:spPr>
          <a:xfrm>
            <a:off x="5442857" y="1917000"/>
            <a:ext cx="6406093" cy="3024000"/>
          </a:xfrm>
        </p:spPr>
        <p:txBody>
          <a:bodyPr anchor="ctr">
            <a:normAutofit/>
          </a:bodyPr>
          <a:lstStyle/>
          <a:p>
            <a:pPr algn="ctr"/>
            <a:r>
              <a:rPr lang="en-US" sz="4400" b="1" dirty="0"/>
              <a:t>Literature Methodology on prediction of HTS</a:t>
            </a:r>
          </a:p>
        </p:txBody>
      </p:sp>
      <p:sp>
        <p:nvSpPr>
          <p:cNvPr id="12" name="Rectangle 11">
            <a:extLst>
              <a:ext uri="{FF2B5EF4-FFF2-40B4-BE49-F238E27FC236}">
                <a16:creationId xmlns:a16="http://schemas.microsoft.com/office/drawing/2014/main" id="{F021CA09-9FC3-769E-EA73-F6A177A092B9}"/>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12337775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56BAC-D02C-D777-75AB-7601EFC6DB7C}"/>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79DCC699-8764-C898-988B-CC4B457EB090}"/>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90E0F5ED-1D97-DF74-065E-3433EF494E5D}"/>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19" name="TextBox 18">
            <a:extLst>
              <a:ext uri="{FF2B5EF4-FFF2-40B4-BE49-F238E27FC236}">
                <a16:creationId xmlns:a16="http://schemas.microsoft.com/office/drawing/2014/main" id="{51CBE8D5-3F84-0230-DF5A-BC66FF8FA75C}"/>
              </a:ext>
            </a:extLst>
          </p:cNvPr>
          <p:cNvSpPr txBox="1"/>
          <p:nvPr/>
        </p:nvSpPr>
        <p:spPr>
          <a:xfrm>
            <a:off x="446269" y="1140126"/>
            <a:ext cx="11248571" cy="788677"/>
          </a:xfrm>
          <a:prstGeom prst="rect">
            <a:avLst/>
          </a:prstGeom>
          <a:noFill/>
        </p:spPr>
        <p:txBody>
          <a:bodyPr wrap="square">
            <a:spAutoFit/>
          </a:bodyPr>
          <a:lstStyle/>
          <a:p>
            <a:pPr marL="0" marR="0">
              <a:lnSpc>
                <a:spcPct val="115000"/>
              </a:lnSpc>
              <a:spcAft>
                <a:spcPts val="800"/>
              </a:spcAft>
              <a:buNone/>
            </a:pPr>
            <a:r>
              <a:rPr lang="en-US" sz="2000" b="1" dirty="0">
                <a:solidFill>
                  <a:srgbClr val="002B49"/>
                </a:solidFill>
              </a:rPr>
              <a:t>Objective:</a:t>
            </a:r>
            <a:r>
              <a:rPr lang="en-US" sz="2000" dirty="0">
                <a:solidFill>
                  <a:srgbClr val="002B49"/>
                </a:solidFill>
              </a:rPr>
              <a:t> The goal of this approach is to recognize which hierarchical forecasting (HF) method works best given specific data characteristics.</a:t>
            </a:r>
            <a:endParaRPr lang="en-US" sz="2000" b="1" dirty="0">
              <a:solidFill>
                <a:srgbClr val="002B49"/>
              </a:solidFill>
            </a:endParaRPr>
          </a:p>
        </p:txBody>
      </p:sp>
      <p:sp>
        <p:nvSpPr>
          <p:cNvPr id="20" name="TextBox 19">
            <a:extLst>
              <a:ext uri="{FF2B5EF4-FFF2-40B4-BE49-F238E27FC236}">
                <a16:creationId xmlns:a16="http://schemas.microsoft.com/office/drawing/2014/main" id="{4A2A6451-3C73-4EEE-DE27-9E8882FBC564}"/>
              </a:ext>
            </a:extLst>
          </p:cNvPr>
          <p:cNvSpPr txBox="1"/>
          <p:nvPr/>
        </p:nvSpPr>
        <p:spPr>
          <a:xfrm>
            <a:off x="446268" y="2088460"/>
            <a:ext cx="11248571" cy="3173946"/>
          </a:xfrm>
          <a:prstGeom prst="rect">
            <a:avLst/>
          </a:prstGeom>
          <a:noFill/>
        </p:spPr>
        <p:txBody>
          <a:bodyPr wrap="square">
            <a:spAutoFit/>
          </a:bodyPr>
          <a:lstStyle/>
          <a:p>
            <a:pPr marL="0" marR="0">
              <a:lnSpc>
                <a:spcPct val="115000"/>
              </a:lnSpc>
              <a:spcAft>
                <a:spcPts val="800"/>
              </a:spcAft>
              <a:buNone/>
            </a:pPr>
            <a:r>
              <a:rPr lang="en-US" sz="2000" b="1" dirty="0">
                <a:solidFill>
                  <a:srgbClr val="002B49"/>
                </a:solidFill>
              </a:rPr>
              <a:t>Methodology:</a:t>
            </a:r>
            <a:endParaRPr lang="en-US" sz="2000" dirty="0">
              <a:solidFill>
                <a:srgbClr val="002B49"/>
              </a:solidFill>
            </a:endParaRPr>
          </a:p>
          <a:p>
            <a:pPr marL="342900" indent="-342900">
              <a:lnSpc>
                <a:spcPct val="115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15000"/>
              </a:lnSpc>
              <a:spcAft>
                <a:spcPts val="800"/>
              </a:spcAft>
              <a:buFont typeface="Arial" panose="020B0604020202020204" pitchFamily="34" charset="0"/>
              <a:buChar char="•"/>
            </a:pPr>
            <a:r>
              <a:rPr lang="en-US" sz="2000" dirty="0">
                <a:solidFill>
                  <a:srgbClr val="002B49"/>
                </a:solidFill>
              </a:rPr>
              <a:t>Labeling.</a:t>
            </a:r>
          </a:p>
          <a:p>
            <a:pPr marL="800100" lvl="1" indent="-342900">
              <a:lnSpc>
                <a:spcPct val="115000"/>
              </a:lnSpc>
              <a:spcAft>
                <a:spcPts val="800"/>
              </a:spcAft>
              <a:buFont typeface="Arial" panose="020B0604020202020204" pitchFamily="34" charset="0"/>
              <a:buChar char="•"/>
            </a:pPr>
            <a:r>
              <a:rPr lang="en-US" sz="2000" dirty="0">
                <a:solidFill>
                  <a:srgbClr val="002B49"/>
                </a:solidFill>
              </a:rPr>
              <a:t>Training Classifier.</a:t>
            </a:r>
          </a:p>
          <a:p>
            <a:pPr marL="342900" indent="-342900">
              <a:lnSpc>
                <a:spcPct val="115000"/>
              </a:lnSpc>
              <a:spcAft>
                <a:spcPts val="800"/>
              </a:spcAft>
              <a:buFont typeface="Arial" panose="020B0604020202020204" pitchFamily="34" charset="0"/>
              <a:buChar char="•"/>
            </a:pPr>
            <a:r>
              <a:rPr lang="en-US" sz="2000" b="1" dirty="0">
                <a:solidFill>
                  <a:srgbClr val="002B49"/>
                </a:solidFill>
              </a:rPr>
              <a:t>Online Phase</a:t>
            </a:r>
          </a:p>
          <a:p>
            <a:pPr marL="800100" lvl="1" indent="-342900">
              <a:lnSpc>
                <a:spcPct val="115000"/>
              </a:lnSpc>
              <a:spcAft>
                <a:spcPts val="800"/>
              </a:spcAft>
              <a:buFont typeface="Arial" panose="020B0604020202020204" pitchFamily="34" charset="0"/>
              <a:buChar char="•"/>
            </a:pPr>
            <a:r>
              <a:rPr lang="en-US" sz="2000" dirty="0">
                <a:solidFill>
                  <a:srgbClr val="002B49"/>
                </a:solidFill>
              </a:rPr>
              <a:t>Predict the best method for new data.</a:t>
            </a:r>
          </a:p>
          <a:p>
            <a:pPr marL="800100" lvl="1" indent="-342900">
              <a:lnSpc>
                <a:spcPct val="115000"/>
              </a:lnSpc>
              <a:spcAft>
                <a:spcPts val="800"/>
              </a:spcAft>
              <a:buFont typeface="Arial" panose="020B0604020202020204" pitchFamily="34" charset="0"/>
              <a:buChar char="•"/>
            </a:pPr>
            <a:r>
              <a:rPr lang="en-US" sz="2000" dirty="0">
                <a:solidFill>
                  <a:srgbClr val="002B49"/>
                </a:solidFill>
              </a:rPr>
              <a:t>Forecast future with selected method.</a:t>
            </a:r>
          </a:p>
        </p:txBody>
      </p:sp>
    </p:spTree>
    <p:extLst>
      <p:ext uri="{BB962C8B-B14F-4D97-AF65-F5344CB8AC3E}">
        <p14:creationId xmlns:p14="http://schemas.microsoft.com/office/powerpoint/2010/main" val="4049304378"/>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D20015-839F-EDCE-DE0D-9E40AF662F09}"/>
            </a:ext>
          </a:extLst>
        </p:cNvPr>
        <p:cNvGrpSpPr/>
        <p:nvPr/>
      </p:nvGrpSpPr>
      <p:grpSpPr>
        <a:xfrm>
          <a:off x="0" y="0"/>
          <a:ext cx="0" cy="0"/>
          <a:chOff x="0" y="0"/>
          <a:chExt cx="0" cy="0"/>
        </a:xfrm>
      </p:grpSpPr>
      <p:sp>
        <p:nvSpPr>
          <p:cNvPr id="7" name="Round Same Side Corner Rectangle 3">
            <a:extLst>
              <a:ext uri="{FF2B5EF4-FFF2-40B4-BE49-F238E27FC236}">
                <a16:creationId xmlns:a16="http://schemas.microsoft.com/office/drawing/2014/main" id="{1028DDA4-7DBB-C4EA-F958-4E86AE661561}"/>
              </a:ext>
            </a:extLst>
          </p:cNvPr>
          <p:cNvSpPr>
            <a:spLocks/>
          </p:cNvSpPr>
          <p:nvPr/>
        </p:nvSpPr>
        <p:spPr bwMode="auto">
          <a:xfrm>
            <a:off x="6161356" y="1400239"/>
            <a:ext cx="5866776" cy="198857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F8E8D2C8-5BF0-3081-62C1-90D47B9A5C11}"/>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A1B8FF74-3BBD-7BA0-1D11-B297AD38A8F8}"/>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19" name="TextBox 18">
            <a:extLst>
              <a:ext uri="{FF2B5EF4-FFF2-40B4-BE49-F238E27FC236}">
                <a16:creationId xmlns:a16="http://schemas.microsoft.com/office/drawing/2014/main" id="{C66502C1-7C59-4AC6-3763-884A645C5445}"/>
              </a:ext>
            </a:extLst>
          </p:cNvPr>
          <p:cNvSpPr txBox="1"/>
          <p:nvPr/>
        </p:nvSpPr>
        <p:spPr>
          <a:xfrm>
            <a:off x="446270" y="1140126"/>
            <a:ext cx="5778260" cy="3901068"/>
          </a:xfrm>
          <a:prstGeom prst="rect">
            <a:avLst/>
          </a:prstGeom>
          <a:noFill/>
        </p:spPr>
        <p:txBody>
          <a:bodyPr wrap="square">
            <a:spAutoFit/>
          </a:bodyPr>
          <a:lstStyle/>
          <a:p>
            <a:pPr>
              <a:lnSpc>
                <a:spcPct val="150000"/>
              </a:lnSpc>
              <a:spcAft>
                <a:spcPts val="800"/>
              </a:spcAft>
            </a:pPr>
            <a:r>
              <a:rPr lang="en-US" sz="2000" b="1" dirty="0">
                <a:solidFill>
                  <a:srgbClr val="002B49"/>
                </a:solidFill>
              </a:rPr>
              <a:t>Methodology:</a:t>
            </a: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selected method.</a:t>
            </a:r>
          </a:p>
        </p:txBody>
      </p:sp>
      <p:sp>
        <p:nvSpPr>
          <p:cNvPr id="3" name="TextBox 2">
            <a:extLst>
              <a:ext uri="{FF2B5EF4-FFF2-40B4-BE49-F238E27FC236}">
                <a16:creationId xmlns:a16="http://schemas.microsoft.com/office/drawing/2014/main" id="{9EB64E1B-2E5E-1BA7-F140-D6DDDE162001}"/>
              </a:ext>
            </a:extLst>
          </p:cNvPr>
          <p:cNvSpPr txBox="1"/>
          <p:nvPr/>
        </p:nvSpPr>
        <p:spPr>
          <a:xfrm>
            <a:off x="6413652" y="1469275"/>
            <a:ext cx="5444082" cy="1850507"/>
          </a:xfrm>
          <a:prstGeom prst="rect">
            <a:avLst/>
          </a:prstGeom>
          <a:noFill/>
        </p:spPr>
        <p:txBody>
          <a:bodyPr wrap="square">
            <a:spAutoFit/>
          </a:bodyPr>
          <a:lstStyle/>
          <a:p>
            <a:pPr marL="0" marR="0" algn="ctr">
              <a:lnSpc>
                <a:spcPct val="115000"/>
              </a:lnSpc>
              <a:spcAft>
                <a:spcPts val="800"/>
              </a:spcAft>
              <a:buNone/>
            </a:pPr>
            <a:r>
              <a:rPr lang="en-US" sz="2000" dirty="0">
                <a:solidFill>
                  <a:srgbClr val="002B49"/>
                </a:solidFill>
              </a:rPr>
              <a:t>The goal of this phase is to train a machine learning model (classifier) to recognize which hierarchical forecasting (HF) method works best given specific data characteristics.</a:t>
            </a:r>
          </a:p>
        </p:txBody>
      </p:sp>
      <p:sp>
        <p:nvSpPr>
          <p:cNvPr id="8" name="Triangle 7">
            <a:extLst>
              <a:ext uri="{FF2B5EF4-FFF2-40B4-BE49-F238E27FC236}">
                <a16:creationId xmlns:a16="http://schemas.microsoft.com/office/drawing/2014/main" id="{9872E92D-50E1-CB5C-13CD-9D746210F673}"/>
              </a:ext>
            </a:extLst>
          </p:cNvPr>
          <p:cNvSpPr/>
          <p:nvPr/>
        </p:nvSpPr>
        <p:spPr bwMode="auto">
          <a:xfrm rot="16200000">
            <a:off x="5624116" y="1414751"/>
            <a:ext cx="943768" cy="925253"/>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Lst>
            <a:ahLst/>
            <a:cxnLst>
              <a:cxn ang="0">
                <a:pos x="csX0" y="csY0"/>
              </a:cxn>
              <a:cxn ang="0">
                <a:pos x="csX1" y="csY1"/>
              </a:cxn>
              <a:cxn ang="0">
                <a:pos x="csX2" y="csY2"/>
              </a:cxn>
              <a:cxn ang="0">
                <a:pos x="csX3" y="csY3"/>
              </a:cxn>
            </a:cxnLst>
            <a:rect l="l" t="t" r="r" b="b"/>
            <a:pathLst>
              <a:path w="943768" h="925253">
                <a:moveTo>
                  <a:pt x="0" y="535639"/>
                </a:moveTo>
                <a:cubicBezTo>
                  <a:pt x="778414" y="632740"/>
                  <a:pt x="594723" y="308418"/>
                  <a:pt x="943768" y="0"/>
                </a:cubicBezTo>
                <a:lnTo>
                  <a:pt x="943768" y="925253"/>
                </a:lnTo>
                <a:lnTo>
                  <a:pt x="0" y="535639"/>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18111545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693B48-4849-6232-DFCF-C8B8DC94DEE4}"/>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4E662054-0810-0962-8588-D2C0572F76EA}"/>
              </a:ext>
            </a:extLst>
          </p:cNvPr>
          <p:cNvSpPr txBox="1"/>
          <p:nvPr/>
        </p:nvSpPr>
        <p:spPr>
          <a:xfrm>
            <a:off x="446270" y="1140126"/>
            <a:ext cx="5778260" cy="3901068"/>
          </a:xfrm>
          <a:prstGeom prst="rect">
            <a:avLst/>
          </a:prstGeom>
          <a:noFill/>
        </p:spPr>
        <p:txBody>
          <a:bodyPr wrap="square">
            <a:spAutoFit/>
          </a:bodyPr>
          <a:lstStyle/>
          <a:p>
            <a:pPr>
              <a:lnSpc>
                <a:spcPct val="150000"/>
              </a:lnSpc>
              <a:spcAft>
                <a:spcPts val="800"/>
              </a:spcAft>
            </a:pPr>
            <a:r>
              <a:rPr lang="en-US" sz="2000" b="1" dirty="0">
                <a:solidFill>
                  <a:srgbClr val="002B49"/>
                </a:solidFill>
              </a:rPr>
              <a:t>Methodology:</a:t>
            </a: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rgbClr val="002B49"/>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selected method.</a:t>
            </a:r>
          </a:p>
        </p:txBody>
      </p:sp>
      <p:sp>
        <p:nvSpPr>
          <p:cNvPr id="6" name="Round Same Side Corner Rectangle 3">
            <a:extLst>
              <a:ext uri="{FF2B5EF4-FFF2-40B4-BE49-F238E27FC236}">
                <a16:creationId xmlns:a16="http://schemas.microsoft.com/office/drawing/2014/main" id="{6B5F6C7F-73C2-99F3-C01A-57730656535D}"/>
              </a:ext>
            </a:extLst>
          </p:cNvPr>
          <p:cNvSpPr>
            <a:spLocks/>
          </p:cNvSpPr>
          <p:nvPr/>
        </p:nvSpPr>
        <p:spPr bwMode="auto">
          <a:xfrm>
            <a:off x="6161355" y="1270167"/>
            <a:ext cx="5866776" cy="3505033"/>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5" name="Triangle 7">
            <a:extLst>
              <a:ext uri="{FF2B5EF4-FFF2-40B4-BE49-F238E27FC236}">
                <a16:creationId xmlns:a16="http://schemas.microsoft.com/office/drawing/2014/main" id="{5A72753C-06C4-6E97-B59A-DA794079E5D7}"/>
              </a:ext>
            </a:extLst>
          </p:cNvPr>
          <p:cNvSpPr/>
          <p:nvPr/>
        </p:nvSpPr>
        <p:spPr bwMode="auto">
          <a:xfrm rot="16200000">
            <a:off x="4722323" y="2144542"/>
            <a:ext cx="2653654" cy="103670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Lst>
            <a:ahLst/>
            <a:cxnLst>
              <a:cxn ang="0">
                <a:pos x="csX0" y="csY0"/>
              </a:cxn>
              <a:cxn ang="0">
                <a:pos x="csX1" y="csY1"/>
              </a:cxn>
              <a:cxn ang="0">
                <a:pos x="csX2" y="csY2"/>
              </a:cxn>
              <a:cxn ang="0">
                <a:pos x="csX3" y="csY3"/>
              </a:cxn>
            </a:cxnLst>
            <a:rect l="l" t="t" r="r" b="b"/>
            <a:pathLst>
              <a:path w="2653654" h="1036708">
                <a:moveTo>
                  <a:pt x="0" y="647097"/>
                </a:moveTo>
                <a:cubicBezTo>
                  <a:pt x="778414" y="744198"/>
                  <a:pt x="1635177" y="281785"/>
                  <a:pt x="1806669" y="0"/>
                </a:cubicBezTo>
                <a:cubicBezTo>
                  <a:pt x="3497671" y="1625700"/>
                  <a:pt x="2213277" y="177874"/>
                  <a:pt x="1742760" y="1036708"/>
                </a:cubicBezTo>
                <a:lnTo>
                  <a:pt x="0" y="647097"/>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3C35E2F3-25E6-F841-944A-FEE8E77EC00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1781C129-20C2-8A4F-A776-92D8764A864B}"/>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6A39DA3C-15B1-9A8E-D79A-3D7CCAA73DB7}"/>
              </a:ext>
            </a:extLst>
          </p:cNvPr>
          <p:cNvSpPr txBox="1"/>
          <p:nvPr/>
        </p:nvSpPr>
        <p:spPr>
          <a:xfrm>
            <a:off x="6730790" y="2224212"/>
            <a:ext cx="1036708" cy="280654"/>
          </a:xfrm>
          <a:prstGeom prst="rect">
            <a:avLst/>
          </a:prstGeom>
          <a:noFill/>
        </p:spPr>
        <p:txBody>
          <a:bodyPr wrap="square">
            <a:spAutoFit/>
          </a:bodyPr>
          <a:lstStyle/>
          <a:p>
            <a:pPr marL="0" marR="0" algn="ctr">
              <a:lnSpc>
                <a:spcPct val="115000"/>
              </a:lnSpc>
              <a:spcAft>
                <a:spcPts val="800"/>
              </a:spcAft>
              <a:buNone/>
            </a:pPr>
            <a:r>
              <a:rPr lang="en-US" sz="1050" dirty="0">
                <a:solidFill>
                  <a:srgbClr val="002B49"/>
                </a:solidFill>
              </a:rPr>
              <a:t>Sample 1</a:t>
            </a:r>
          </a:p>
        </p:txBody>
      </p:sp>
      <p:pic>
        <p:nvPicPr>
          <p:cNvPr id="7" name="Picture 6" descr="A graph of a number of blue and orange dots&#10;&#10;AI-generated content may be incorrect.">
            <a:extLst>
              <a:ext uri="{FF2B5EF4-FFF2-40B4-BE49-F238E27FC236}">
                <a16:creationId xmlns:a16="http://schemas.microsoft.com/office/drawing/2014/main" id="{286E217D-29A0-7A5A-F112-69AA6C072AC2}"/>
              </a:ext>
            </a:extLst>
          </p:cNvPr>
          <p:cNvPicPr>
            <a:picLocks noChangeAspect="1"/>
          </p:cNvPicPr>
          <p:nvPr/>
        </p:nvPicPr>
        <p:blipFill>
          <a:blip r:embed="rId2">
            <a:clrChange>
              <a:clrFrom>
                <a:srgbClr val="FFFFFF"/>
              </a:clrFrom>
              <a:clrTo>
                <a:srgbClr val="FFFFFF">
                  <a:alpha val="0"/>
                </a:srgbClr>
              </a:clrTo>
            </a:clrChange>
          </a:blip>
          <a:srcRect l="41569"/>
          <a:stretch>
            <a:fillRect/>
          </a:stretch>
        </p:blipFill>
        <p:spPr>
          <a:xfrm>
            <a:off x="7553161" y="2261690"/>
            <a:ext cx="3472912" cy="2375535"/>
          </a:xfrm>
          <a:prstGeom prst="rect">
            <a:avLst/>
          </a:prstGeom>
        </p:spPr>
      </p:pic>
      <p:sp>
        <p:nvSpPr>
          <p:cNvPr id="8" name="TextBox 7">
            <a:extLst>
              <a:ext uri="{FF2B5EF4-FFF2-40B4-BE49-F238E27FC236}">
                <a16:creationId xmlns:a16="http://schemas.microsoft.com/office/drawing/2014/main" id="{C04E8072-4224-AA46-A038-6FC512FD9876}"/>
              </a:ext>
            </a:extLst>
          </p:cNvPr>
          <p:cNvSpPr txBox="1"/>
          <p:nvPr/>
        </p:nvSpPr>
        <p:spPr>
          <a:xfrm>
            <a:off x="6730790" y="2512663"/>
            <a:ext cx="1036708" cy="280654"/>
          </a:xfrm>
          <a:prstGeom prst="rect">
            <a:avLst/>
          </a:prstGeom>
          <a:noFill/>
        </p:spPr>
        <p:txBody>
          <a:bodyPr wrap="square">
            <a:spAutoFit/>
          </a:bodyPr>
          <a:lstStyle/>
          <a:p>
            <a:pPr marL="0" marR="0" algn="ctr">
              <a:lnSpc>
                <a:spcPct val="115000"/>
              </a:lnSpc>
              <a:spcAft>
                <a:spcPts val="800"/>
              </a:spcAft>
              <a:buNone/>
            </a:pPr>
            <a:r>
              <a:rPr lang="en-US" sz="1050" dirty="0">
                <a:solidFill>
                  <a:srgbClr val="002B49"/>
                </a:solidFill>
              </a:rPr>
              <a:t>Sample 2</a:t>
            </a:r>
          </a:p>
        </p:txBody>
      </p:sp>
      <p:sp>
        <p:nvSpPr>
          <p:cNvPr id="9" name="TextBox 8">
            <a:extLst>
              <a:ext uri="{FF2B5EF4-FFF2-40B4-BE49-F238E27FC236}">
                <a16:creationId xmlns:a16="http://schemas.microsoft.com/office/drawing/2014/main" id="{9C756E0B-9314-9758-0E2B-C6273FF3EE9E}"/>
              </a:ext>
            </a:extLst>
          </p:cNvPr>
          <p:cNvSpPr txBox="1"/>
          <p:nvPr/>
        </p:nvSpPr>
        <p:spPr>
          <a:xfrm>
            <a:off x="6730790" y="2801114"/>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3</a:t>
            </a:r>
          </a:p>
        </p:txBody>
      </p:sp>
      <p:sp>
        <p:nvSpPr>
          <p:cNvPr id="10" name="TextBox 9">
            <a:extLst>
              <a:ext uri="{FF2B5EF4-FFF2-40B4-BE49-F238E27FC236}">
                <a16:creationId xmlns:a16="http://schemas.microsoft.com/office/drawing/2014/main" id="{71099C6A-4AF0-BDB8-B3B2-0D0DEA1B1E90}"/>
              </a:ext>
            </a:extLst>
          </p:cNvPr>
          <p:cNvSpPr txBox="1"/>
          <p:nvPr/>
        </p:nvSpPr>
        <p:spPr>
          <a:xfrm>
            <a:off x="6730790" y="3089565"/>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4</a:t>
            </a:r>
          </a:p>
        </p:txBody>
      </p:sp>
      <p:sp>
        <p:nvSpPr>
          <p:cNvPr id="11" name="TextBox 10">
            <a:extLst>
              <a:ext uri="{FF2B5EF4-FFF2-40B4-BE49-F238E27FC236}">
                <a16:creationId xmlns:a16="http://schemas.microsoft.com/office/drawing/2014/main" id="{E3D5F531-FED8-8788-5F74-B6584D66D523}"/>
              </a:ext>
            </a:extLst>
          </p:cNvPr>
          <p:cNvSpPr txBox="1"/>
          <p:nvPr/>
        </p:nvSpPr>
        <p:spPr>
          <a:xfrm>
            <a:off x="6730790" y="3378016"/>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5</a:t>
            </a:r>
          </a:p>
        </p:txBody>
      </p:sp>
      <p:sp>
        <p:nvSpPr>
          <p:cNvPr id="12" name="TextBox 11">
            <a:extLst>
              <a:ext uri="{FF2B5EF4-FFF2-40B4-BE49-F238E27FC236}">
                <a16:creationId xmlns:a16="http://schemas.microsoft.com/office/drawing/2014/main" id="{81871DE3-5682-292C-4E6F-200A98ECE10E}"/>
              </a:ext>
            </a:extLst>
          </p:cNvPr>
          <p:cNvSpPr txBox="1"/>
          <p:nvPr/>
        </p:nvSpPr>
        <p:spPr>
          <a:xfrm>
            <a:off x="6730790" y="3666467"/>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6</a:t>
            </a:r>
          </a:p>
        </p:txBody>
      </p:sp>
      <p:sp>
        <p:nvSpPr>
          <p:cNvPr id="13" name="TextBox 12">
            <a:extLst>
              <a:ext uri="{FF2B5EF4-FFF2-40B4-BE49-F238E27FC236}">
                <a16:creationId xmlns:a16="http://schemas.microsoft.com/office/drawing/2014/main" id="{EA6F5A7C-E126-0331-AAAE-962E3F074AEA}"/>
              </a:ext>
            </a:extLst>
          </p:cNvPr>
          <p:cNvSpPr txBox="1"/>
          <p:nvPr/>
        </p:nvSpPr>
        <p:spPr>
          <a:xfrm>
            <a:off x="6730790" y="3954918"/>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7</a:t>
            </a:r>
          </a:p>
        </p:txBody>
      </p:sp>
      <p:sp>
        <p:nvSpPr>
          <p:cNvPr id="14" name="TextBox 13">
            <a:extLst>
              <a:ext uri="{FF2B5EF4-FFF2-40B4-BE49-F238E27FC236}">
                <a16:creationId xmlns:a16="http://schemas.microsoft.com/office/drawing/2014/main" id="{6B68417B-505D-9109-430F-06CB87E35025}"/>
              </a:ext>
            </a:extLst>
          </p:cNvPr>
          <p:cNvSpPr txBox="1"/>
          <p:nvPr/>
        </p:nvSpPr>
        <p:spPr>
          <a:xfrm>
            <a:off x="6730790" y="4243371"/>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8</a:t>
            </a:r>
          </a:p>
        </p:txBody>
      </p:sp>
      <p:sp>
        <p:nvSpPr>
          <p:cNvPr id="16" name="TextBox 15">
            <a:extLst>
              <a:ext uri="{FF2B5EF4-FFF2-40B4-BE49-F238E27FC236}">
                <a16:creationId xmlns:a16="http://schemas.microsoft.com/office/drawing/2014/main" id="{DF9B02C3-43E4-6F93-9386-D1D1604CFC49}"/>
              </a:ext>
            </a:extLst>
          </p:cNvPr>
          <p:cNvSpPr txBox="1"/>
          <p:nvPr/>
        </p:nvSpPr>
        <p:spPr>
          <a:xfrm>
            <a:off x="8315716" y="1702877"/>
            <a:ext cx="1558055" cy="332014"/>
          </a:xfrm>
          <a:prstGeom prst="rect">
            <a:avLst/>
          </a:prstGeom>
          <a:noFill/>
        </p:spPr>
        <p:txBody>
          <a:bodyPr wrap="square">
            <a:spAutoFit/>
          </a:bodyPr>
          <a:lstStyle/>
          <a:p>
            <a:pPr marL="0" marR="0" algn="ctr">
              <a:lnSpc>
                <a:spcPct val="115000"/>
              </a:lnSpc>
              <a:spcAft>
                <a:spcPts val="800"/>
              </a:spcAft>
              <a:buNone/>
            </a:pPr>
            <a:r>
              <a:rPr lang="en-US" sz="1400" b="1" dirty="0">
                <a:solidFill>
                  <a:srgbClr val="002B49"/>
                </a:solidFill>
              </a:rPr>
              <a:t>Rolling Origin</a:t>
            </a:r>
          </a:p>
        </p:txBody>
      </p:sp>
    </p:spTree>
    <p:extLst>
      <p:ext uri="{BB962C8B-B14F-4D97-AF65-F5344CB8AC3E}">
        <p14:creationId xmlns:p14="http://schemas.microsoft.com/office/powerpoint/2010/main" val="236588216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C92D7-0342-4609-8C92-B7AA9A7228C0}"/>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F989ABBE-1863-81E2-C774-78C79418874F}"/>
              </a:ext>
            </a:extLst>
          </p:cNvPr>
          <p:cNvSpPr txBox="1"/>
          <p:nvPr/>
        </p:nvSpPr>
        <p:spPr>
          <a:xfrm>
            <a:off x="446270" y="1140126"/>
            <a:ext cx="5778260" cy="3901068"/>
          </a:xfrm>
          <a:prstGeom prst="rect">
            <a:avLst/>
          </a:prstGeom>
          <a:noFill/>
        </p:spPr>
        <p:txBody>
          <a:bodyPr wrap="square">
            <a:spAutoFit/>
          </a:bodyPr>
          <a:lstStyle/>
          <a:p>
            <a:pPr>
              <a:lnSpc>
                <a:spcPct val="150000"/>
              </a:lnSpc>
              <a:spcAft>
                <a:spcPts val="800"/>
              </a:spcAft>
            </a:pPr>
            <a:r>
              <a:rPr lang="en-US" sz="2000" b="1" dirty="0">
                <a:solidFill>
                  <a:srgbClr val="002B49"/>
                </a:solidFill>
              </a:rPr>
              <a:t>Methodology:</a:t>
            </a: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rgbClr val="002B49"/>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selected method.</a:t>
            </a:r>
          </a:p>
        </p:txBody>
      </p:sp>
      <p:sp>
        <p:nvSpPr>
          <p:cNvPr id="6" name="Round Same Side Corner Rectangle 3">
            <a:extLst>
              <a:ext uri="{FF2B5EF4-FFF2-40B4-BE49-F238E27FC236}">
                <a16:creationId xmlns:a16="http://schemas.microsoft.com/office/drawing/2014/main" id="{DAC5C1A8-8A12-DBBE-C18E-C360971AA1BF}"/>
              </a:ext>
            </a:extLst>
          </p:cNvPr>
          <p:cNvSpPr>
            <a:spLocks/>
          </p:cNvSpPr>
          <p:nvPr/>
        </p:nvSpPr>
        <p:spPr bwMode="auto">
          <a:xfrm>
            <a:off x="6161355" y="1270167"/>
            <a:ext cx="5866776" cy="3602916"/>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E7F5032B-AB4B-FAD6-BAB6-D35E6D879CBD}"/>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4D2BF7F3-389B-FC21-4769-4947F475C777}"/>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111F0BAA-627C-4A77-189A-8128D5299BBB}"/>
              </a:ext>
            </a:extLst>
          </p:cNvPr>
          <p:cNvSpPr txBox="1"/>
          <p:nvPr/>
        </p:nvSpPr>
        <p:spPr>
          <a:xfrm>
            <a:off x="6721426" y="1802943"/>
            <a:ext cx="5316067" cy="746358"/>
          </a:xfrm>
          <a:prstGeom prst="rect">
            <a:avLst/>
          </a:prstGeom>
          <a:noFill/>
        </p:spPr>
        <p:txBody>
          <a:bodyPr wrap="square">
            <a:spAutoFit/>
          </a:bodyPr>
          <a:lstStyle/>
          <a:p>
            <a:pPr marL="0" marR="0">
              <a:lnSpc>
                <a:spcPct val="115000"/>
              </a:lnSpc>
              <a:spcAft>
                <a:spcPts val="800"/>
              </a:spcAft>
              <a:buNone/>
            </a:pPr>
            <a:r>
              <a:rPr lang="en-US" sz="1050" b="1" dirty="0">
                <a:solidFill>
                  <a:srgbClr val="002B49"/>
                </a:solidFill>
              </a:rPr>
              <a:t>1- Feature Extraction</a:t>
            </a:r>
          </a:p>
          <a:p>
            <a:pPr marL="0" marR="0">
              <a:lnSpc>
                <a:spcPct val="115000"/>
              </a:lnSpc>
              <a:spcAft>
                <a:spcPts val="800"/>
              </a:spcAft>
              <a:buNone/>
            </a:pPr>
            <a:r>
              <a:rPr lang="en-US" sz="1050" dirty="0">
                <a:solidFill>
                  <a:srgbClr val="002B49"/>
                </a:solidFill>
              </a:rPr>
              <a:t>Algorithm extracts features (Trend, entropy, seasonality, etc.) from each </a:t>
            </a:r>
            <a:r>
              <a:rPr lang="en-US" sz="1050" b="1" dirty="0">
                <a:solidFill>
                  <a:srgbClr val="002B49"/>
                </a:solidFill>
              </a:rPr>
              <a:t>Sample </a:t>
            </a:r>
            <a:r>
              <a:rPr lang="en-US" sz="1050" dirty="0">
                <a:solidFill>
                  <a:srgbClr val="002B49"/>
                </a:solidFill>
              </a:rPr>
              <a:t>and keep it for the next phase.  </a:t>
            </a:r>
            <a:endParaRPr lang="en-US" sz="1050" b="1" dirty="0">
              <a:solidFill>
                <a:srgbClr val="002B49"/>
              </a:solidFill>
            </a:endParaRPr>
          </a:p>
        </p:txBody>
      </p:sp>
      <p:sp>
        <p:nvSpPr>
          <p:cNvPr id="16" name="TextBox 15">
            <a:extLst>
              <a:ext uri="{FF2B5EF4-FFF2-40B4-BE49-F238E27FC236}">
                <a16:creationId xmlns:a16="http://schemas.microsoft.com/office/drawing/2014/main" id="{798A5B09-94E8-E46F-860D-5AA85F7A113D}"/>
              </a:ext>
            </a:extLst>
          </p:cNvPr>
          <p:cNvSpPr txBox="1"/>
          <p:nvPr/>
        </p:nvSpPr>
        <p:spPr>
          <a:xfrm>
            <a:off x="6567504" y="1425128"/>
            <a:ext cx="1942981" cy="332014"/>
          </a:xfrm>
          <a:prstGeom prst="rect">
            <a:avLst/>
          </a:prstGeom>
          <a:noFill/>
        </p:spPr>
        <p:txBody>
          <a:bodyPr wrap="square">
            <a:spAutoFit/>
          </a:bodyPr>
          <a:lstStyle/>
          <a:p>
            <a:pPr>
              <a:lnSpc>
                <a:spcPct val="115000"/>
              </a:lnSpc>
              <a:spcAft>
                <a:spcPts val="800"/>
              </a:spcAft>
            </a:pPr>
            <a:r>
              <a:rPr lang="en-US" sz="1400" b="1" dirty="0">
                <a:solidFill>
                  <a:srgbClr val="002B49"/>
                </a:solidFill>
              </a:rPr>
              <a:t>Parallel Paths </a:t>
            </a:r>
          </a:p>
        </p:txBody>
      </p:sp>
      <p:sp>
        <p:nvSpPr>
          <p:cNvPr id="2" name="TextBox 1">
            <a:extLst>
              <a:ext uri="{FF2B5EF4-FFF2-40B4-BE49-F238E27FC236}">
                <a16:creationId xmlns:a16="http://schemas.microsoft.com/office/drawing/2014/main" id="{CF8DF29B-0B71-1EBC-5183-69D1A299D913}"/>
              </a:ext>
            </a:extLst>
          </p:cNvPr>
          <p:cNvSpPr txBox="1"/>
          <p:nvPr/>
        </p:nvSpPr>
        <p:spPr>
          <a:xfrm>
            <a:off x="6730789" y="2592129"/>
            <a:ext cx="5316067" cy="932115"/>
          </a:xfrm>
          <a:prstGeom prst="rect">
            <a:avLst/>
          </a:prstGeom>
          <a:noFill/>
        </p:spPr>
        <p:txBody>
          <a:bodyPr wrap="square">
            <a:spAutoFit/>
          </a:bodyPr>
          <a:lstStyle/>
          <a:p>
            <a:pPr>
              <a:lnSpc>
                <a:spcPct val="115000"/>
              </a:lnSpc>
              <a:spcAft>
                <a:spcPts val="800"/>
              </a:spcAft>
            </a:pPr>
            <a:r>
              <a:rPr lang="en-US" sz="1050" b="1" dirty="0">
                <a:solidFill>
                  <a:srgbClr val="002B49"/>
                </a:solidFill>
              </a:rPr>
              <a:t>2- Performance Evaluation</a:t>
            </a:r>
          </a:p>
          <a:p>
            <a:pPr marL="0" marR="0">
              <a:lnSpc>
                <a:spcPct val="115000"/>
              </a:lnSpc>
              <a:spcAft>
                <a:spcPts val="800"/>
              </a:spcAft>
              <a:buNone/>
            </a:pPr>
            <a:r>
              <a:rPr lang="en-US" sz="1050" dirty="0">
                <a:solidFill>
                  <a:srgbClr val="002B49"/>
                </a:solidFill>
              </a:rPr>
              <a:t>The system generates base forecasts using various standard methods (like Bottom-Up, Top-Down, or Minimum Trace). Then, Calculate the </a:t>
            </a:r>
            <a:r>
              <a:rPr lang="en-US" sz="1050" b="1" dirty="0">
                <a:solidFill>
                  <a:srgbClr val="002B49"/>
                </a:solidFill>
              </a:rPr>
              <a:t>accuracy</a:t>
            </a:r>
            <a:r>
              <a:rPr lang="en-US" sz="1050" dirty="0">
                <a:solidFill>
                  <a:srgbClr val="002B49"/>
                </a:solidFill>
              </a:rPr>
              <a:t> of each </a:t>
            </a:r>
            <a:r>
              <a:rPr lang="en-US" sz="1050" b="1" dirty="0">
                <a:solidFill>
                  <a:srgbClr val="002B49"/>
                </a:solidFill>
              </a:rPr>
              <a:t>method</a:t>
            </a:r>
            <a:r>
              <a:rPr lang="en-US" sz="1050" dirty="0">
                <a:solidFill>
                  <a:srgbClr val="002B49"/>
                </a:solidFill>
              </a:rPr>
              <a:t> and identify the </a:t>
            </a:r>
            <a:r>
              <a:rPr lang="en-US" sz="1050" b="1" dirty="0">
                <a:solidFill>
                  <a:srgbClr val="002B49"/>
                </a:solidFill>
              </a:rPr>
              <a:t>Winner</a:t>
            </a:r>
            <a:r>
              <a:rPr lang="en-US" sz="1050" dirty="0">
                <a:solidFill>
                  <a:srgbClr val="002B49"/>
                </a:solidFill>
              </a:rPr>
              <a:t> as </a:t>
            </a:r>
            <a:r>
              <a:rPr lang="en-US" sz="1050" b="1" dirty="0">
                <a:solidFill>
                  <a:srgbClr val="002B49"/>
                </a:solidFill>
              </a:rPr>
              <a:t>Label</a:t>
            </a:r>
            <a:r>
              <a:rPr lang="en-US" sz="1050" dirty="0">
                <a:solidFill>
                  <a:srgbClr val="002B49"/>
                </a:solidFill>
              </a:rPr>
              <a:t> for corresponding </a:t>
            </a:r>
            <a:r>
              <a:rPr lang="en-US" sz="1050" b="1" dirty="0">
                <a:solidFill>
                  <a:srgbClr val="002B49"/>
                </a:solidFill>
              </a:rPr>
              <a:t>Sample</a:t>
            </a:r>
          </a:p>
        </p:txBody>
      </p:sp>
      <p:sp>
        <p:nvSpPr>
          <p:cNvPr id="4" name="TextBox 3">
            <a:extLst>
              <a:ext uri="{FF2B5EF4-FFF2-40B4-BE49-F238E27FC236}">
                <a16:creationId xmlns:a16="http://schemas.microsoft.com/office/drawing/2014/main" id="{ADEDB614-D13A-7065-D05C-A27ECEFB8CAE}"/>
              </a:ext>
            </a:extLst>
          </p:cNvPr>
          <p:cNvSpPr txBox="1"/>
          <p:nvPr/>
        </p:nvSpPr>
        <p:spPr>
          <a:xfrm>
            <a:off x="6712064" y="4054720"/>
            <a:ext cx="5316067" cy="457946"/>
          </a:xfrm>
          <a:prstGeom prst="rect">
            <a:avLst/>
          </a:prstGeom>
          <a:noFill/>
        </p:spPr>
        <p:txBody>
          <a:bodyPr wrap="square">
            <a:spAutoFit/>
          </a:bodyPr>
          <a:lstStyle/>
          <a:p>
            <a:pPr>
              <a:lnSpc>
                <a:spcPct val="115000"/>
              </a:lnSpc>
              <a:spcAft>
                <a:spcPts val="800"/>
              </a:spcAft>
            </a:pPr>
            <a:r>
              <a:rPr lang="en-US" sz="1050" dirty="0">
                <a:solidFill>
                  <a:srgbClr val="002B49"/>
                </a:solidFill>
              </a:rPr>
              <a:t>Now, we have some new data for training a classifier to recognize which method works best given time series.</a:t>
            </a:r>
            <a:endParaRPr lang="en-US" sz="1050" b="1" dirty="0">
              <a:solidFill>
                <a:srgbClr val="002B49"/>
              </a:solidFill>
            </a:endParaRPr>
          </a:p>
        </p:txBody>
      </p:sp>
      <p:sp>
        <p:nvSpPr>
          <p:cNvPr id="18" name="Triangle 7">
            <a:extLst>
              <a:ext uri="{FF2B5EF4-FFF2-40B4-BE49-F238E27FC236}">
                <a16:creationId xmlns:a16="http://schemas.microsoft.com/office/drawing/2014/main" id="{2737EA37-EF47-4424-A662-501599187BB0}"/>
              </a:ext>
            </a:extLst>
          </p:cNvPr>
          <p:cNvSpPr/>
          <p:nvPr/>
        </p:nvSpPr>
        <p:spPr bwMode="auto">
          <a:xfrm rot="16200000">
            <a:off x="4722323" y="2151793"/>
            <a:ext cx="2653654" cy="103670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Lst>
            <a:ahLst/>
            <a:cxnLst>
              <a:cxn ang="0">
                <a:pos x="csX0" y="csY0"/>
              </a:cxn>
              <a:cxn ang="0">
                <a:pos x="csX1" y="csY1"/>
              </a:cxn>
              <a:cxn ang="0">
                <a:pos x="csX2" y="csY2"/>
              </a:cxn>
              <a:cxn ang="0">
                <a:pos x="csX3" y="csY3"/>
              </a:cxn>
            </a:cxnLst>
            <a:rect l="l" t="t" r="r" b="b"/>
            <a:pathLst>
              <a:path w="2653654" h="1036708">
                <a:moveTo>
                  <a:pt x="0" y="647097"/>
                </a:moveTo>
                <a:cubicBezTo>
                  <a:pt x="778414" y="744198"/>
                  <a:pt x="1635177" y="281785"/>
                  <a:pt x="1806669" y="0"/>
                </a:cubicBezTo>
                <a:cubicBezTo>
                  <a:pt x="3497671" y="1625700"/>
                  <a:pt x="2213277" y="177874"/>
                  <a:pt x="1742760" y="1036708"/>
                </a:cubicBezTo>
                <a:lnTo>
                  <a:pt x="0" y="647097"/>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20" name="TextBox 19">
            <a:extLst>
              <a:ext uri="{FF2B5EF4-FFF2-40B4-BE49-F238E27FC236}">
                <a16:creationId xmlns:a16="http://schemas.microsoft.com/office/drawing/2014/main" id="{E159880E-103A-7358-23B3-4DF645E7B46D}"/>
              </a:ext>
            </a:extLst>
          </p:cNvPr>
          <p:cNvSpPr txBox="1"/>
          <p:nvPr/>
        </p:nvSpPr>
        <p:spPr>
          <a:xfrm>
            <a:off x="6567504" y="3694303"/>
            <a:ext cx="1942981" cy="332014"/>
          </a:xfrm>
          <a:prstGeom prst="rect">
            <a:avLst/>
          </a:prstGeom>
          <a:noFill/>
        </p:spPr>
        <p:txBody>
          <a:bodyPr wrap="square">
            <a:spAutoFit/>
          </a:bodyPr>
          <a:lstStyle/>
          <a:p>
            <a:pPr>
              <a:lnSpc>
                <a:spcPct val="115000"/>
              </a:lnSpc>
              <a:spcAft>
                <a:spcPts val="800"/>
              </a:spcAft>
            </a:pPr>
            <a:r>
              <a:rPr lang="en-US" sz="1400" b="1" dirty="0">
                <a:solidFill>
                  <a:srgbClr val="002B49"/>
                </a:solidFill>
              </a:rPr>
              <a:t>Output</a:t>
            </a:r>
          </a:p>
        </p:txBody>
      </p:sp>
    </p:spTree>
    <p:extLst>
      <p:ext uri="{BB962C8B-B14F-4D97-AF65-F5344CB8AC3E}">
        <p14:creationId xmlns:p14="http://schemas.microsoft.com/office/powerpoint/2010/main" val="34364701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61973-B666-52E8-1654-AD8C17DBF060}"/>
            </a:ext>
          </a:extLst>
        </p:cNvPr>
        <p:cNvGrpSpPr/>
        <p:nvPr/>
      </p:nvGrpSpPr>
      <p:grpSpPr>
        <a:xfrm>
          <a:off x="0" y="0"/>
          <a:ext cx="0" cy="0"/>
          <a:chOff x="0" y="0"/>
          <a:chExt cx="0" cy="0"/>
        </a:xfrm>
      </p:grpSpPr>
      <p:sp>
        <p:nvSpPr>
          <p:cNvPr id="18" name="Triangle 7">
            <a:extLst>
              <a:ext uri="{FF2B5EF4-FFF2-40B4-BE49-F238E27FC236}">
                <a16:creationId xmlns:a16="http://schemas.microsoft.com/office/drawing/2014/main" id="{4E37F2C0-A1E5-3A4F-1050-09ADD158501D}"/>
              </a:ext>
            </a:extLst>
          </p:cNvPr>
          <p:cNvSpPr/>
          <p:nvPr/>
        </p:nvSpPr>
        <p:spPr bwMode="auto">
          <a:xfrm rot="16200000">
            <a:off x="5423358" y="2097770"/>
            <a:ext cx="1650589" cy="1298102"/>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188042"/>
              <a:gd name="csY0" fmla="*/ 558197 h 947808"/>
              <a:gd name="csX1" fmla="*/ 1006569 w 2188042"/>
              <a:gd name="csY1" fmla="*/ 0 h 947808"/>
              <a:gd name="csX2" fmla="*/ 1742760 w 2188042"/>
              <a:gd name="csY2" fmla="*/ 947808 h 947808"/>
              <a:gd name="csX3" fmla="*/ 0 w 2188042"/>
              <a:gd name="csY3" fmla="*/ 558197 h 947808"/>
              <a:gd name="csX0" fmla="*/ 0 w 2499512"/>
              <a:gd name="csY0" fmla="*/ 558197 h 947808"/>
              <a:gd name="csX1" fmla="*/ 1006569 w 2499512"/>
              <a:gd name="csY1" fmla="*/ 0 h 947808"/>
              <a:gd name="csX2" fmla="*/ 1742760 w 2499512"/>
              <a:gd name="csY2" fmla="*/ 947808 h 947808"/>
              <a:gd name="csX3" fmla="*/ 0 w 2499512"/>
              <a:gd name="csY3" fmla="*/ 558197 h 947808"/>
              <a:gd name="csX0" fmla="*/ 0 w 2521843"/>
              <a:gd name="csY0" fmla="*/ 558197 h 1278008"/>
              <a:gd name="csX1" fmla="*/ 1006569 w 2521843"/>
              <a:gd name="csY1" fmla="*/ 0 h 1278008"/>
              <a:gd name="csX2" fmla="*/ 1793560 w 2521843"/>
              <a:gd name="csY2" fmla="*/ 1278008 h 1278008"/>
              <a:gd name="csX3" fmla="*/ 0 w 2521843"/>
              <a:gd name="csY3" fmla="*/ 558197 h 1278008"/>
              <a:gd name="csX0" fmla="*/ 0 w 2348483"/>
              <a:gd name="csY0" fmla="*/ 558197 h 1278008"/>
              <a:gd name="csX1" fmla="*/ 1006569 w 2348483"/>
              <a:gd name="csY1" fmla="*/ 0 h 1278008"/>
              <a:gd name="csX2" fmla="*/ 1793560 w 2348483"/>
              <a:gd name="csY2" fmla="*/ 1278008 h 1278008"/>
              <a:gd name="csX3" fmla="*/ 0 w 2348483"/>
              <a:gd name="csY3" fmla="*/ 558197 h 1278008"/>
              <a:gd name="csX0" fmla="*/ 0 w 1906356"/>
              <a:gd name="csY0" fmla="*/ 739070 h 1278008"/>
              <a:gd name="csX1" fmla="*/ 564442 w 1906356"/>
              <a:gd name="csY1" fmla="*/ 0 h 1278008"/>
              <a:gd name="csX2" fmla="*/ 1351433 w 1906356"/>
              <a:gd name="csY2" fmla="*/ 1278008 h 1278008"/>
              <a:gd name="csX3" fmla="*/ 0 w 1906356"/>
              <a:gd name="csY3" fmla="*/ 739070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267091 w 1932287"/>
              <a:gd name="csY0" fmla="*/ 658683 h 1278008"/>
              <a:gd name="csX1" fmla="*/ 590373 w 1932287"/>
              <a:gd name="csY1" fmla="*/ 0 h 1278008"/>
              <a:gd name="csX2" fmla="*/ 1377364 w 1932287"/>
              <a:gd name="csY2" fmla="*/ 1278008 h 1278008"/>
              <a:gd name="csX3" fmla="*/ 267091 w 1932287"/>
              <a:gd name="csY3" fmla="*/ 658683 h 1278008"/>
              <a:gd name="csX0" fmla="*/ 267091 w 1384879"/>
              <a:gd name="csY0" fmla="*/ 658683 h 1278008"/>
              <a:gd name="csX1" fmla="*/ 590373 w 1384879"/>
              <a:gd name="csY1" fmla="*/ 0 h 1278008"/>
              <a:gd name="csX2" fmla="*/ 1377364 w 1384879"/>
              <a:gd name="csY2" fmla="*/ 1278008 h 1278008"/>
              <a:gd name="csX3" fmla="*/ 267091 w 1384879"/>
              <a:gd name="csY3" fmla="*/ 658683 h 1278008"/>
              <a:gd name="csX0" fmla="*/ 267091 w 1402676"/>
              <a:gd name="csY0" fmla="*/ 658683 h 1278008"/>
              <a:gd name="csX1" fmla="*/ 590373 w 1402676"/>
              <a:gd name="csY1" fmla="*/ 0 h 1278008"/>
              <a:gd name="csX2" fmla="*/ 1377364 w 1402676"/>
              <a:gd name="csY2" fmla="*/ 1278008 h 1278008"/>
              <a:gd name="csX3" fmla="*/ 267091 w 1402676"/>
              <a:gd name="csY3" fmla="*/ 658683 h 1278008"/>
              <a:gd name="csX0" fmla="*/ 267091 w 1454061"/>
              <a:gd name="csY0" fmla="*/ 658683 h 1278008"/>
              <a:gd name="csX1" fmla="*/ 590373 w 1454061"/>
              <a:gd name="csY1" fmla="*/ 0 h 1278008"/>
              <a:gd name="csX2" fmla="*/ 1377364 w 1454061"/>
              <a:gd name="csY2" fmla="*/ 1278008 h 1278008"/>
              <a:gd name="csX3" fmla="*/ 267091 w 1454061"/>
              <a:gd name="csY3" fmla="*/ 658683 h 1278008"/>
              <a:gd name="csX0" fmla="*/ 254341 w 1441311"/>
              <a:gd name="csY0" fmla="*/ 658683 h 1278008"/>
              <a:gd name="csX1" fmla="*/ 577623 w 1441311"/>
              <a:gd name="csY1" fmla="*/ 0 h 1278008"/>
              <a:gd name="csX2" fmla="*/ 1364614 w 1441311"/>
              <a:gd name="csY2" fmla="*/ 1278008 h 1278008"/>
              <a:gd name="csX3" fmla="*/ 254341 w 1441311"/>
              <a:gd name="csY3" fmla="*/ 658683 h 1278008"/>
              <a:gd name="csX0" fmla="*/ 318516 w 1216157"/>
              <a:gd name="csY0" fmla="*/ 869699 h 1278008"/>
              <a:gd name="csX1" fmla="*/ 352469 w 1216157"/>
              <a:gd name="csY1" fmla="*/ 0 h 1278008"/>
              <a:gd name="csX2" fmla="*/ 1139460 w 1216157"/>
              <a:gd name="csY2" fmla="*/ 1278008 h 1278008"/>
              <a:gd name="csX3" fmla="*/ 318516 w 1216157"/>
              <a:gd name="csY3" fmla="*/ 869699 h 1278008"/>
              <a:gd name="csX0" fmla="*/ 502720 w 1400361"/>
              <a:gd name="csY0" fmla="*/ 869699 h 1278008"/>
              <a:gd name="csX1" fmla="*/ 536673 w 1400361"/>
              <a:gd name="csY1" fmla="*/ 0 h 1278008"/>
              <a:gd name="csX2" fmla="*/ 1323664 w 1400361"/>
              <a:gd name="csY2" fmla="*/ 1278008 h 1278008"/>
              <a:gd name="csX3" fmla="*/ 502720 w 1400361"/>
              <a:gd name="csY3" fmla="*/ 869699 h 1278008"/>
              <a:gd name="csX0" fmla="*/ 406783 w 1304424"/>
              <a:gd name="csY0" fmla="*/ 869699 h 1278008"/>
              <a:gd name="csX1" fmla="*/ 440736 w 1304424"/>
              <a:gd name="csY1" fmla="*/ 0 h 1278008"/>
              <a:gd name="csX2" fmla="*/ 1227727 w 1304424"/>
              <a:gd name="csY2" fmla="*/ 1278008 h 1278008"/>
              <a:gd name="csX3" fmla="*/ 406783 w 1304424"/>
              <a:gd name="csY3" fmla="*/ 869699 h 1278008"/>
              <a:gd name="csX0" fmla="*/ 396390 w 1351897"/>
              <a:gd name="csY0" fmla="*/ 578300 h 1278008"/>
              <a:gd name="csX1" fmla="*/ 488209 w 1351897"/>
              <a:gd name="csY1" fmla="*/ 0 h 1278008"/>
              <a:gd name="csX2" fmla="*/ 1275200 w 1351897"/>
              <a:gd name="csY2" fmla="*/ 1278008 h 1278008"/>
              <a:gd name="csX3" fmla="*/ 396390 w 1351897"/>
              <a:gd name="csY3" fmla="*/ 578300 h 1278008"/>
              <a:gd name="csX0" fmla="*/ 381784 w 1377449"/>
              <a:gd name="csY0" fmla="*/ 598394 h 1298102"/>
              <a:gd name="csX1" fmla="*/ 560401 w 1377449"/>
              <a:gd name="csY1" fmla="*/ 0 h 1298102"/>
              <a:gd name="csX2" fmla="*/ 1260594 w 1377449"/>
              <a:gd name="csY2" fmla="*/ 1298102 h 1298102"/>
              <a:gd name="csX3" fmla="*/ 381784 w 1377449"/>
              <a:gd name="csY3" fmla="*/ 598394 h 1298102"/>
              <a:gd name="csX0" fmla="*/ 460692 w 1456357"/>
              <a:gd name="csY0" fmla="*/ 598394 h 1298102"/>
              <a:gd name="csX1" fmla="*/ 639309 w 1456357"/>
              <a:gd name="csY1" fmla="*/ 0 h 1298102"/>
              <a:gd name="csX2" fmla="*/ 1339502 w 1456357"/>
              <a:gd name="csY2" fmla="*/ 1298102 h 1298102"/>
              <a:gd name="csX3" fmla="*/ 460692 w 1456357"/>
              <a:gd name="csY3" fmla="*/ 598394 h 1298102"/>
              <a:gd name="csX0" fmla="*/ 460692 w 1584220"/>
              <a:gd name="csY0" fmla="*/ 598394 h 1298102"/>
              <a:gd name="csX1" fmla="*/ 639309 w 1584220"/>
              <a:gd name="csY1" fmla="*/ 0 h 1298102"/>
              <a:gd name="csX2" fmla="*/ 1339502 w 1584220"/>
              <a:gd name="csY2" fmla="*/ 1298102 h 1298102"/>
              <a:gd name="csX3" fmla="*/ 460692 w 1584220"/>
              <a:gd name="csY3" fmla="*/ 598394 h 1298102"/>
            </a:gdLst>
            <a:ahLst/>
            <a:cxnLst>
              <a:cxn ang="0">
                <a:pos x="csX0" y="csY0"/>
              </a:cxn>
              <a:cxn ang="0">
                <a:pos x="csX1" y="csY1"/>
              </a:cxn>
              <a:cxn ang="0">
                <a:pos x="csX2" y="csY2"/>
              </a:cxn>
              <a:cxn ang="0">
                <a:pos x="csX3" y="csY3"/>
              </a:cxn>
            </a:cxnLst>
            <a:rect l="l" t="t" r="r" b="b"/>
            <a:pathLst>
              <a:path w="1584220" h="1298102">
                <a:moveTo>
                  <a:pt x="460692" y="598394"/>
                </a:moveTo>
                <a:cubicBezTo>
                  <a:pt x="-642659" y="856268"/>
                  <a:pt x="573905" y="894740"/>
                  <a:pt x="639309" y="0"/>
                </a:cubicBezTo>
                <a:cubicBezTo>
                  <a:pt x="2275126" y="1195024"/>
                  <a:pt x="1276619" y="-94129"/>
                  <a:pt x="1339502" y="1298102"/>
                </a:cubicBezTo>
                <a:cubicBezTo>
                  <a:pt x="969411" y="1091660"/>
                  <a:pt x="469043" y="644063"/>
                  <a:pt x="460692" y="598394"/>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19" name="TextBox 18">
            <a:extLst>
              <a:ext uri="{FF2B5EF4-FFF2-40B4-BE49-F238E27FC236}">
                <a16:creationId xmlns:a16="http://schemas.microsoft.com/office/drawing/2014/main" id="{5EA4C0B9-CDBA-DB3E-0D30-667E8F6D5092}"/>
              </a:ext>
            </a:extLst>
          </p:cNvPr>
          <p:cNvSpPr txBox="1"/>
          <p:nvPr/>
        </p:nvSpPr>
        <p:spPr>
          <a:xfrm>
            <a:off x="446270" y="1140126"/>
            <a:ext cx="6098932" cy="3901068"/>
          </a:xfrm>
          <a:prstGeom prst="rect">
            <a:avLst/>
          </a:prstGeom>
          <a:noFill/>
        </p:spPr>
        <p:txBody>
          <a:bodyPr wrap="square">
            <a:spAutoFit/>
          </a:bodyPr>
          <a:lstStyle/>
          <a:p>
            <a:pPr>
              <a:lnSpc>
                <a:spcPct val="150000"/>
              </a:lnSpc>
              <a:spcAft>
                <a:spcPts val="800"/>
              </a:spcAft>
            </a:pPr>
            <a:r>
              <a:rPr lang="en-US" sz="2000" b="1" dirty="0">
                <a:solidFill>
                  <a:srgbClr val="002B49"/>
                </a:solidFill>
              </a:rPr>
              <a:t>Methodology:</a:t>
            </a: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Labeling.</a:t>
            </a:r>
          </a:p>
          <a:p>
            <a:pPr marL="800100" lvl="1" indent="-342900">
              <a:lnSpc>
                <a:spcPct val="150000"/>
              </a:lnSpc>
              <a:spcAft>
                <a:spcPts val="800"/>
              </a:spcAft>
              <a:buFont typeface="Arial" panose="020B0604020202020204" pitchFamily="34" charset="0"/>
              <a:buChar char="•"/>
            </a:pPr>
            <a:r>
              <a:rPr lang="en-US" sz="2000" dirty="0">
                <a:solidFill>
                  <a:srgbClr val="002B49"/>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selected method.</a:t>
            </a:r>
          </a:p>
        </p:txBody>
      </p:sp>
      <p:sp>
        <p:nvSpPr>
          <p:cNvPr id="6" name="Round Same Side Corner Rectangle 3">
            <a:extLst>
              <a:ext uri="{FF2B5EF4-FFF2-40B4-BE49-F238E27FC236}">
                <a16:creationId xmlns:a16="http://schemas.microsoft.com/office/drawing/2014/main" id="{99B8C995-8AEF-02DC-C242-A446765E4046}"/>
              </a:ext>
            </a:extLst>
          </p:cNvPr>
          <p:cNvSpPr>
            <a:spLocks/>
          </p:cNvSpPr>
          <p:nvPr/>
        </p:nvSpPr>
        <p:spPr bwMode="auto">
          <a:xfrm>
            <a:off x="6158184" y="1536303"/>
            <a:ext cx="5866776" cy="222840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DC01F3D0-827A-6A02-D367-EAAAC98484AA}"/>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40326D49-250C-A47A-7C3F-F39FDB17B4D1}"/>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23B30B91-DA19-D717-EA65-2E8D219DEC34}"/>
              </a:ext>
            </a:extLst>
          </p:cNvPr>
          <p:cNvSpPr txBox="1"/>
          <p:nvPr/>
        </p:nvSpPr>
        <p:spPr>
          <a:xfrm>
            <a:off x="6708893" y="2350457"/>
            <a:ext cx="5316067" cy="932115"/>
          </a:xfrm>
          <a:prstGeom prst="rect">
            <a:avLst/>
          </a:prstGeom>
          <a:noFill/>
        </p:spPr>
        <p:txBody>
          <a:bodyPr wrap="square">
            <a:spAutoFit/>
          </a:bodyPr>
          <a:lstStyle/>
          <a:p>
            <a:pPr marL="0" marR="0">
              <a:lnSpc>
                <a:spcPct val="115000"/>
              </a:lnSpc>
              <a:spcAft>
                <a:spcPts val="800"/>
              </a:spcAft>
              <a:buNone/>
            </a:pPr>
            <a:r>
              <a:rPr lang="en-US" sz="1050" dirty="0">
                <a:solidFill>
                  <a:srgbClr val="002B49"/>
                </a:solidFill>
              </a:rPr>
              <a:t>The features (</a:t>
            </a:r>
            <a:r>
              <a:rPr lang="en-US" sz="1050" b="1" dirty="0">
                <a:solidFill>
                  <a:srgbClr val="002B49"/>
                </a:solidFill>
              </a:rPr>
              <a:t>inputs</a:t>
            </a:r>
            <a:r>
              <a:rPr lang="en-US" sz="1050" dirty="0">
                <a:solidFill>
                  <a:srgbClr val="002B49"/>
                </a:solidFill>
              </a:rPr>
              <a:t>) and the most accurate HF method (</a:t>
            </a:r>
            <a:r>
              <a:rPr lang="en-US" sz="1050" b="1" dirty="0">
                <a:solidFill>
                  <a:srgbClr val="002B49"/>
                </a:solidFill>
              </a:rPr>
              <a:t>labels</a:t>
            </a:r>
            <a:r>
              <a:rPr lang="en-US" sz="1050" dirty="0">
                <a:solidFill>
                  <a:srgbClr val="002B49"/>
                </a:solidFill>
              </a:rPr>
              <a:t>) are combined into a classification training set.</a:t>
            </a:r>
          </a:p>
          <a:p>
            <a:pPr marL="0" marR="0">
              <a:lnSpc>
                <a:spcPct val="115000"/>
              </a:lnSpc>
              <a:spcAft>
                <a:spcPts val="800"/>
              </a:spcAft>
              <a:buNone/>
            </a:pPr>
            <a:r>
              <a:rPr lang="en-US" sz="1050" dirty="0">
                <a:solidFill>
                  <a:srgbClr val="002B49"/>
                </a:solidFill>
              </a:rPr>
              <a:t>A </a:t>
            </a:r>
            <a:r>
              <a:rPr lang="en-US" sz="1050" b="1" dirty="0">
                <a:solidFill>
                  <a:srgbClr val="002B49"/>
                </a:solidFill>
              </a:rPr>
              <a:t>classification</a:t>
            </a:r>
            <a:r>
              <a:rPr lang="en-US" sz="1050" dirty="0">
                <a:solidFill>
                  <a:srgbClr val="002B49"/>
                </a:solidFill>
              </a:rPr>
              <a:t> model (such as </a:t>
            </a:r>
            <a:r>
              <a:rPr lang="en-US" sz="1050" dirty="0" err="1">
                <a:solidFill>
                  <a:srgbClr val="002B49"/>
                </a:solidFill>
              </a:rPr>
              <a:t>XGBoost</a:t>
            </a:r>
            <a:r>
              <a:rPr lang="en-US" sz="1050" dirty="0">
                <a:solidFill>
                  <a:srgbClr val="002B49"/>
                </a:solidFill>
              </a:rPr>
              <a:t>) is trained to learn the relationship between the time series features and the best performing method .</a:t>
            </a:r>
          </a:p>
        </p:txBody>
      </p:sp>
      <p:sp>
        <p:nvSpPr>
          <p:cNvPr id="16" name="TextBox 15">
            <a:extLst>
              <a:ext uri="{FF2B5EF4-FFF2-40B4-BE49-F238E27FC236}">
                <a16:creationId xmlns:a16="http://schemas.microsoft.com/office/drawing/2014/main" id="{52CDA246-269D-5822-628D-0F3AC12CB6B8}"/>
              </a:ext>
            </a:extLst>
          </p:cNvPr>
          <p:cNvSpPr txBox="1"/>
          <p:nvPr/>
        </p:nvSpPr>
        <p:spPr>
          <a:xfrm>
            <a:off x="6545202" y="1728899"/>
            <a:ext cx="2393616" cy="332014"/>
          </a:xfrm>
          <a:prstGeom prst="rect">
            <a:avLst/>
          </a:prstGeom>
          <a:noFill/>
        </p:spPr>
        <p:txBody>
          <a:bodyPr wrap="square">
            <a:spAutoFit/>
          </a:bodyPr>
          <a:lstStyle/>
          <a:p>
            <a:pPr>
              <a:lnSpc>
                <a:spcPct val="115000"/>
              </a:lnSpc>
              <a:spcAft>
                <a:spcPts val="800"/>
              </a:spcAft>
            </a:pPr>
            <a:r>
              <a:rPr lang="en-US" sz="1400" b="1" dirty="0">
                <a:solidFill>
                  <a:srgbClr val="002B49"/>
                </a:solidFill>
              </a:rPr>
              <a:t>Training the Classifier:</a:t>
            </a:r>
          </a:p>
        </p:txBody>
      </p:sp>
    </p:spTree>
    <p:extLst>
      <p:ext uri="{BB962C8B-B14F-4D97-AF65-F5344CB8AC3E}">
        <p14:creationId xmlns:p14="http://schemas.microsoft.com/office/powerpoint/2010/main" val="325103037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802D5-B0FC-47A7-6E8F-8AD02398C8E4}"/>
            </a:ext>
          </a:extLst>
        </p:cNvPr>
        <p:cNvGrpSpPr/>
        <p:nvPr/>
      </p:nvGrpSpPr>
      <p:grpSpPr>
        <a:xfrm>
          <a:off x="0" y="0"/>
          <a:ext cx="0" cy="0"/>
          <a:chOff x="0" y="0"/>
          <a:chExt cx="0" cy="0"/>
        </a:xfrm>
      </p:grpSpPr>
      <p:sp>
        <p:nvSpPr>
          <p:cNvPr id="18" name="Triangle 7">
            <a:extLst>
              <a:ext uri="{FF2B5EF4-FFF2-40B4-BE49-F238E27FC236}">
                <a16:creationId xmlns:a16="http://schemas.microsoft.com/office/drawing/2014/main" id="{67426AE9-BCC2-873A-0584-9B15152DE61F}"/>
              </a:ext>
            </a:extLst>
          </p:cNvPr>
          <p:cNvSpPr/>
          <p:nvPr/>
        </p:nvSpPr>
        <p:spPr bwMode="auto">
          <a:xfrm rot="16200000">
            <a:off x="5890913" y="2755506"/>
            <a:ext cx="1215297" cy="1314253"/>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188042"/>
              <a:gd name="csY0" fmla="*/ 558197 h 947808"/>
              <a:gd name="csX1" fmla="*/ 1006569 w 2188042"/>
              <a:gd name="csY1" fmla="*/ 0 h 947808"/>
              <a:gd name="csX2" fmla="*/ 1742760 w 2188042"/>
              <a:gd name="csY2" fmla="*/ 947808 h 947808"/>
              <a:gd name="csX3" fmla="*/ 0 w 2188042"/>
              <a:gd name="csY3" fmla="*/ 558197 h 947808"/>
              <a:gd name="csX0" fmla="*/ 0 w 2499512"/>
              <a:gd name="csY0" fmla="*/ 558197 h 947808"/>
              <a:gd name="csX1" fmla="*/ 1006569 w 2499512"/>
              <a:gd name="csY1" fmla="*/ 0 h 947808"/>
              <a:gd name="csX2" fmla="*/ 1742760 w 2499512"/>
              <a:gd name="csY2" fmla="*/ 947808 h 947808"/>
              <a:gd name="csX3" fmla="*/ 0 w 2499512"/>
              <a:gd name="csY3" fmla="*/ 558197 h 947808"/>
              <a:gd name="csX0" fmla="*/ 0 w 2521843"/>
              <a:gd name="csY0" fmla="*/ 558197 h 1278008"/>
              <a:gd name="csX1" fmla="*/ 1006569 w 2521843"/>
              <a:gd name="csY1" fmla="*/ 0 h 1278008"/>
              <a:gd name="csX2" fmla="*/ 1793560 w 2521843"/>
              <a:gd name="csY2" fmla="*/ 1278008 h 1278008"/>
              <a:gd name="csX3" fmla="*/ 0 w 2521843"/>
              <a:gd name="csY3" fmla="*/ 558197 h 1278008"/>
              <a:gd name="csX0" fmla="*/ 0 w 2348483"/>
              <a:gd name="csY0" fmla="*/ 558197 h 1278008"/>
              <a:gd name="csX1" fmla="*/ 1006569 w 2348483"/>
              <a:gd name="csY1" fmla="*/ 0 h 1278008"/>
              <a:gd name="csX2" fmla="*/ 1793560 w 2348483"/>
              <a:gd name="csY2" fmla="*/ 1278008 h 1278008"/>
              <a:gd name="csX3" fmla="*/ 0 w 2348483"/>
              <a:gd name="csY3" fmla="*/ 558197 h 1278008"/>
              <a:gd name="csX0" fmla="*/ 0 w 1906356"/>
              <a:gd name="csY0" fmla="*/ 739070 h 1278008"/>
              <a:gd name="csX1" fmla="*/ 564442 w 1906356"/>
              <a:gd name="csY1" fmla="*/ 0 h 1278008"/>
              <a:gd name="csX2" fmla="*/ 1351433 w 1906356"/>
              <a:gd name="csY2" fmla="*/ 1278008 h 1278008"/>
              <a:gd name="csX3" fmla="*/ 0 w 1906356"/>
              <a:gd name="csY3" fmla="*/ 739070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267091 w 1932287"/>
              <a:gd name="csY0" fmla="*/ 658683 h 1278008"/>
              <a:gd name="csX1" fmla="*/ 590373 w 1932287"/>
              <a:gd name="csY1" fmla="*/ 0 h 1278008"/>
              <a:gd name="csX2" fmla="*/ 1377364 w 1932287"/>
              <a:gd name="csY2" fmla="*/ 1278008 h 1278008"/>
              <a:gd name="csX3" fmla="*/ 267091 w 1932287"/>
              <a:gd name="csY3" fmla="*/ 658683 h 1278008"/>
              <a:gd name="csX0" fmla="*/ 267091 w 1384879"/>
              <a:gd name="csY0" fmla="*/ 658683 h 1278008"/>
              <a:gd name="csX1" fmla="*/ 590373 w 1384879"/>
              <a:gd name="csY1" fmla="*/ 0 h 1278008"/>
              <a:gd name="csX2" fmla="*/ 1377364 w 1384879"/>
              <a:gd name="csY2" fmla="*/ 1278008 h 1278008"/>
              <a:gd name="csX3" fmla="*/ 267091 w 1384879"/>
              <a:gd name="csY3" fmla="*/ 658683 h 1278008"/>
              <a:gd name="csX0" fmla="*/ 267091 w 1402676"/>
              <a:gd name="csY0" fmla="*/ 658683 h 1278008"/>
              <a:gd name="csX1" fmla="*/ 590373 w 1402676"/>
              <a:gd name="csY1" fmla="*/ 0 h 1278008"/>
              <a:gd name="csX2" fmla="*/ 1377364 w 1402676"/>
              <a:gd name="csY2" fmla="*/ 1278008 h 1278008"/>
              <a:gd name="csX3" fmla="*/ 267091 w 1402676"/>
              <a:gd name="csY3" fmla="*/ 658683 h 1278008"/>
              <a:gd name="csX0" fmla="*/ 267091 w 1454061"/>
              <a:gd name="csY0" fmla="*/ 658683 h 1278008"/>
              <a:gd name="csX1" fmla="*/ 590373 w 1454061"/>
              <a:gd name="csY1" fmla="*/ 0 h 1278008"/>
              <a:gd name="csX2" fmla="*/ 1377364 w 1454061"/>
              <a:gd name="csY2" fmla="*/ 1278008 h 1278008"/>
              <a:gd name="csX3" fmla="*/ 267091 w 1454061"/>
              <a:gd name="csY3" fmla="*/ 658683 h 1278008"/>
              <a:gd name="csX0" fmla="*/ 254341 w 1441311"/>
              <a:gd name="csY0" fmla="*/ 658683 h 1278008"/>
              <a:gd name="csX1" fmla="*/ 577623 w 1441311"/>
              <a:gd name="csY1" fmla="*/ 0 h 1278008"/>
              <a:gd name="csX2" fmla="*/ 1364614 w 1441311"/>
              <a:gd name="csY2" fmla="*/ 1278008 h 1278008"/>
              <a:gd name="csX3" fmla="*/ 254341 w 1441311"/>
              <a:gd name="csY3" fmla="*/ 658683 h 1278008"/>
              <a:gd name="csX0" fmla="*/ 318516 w 1216157"/>
              <a:gd name="csY0" fmla="*/ 869699 h 1278008"/>
              <a:gd name="csX1" fmla="*/ 352469 w 1216157"/>
              <a:gd name="csY1" fmla="*/ 0 h 1278008"/>
              <a:gd name="csX2" fmla="*/ 1139460 w 1216157"/>
              <a:gd name="csY2" fmla="*/ 1278008 h 1278008"/>
              <a:gd name="csX3" fmla="*/ 318516 w 1216157"/>
              <a:gd name="csY3" fmla="*/ 869699 h 1278008"/>
              <a:gd name="csX0" fmla="*/ 502720 w 1400361"/>
              <a:gd name="csY0" fmla="*/ 869699 h 1278008"/>
              <a:gd name="csX1" fmla="*/ 536673 w 1400361"/>
              <a:gd name="csY1" fmla="*/ 0 h 1278008"/>
              <a:gd name="csX2" fmla="*/ 1323664 w 1400361"/>
              <a:gd name="csY2" fmla="*/ 1278008 h 1278008"/>
              <a:gd name="csX3" fmla="*/ 502720 w 1400361"/>
              <a:gd name="csY3" fmla="*/ 869699 h 1278008"/>
              <a:gd name="csX0" fmla="*/ 406783 w 1304424"/>
              <a:gd name="csY0" fmla="*/ 869699 h 1278008"/>
              <a:gd name="csX1" fmla="*/ 440736 w 1304424"/>
              <a:gd name="csY1" fmla="*/ 0 h 1278008"/>
              <a:gd name="csX2" fmla="*/ 1227727 w 1304424"/>
              <a:gd name="csY2" fmla="*/ 1278008 h 1278008"/>
              <a:gd name="csX3" fmla="*/ 406783 w 1304424"/>
              <a:gd name="csY3" fmla="*/ 869699 h 1278008"/>
              <a:gd name="csX0" fmla="*/ 396390 w 1351897"/>
              <a:gd name="csY0" fmla="*/ 578300 h 1278008"/>
              <a:gd name="csX1" fmla="*/ 488209 w 1351897"/>
              <a:gd name="csY1" fmla="*/ 0 h 1278008"/>
              <a:gd name="csX2" fmla="*/ 1275200 w 1351897"/>
              <a:gd name="csY2" fmla="*/ 1278008 h 1278008"/>
              <a:gd name="csX3" fmla="*/ 396390 w 1351897"/>
              <a:gd name="csY3" fmla="*/ 578300 h 1278008"/>
              <a:gd name="csX0" fmla="*/ 381784 w 1377449"/>
              <a:gd name="csY0" fmla="*/ 598394 h 1298102"/>
              <a:gd name="csX1" fmla="*/ 560401 w 1377449"/>
              <a:gd name="csY1" fmla="*/ 0 h 1298102"/>
              <a:gd name="csX2" fmla="*/ 1260594 w 1377449"/>
              <a:gd name="csY2" fmla="*/ 1298102 h 1298102"/>
              <a:gd name="csX3" fmla="*/ 381784 w 1377449"/>
              <a:gd name="csY3" fmla="*/ 598394 h 1298102"/>
              <a:gd name="csX0" fmla="*/ 460692 w 1456357"/>
              <a:gd name="csY0" fmla="*/ 598394 h 1298102"/>
              <a:gd name="csX1" fmla="*/ 639309 w 1456357"/>
              <a:gd name="csY1" fmla="*/ 0 h 1298102"/>
              <a:gd name="csX2" fmla="*/ 1339502 w 1456357"/>
              <a:gd name="csY2" fmla="*/ 1298102 h 1298102"/>
              <a:gd name="csX3" fmla="*/ 460692 w 1456357"/>
              <a:gd name="csY3" fmla="*/ 598394 h 1298102"/>
              <a:gd name="csX0" fmla="*/ 460692 w 1584220"/>
              <a:gd name="csY0" fmla="*/ 598394 h 1298102"/>
              <a:gd name="csX1" fmla="*/ 639309 w 1584220"/>
              <a:gd name="csY1" fmla="*/ 0 h 1298102"/>
              <a:gd name="csX2" fmla="*/ 1339502 w 1584220"/>
              <a:gd name="csY2" fmla="*/ 1298102 h 1298102"/>
              <a:gd name="csX3" fmla="*/ 460692 w 1584220"/>
              <a:gd name="csY3" fmla="*/ 598394 h 1298102"/>
              <a:gd name="csX0" fmla="*/ 638450 w 1524563"/>
              <a:gd name="csY0" fmla="*/ 769214 h 1468922"/>
              <a:gd name="csX1" fmla="*/ 248052 w 1524563"/>
              <a:gd name="csY1" fmla="*/ 0 h 1468922"/>
              <a:gd name="csX2" fmla="*/ 1517260 w 1524563"/>
              <a:gd name="csY2" fmla="*/ 1468922 h 1468922"/>
              <a:gd name="csX3" fmla="*/ 638450 w 1524563"/>
              <a:gd name="csY3" fmla="*/ 769214 h 1468922"/>
              <a:gd name="csX0" fmla="*/ 644929 w 1531042"/>
              <a:gd name="csY0" fmla="*/ 769214 h 1468922"/>
              <a:gd name="csX1" fmla="*/ 254531 w 1531042"/>
              <a:gd name="csY1" fmla="*/ 0 h 1468922"/>
              <a:gd name="csX2" fmla="*/ 1523739 w 1531042"/>
              <a:gd name="csY2" fmla="*/ 1468922 h 1468922"/>
              <a:gd name="csX3" fmla="*/ 644929 w 1531042"/>
              <a:gd name="csY3" fmla="*/ 769214 h 1468922"/>
              <a:gd name="csX0" fmla="*/ 1119514 w 1301594"/>
              <a:gd name="csY0" fmla="*/ 1141006 h 1468922"/>
              <a:gd name="csX1" fmla="*/ 25083 w 1301594"/>
              <a:gd name="csY1" fmla="*/ 0 h 1468922"/>
              <a:gd name="csX2" fmla="*/ 1294291 w 1301594"/>
              <a:gd name="csY2" fmla="*/ 1468922 h 1468922"/>
              <a:gd name="csX3" fmla="*/ 1119514 w 1301594"/>
              <a:gd name="csY3" fmla="*/ 1141006 h 1468922"/>
              <a:gd name="csX0" fmla="*/ 1094431 w 1276511"/>
              <a:gd name="csY0" fmla="*/ 1141006 h 1468922"/>
              <a:gd name="csX1" fmla="*/ 0 w 1276511"/>
              <a:gd name="csY1" fmla="*/ 0 h 1468922"/>
              <a:gd name="csX2" fmla="*/ 1269208 w 1276511"/>
              <a:gd name="csY2" fmla="*/ 1468922 h 1468922"/>
              <a:gd name="csX3" fmla="*/ 1094431 w 1276511"/>
              <a:gd name="csY3" fmla="*/ 1141006 h 1468922"/>
              <a:gd name="csX0" fmla="*/ 940123 w 1166431"/>
              <a:gd name="csY0" fmla="*/ 889794 h 1314253"/>
              <a:gd name="csX1" fmla="*/ 0 w 1166431"/>
              <a:gd name="csY1" fmla="*/ 0 h 1314253"/>
              <a:gd name="csX2" fmla="*/ 1114900 w 1166431"/>
              <a:gd name="csY2" fmla="*/ 1217710 h 1314253"/>
              <a:gd name="csX3" fmla="*/ 940123 w 1166431"/>
              <a:gd name="csY3" fmla="*/ 889794 h 1314253"/>
            </a:gdLst>
            <a:ahLst/>
            <a:cxnLst>
              <a:cxn ang="0">
                <a:pos x="csX0" y="csY0"/>
              </a:cxn>
              <a:cxn ang="0">
                <a:pos x="csX1" y="csY1"/>
              </a:cxn>
              <a:cxn ang="0">
                <a:pos x="csX2" y="csY2"/>
              </a:cxn>
              <a:cxn ang="0">
                <a:pos x="csX3" y="csY3"/>
              </a:cxn>
            </a:cxnLst>
            <a:rect l="l" t="t" r="r" b="b"/>
            <a:pathLst>
              <a:path w="1166431" h="1314253">
                <a:moveTo>
                  <a:pt x="940123" y="889794"/>
                </a:moveTo>
                <a:cubicBezTo>
                  <a:pt x="-163228" y="1147668"/>
                  <a:pt x="899031" y="2060354"/>
                  <a:pt x="0" y="0"/>
                </a:cubicBezTo>
                <a:cubicBezTo>
                  <a:pt x="1635817" y="1195024"/>
                  <a:pt x="1052017" y="-174521"/>
                  <a:pt x="1114900" y="1217710"/>
                </a:cubicBezTo>
                <a:cubicBezTo>
                  <a:pt x="744809" y="1011268"/>
                  <a:pt x="948474" y="935463"/>
                  <a:pt x="940123" y="889794"/>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19" name="TextBox 18">
            <a:extLst>
              <a:ext uri="{FF2B5EF4-FFF2-40B4-BE49-F238E27FC236}">
                <a16:creationId xmlns:a16="http://schemas.microsoft.com/office/drawing/2014/main" id="{DA83BC63-E7DC-7CBC-FE53-8CEB75D46315}"/>
              </a:ext>
            </a:extLst>
          </p:cNvPr>
          <p:cNvSpPr txBox="1"/>
          <p:nvPr/>
        </p:nvSpPr>
        <p:spPr>
          <a:xfrm>
            <a:off x="446271" y="1140126"/>
            <a:ext cx="6098930" cy="3901068"/>
          </a:xfrm>
          <a:prstGeom prst="rect">
            <a:avLst/>
          </a:prstGeom>
          <a:noFill/>
        </p:spPr>
        <p:txBody>
          <a:bodyPr wrap="square">
            <a:spAutoFit/>
          </a:bodyPr>
          <a:lstStyle/>
          <a:p>
            <a:pPr>
              <a:lnSpc>
                <a:spcPct val="150000"/>
              </a:lnSpc>
              <a:spcAft>
                <a:spcPts val="800"/>
              </a:spcAft>
            </a:pPr>
            <a:r>
              <a:rPr lang="en-US" sz="2000" b="1" dirty="0">
                <a:solidFill>
                  <a:srgbClr val="002B49"/>
                </a:solidFill>
              </a:rPr>
              <a:t>Methodology:</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Offline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rgbClr val="002B49"/>
                </a:solidFill>
              </a:rPr>
              <a:t>Online Phase</a:t>
            </a:r>
          </a:p>
          <a:p>
            <a:pPr marL="800100" lvl="1" indent="-342900">
              <a:lnSpc>
                <a:spcPct val="150000"/>
              </a:lnSpc>
              <a:spcAft>
                <a:spcPts val="800"/>
              </a:spcAft>
              <a:buFont typeface="Arial" panose="020B0604020202020204" pitchFamily="34" charset="0"/>
              <a:buChar char="•"/>
            </a:pPr>
            <a:r>
              <a:rPr lang="en-US" sz="2000" dirty="0">
                <a:solidFill>
                  <a:srgbClr val="002B49"/>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selected method.</a:t>
            </a:r>
          </a:p>
        </p:txBody>
      </p:sp>
      <p:sp>
        <p:nvSpPr>
          <p:cNvPr id="6" name="Round Same Side Corner Rectangle 3">
            <a:extLst>
              <a:ext uri="{FF2B5EF4-FFF2-40B4-BE49-F238E27FC236}">
                <a16:creationId xmlns:a16="http://schemas.microsoft.com/office/drawing/2014/main" id="{B126B40A-97AC-66B4-8E60-801E82D9EC0E}"/>
              </a:ext>
            </a:extLst>
          </p:cNvPr>
          <p:cNvSpPr>
            <a:spLocks/>
          </p:cNvSpPr>
          <p:nvPr/>
        </p:nvSpPr>
        <p:spPr bwMode="auto">
          <a:xfrm>
            <a:off x="6158184" y="1536303"/>
            <a:ext cx="5866776" cy="222840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E02DAC81-7095-DA2F-A1E8-D844EFBDFDBB}"/>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C7A5E737-C55E-668B-A199-506815D88CD0}"/>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66C70ECD-16F8-A67F-1EBC-57F876008604}"/>
              </a:ext>
            </a:extLst>
          </p:cNvPr>
          <p:cNvSpPr txBox="1"/>
          <p:nvPr/>
        </p:nvSpPr>
        <p:spPr>
          <a:xfrm>
            <a:off x="6708893" y="2350457"/>
            <a:ext cx="5316067" cy="1037463"/>
          </a:xfrm>
          <a:prstGeom prst="rect">
            <a:avLst/>
          </a:prstGeom>
          <a:noFill/>
        </p:spPr>
        <p:txBody>
          <a:bodyPr wrap="square">
            <a:spAutoFit/>
          </a:bodyPr>
          <a:lstStyle/>
          <a:p>
            <a:pPr marL="0" marR="0">
              <a:lnSpc>
                <a:spcPct val="115000"/>
              </a:lnSpc>
              <a:spcAft>
                <a:spcPts val="800"/>
              </a:spcAft>
              <a:buNone/>
            </a:pPr>
            <a:r>
              <a:rPr lang="en-US" sz="1200" dirty="0">
                <a:solidFill>
                  <a:srgbClr val="002B49"/>
                </a:solidFill>
              </a:rPr>
              <a:t>As new data comes in, the algorithm computes the same time series features.</a:t>
            </a:r>
          </a:p>
          <a:p>
            <a:pPr marL="0" marR="0">
              <a:lnSpc>
                <a:spcPct val="115000"/>
              </a:lnSpc>
              <a:spcAft>
                <a:spcPts val="800"/>
              </a:spcAft>
              <a:buNone/>
            </a:pPr>
            <a:r>
              <a:rPr lang="en-US" sz="1200" dirty="0">
                <a:solidFill>
                  <a:srgbClr val="002B49"/>
                </a:solidFill>
              </a:rPr>
              <a:t>Then, model analyzes these features and predicts/selects which HF method is most likely to be the most accurate for the current data .</a:t>
            </a:r>
          </a:p>
        </p:txBody>
      </p:sp>
      <p:sp>
        <p:nvSpPr>
          <p:cNvPr id="16" name="TextBox 15">
            <a:extLst>
              <a:ext uri="{FF2B5EF4-FFF2-40B4-BE49-F238E27FC236}">
                <a16:creationId xmlns:a16="http://schemas.microsoft.com/office/drawing/2014/main" id="{EEFC8343-7B74-6CCB-94DC-A2CF9B543736}"/>
              </a:ext>
            </a:extLst>
          </p:cNvPr>
          <p:cNvSpPr txBox="1"/>
          <p:nvPr/>
        </p:nvSpPr>
        <p:spPr>
          <a:xfrm>
            <a:off x="6545201" y="1728899"/>
            <a:ext cx="4256777" cy="366254"/>
          </a:xfrm>
          <a:prstGeom prst="rect">
            <a:avLst/>
          </a:prstGeom>
          <a:noFill/>
        </p:spPr>
        <p:txBody>
          <a:bodyPr wrap="square">
            <a:spAutoFit/>
          </a:bodyPr>
          <a:lstStyle/>
          <a:p>
            <a:pPr>
              <a:lnSpc>
                <a:spcPct val="115000"/>
              </a:lnSpc>
              <a:spcAft>
                <a:spcPts val="800"/>
              </a:spcAft>
            </a:pPr>
            <a:r>
              <a:rPr lang="en-US" sz="1600" b="1" dirty="0">
                <a:solidFill>
                  <a:srgbClr val="002B49"/>
                </a:solidFill>
              </a:rPr>
              <a:t>Predict the best method for new data.</a:t>
            </a:r>
          </a:p>
        </p:txBody>
      </p:sp>
    </p:spTree>
    <p:extLst>
      <p:ext uri="{BB962C8B-B14F-4D97-AF65-F5344CB8AC3E}">
        <p14:creationId xmlns:p14="http://schemas.microsoft.com/office/powerpoint/2010/main" val="304584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1E0A8-DFC9-92A0-5B19-9627F2CAC0A6}"/>
            </a:ext>
          </a:extLst>
        </p:cNvPr>
        <p:cNvGrpSpPr/>
        <p:nvPr/>
      </p:nvGrpSpPr>
      <p:grpSpPr>
        <a:xfrm>
          <a:off x="0" y="0"/>
          <a:ext cx="0" cy="0"/>
          <a:chOff x="0" y="0"/>
          <a:chExt cx="0" cy="0"/>
        </a:xfrm>
      </p:grpSpPr>
      <p:sp>
        <p:nvSpPr>
          <p:cNvPr id="18" name="Triangle 7">
            <a:extLst>
              <a:ext uri="{FF2B5EF4-FFF2-40B4-BE49-F238E27FC236}">
                <a16:creationId xmlns:a16="http://schemas.microsoft.com/office/drawing/2014/main" id="{0F34D25F-AC84-26E4-6DB6-A9C7385720F0}"/>
              </a:ext>
            </a:extLst>
          </p:cNvPr>
          <p:cNvSpPr/>
          <p:nvPr/>
        </p:nvSpPr>
        <p:spPr bwMode="auto">
          <a:xfrm rot="16200000">
            <a:off x="6069380" y="3062810"/>
            <a:ext cx="1824798" cy="1416527"/>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188042"/>
              <a:gd name="csY0" fmla="*/ 558197 h 947808"/>
              <a:gd name="csX1" fmla="*/ 1006569 w 2188042"/>
              <a:gd name="csY1" fmla="*/ 0 h 947808"/>
              <a:gd name="csX2" fmla="*/ 1742760 w 2188042"/>
              <a:gd name="csY2" fmla="*/ 947808 h 947808"/>
              <a:gd name="csX3" fmla="*/ 0 w 2188042"/>
              <a:gd name="csY3" fmla="*/ 558197 h 947808"/>
              <a:gd name="csX0" fmla="*/ 0 w 2499512"/>
              <a:gd name="csY0" fmla="*/ 558197 h 947808"/>
              <a:gd name="csX1" fmla="*/ 1006569 w 2499512"/>
              <a:gd name="csY1" fmla="*/ 0 h 947808"/>
              <a:gd name="csX2" fmla="*/ 1742760 w 2499512"/>
              <a:gd name="csY2" fmla="*/ 947808 h 947808"/>
              <a:gd name="csX3" fmla="*/ 0 w 2499512"/>
              <a:gd name="csY3" fmla="*/ 558197 h 947808"/>
              <a:gd name="csX0" fmla="*/ 0 w 2521843"/>
              <a:gd name="csY0" fmla="*/ 558197 h 1278008"/>
              <a:gd name="csX1" fmla="*/ 1006569 w 2521843"/>
              <a:gd name="csY1" fmla="*/ 0 h 1278008"/>
              <a:gd name="csX2" fmla="*/ 1793560 w 2521843"/>
              <a:gd name="csY2" fmla="*/ 1278008 h 1278008"/>
              <a:gd name="csX3" fmla="*/ 0 w 2521843"/>
              <a:gd name="csY3" fmla="*/ 558197 h 1278008"/>
              <a:gd name="csX0" fmla="*/ 0 w 2348483"/>
              <a:gd name="csY0" fmla="*/ 558197 h 1278008"/>
              <a:gd name="csX1" fmla="*/ 1006569 w 2348483"/>
              <a:gd name="csY1" fmla="*/ 0 h 1278008"/>
              <a:gd name="csX2" fmla="*/ 1793560 w 2348483"/>
              <a:gd name="csY2" fmla="*/ 1278008 h 1278008"/>
              <a:gd name="csX3" fmla="*/ 0 w 2348483"/>
              <a:gd name="csY3" fmla="*/ 558197 h 1278008"/>
              <a:gd name="csX0" fmla="*/ 0 w 1906356"/>
              <a:gd name="csY0" fmla="*/ 739070 h 1278008"/>
              <a:gd name="csX1" fmla="*/ 564442 w 1906356"/>
              <a:gd name="csY1" fmla="*/ 0 h 1278008"/>
              <a:gd name="csX2" fmla="*/ 1351433 w 1906356"/>
              <a:gd name="csY2" fmla="*/ 1278008 h 1278008"/>
              <a:gd name="csX3" fmla="*/ 0 w 1906356"/>
              <a:gd name="csY3" fmla="*/ 739070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267091 w 1932287"/>
              <a:gd name="csY0" fmla="*/ 658683 h 1278008"/>
              <a:gd name="csX1" fmla="*/ 590373 w 1932287"/>
              <a:gd name="csY1" fmla="*/ 0 h 1278008"/>
              <a:gd name="csX2" fmla="*/ 1377364 w 1932287"/>
              <a:gd name="csY2" fmla="*/ 1278008 h 1278008"/>
              <a:gd name="csX3" fmla="*/ 267091 w 1932287"/>
              <a:gd name="csY3" fmla="*/ 658683 h 1278008"/>
              <a:gd name="csX0" fmla="*/ 267091 w 1384879"/>
              <a:gd name="csY0" fmla="*/ 658683 h 1278008"/>
              <a:gd name="csX1" fmla="*/ 590373 w 1384879"/>
              <a:gd name="csY1" fmla="*/ 0 h 1278008"/>
              <a:gd name="csX2" fmla="*/ 1377364 w 1384879"/>
              <a:gd name="csY2" fmla="*/ 1278008 h 1278008"/>
              <a:gd name="csX3" fmla="*/ 267091 w 1384879"/>
              <a:gd name="csY3" fmla="*/ 658683 h 1278008"/>
              <a:gd name="csX0" fmla="*/ 267091 w 1402676"/>
              <a:gd name="csY0" fmla="*/ 658683 h 1278008"/>
              <a:gd name="csX1" fmla="*/ 590373 w 1402676"/>
              <a:gd name="csY1" fmla="*/ 0 h 1278008"/>
              <a:gd name="csX2" fmla="*/ 1377364 w 1402676"/>
              <a:gd name="csY2" fmla="*/ 1278008 h 1278008"/>
              <a:gd name="csX3" fmla="*/ 267091 w 1402676"/>
              <a:gd name="csY3" fmla="*/ 658683 h 1278008"/>
              <a:gd name="csX0" fmla="*/ 267091 w 1454061"/>
              <a:gd name="csY0" fmla="*/ 658683 h 1278008"/>
              <a:gd name="csX1" fmla="*/ 590373 w 1454061"/>
              <a:gd name="csY1" fmla="*/ 0 h 1278008"/>
              <a:gd name="csX2" fmla="*/ 1377364 w 1454061"/>
              <a:gd name="csY2" fmla="*/ 1278008 h 1278008"/>
              <a:gd name="csX3" fmla="*/ 267091 w 1454061"/>
              <a:gd name="csY3" fmla="*/ 658683 h 1278008"/>
              <a:gd name="csX0" fmla="*/ 254341 w 1441311"/>
              <a:gd name="csY0" fmla="*/ 658683 h 1278008"/>
              <a:gd name="csX1" fmla="*/ 577623 w 1441311"/>
              <a:gd name="csY1" fmla="*/ 0 h 1278008"/>
              <a:gd name="csX2" fmla="*/ 1364614 w 1441311"/>
              <a:gd name="csY2" fmla="*/ 1278008 h 1278008"/>
              <a:gd name="csX3" fmla="*/ 254341 w 1441311"/>
              <a:gd name="csY3" fmla="*/ 658683 h 1278008"/>
              <a:gd name="csX0" fmla="*/ 318516 w 1216157"/>
              <a:gd name="csY0" fmla="*/ 869699 h 1278008"/>
              <a:gd name="csX1" fmla="*/ 352469 w 1216157"/>
              <a:gd name="csY1" fmla="*/ 0 h 1278008"/>
              <a:gd name="csX2" fmla="*/ 1139460 w 1216157"/>
              <a:gd name="csY2" fmla="*/ 1278008 h 1278008"/>
              <a:gd name="csX3" fmla="*/ 318516 w 1216157"/>
              <a:gd name="csY3" fmla="*/ 869699 h 1278008"/>
              <a:gd name="csX0" fmla="*/ 502720 w 1400361"/>
              <a:gd name="csY0" fmla="*/ 869699 h 1278008"/>
              <a:gd name="csX1" fmla="*/ 536673 w 1400361"/>
              <a:gd name="csY1" fmla="*/ 0 h 1278008"/>
              <a:gd name="csX2" fmla="*/ 1323664 w 1400361"/>
              <a:gd name="csY2" fmla="*/ 1278008 h 1278008"/>
              <a:gd name="csX3" fmla="*/ 502720 w 1400361"/>
              <a:gd name="csY3" fmla="*/ 869699 h 1278008"/>
              <a:gd name="csX0" fmla="*/ 406783 w 1304424"/>
              <a:gd name="csY0" fmla="*/ 869699 h 1278008"/>
              <a:gd name="csX1" fmla="*/ 440736 w 1304424"/>
              <a:gd name="csY1" fmla="*/ 0 h 1278008"/>
              <a:gd name="csX2" fmla="*/ 1227727 w 1304424"/>
              <a:gd name="csY2" fmla="*/ 1278008 h 1278008"/>
              <a:gd name="csX3" fmla="*/ 406783 w 1304424"/>
              <a:gd name="csY3" fmla="*/ 869699 h 1278008"/>
              <a:gd name="csX0" fmla="*/ 396390 w 1351897"/>
              <a:gd name="csY0" fmla="*/ 578300 h 1278008"/>
              <a:gd name="csX1" fmla="*/ 488209 w 1351897"/>
              <a:gd name="csY1" fmla="*/ 0 h 1278008"/>
              <a:gd name="csX2" fmla="*/ 1275200 w 1351897"/>
              <a:gd name="csY2" fmla="*/ 1278008 h 1278008"/>
              <a:gd name="csX3" fmla="*/ 396390 w 1351897"/>
              <a:gd name="csY3" fmla="*/ 578300 h 1278008"/>
              <a:gd name="csX0" fmla="*/ 381784 w 1377449"/>
              <a:gd name="csY0" fmla="*/ 598394 h 1298102"/>
              <a:gd name="csX1" fmla="*/ 560401 w 1377449"/>
              <a:gd name="csY1" fmla="*/ 0 h 1298102"/>
              <a:gd name="csX2" fmla="*/ 1260594 w 1377449"/>
              <a:gd name="csY2" fmla="*/ 1298102 h 1298102"/>
              <a:gd name="csX3" fmla="*/ 381784 w 1377449"/>
              <a:gd name="csY3" fmla="*/ 598394 h 1298102"/>
              <a:gd name="csX0" fmla="*/ 460692 w 1456357"/>
              <a:gd name="csY0" fmla="*/ 598394 h 1298102"/>
              <a:gd name="csX1" fmla="*/ 639309 w 1456357"/>
              <a:gd name="csY1" fmla="*/ 0 h 1298102"/>
              <a:gd name="csX2" fmla="*/ 1339502 w 1456357"/>
              <a:gd name="csY2" fmla="*/ 1298102 h 1298102"/>
              <a:gd name="csX3" fmla="*/ 460692 w 1456357"/>
              <a:gd name="csY3" fmla="*/ 598394 h 1298102"/>
              <a:gd name="csX0" fmla="*/ 460692 w 1584220"/>
              <a:gd name="csY0" fmla="*/ 598394 h 1298102"/>
              <a:gd name="csX1" fmla="*/ 639309 w 1584220"/>
              <a:gd name="csY1" fmla="*/ 0 h 1298102"/>
              <a:gd name="csX2" fmla="*/ 1339502 w 1584220"/>
              <a:gd name="csY2" fmla="*/ 1298102 h 1298102"/>
              <a:gd name="csX3" fmla="*/ 460692 w 1584220"/>
              <a:gd name="csY3" fmla="*/ 598394 h 1298102"/>
              <a:gd name="csX0" fmla="*/ 638450 w 1524563"/>
              <a:gd name="csY0" fmla="*/ 769214 h 1468922"/>
              <a:gd name="csX1" fmla="*/ 248052 w 1524563"/>
              <a:gd name="csY1" fmla="*/ 0 h 1468922"/>
              <a:gd name="csX2" fmla="*/ 1517260 w 1524563"/>
              <a:gd name="csY2" fmla="*/ 1468922 h 1468922"/>
              <a:gd name="csX3" fmla="*/ 638450 w 1524563"/>
              <a:gd name="csY3" fmla="*/ 769214 h 1468922"/>
              <a:gd name="csX0" fmla="*/ 644929 w 1531042"/>
              <a:gd name="csY0" fmla="*/ 769214 h 1468922"/>
              <a:gd name="csX1" fmla="*/ 254531 w 1531042"/>
              <a:gd name="csY1" fmla="*/ 0 h 1468922"/>
              <a:gd name="csX2" fmla="*/ 1523739 w 1531042"/>
              <a:gd name="csY2" fmla="*/ 1468922 h 1468922"/>
              <a:gd name="csX3" fmla="*/ 644929 w 1531042"/>
              <a:gd name="csY3" fmla="*/ 769214 h 1468922"/>
              <a:gd name="csX0" fmla="*/ 1119514 w 1301594"/>
              <a:gd name="csY0" fmla="*/ 1141006 h 1468922"/>
              <a:gd name="csX1" fmla="*/ 25083 w 1301594"/>
              <a:gd name="csY1" fmla="*/ 0 h 1468922"/>
              <a:gd name="csX2" fmla="*/ 1294291 w 1301594"/>
              <a:gd name="csY2" fmla="*/ 1468922 h 1468922"/>
              <a:gd name="csX3" fmla="*/ 1119514 w 1301594"/>
              <a:gd name="csY3" fmla="*/ 1141006 h 1468922"/>
              <a:gd name="csX0" fmla="*/ 1094431 w 1276511"/>
              <a:gd name="csY0" fmla="*/ 1141006 h 1468922"/>
              <a:gd name="csX1" fmla="*/ 0 w 1276511"/>
              <a:gd name="csY1" fmla="*/ 0 h 1468922"/>
              <a:gd name="csX2" fmla="*/ 1269208 w 1276511"/>
              <a:gd name="csY2" fmla="*/ 1468922 h 1468922"/>
              <a:gd name="csX3" fmla="*/ 1094431 w 1276511"/>
              <a:gd name="csY3" fmla="*/ 1141006 h 1468922"/>
              <a:gd name="csX0" fmla="*/ 940123 w 1166431"/>
              <a:gd name="csY0" fmla="*/ 889794 h 1314253"/>
              <a:gd name="csX1" fmla="*/ 0 w 1166431"/>
              <a:gd name="csY1" fmla="*/ 0 h 1314253"/>
              <a:gd name="csX2" fmla="*/ 1114900 w 1166431"/>
              <a:gd name="csY2" fmla="*/ 1217710 h 1314253"/>
              <a:gd name="csX3" fmla="*/ 940123 w 1166431"/>
              <a:gd name="csY3" fmla="*/ 889794 h 1314253"/>
              <a:gd name="csX0" fmla="*/ 1576648 w 1751425"/>
              <a:gd name="csY0" fmla="*/ 457715 h 1126889"/>
              <a:gd name="csX1" fmla="*/ 0 w 1751425"/>
              <a:gd name="csY1" fmla="*/ 0 h 1126889"/>
              <a:gd name="csX2" fmla="*/ 1751425 w 1751425"/>
              <a:gd name="csY2" fmla="*/ 785631 h 1126889"/>
              <a:gd name="csX3" fmla="*/ 1576648 w 1751425"/>
              <a:gd name="csY3" fmla="*/ 457715 h 1126889"/>
              <a:gd name="csX0" fmla="*/ 1576648 w 1751425"/>
              <a:gd name="csY0" fmla="*/ 550044 h 1219218"/>
              <a:gd name="csX1" fmla="*/ 0 w 1751425"/>
              <a:gd name="csY1" fmla="*/ 92329 h 1219218"/>
              <a:gd name="csX2" fmla="*/ 1751425 w 1751425"/>
              <a:gd name="csY2" fmla="*/ 877960 h 1219218"/>
              <a:gd name="csX3" fmla="*/ 1576648 w 1751425"/>
              <a:gd name="csY3" fmla="*/ 550044 h 1219218"/>
              <a:gd name="csX0" fmla="*/ 1576648 w 1751425"/>
              <a:gd name="csY0" fmla="*/ 550044 h 1356802"/>
              <a:gd name="csX1" fmla="*/ 0 w 1751425"/>
              <a:gd name="csY1" fmla="*/ 92329 h 1356802"/>
              <a:gd name="csX2" fmla="*/ 1751425 w 1751425"/>
              <a:gd name="csY2" fmla="*/ 877960 h 1356802"/>
              <a:gd name="csX3" fmla="*/ 1576648 w 1751425"/>
              <a:gd name="csY3" fmla="*/ 550044 h 1356802"/>
              <a:gd name="csX0" fmla="*/ 1576648 w 1751425"/>
              <a:gd name="csY0" fmla="*/ 550044 h 1508856"/>
              <a:gd name="csX1" fmla="*/ 0 w 1751425"/>
              <a:gd name="csY1" fmla="*/ 92329 h 1508856"/>
              <a:gd name="csX2" fmla="*/ 1751425 w 1751425"/>
              <a:gd name="csY2" fmla="*/ 877960 h 1508856"/>
              <a:gd name="csX3" fmla="*/ 1576648 w 1751425"/>
              <a:gd name="csY3" fmla="*/ 550044 h 1508856"/>
              <a:gd name="csX0" fmla="*/ 1576648 w 1751425"/>
              <a:gd name="csY0" fmla="*/ 457715 h 1416527"/>
              <a:gd name="csX1" fmla="*/ 0 w 1751425"/>
              <a:gd name="csY1" fmla="*/ 0 h 1416527"/>
              <a:gd name="csX2" fmla="*/ 1751425 w 1751425"/>
              <a:gd name="csY2" fmla="*/ 785631 h 1416527"/>
              <a:gd name="csX3" fmla="*/ 1576648 w 1751425"/>
              <a:gd name="csY3" fmla="*/ 457715 h 1416527"/>
            </a:gdLst>
            <a:ahLst/>
            <a:cxnLst>
              <a:cxn ang="0">
                <a:pos x="csX0" y="csY0"/>
              </a:cxn>
              <a:cxn ang="0">
                <a:pos x="csX1" y="csY1"/>
              </a:cxn>
              <a:cxn ang="0">
                <a:pos x="csX2" y="csY2"/>
              </a:cxn>
              <a:cxn ang="0">
                <a:pos x="csX3" y="csY3"/>
              </a:cxn>
            </a:cxnLst>
            <a:rect l="l" t="t" r="r" b="b"/>
            <a:pathLst>
              <a:path w="1751425" h="1416527">
                <a:moveTo>
                  <a:pt x="1576648" y="457715"/>
                </a:moveTo>
                <a:cubicBezTo>
                  <a:pt x="473297" y="715589"/>
                  <a:pt x="1631999" y="2733594"/>
                  <a:pt x="0" y="0"/>
                </a:cubicBezTo>
                <a:cubicBezTo>
                  <a:pt x="873917" y="762947"/>
                  <a:pt x="1688542" y="-606600"/>
                  <a:pt x="1751425" y="785631"/>
                </a:cubicBezTo>
                <a:cubicBezTo>
                  <a:pt x="1381334" y="579189"/>
                  <a:pt x="1584999" y="503384"/>
                  <a:pt x="1576648" y="457715"/>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19" name="TextBox 18">
            <a:extLst>
              <a:ext uri="{FF2B5EF4-FFF2-40B4-BE49-F238E27FC236}">
                <a16:creationId xmlns:a16="http://schemas.microsoft.com/office/drawing/2014/main" id="{214DF3C7-42C8-129C-4EA5-77B75343F8E2}"/>
              </a:ext>
            </a:extLst>
          </p:cNvPr>
          <p:cNvSpPr txBox="1"/>
          <p:nvPr/>
        </p:nvSpPr>
        <p:spPr>
          <a:xfrm>
            <a:off x="446271" y="1140126"/>
            <a:ext cx="5827244" cy="3901068"/>
          </a:xfrm>
          <a:prstGeom prst="rect">
            <a:avLst/>
          </a:prstGeom>
          <a:noFill/>
        </p:spPr>
        <p:txBody>
          <a:bodyPr wrap="square">
            <a:spAutoFit/>
          </a:bodyPr>
          <a:lstStyle/>
          <a:p>
            <a:pPr marL="0" marR="0">
              <a:lnSpc>
                <a:spcPct val="150000"/>
              </a:lnSpc>
              <a:spcAft>
                <a:spcPts val="800"/>
              </a:spcAft>
              <a:buNone/>
            </a:pPr>
            <a:r>
              <a:rPr lang="en-US" sz="2000" b="1" dirty="0">
                <a:solidFill>
                  <a:srgbClr val="002B49"/>
                </a:solidFill>
              </a:rPr>
              <a:t>Methodology:</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Offline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rgbClr val="002B49"/>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rgbClr val="002B49"/>
                </a:solidFill>
              </a:rPr>
              <a:t>Forecast future with selected method.</a:t>
            </a:r>
          </a:p>
        </p:txBody>
      </p:sp>
      <p:sp>
        <p:nvSpPr>
          <p:cNvPr id="6" name="Round Same Side Corner Rectangle 3">
            <a:extLst>
              <a:ext uri="{FF2B5EF4-FFF2-40B4-BE49-F238E27FC236}">
                <a16:creationId xmlns:a16="http://schemas.microsoft.com/office/drawing/2014/main" id="{02E8DD2B-FA35-4288-FE62-FCEE7B7C3713}"/>
              </a:ext>
            </a:extLst>
          </p:cNvPr>
          <p:cNvSpPr>
            <a:spLocks/>
          </p:cNvSpPr>
          <p:nvPr/>
        </p:nvSpPr>
        <p:spPr bwMode="auto">
          <a:xfrm>
            <a:off x="6158184" y="1536303"/>
            <a:ext cx="5866776" cy="222840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48679AFC-C2C4-9F7F-50B1-34737BE3301B}"/>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DF2FA8BE-7E7B-4071-5A5C-2722F9746313}"/>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6CF163E2-75F7-DF1D-68F9-27534A533E0B}"/>
              </a:ext>
            </a:extLst>
          </p:cNvPr>
          <p:cNvSpPr txBox="1"/>
          <p:nvPr/>
        </p:nvSpPr>
        <p:spPr>
          <a:xfrm>
            <a:off x="6669361" y="2560599"/>
            <a:ext cx="5316067" cy="738664"/>
          </a:xfrm>
          <a:prstGeom prst="rect">
            <a:avLst/>
          </a:prstGeom>
          <a:noFill/>
        </p:spPr>
        <p:txBody>
          <a:bodyPr wrap="square">
            <a:spAutoFit/>
          </a:bodyPr>
          <a:lstStyle/>
          <a:p>
            <a:pPr lvl="0"/>
            <a:r>
              <a:rPr lang="en-US" sz="1400" dirty="0"/>
              <a:t>The system produces base forecasts and reconciles them using </a:t>
            </a:r>
            <a:r>
              <a:rPr lang="en-US" sz="1400" i="1" dirty="0"/>
              <a:t>only</a:t>
            </a:r>
            <a:r>
              <a:rPr lang="en-US" sz="1400" dirty="0"/>
              <a:t> the specific HF method selected by the classifier .</a:t>
            </a:r>
          </a:p>
        </p:txBody>
      </p:sp>
      <p:sp>
        <p:nvSpPr>
          <p:cNvPr id="16" name="TextBox 15">
            <a:extLst>
              <a:ext uri="{FF2B5EF4-FFF2-40B4-BE49-F238E27FC236}">
                <a16:creationId xmlns:a16="http://schemas.microsoft.com/office/drawing/2014/main" id="{8F37C1D1-A142-0EE4-1BA7-61A2822F43CD}"/>
              </a:ext>
            </a:extLst>
          </p:cNvPr>
          <p:cNvSpPr txBox="1"/>
          <p:nvPr/>
        </p:nvSpPr>
        <p:spPr>
          <a:xfrm>
            <a:off x="6545201" y="1728899"/>
            <a:ext cx="3724213" cy="366254"/>
          </a:xfrm>
          <a:prstGeom prst="rect">
            <a:avLst/>
          </a:prstGeom>
          <a:noFill/>
        </p:spPr>
        <p:txBody>
          <a:bodyPr wrap="square">
            <a:spAutoFit/>
          </a:bodyPr>
          <a:lstStyle/>
          <a:p>
            <a:pPr>
              <a:lnSpc>
                <a:spcPct val="115000"/>
              </a:lnSpc>
              <a:spcAft>
                <a:spcPts val="800"/>
              </a:spcAft>
            </a:pPr>
            <a:r>
              <a:rPr lang="en-US" sz="1600" b="1" dirty="0"/>
              <a:t>Final Forecasting</a:t>
            </a:r>
            <a:endParaRPr lang="en-US" sz="1600" b="1" dirty="0">
              <a:solidFill>
                <a:srgbClr val="002B49"/>
              </a:solidFill>
            </a:endParaRPr>
          </a:p>
        </p:txBody>
      </p:sp>
    </p:spTree>
    <p:extLst>
      <p:ext uri="{BB962C8B-B14F-4D97-AF65-F5344CB8AC3E}">
        <p14:creationId xmlns:p14="http://schemas.microsoft.com/office/powerpoint/2010/main" val="40475106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8A7EC-E1DD-323D-A0E5-0299F4267A13}"/>
            </a:ext>
          </a:extLst>
        </p:cNvPr>
        <p:cNvGrpSpPr/>
        <p:nvPr/>
      </p:nvGrpSpPr>
      <p:grpSpPr>
        <a:xfrm>
          <a:off x="0" y="0"/>
          <a:ext cx="0" cy="0"/>
          <a:chOff x="0" y="0"/>
          <a:chExt cx="0" cy="0"/>
        </a:xfrm>
      </p:grpSpPr>
      <p:sp>
        <p:nvSpPr>
          <p:cNvPr id="6" name="Round Same Side Corner Rectangle 3">
            <a:extLst>
              <a:ext uri="{FF2B5EF4-FFF2-40B4-BE49-F238E27FC236}">
                <a16:creationId xmlns:a16="http://schemas.microsoft.com/office/drawing/2014/main" id="{578729E4-DD87-AA27-EB60-DDB69496429D}"/>
              </a:ext>
            </a:extLst>
          </p:cNvPr>
          <p:cNvSpPr>
            <a:spLocks/>
          </p:cNvSpPr>
          <p:nvPr/>
        </p:nvSpPr>
        <p:spPr bwMode="auto">
          <a:xfrm>
            <a:off x="1651378" y="1140126"/>
            <a:ext cx="8748215" cy="4306081"/>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8E893529-76B4-CE9A-F865-DB7CB24F5D29}"/>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D3798F95-6AB6-A3C7-0821-4434AEA31F9F}"/>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19" name="TextBox 18">
            <a:extLst>
              <a:ext uri="{FF2B5EF4-FFF2-40B4-BE49-F238E27FC236}">
                <a16:creationId xmlns:a16="http://schemas.microsoft.com/office/drawing/2014/main" id="{359C76AA-DE9A-5265-2FB6-D46A97198B53}"/>
              </a:ext>
            </a:extLst>
          </p:cNvPr>
          <p:cNvSpPr txBox="1"/>
          <p:nvPr/>
        </p:nvSpPr>
        <p:spPr>
          <a:xfrm>
            <a:off x="1937982" y="1411793"/>
            <a:ext cx="1337482" cy="515526"/>
          </a:xfrm>
          <a:prstGeom prst="rect">
            <a:avLst/>
          </a:prstGeom>
          <a:noFill/>
        </p:spPr>
        <p:txBody>
          <a:bodyPr wrap="square">
            <a:spAutoFit/>
          </a:bodyPr>
          <a:lstStyle/>
          <a:p>
            <a:pPr marL="0" marR="0">
              <a:lnSpc>
                <a:spcPct val="150000"/>
              </a:lnSpc>
              <a:spcAft>
                <a:spcPts val="800"/>
              </a:spcAft>
              <a:buNone/>
            </a:pPr>
            <a:r>
              <a:rPr lang="en-US" sz="2000" b="1" dirty="0">
                <a:solidFill>
                  <a:srgbClr val="002B49"/>
                </a:solidFill>
              </a:rPr>
              <a:t>Results</a:t>
            </a:r>
          </a:p>
        </p:txBody>
      </p:sp>
      <p:pic>
        <p:nvPicPr>
          <p:cNvPr id="5" name="Picture 4">
            <a:extLst>
              <a:ext uri="{FF2B5EF4-FFF2-40B4-BE49-F238E27FC236}">
                <a16:creationId xmlns:a16="http://schemas.microsoft.com/office/drawing/2014/main" id="{9AABB494-7697-E8C8-1B88-DCA4F7D3287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502511" y="1342756"/>
            <a:ext cx="6333699" cy="3900819"/>
          </a:xfrm>
          <a:prstGeom prst="rect">
            <a:avLst/>
          </a:prstGeom>
        </p:spPr>
      </p:pic>
    </p:spTree>
    <p:extLst>
      <p:ext uri="{BB962C8B-B14F-4D97-AF65-F5344CB8AC3E}">
        <p14:creationId xmlns:p14="http://schemas.microsoft.com/office/powerpoint/2010/main" val="339774219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29E02-0111-3526-BDC1-8F37B65899E0}"/>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C9FBF4EE-58BA-CBE0-8C6E-24E1AC897EFA}"/>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a:t>
            </a:r>
          </a:p>
        </p:txBody>
      </p:sp>
      <p:sp>
        <p:nvSpPr>
          <p:cNvPr id="17" name="TextBox 16">
            <a:extLst>
              <a:ext uri="{FF2B5EF4-FFF2-40B4-BE49-F238E27FC236}">
                <a16:creationId xmlns:a16="http://schemas.microsoft.com/office/drawing/2014/main" id="{618372DF-D1F2-0252-5E82-15E9F8C3B163}"/>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19" name="TextBox 18">
            <a:extLst>
              <a:ext uri="{FF2B5EF4-FFF2-40B4-BE49-F238E27FC236}">
                <a16:creationId xmlns:a16="http://schemas.microsoft.com/office/drawing/2014/main" id="{3965C57A-BBAB-8BB5-93EF-B50C03E47DE3}"/>
              </a:ext>
            </a:extLst>
          </p:cNvPr>
          <p:cNvSpPr txBox="1"/>
          <p:nvPr/>
        </p:nvSpPr>
        <p:spPr>
          <a:xfrm>
            <a:off x="446268" y="828000"/>
            <a:ext cx="11565732" cy="4567917"/>
          </a:xfrm>
          <a:prstGeom prst="rect">
            <a:avLst/>
          </a:prstGeom>
          <a:noFill/>
        </p:spPr>
        <p:txBody>
          <a:bodyPr wrap="square">
            <a:spAutoFit/>
          </a:bodyPr>
          <a:lstStyle/>
          <a:p>
            <a:pPr>
              <a:lnSpc>
                <a:spcPct val="200000"/>
              </a:lnSpc>
              <a:spcAft>
                <a:spcPts val="800"/>
              </a:spcAft>
            </a:pPr>
            <a:r>
              <a:rPr lang="en-US" sz="2000" b="1" dirty="0"/>
              <a:t>Application to Buffalo Milk Prediction</a:t>
            </a:r>
          </a:p>
          <a:p>
            <a:pPr marL="342900" indent="-342900">
              <a:lnSpc>
                <a:spcPct val="150000"/>
              </a:lnSpc>
              <a:spcAft>
                <a:spcPts val="800"/>
              </a:spcAft>
              <a:buFont typeface="Arial" panose="020B0604020202020204" pitchFamily="34" charset="0"/>
              <a:buChar char="•"/>
            </a:pPr>
            <a:r>
              <a:rPr lang="en-US" sz="2000" b="1" dirty="0">
                <a:solidFill>
                  <a:srgbClr val="002B49"/>
                </a:solidFill>
              </a:rPr>
              <a:t>E</a:t>
            </a:r>
            <a:r>
              <a:rPr lang="en-US" sz="2000" b="1" dirty="0"/>
              <a:t>xpected result: </a:t>
            </a:r>
            <a:r>
              <a:rPr lang="en-US" sz="2000" dirty="0"/>
              <a:t>Adaptive method selection based on data characteristics (seasonality, DIM patterns, farm-specific trends).</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Comparison to Baseline:</a:t>
            </a:r>
            <a:r>
              <a:rPr lang="en-US" sz="2000" dirty="0"/>
              <a:t> automatically choosing best reconciliation approach for different time periods/conditions.</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New insight: </a:t>
            </a:r>
            <a:r>
              <a:rPr lang="en-US" sz="2000" dirty="0"/>
              <a:t>Understanding which forecasting methods work best under different climate stress scenarios.</a:t>
            </a:r>
          </a:p>
        </p:txBody>
      </p:sp>
    </p:spTree>
    <p:extLst>
      <p:ext uri="{BB962C8B-B14F-4D97-AF65-F5344CB8AC3E}">
        <p14:creationId xmlns:p14="http://schemas.microsoft.com/office/powerpoint/2010/main" val="458164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7DEF1-6FB7-B712-41D8-A884E3BBAA34}"/>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38E4985E-4E1D-923E-FB75-DEE59B18E0D4}"/>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End-to-End Learning of Coherent Probabilistic, by S. </a:t>
            </a:r>
            <a:r>
              <a:rPr lang="en-US" sz="2800" dirty="0" err="1"/>
              <a:t>Rangapuram</a:t>
            </a:r>
            <a:endParaRPr lang="en-US" sz="2800" i="1" dirty="0"/>
          </a:p>
        </p:txBody>
      </p:sp>
      <p:sp>
        <p:nvSpPr>
          <p:cNvPr id="17" name="TextBox 16">
            <a:extLst>
              <a:ext uri="{FF2B5EF4-FFF2-40B4-BE49-F238E27FC236}">
                <a16:creationId xmlns:a16="http://schemas.microsoft.com/office/drawing/2014/main" id="{CF4C80BC-6159-29AE-BCD1-181D6E32F483}"/>
              </a:ext>
            </a:extLst>
          </p:cNvPr>
          <p:cNvSpPr txBox="1"/>
          <p:nvPr/>
        </p:nvSpPr>
        <p:spPr>
          <a:xfrm>
            <a:off x="446269" y="5724361"/>
            <a:ext cx="11600587" cy="492443"/>
          </a:xfrm>
          <a:prstGeom prst="rect">
            <a:avLst/>
          </a:prstGeom>
          <a:noFill/>
        </p:spPr>
        <p:txBody>
          <a:bodyPr wrap="square">
            <a:spAutoFit/>
          </a:bodyPr>
          <a:lstStyle/>
          <a:p>
            <a:r>
              <a:rPr lang="en-US" sz="1300" dirty="0"/>
              <a:t>S. </a:t>
            </a:r>
            <a:r>
              <a:rPr lang="en-US" sz="1300" dirty="0" err="1"/>
              <a:t>Rangapuram</a:t>
            </a:r>
            <a:r>
              <a:rPr lang="en-US" sz="1300" dirty="0"/>
              <a:t>, </a:t>
            </a:r>
            <a:r>
              <a:rPr lang="en-US" sz="1300" i="1" dirty="0"/>
              <a:t>et al.,</a:t>
            </a:r>
            <a:r>
              <a:rPr lang="en-US" sz="1300" dirty="0"/>
              <a:t> "End-to-end learning of coherent probabilistic forecasts for hierarchical time series," 2021. [Online]. Available: </a:t>
            </a:r>
            <a:r>
              <a:rPr lang="en-US" sz="1300" dirty="0">
                <a:hlinkClick r:id="rId2"/>
              </a:rPr>
              <a:t>https://www.amazon.science/publications/end-to-end-learning-of-coherent-probabilistic-forecasts-for-hierarchical-time-series</a:t>
            </a:r>
            <a:endParaRPr lang="en-US" sz="1300" dirty="0"/>
          </a:p>
        </p:txBody>
      </p:sp>
      <p:sp>
        <p:nvSpPr>
          <p:cNvPr id="19" name="TextBox 18">
            <a:extLst>
              <a:ext uri="{FF2B5EF4-FFF2-40B4-BE49-F238E27FC236}">
                <a16:creationId xmlns:a16="http://schemas.microsoft.com/office/drawing/2014/main" id="{F4E727A5-7314-A7F4-9C20-D21E98DF8AF3}"/>
              </a:ext>
            </a:extLst>
          </p:cNvPr>
          <p:cNvSpPr txBox="1"/>
          <p:nvPr/>
        </p:nvSpPr>
        <p:spPr>
          <a:xfrm>
            <a:off x="446269" y="1140126"/>
            <a:ext cx="11248571" cy="1599156"/>
          </a:xfrm>
          <a:prstGeom prst="rect">
            <a:avLst/>
          </a:prstGeom>
          <a:noFill/>
        </p:spPr>
        <p:txBody>
          <a:bodyPr wrap="square">
            <a:spAutoFit/>
          </a:bodyPr>
          <a:lstStyle/>
          <a:p>
            <a:pPr>
              <a:lnSpc>
                <a:spcPct val="115000"/>
              </a:lnSpc>
              <a:spcAft>
                <a:spcPts val="800"/>
              </a:spcAft>
            </a:pPr>
            <a:r>
              <a:rPr lang="en-US" sz="2000" b="1" dirty="0">
                <a:solidFill>
                  <a:srgbClr val="002B49"/>
                </a:solidFill>
              </a:rPr>
              <a:t>Objective:</a:t>
            </a:r>
            <a:r>
              <a:rPr lang="en-US" sz="2000" dirty="0">
                <a:solidFill>
                  <a:srgbClr val="002B49"/>
                </a:solidFill>
              </a:rPr>
              <a:t> Learn a single neural network that produces </a:t>
            </a:r>
            <a:r>
              <a:rPr lang="en-US" sz="2000" b="1" dirty="0">
                <a:solidFill>
                  <a:srgbClr val="002B49"/>
                </a:solidFill>
              </a:rPr>
              <a:t>probabilistic</a:t>
            </a:r>
            <a:r>
              <a:rPr lang="en-US" sz="2000" dirty="0">
                <a:solidFill>
                  <a:srgbClr val="002B49"/>
                </a:solidFill>
              </a:rPr>
              <a:t> forecasts for all levels of a hierarchical time series that are </a:t>
            </a:r>
            <a:r>
              <a:rPr lang="en-US" sz="2000" b="1" dirty="0">
                <a:solidFill>
                  <a:srgbClr val="002B49"/>
                </a:solidFill>
              </a:rPr>
              <a:t>guaranteed to be coherent </a:t>
            </a:r>
            <a:r>
              <a:rPr lang="en-US" sz="2000" dirty="0">
                <a:solidFill>
                  <a:srgbClr val="002B49"/>
                </a:solidFill>
              </a:rPr>
              <a:t>without any </a:t>
            </a:r>
            <a:r>
              <a:rPr lang="en-US" sz="2000" b="1" dirty="0">
                <a:solidFill>
                  <a:srgbClr val="002B49"/>
                </a:solidFill>
              </a:rPr>
              <a:t>post-processing</a:t>
            </a:r>
            <a:r>
              <a:rPr lang="en-US" sz="2000" dirty="0">
                <a:solidFill>
                  <a:srgbClr val="002B49"/>
                </a:solidFill>
              </a:rPr>
              <a:t>.</a:t>
            </a:r>
          </a:p>
          <a:p>
            <a:pPr>
              <a:lnSpc>
                <a:spcPct val="115000"/>
              </a:lnSpc>
              <a:spcAft>
                <a:spcPts val="800"/>
              </a:spcAft>
            </a:pPr>
            <a:endParaRPr lang="en-US" sz="2000" b="1" dirty="0">
              <a:solidFill>
                <a:srgbClr val="002B49"/>
              </a:solidFill>
            </a:endParaRPr>
          </a:p>
        </p:txBody>
      </p:sp>
      <p:pic>
        <p:nvPicPr>
          <p:cNvPr id="2" name="Picture 1">
            <a:extLst>
              <a:ext uri="{FF2B5EF4-FFF2-40B4-BE49-F238E27FC236}">
                <a16:creationId xmlns:a16="http://schemas.microsoft.com/office/drawing/2014/main" id="{27576A4B-B235-ED84-CB19-85DEC56A7FE1}"/>
              </a:ext>
            </a:extLst>
          </p:cNvPr>
          <p:cNvPicPr>
            <a:picLocks noChangeAspect="1"/>
          </p:cNvPicPr>
          <p:nvPr/>
        </p:nvPicPr>
        <p:blipFill>
          <a:blip r:embed="rId3"/>
          <a:stretch>
            <a:fillRect/>
          </a:stretch>
        </p:blipFill>
        <p:spPr>
          <a:xfrm>
            <a:off x="422650" y="2453072"/>
            <a:ext cx="11346699" cy="2996692"/>
          </a:xfrm>
          <a:prstGeom prst="rect">
            <a:avLst/>
          </a:prstGeom>
        </p:spPr>
      </p:pic>
    </p:spTree>
    <p:extLst>
      <p:ext uri="{BB962C8B-B14F-4D97-AF65-F5344CB8AC3E}">
        <p14:creationId xmlns:p14="http://schemas.microsoft.com/office/powerpoint/2010/main" val="3210982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BF092-B46D-74AA-0A0B-1187CD59B20D}"/>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024BD6F7-D377-3F7A-2ADB-91AF5838B27B}"/>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End-to-End Learning of Coherent Probabilistic, by S. </a:t>
            </a:r>
            <a:r>
              <a:rPr lang="en-US" sz="2800" dirty="0" err="1"/>
              <a:t>Rangapuram</a:t>
            </a:r>
            <a:endParaRPr lang="en-US" sz="2800" i="1" dirty="0"/>
          </a:p>
        </p:txBody>
      </p:sp>
      <p:sp>
        <p:nvSpPr>
          <p:cNvPr id="19" name="TextBox 18">
            <a:extLst>
              <a:ext uri="{FF2B5EF4-FFF2-40B4-BE49-F238E27FC236}">
                <a16:creationId xmlns:a16="http://schemas.microsoft.com/office/drawing/2014/main" id="{B9053702-6333-EF62-A2CB-263247C45281}"/>
              </a:ext>
            </a:extLst>
          </p:cNvPr>
          <p:cNvSpPr txBox="1"/>
          <p:nvPr/>
        </p:nvSpPr>
        <p:spPr>
          <a:xfrm>
            <a:off x="446269" y="4137080"/>
            <a:ext cx="11323080" cy="1142620"/>
          </a:xfrm>
          <a:prstGeom prst="rect">
            <a:avLst/>
          </a:prstGeom>
          <a:noFill/>
        </p:spPr>
        <p:txBody>
          <a:bodyPr wrap="square">
            <a:spAutoFit/>
          </a:bodyPr>
          <a:lstStyle/>
          <a:p>
            <a:pPr>
              <a:lnSpc>
                <a:spcPct val="115000"/>
              </a:lnSpc>
              <a:spcAft>
                <a:spcPts val="800"/>
              </a:spcAft>
            </a:pPr>
            <a:r>
              <a:rPr lang="en-US" sz="2000" dirty="0">
                <a:solidFill>
                  <a:srgbClr val="002B49"/>
                </a:solidFill>
              </a:rPr>
              <a:t>The model uses a </a:t>
            </a:r>
            <a:r>
              <a:rPr lang="en-US" sz="2000" b="1" dirty="0">
                <a:solidFill>
                  <a:srgbClr val="002B49"/>
                </a:solidFill>
              </a:rPr>
              <a:t>recurrent neural network </a:t>
            </a:r>
            <a:r>
              <a:rPr lang="en-US" sz="2000" dirty="0">
                <a:solidFill>
                  <a:srgbClr val="002B49"/>
                </a:solidFill>
              </a:rPr>
              <a:t>(RNN) to learn from </a:t>
            </a:r>
            <a:r>
              <a:rPr lang="en-US" sz="2000" b="1" dirty="0">
                <a:solidFill>
                  <a:srgbClr val="002B49"/>
                </a:solidFill>
              </a:rPr>
              <a:t>all</a:t>
            </a:r>
            <a:r>
              <a:rPr lang="en-US" sz="2000" dirty="0">
                <a:solidFill>
                  <a:srgbClr val="002B49"/>
                </a:solidFill>
              </a:rPr>
              <a:t> time series in the hierarchy </a:t>
            </a:r>
            <a:r>
              <a:rPr lang="en-US" sz="2000" b="1" dirty="0">
                <a:solidFill>
                  <a:srgbClr val="002B49"/>
                </a:solidFill>
              </a:rPr>
              <a:t>simultaneously</a:t>
            </a:r>
            <a:r>
              <a:rPr lang="en-US" sz="2000" dirty="0">
                <a:solidFill>
                  <a:srgbClr val="002B49"/>
                </a:solidFill>
              </a:rPr>
              <a:t>. </a:t>
            </a:r>
            <a:r>
              <a:rPr lang="en-US" sz="2000" dirty="0"/>
              <a:t>Then, the model predict the </a:t>
            </a:r>
            <a:r>
              <a:rPr lang="en-US" sz="2000" b="1" dirty="0"/>
              <a:t>parameters of data probability distribution </a:t>
            </a:r>
            <a:r>
              <a:rPr lang="en-US" sz="2000" dirty="0"/>
              <a:t>(mean, variances/covariances for all series)</a:t>
            </a:r>
            <a:endParaRPr lang="en-US" sz="2000" dirty="0">
              <a:solidFill>
                <a:srgbClr val="002B49"/>
              </a:solidFill>
            </a:endParaRPr>
          </a:p>
        </p:txBody>
      </p:sp>
      <p:pic>
        <p:nvPicPr>
          <p:cNvPr id="2" name="Picture 1">
            <a:extLst>
              <a:ext uri="{FF2B5EF4-FFF2-40B4-BE49-F238E27FC236}">
                <a16:creationId xmlns:a16="http://schemas.microsoft.com/office/drawing/2014/main" id="{6E2354D8-94C0-57AD-E0BA-981FE281BB41}"/>
              </a:ext>
            </a:extLst>
          </p:cNvPr>
          <p:cNvPicPr>
            <a:picLocks noChangeAspect="1"/>
          </p:cNvPicPr>
          <p:nvPr/>
        </p:nvPicPr>
        <p:blipFill>
          <a:blip r:embed="rId2"/>
          <a:stretch>
            <a:fillRect/>
          </a:stretch>
        </p:blipFill>
        <p:spPr>
          <a:xfrm>
            <a:off x="422650" y="828000"/>
            <a:ext cx="11346699" cy="2996692"/>
          </a:xfrm>
          <a:prstGeom prst="rect">
            <a:avLst/>
          </a:prstGeom>
        </p:spPr>
      </p:pic>
      <p:sp>
        <p:nvSpPr>
          <p:cNvPr id="33" name="Freeform 32">
            <a:extLst>
              <a:ext uri="{FF2B5EF4-FFF2-40B4-BE49-F238E27FC236}">
                <a16:creationId xmlns:a16="http://schemas.microsoft.com/office/drawing/2014/main" id="{D02636A7-F6EB-0C62-0501-F9CDB0978C15}"/>
              </a:ext>
            </a:extLst>
          </p:cNvPr>
          <p:cNvSpPr/>
          <p:nvPr/>
        </p:nvSpPr>
        <p:spPr bwMode="auto">
          <a:xfrm>
            <a:off x="-21285122" y="784299"/>
            <a:ext cx="44739096" cy="3129851"/>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4958216" h="3129851">
                <a:moveTo>
                  <a:pt x="0" y="0"/>
                </a:moveTo>
                <a:lnTo>
                  <a:pt x="34958216" y="0"/>
                </a:lnTo>
                <a:lnTo>
                  <a:pt x="34958216" y="3129851"/>
                </a:lnTo>
                <a:lnTo>
                  <a:pt x="0" y="3129851"/>
                </a:lnTo>
                <a:lnTo>
                  <a:pt x="0" y="0"/>
                </a:lnTo>
                <a:close/>
                <a:moveTo>
                  <a:pt x="17317019" y="118849"/>
                </a:moveTo>
                <a:cubicBezTo>
                  <a:pt x="17155311" y="118849"/>
                  <a:pt x="17024220" y="249940"/>
                  <a:pt x="17024220" y="411648"/>
                </a:cubicBezTo>
                <a:lnTo>
                  <a:pt x="17024220" y="2691013"/>
                </a:lnTo>
                <a:cubicBezTo>
                  <a:pt x="17024220" y="2852721"/>
                  <a:pt x="17155311" y="2983812"/>
                  <a:pt x="17317019" y="2983812"/>
                </a:cubicBezTo>
                <a:lnTo>
                  <a:pt x="20607962" y="2983812"/>
                </a:lnTo>
                <a:cubicBezTo>
                  <a:pt x="20769670" y="2983812"/>
                  <a:pt x="20900761" y="2852721"/>
                  <a:pt x="20900761" y="2691013"/>
                </a:cubicBezTo>
                <a:lnTo>
                  <a:pt x="20900761" y="411648"/>
                </a:lnTo>
                <a:cubicBezTo>
                  <a:pt x="20900761" y="249940"/>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a:p>
        </p:txBody>
      </p:sp>
      <p:sp>
        <p:nvSpPr>
          <p:cNvPr id="5" name="TextBox 4">
            <a:extLst>
              <a:ext uri="{FF2B5EF4-FFF2-40B4-BE49-F238E27FC236}">
                <a16:creationId xmlns:a16="http://schemas.microsoft.com/office/drawing/2014/main" id="{CB37719F-86EE-B391-2834-56738E64D619}"/>
              </a:ext>
            </a:extLst>
          </p:cNvPr>
          <p:cNvSpPr txBox="1"/>
          <p:nvPr/>
        </p:nvSpPr>
        <p:spPr>
          <a:xfrm>
            <a:off x="446269" y="5724361"/>
            <a:ext cx="11600587" cy="492443"/>
          </a:xfrm>
          <a:prstGeom prst="rect">
            <a:avLst/>
          </a:prstGeom>
          <a:noFill/>
        </p:spPr>
        <p:txBody>
          <a:bodyPr wrap="square">
            <a:spAutoFit/>
          </a:bodyPr>
          <a:lstStyle/>
          <a:p>
            <a:r>
              <a:rPr lang="en-US" sz="1300" dirty="0"/>
              <a:t>S. </a:t>
            </a:r>
            <a:r>
              <a:rPr lang="en-US" sz="1300" dirty="0" err="1"/>
              <a:t>Rangapuram</a:t>
            </a:r>
            <a:r>
              <a:rPr lang="en-US" sz="1300" dirty="0"/>
              <a:t>, </a:t>
            </a:r>
            <a:r>
              <a:rPr lang="en-US" sz="1300" i="1" dirty="0"/>
              <a:t>et al.,</a:t>
            </a:r>
            <a:r>
              <a:rPr lang="en-US" sz="1300" dirty="0"/>
              <a:t> "End-to-end learning of coherent probabilistic forecasts for hierarchical time series," 2021. [Online]. Available: </a:t>
            </a:r>
            <a:r>
              <a:rPr lang="en-US" sz="1300" dirty="0">
                <a:hlinkClick r:id="rId3"/>
              </a:rPr>
              <a:t>https://www.amazon.science/publications/end-to-end-learning-of-coherent-probabilistic-forecasts-for-hierarchical-time-series</a:t>
            </a:r>
            <a:endParaRPr lang="en-US" sz="1300" dirty="0"/>
          </a:p>
        </p:txBody>
      </p:sp>
    </p:spTree>
    <p:extLst>
      <p:ext uri="{BB962C8B-B14F-4D97-AF65-F5344CB8AC3E}">
        <p14:creationId xmlns:p14="http://schemas.microsoft.com/office/powerpoint/2010/main" val="413922473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55D45-BA64-F02E-8106-379DCD378423}"/>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D6DDF1C-AA5E-C3D8-06CD-291F35D41DC1}"/>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End-to-End Learning of Coherent Probabilistic, by S. </a:t>
            </a:r>
            <a:r>
              <a:rPr lang="en-US" sz="2800" dirty="0" err="1"/>
              <a:t>Rangapuram</a:t>
            </a:r>
            <a:endParaRPr lang="en-US" sz="2800" i="1" dirty="0"/>
          </a:p>
        </p:txBody>
      </p:sp>
      <p:sp>
        <p:nvSpPr>
          <p:cNvPr id="19" name="TextBox 18">
            <a:extLst>
              <a:ext uri="{FF2B5EF4-FFF2-40B4-BE49-F238E27FC236}">
                <a16:creationId xmlns:a16="http://schemas.microsoft.com/office/drawing/2014/main" id="{E4888B7B-A0F1-B358-6A5D-4504C4BD4FF5}"/>
              </a:ext>
            </a:extLst>
          </p:cNvPr>
          <p:cNvSpPr txBox="1"/>
          <p:nvPr/>
        </p:nvSpPr>
        <p:spPr>
          <a:xfrm>
            <a:off x="520778" y="4369713"/>
            <a:ext cx="11248571" cy="891270"/>
          </a:xfrm>
          <a:prstGeom prst="rect">
            <a:avLst/>
          </a:prstGeom>
          <a:noFill/>
        </p:spPr>
        <p:txBody>
          <a:bodyPr wrap="square">
            <a:spAutoFit/>
          </a:bodyPr>
          <a:lstStyle/>
          <a:p>
            <a:pPr>
              <a:lnSpc>
                <a:spcPct val="115000"/>
              </a:lnSpc>
              <a:spcAft>
                <a:spcPts val="800"/>
              </a:spcAft>
            </a:pPr>
            <a:r>
              <a:rPr lang="en-US" sz="2000" dirty="0">
                <a:solidFill>
                  <a:srgbClr val="002B49"/>
                </a:solidFill>
              </a:rPr>
              <a:t>Then,</a:t>
            </a:r>
            <a:r>
              <a:rPr lang="en-US" sz="2000" b="1" dirty="0">
                <a:solidFill>
                  <a:srgbClr val="002B49"/>
                </a:solidFill>
              </a:rPr>
              <a:t> transforms the </a:t>
            </a:r>
            <a:r>
              <a:rPr lang="en-US" sz="2000" dirty="0">
                <a:solidFill>
                  <a:srgbClr val="002B49"/>
                </a:solidFill>
              </a:rPr>
              <a:t> data using </a:t>
            </a:r>
            <a:r>
              <a:rPr lang="en-US" sz="2000" b="1" dirty="0">
                <a:solidFill>
                  <a:srgbClr val="002B49"/>
                </a:solidFill>
              </a:rPr>
              <a:t>random noise </a:t>
            </a:r>
            <a:r>
              <a:rPr lang="en-US" sz="2000" dirty="0">
                <a:solidFill>
                  <a:srgbClr val="002B49"/>
                </a:solidFill>
              </a:rPr>
              <a:t>from normal distribution.</a:t>
            </a:r>
          </a:p>
          <a:p>
            <a:pPr>
              <a:lnSpc>
                <a:spcPct val="115000"/>
              </a:lnSpc>
              <a:spcAft>
                <a:spcPts val="800"/>
              </a:spcAft>
            </a:pPr>
            <a:r>
              <a:rPr lang="en-US" sz="2000" dirty="0">
                <a:solidFill>
                  <a:srgbClr val="002B49"/>
                </a:solidFill>
              </a:rPr>
              <a:t>Projection step, where incoherent forecasts become coherent.</a:t>
            </a:r>
          </a:p>
        </p:txBody>
      </p:sp>
      <p:pic>
        <p:nvPicPr>
          <p:cNvPr id="2" name="Picture 1">
            <a:extLst>
              <a:ext uri="{FF2B5EF4-FFF2-40B4-BE49-F238E27FC236}">
                <a16:creationId xmlns:a16="http://schemas.microsoft.com/office/drawing/2014/main" id="{64347CDB-76DC-4823-CB6C-B8F454C5E1E7}"/>
              </a:ext>
            </a:extLst>
          </p:cNvPr>
          <p:cNvPicPr>
            <a:picLocks noChangeAspect="1"/>
          </p:cNvPicPr>
          <p:nvPr/>
        </p:nvPicPr>
        <p:blipFill>
          <a:blip r:embed="rId2"/>
          <a:stretch>
            <a:fillRect/>
          </a:stretch>
        </p:blipFill>
        <p:spPr>
          <a:xfrm>
            <a:off x="422650" y="828000"/>
            <a:ext cx="11346699" cy="2996692"/>
          </a:xfrm>
          <a:prstGeom prst="rect">
            <a:avLst/>
          </a:prstGeom>
        </p:spPr>
      </p:pic>
      <p:sp>
        <p:nvSpPr>
          <p:cNvPr id="33" name="Freeform 32">
            <a:extLst>
              <a:ext uri="{FF2B5EF4-FFF2-40B4-BE49-F238E27FC236}">
                <a16:creationId xmlns:a16="http://schemas.microsoft.com/office/drawing/2014/main" id="{D31E894C-40D2-57D3-6539-5D9228397C2B}"/>
              </a:ext>
            </a:extLst>
          </p:cNvPr>
          <p:cNvSpPr/>
          <p:nvPr/>
        </p:nvSpPr>
        <p:spPr bwMode="auto">
          <a:xfrm>
            <a:off x="-11524778" y="776484"/>
            <a:ext cx="34958216" cy="3129851"/>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4958216" h="3129851">
                <a:moveTo>
                  <a:pt x="0" y="0"/>
                </a:moveTo>
                <a:lnTo>
                  <a:pt x="34958216" y="0"/>
                </a:lnTo>
                <a:lnTo>
                  <a:pt x="34958216" y="3129851"/>
                </a:lnTo>
                <a:lnTo>
                  <a:pt x="0" y="3129851"/>
                </a:lnTo>
                <a:lnTo>
                  <a:pt x="0" y="0"/>
                </a:lnTo>
                <a:close/>
                <a:moveTo>
                  <a:pt x="17317019" y="118849"/>
                </a:moveTo>
                <a:cubicBezTo>
                  <a:pt x="17155311" y="118849"/>
                  <a:pt x="17024220" y="249940"/>
                  <a:pt x="17024220" y="411648"/>
                </a:cubicBezTo>
                <a:lnTo>
                  <a:pt x="17024220" y="2691013"/>
                </a:lnTo>
                <a:cubicBezTo>
                  <a:pt x="17024220" y="2852721"/>
                  <a:pt x="17155311" y="2983812"/>
                  <a:pt x="17317019" y="2983812"/>
                </a:cubicBezTo>
                <a:lnTo>
                  <a:pt x="20607962" y="2983812"/>
                </a:lnTo>
                <a:cubicBezTo>
                  <a:pt x="20769670" y="2983812"/>
                  <a:pt x="20900761" y="2852721"/>
                  <a:pt x="20900761" y="2691013"/>
                </a:cubicBezTo>
                <a:lnTo>
                  <a:pt x="20900761" y="411648"/>
                </a:lnTo>
                <a:cubicBezTo>
                  <a:pt x="20900761" y="249940"/>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a:p>
        </p:txBody>
      </p:sp>
      <p:sp>
        <p:nvSpPr>
          <p:cNvPr id="35" name="TextBox 34">
            <a:extLst>
              <a:ext uri="{FF2B5EF4-FFF2-40B4-BE49-F238E27FC236}">
                <a16:creationId xmlns:a16="http://schemas.microsoft.com/office/drawing/2014/main" id="{F02C47D1-03DB-3FBB-3BDA-7A6D7FED3F4C}"/>
              </a:ext>
            </a:extLst>
          </p:cNvPr>
          <p:cNvSpPr txBox="1"/>
          <p:nvPr/>
        </p:nvSpPr>
        <p:spPr>
          <a:xfrm>
            <a:off x="446269" y="5724361"/>
            <a:ext cx="11600587" cy="492443"/>
          </a:xfrm>
          <a:prstGeom prst="rect">
            <a:avLst/>
          </a:prstGeom>
          <a:noFill/>
        </p:spPr>
        <p:txBody>
          <a:bodyPr wrap="square">
            <a:spAutoFit/>
          </a:bodyPr>
          <a:lstStyle/>
          <a:p>
            <a:r>
              <a:rPr lang="en-US" sz="1300" dirty="0"/>
              <a:t>S. </a:t>
            </a:r>
            <a:r>
              <a:rPr lang="en-US" sz="1300" dirty="0" err="1"/>
              <a:t>Rangapuram</a:t>
            </a:r>
            <a:r>
              <a:rPr lang="en-US" sz="1300" dirty="0"/>
              <a:t>, </a:t>
            </a:r>
            <a:r>
              <a:rPr lang="en-US" sz="1300" i="1" dirty="0"/>
              <a:t>et al.,</a:t>
            </a:r>
            <a:r>
              <a:rPr lang="en-US" sz="1300" dirty="0"/>
              <a:t> "End-to-end learning of coherent probabilistic forecasts for hierarchical time series," 2021. [Online]. Available: </a:t>
            </a:r>
            <a:r>
              <a:rPr lang="en-US" sz="1300" dirty="0">
                <a:hlinkClick r:id="rId3"/>
              </a:rPr>
              <a:t>https://www.amazon.science/publications/end-to-end-learning-of-coherent-probabilistic-forecasts-for-hierarchical-time-series</a:t>
            </a:r>
            <a:endParaRPr lang="en-US" sz="1300" dirty="0"/>
          </a:p>
        </p:txBody>
      </p:sp>
    </p:spTree>
    <p:extLst>
      <p:ext uri="{BB962C8B-B14F-4D97-AF65-F5344CB8AC3E}">
        <p14:creationId xmlns:p14="http://schemas.microsoft.com/office/powerpoint/2010/main" val="420050964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8580A-78DC-A9BB-1CB5-C82E3A575D7E}"/>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45C79899-D9CE-2C58-7E80-39EE0975FB9E}"/>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End-to-End Learning of Coherent Probabilistic, by S. </a:t>
            </a:r>
            <a:r>
              <a:rPr lang="en-US" sz="2800" dirty="0" err="1"/>
              <a:t>Rangapuram</a:t>
            </a:r>
            <a:endParaRPr lang="en-US" sz="2800" i="1" dirty="0"/>
          </a:p>
        </p:txBody>
      </p:sp>
      <p:sp>
        <p:nvSpPr>
          <p:cNvPr id="19" name="TextBox 18">
            <a:extLst>
              <a:ext uri="{FF2B5EF4-FFF2-40B4-BE49-F238E27FC236}">
                <a16:creationId xmlns:a16="http://schemas.microsoft.com/office/drawing/2014/main" id="{DBA5C399-B605-6564-A3A5-021FA95A10E7}"/>
              </a:ext>
            </a:extLst>
          </p:cNvPr>
          <p:cNvSpPr txBox="1"/>
          <p:nvPr/>
        </p:nvSpPr>
        <p:spPr>
          <a:xfrm>
            <a:off x="520778" y="4030205"/>
            <a:ext cx="11402048" cy="1734129"/>
          </a:xfrm>
          <a:prstGeom prst="rect">
            <a:avLst/>
          </a:prstGeom>
          <a:noFill/>
        </p:spPr>
        <p:txBody>
          <a:bodyPr wrap="square">
            <a:spAutoFit/>
          </a:bodyPr>
          <a:lstStyle/>
          <a:p>
            <a:pPr>
              <a:lnSpc>
                <a:spcPct val="115000"/>
              </a:lnSpc>
              <a:spcAft>
                <a:spcPts val="800"/>
              </a:spcAft>
            </a:pPr>
            <a:r>
              <a:rPr lang="en-US" sz="1900" dirty="0"/>
              <a:t>Comparing the coherent forecast to the actual observation using </a:t>
            </a:r>
            <a:r>
              <a:rPr lang="en-US" sz="1900" b="1" dirty="0"/>
              <a:t>statistics</a:t>
            </a:r>
            <a:r>
              <a:rPr lang="en-US" sz="1900" dirty="0"/>
              <a:t> and </a:t>
            </a:r>
            <a:r>
              <a:rPr lang="en-US" sz="1900" b="1" dirty="0"/>
              <a:t>Loss Model. </a:t>
            </a:r>
          </a:p>
          <a:p>
            <a:pPr>
              <a:lnSpc>
                <a:spcPct val="115000"/>
              </a:lnSpc>
              <a:spcAft>
                <a:spcPts val="800"/>
              </a:spcAft>
            </a:pPr>
            <a:r>
              <a:rPr lang="en-US" sz="1900" dirty="0"/>
              <a:t>Then, </a:t>
            </a:r>
            <a:r>
              <a:rPr lang="en-US" sz="1900" b="1" dirty="0"/>
              <a:t>backpropagate:  </a:t>
            </a:r>
          </a:p>
          <a:p>
            <a:pPr>
              <a:lnSpc>
                <a:spcPct val="115000"/>
              </a:lnSpc>
              <a:spcAft>
                <a:spcPts val="800"/>
              </a:spcAft>
            </a:pPr>
            <a:r>
              <a:rPr lang="en-US" sz="1900" dirty="0"/>
              <a:t>Flow back through: Loss </a:t>
            </a:r>
            <a:r>
              <a:rPr lang="en-US" sz="1900" dirty="0">
                <a:sym typeface="Wingdings" pitchFamily="2" charset="2"/>
              </a:rPr>
              <a:t></a:t>
            </a:r>
            <a:r>
              <a:rPr lang="en-US" sz="1900" dirty="0"/>
              <a:t> Statistics </a:t>
            </a:r>
            <a:r>
              <a:rPr lang="en-US" sz="1900" dirty="0">
                <a:sym typeface="Wingdings" pitchFamily="2" charset="2"/>
              </a:rPr>
              <a:t></a:t>
            </a:r>
            <a:r>
              <a:rPr lang="en-US" sz="1900" dirty="0"/>
              <a:t> Projection </a:t>
            </a:r>
            <a:r>
              <a:rPr lang="en-US" sz="1900" dirty="0">
                <a:sym typeface="Wingdings" pitchFamily="2" charset="2"/>
              </a:rPr>
              <a:t></a:t>
            </a:r>
            <a:r>
              <a:rPr lang="en-US" sz="1900" dirty="0"/>
              <a:t> Sampling </a:t>
            </a:r>
            <a:r>
              <a:rPr lang="en-US" sz="1900" dirty="0">
                <a:sym typeface="Wingdings" pitchFamily="2" charset="2"/>
              </a:rPr>
              <a:t></a:t>
            </a:r>
            <a:r>
              <a:rPr lang="en-US" sz="1900" dirty="0"/>
              <a:t> Network</a:t>
            </a:r>
          </a:p>
          <a:p>
            <a:pPr>
              <a:lnSpc>
                <a:spcPct val="115000"/>
              </a:lnSpc>
              <a:spcAft>
                <a:spcPts val="800"/>
              </a:spcAft>
            </a:pPr>
            <a:r>
              <a:rPr lang="en-US" sz="1900" dirty="0"/>
              <a:t>Update network weights to make better predictions next time</a:t>
            </a:r>
            <a:endParaRPr lang="en-US" sz="1900" b="1" dirty="0">
              <a:solidFill>
                <a:srgbClr val="002B49"/>
              </a:solidFill>
            </a:endParaRPr>
          </a:p>
        </p:txBody>
      </p:sp>
      <p:pic>
        <p:nvPicPr>
          <p:cNvPr id="2" name="Picture 1">
            <a:extLst>
              <a:ext uri="{FF2B5EF4-FFF2-40B4-BE49-F238E27FC236}">
                <a16:creationId xmlns:a16="http://schemas.microsoft.com/office/drawing/2014/main" id="{06DED908-66DD-67B0-0318-34760316B9C3}"/>
              </a:ext>
            </a:extLst>
          </p:cNvPr>
          <p:cNvPicPr>
            <a:picLocks noChangeAspect="1"/>
          </p:cNvPicPr>
          <p:nvPr/>
        </p:nvPicPr>
        <p:blipFill>
          <a:blip r:embed="rId2"/>
          <a:stretch>
            <a:fillRect/>
          </a:stretch>
        </p:blipFill>
        <p:spPr>
          <a:xfrm>
            <a:off x="422650" y="828000"/>
            <a:ext cx="11346699" cy="2996692"/>
          </a:xfrm>
          <a:prstGeom prst="rect">
            <a:avLst/>
          </a:prstGeom>
        </p:spPr>
      </p:pic>
      <p:sp>
        <p:nvSpPr>
          <p:cNvPr id="33" name="Freeform 32">
            <a:extLst>
              <a:ext uri="{FF2B5EF4-FFF2-40B4-BE49-F238E27FC236}">
                <a16:creationId xmlns:a16="http://schemas.microsoft.com/office/drawing/2014/main" id="{C305E3A0-B466-7B7C-44AE-EFF06F673B50}"/>
              </a:ext>
            </a:extLst>
          </p:cNvPr>
          <p:cNvSpPr/>
          <p:nvPr/>
        </p:nvSpPr>
        <p:spPr bwMode="auto">
          <a:xfrm>
            <a:off x="-1508168" y="776484"/>
            <a:ext cx="22456239" cy="3129851"/>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4958216" h="3129851">
                <a:moveTo>
                  <a:pt x="0" y="0"/>
                </a:moveTo>
                <a:lnTo>
                  <a:pt x="34958216" y="0"/>
                </a:lnTo>
                <a:lnTo>
                  <a:pt x="34958216" y="3129851"/>
                </a:lnTo>
                <a:lnTo>
                  <a:pt x="0" y="3129851"/>
                </a:lnTo>
                <a:lnTo>
                  <a:pt x="0" y="0"/>
                </a:lnTo>
                <a:close/>
                <a:moveTo>
                  <a:pt x="17317019" y="118849"/>
                </a:moveTo>
                <a:cubicBezTo>
                  <a:pt x="17155311" y="118849"/>
                  <a:pt x="17024220" y="249940"/>
                  <a:pt x="17024220" y="411648"/>
                </a:cubicBezTo>
                <a:lnTo>
                  <a:pt x="17024220" y="2691013"/>
                </a:lnTo>
                <a:cubicBezTo>
                  <a:pt x="17024220" y="2852721"/>
                  <a:pt x="17155311" y="2983812"/>
                  <a:pt x="17317019" y="2983812"/>
                </a:cubicBezTo>
                <a:lnTo>
                  <a:pt x="20607962" y="2983812"/>
                </a:lnTo>
                <a:cubicBezTo>
                  <a:pt x="20769670" y="2983812"/>
                  <a:pt x="20900761" y="2852721"/>
                  <a:pt x="20900761" y="2691013"/>
                </a:cubicBezTo>
                <a:lnTo>
                  <a:pt x="20900761" y="411648"/>
                </a:lnTo>
                <a:cubicBezTo>
                  <a:pt x="20900761" y="249940"/>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a:p>
        </p:txBody>
      </p:sp>
      <p:sp>
        <p:nvSpPr>
          <p:cNvPr id="3" name="TextBox 2">
            <a:extLst>
              <a:ext uri="{FF2B5EF4-FFF2-40B4-BE49-F238E27FC236}">
                <a16:creationId xmlns:a16="http://schemas.microsoft.com/office/drawing/2014/main" id="{327F494A-189F-9FBE-8E91-91049A36423A}"/>
              </a:ext>
            </a:extLst>
          </p:cNvPr>
          <p:cNvSpPr txBox="1"/>
          <p:nvPr/>
        </p:nvSpPr>
        <p:spPr>
          <a:xfrm>
            <a:off x="446269" y="5831236"/>
            <a:ext cx="11600587" cy="492443"/>
          </a:xfrm>
          <a:prstGeom prst="rect">
            <a:avLst/>
          </a:prstGeom>
          <a:noFill/>
        </p:spPr>
        <p:txBody>
          <a:bodyPr wrap="square">
            <a:spAutoFit/>
          </a:bodyPr>
          <a:lstStyle/>
          <a:p>
            <a:r>
              <a:rPr lang="en-US" sz="1300" dirty="0"/>
              <a:t>S. </a:t>
            </a:r>
            <a:r>
              <a:rPr lang="en-US" sz="1300" dirty="0" err="1"/>
              <a:t>Rangapuram</a:t>
            </a:r>
            <a:r>
              <a:rPr lang="en-US" sz="1300" dirty="0"/>
              <a:t>, </a:t>
            </a:r>
            <a:r>
              <a:rPr lang="en-US" sz="1300" i="1" dirty="0"/>
              <a:t>et al.,</a:t>
            </a:r>
            <a:r>
              <a:rPr lang="en-US" sz="1300" dirty="0"/>
              <a:t> "End-to-end learning of coherent probabilistic forecasts for hierarchical time series," 2021. [Online]. Available: </a:t>
            </a:r>
            <a:r>
              <a:rPr lang="en-US" sz="1300" dirty="0">
                <a:hlinkClick r:id="rId3"/>
              </a:rPr>
              <a:t>https://www.amazon.science/publications/end-to-end-learning-of-coherent-probabilistic-forecasts-for-hierarchical-time-series</a:t>
            </a:r>
            <a:endParaRPr lang="en-US" sz="1300" dirty="0"/>
          </a:p>
        </p:txBody>
      </p:sp>
    </p:spTree>
    <p:extLst>
      <p:ext uri="{BB962C8B-B14F-4D97-AF65-F5344CB8AC3E}">
        <p14:creationId xmlns:p14="http://schemas.microsoft.com/office/powerpoint/2010/main" val="155481170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F2D16-80F5-3F2A-81A2-E798A4864AE9}"/>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3A40D95B-74D6-1E62-FC3B-2DFE898ABE71}"/>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End-to-End Learning of Coherent Probabilistic, by S. </a:t>
            </a:r>
            <a:r>
              <a:rPr lang="en-US" sz="2800" dirty="0" err="1"/>
              <a:t>Rangapuram</a:t>
            </a:r>
            <a:endParaRPr lang="en-US" sz="2800" i="1" dirty="0"/>
          </a:p>
        </p:txBody>
      </p:sp>
      <p:sp>
        <p:nvSpPr>
          <p:cNvPr id="19" name="TextBox 18">
            <a:extLst>
              <a:ext uri="{FF2B5EF4-FFF2-40B4-BE49-F238E27FC236}">
                <a16:creationId xmlns:a16="http://schemas.microsoft.com/office/drawing/2014/main" id="{4D375B28-2BE6-84C6-4502-3972ECE3E7E4}"/>
              </a:ext>
            </a:extLst>
          </p:cNvPr>
          <p:cNvSpPr txBox="1"/>
          <p:nvPr/>
        </p:nvSpPr>
        <p:spPr>
          <a:xfrm>
            <a:off x="446269" y="1001997"/>
            <a:ext cx="11402048" cy="927946"/>
          </a:xfrm>
          <a:prstGeom prst="rect">
            <a:avLst/>
          </a:prstGeom>
          <a:noFill/>
        </p:spPr>
        <p:txBody>
          <a:bodyPr wrap="square">
            <a:spAutoFit/>
          </a:bodyPr>
          <a:lstStyle/>
          <a:p>
            <a:pPr>
              <a:lnSpc>
                <a:spcPct val="115000"/>
              </a:lnSpc>
              <a:spcAft>
                <a:spcPts val="800"/>
              </a:spcAft>
            </a:pPr>
            <a:r>
              <a:rPr lang="en-US" sz="2400" b="1" dirty="0"/>
              <a:t>Results: </a:t>
            </a:r>
            <a:r>
              <a:rPr lang="en-US" sz="2400" dirty="0"/>
              <a:t>they use the </a:t>
            </a:r>
            <a:r>
              <a:rPr lang="en-US" sz="2400" b="1" dirty="0"/>
              <a:t>continuous ranked probability score </a:t>
            </a:r>
            <a:r>
              <a:rPr lang="en-US" sz="2400" dirty="0"/>
              <a:t>(CRPS) to evaluate the accuracy of their forecast distributions</a:t>
            </a:r>
            <a:endParaRPr lang="en-US" sz="2400" dirty="0">
              <a:solidFill>
                <a:srgbClr val="002B49"/>
              </a:solidFill>
            </a:endParaRPr>
          </a:p>
        </p:txBody>
      </p:sp>
      <p:sp>
        <p:nvSpPr>
          <p:cNvPr id="3" name="TextBox 2">
            <a:extLst>
              <a:ext uri="{FF2B5EF4-FFF2-40B4-BE49-F238E27FC236}">
                <a16:creationId xmlns:a16="http://schemas.microsoft.com/office/drawing/2014/main" id="{A8345983-36F5-1744-BF27-E46162BCD39D}"/>
              </a:ext>
            </a:extLst>
          </p:cNvPr>
          <p:cNvSpPr txBox="1"/>
          <p:nvPr/>
        </p:nvSpPr>
        <p:spPr>
          <a:xfrm>
            <a:off x="446269" y="5831236"/>
            <a:ext cx="11600587" cy="492443"/>
          </a:xfrm>
          <a:prstGeom prst="rect">
            <a:avLst/>
          </a:prstGeom>
          <a:noFill/>
        </p:spPr>
        <p:txBody>
          <a:bodyPr wrap="square">
            <a:spAutoFit/>
          </a:bodyPr>
          <a:lstStyle/>
          <a:p>
            <a:r>
              <a:rPr lang="en-US" sz="1300" dirty="0"/>
              <a:t>S. </a:t>
            </a:r>
            <a:r>
              <a:rPr lang="en-US" sz="1300" dirty="0" err="1"/>
              <a:t>Rangapuram</a:t>
            </a:r>
            <a:r>
              <a:rPr lang="en-US" sz="1300" dirty="0"/>
              <a:t>, </a:t>
            </a:r>
            <a:r>
              <a:rPr lang="en-US" sz="1300" i="1" dirty="0"/>
              <a:t>et al.,</a:t>
            </a:r>
            <a:r>
              <a:rPr lang="en-US" sz="1300" dirty="0"/>
              <a:t> "End-to-end learning of coherent probabilistic forecasts for hierarchical time series," 2021. [Online]. Available: </a:t>
            </a:r>
            <a:r>
              <a:rPr lang="en-US" sz="1300" dirty="0">
                <a:hlinkClick r:id="rId2"/>
              </a:rPr>
              <a:t>https://www.amazon.science/publications/end-to-end-learning-of-coherent-probabilistic-forecasts-for-hierarchical-time-series</a:t>
            </a:r>
            <a:endParaRPr lang="en-US" sz="1300" dirty="0"/>
          </a:p>
        </p:txBody>
      </p:sp>
      <p:pic>
        <p:nvPicPr>
          <p:cNvPr id="4" name="Picture 3">
            <a:extLst>
              <a:ext uri="{FF2B5EF4-FFF2-40B4-BE49-F238E27FC236}">
                <a16:creationId xmlns:a16="http://schemas.microsoft.com/office/drawing/2014/main" id="{42B3E11A-4439-90C1-60AC-39F311C15EA7}"/>
              </a:ext>
            </a:extLst>
          </p:cNvPr>
          <p:cNvPicPr>
            <a:picLocks noChangeAspect="1"/>
          </p:cNvPicPr>
          <p:nvPr/>
        </p:nvPicPr>
        <p:blipFill>
          <a:blip r:embed="rId3"/>
          <a:srcRect l="9687"/>
          <a:stretch>
            <a:fillRect/>
          </a:stretch>
        </p:blipFill>
        <p:spPr>
          <a:xfrm>
            <a:off x="683962" y="2103940"/>
            <a:ext cx="11125200" cy="3265809"/>
          </a:xfrm>
          <a:prstGeom prst="rect">
            <a:avLst/>
          </a:prstGeom>
        </p:spPr>
      </p:pic>
      <p:pic>
        <p:nvPicPr>
          <p:cNvPr id="6" name="Picture 5">
            <a:extLst>
              <a:ext uri="{FF2B5EF4-FFF2-40B4-BE49-F238E27FC236}">
                <a16:creationId xmlns:a16="http://schemas.microsoft.com/office/drawing/2014/main" id="{A057793F-DE00-F384-D189-FCDD2730173A}"/>
              </a:ext>
            </a:extLst>
          </p:cNvPr>
          <p:cNvPicPr>
            <a:picLocks noChangeAspect="1"/>
          </p:cNvPicPr>
          <p:nvPr/>
        </p:nvPicPr>
        <p:blipFill>
          <a:blip r:embed="rId4"/>
          <a:stretch>
            <a:fillRect/>
          </a:stretch>
        </p:blipFill>
        <p:spPr>
          <a:xfrm>
            <a:off x="3538384" y="5363401"/>
            <a:ext cx="5115232" cy="360689"/>
          </a:xfrm>
          <a:prstGeom prst="rect">
            <a:avLst/>
          </a:prstGeom>
        </p:spPr>
      </p:pic>
    </p:spTree>
    <p:extLst>
      <p:ext uri="{BB962C8B-B14F-4D97-AF65-F5344CB8AC3E}">
        <p14:creationId xmlns:p14="http://schemas.microsoft.com/office/powerpoint/2010/main" val="344635093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9EA0-C7CB-FC6A-FF3B-4220F7E8F32B}"/>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E9495262-84C5-7621-37BE-715F0F908C35}"/>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End-to-End Learning of Coherent Probabilistic, by S. </a:t>
            </a:r>
            <a:r>
              <a:rPr lang="en-US" sz="2800" dirty="0" err="1"/>
              <a:t>Rangapuram</a:t>
            </a:r>
            <a:endParaRPr lang="en-US" sz="2800" i="1" dirty="0"/>
          </a:p>
        </p:txBody>
      </p:sp>
      <p:sp>
        <p:nvSpPr>
          <p:cNvPr id="3" name="TextBox 2">
            <a:extLst>
              <a:ext uri="{FF2B5EF4-FFF2-40B4-BE49-F238E27FC236}">
                <a16:creationId xmlns:a16="http://schemas.microsoft.com/office/drawing/2014/main" id="{8EF81635-E311-F0DB-600A-A00713D76FA0}"/>
              </a:ext>
            </a:extLst>
          </p:cNvPr>
          <p:cNvSpPr txBox="1"/>
          <p:nvPr/>
        </p:nvSpPr>
        <p:spPr>
          <a:xfrm>
            <a:off x="446269" y="5831236"/>
            <a:ext cx="11600587" cy="492443"/>
          </a:xfrm>
          <a:prstGeom prst="rect">
            <a:avLst/>
          </a:prstGeom>
          <a:noFill/>
        </p:spPr>
        <p:txBody>
          <a:bodyPr wrap="square">
            <a:spAutoFit/>
          </a:bodyPr>
          <a:lstStyle/>
          <a:p>
            <a:r>
              <a:rPr lang="en-US" sz="1300" dirty="0"/>
              <a:t>S. </a:t>
            </a:r>
            <a:r>
              <a:rPr lang="en-US" sz="1300" dirty="0" err="1"/>
              <a:t>Rangapuram</a:t>
            </a:r>
            <a:r>
              <a:rPr lang="en-US" sz="1300" dirty="0"/>
              <a:t>, </a:t>
            </a:r>
            <a:r>
              <a:rPr lang="en-US" sz="1300" i="1" dirty="0"/>
              <a:t>et al.,</a:t>
            </a:r>
            <a:r>
              <a:rPr lang="en-US" sz="1300" dirty="0"/>
              <a:t> "End-to-end learning of coherent probabilistic forecasts for hierarchical time series," 2021. [Online]. Available: </a:t>
            </a:r>
            <a:r>
              <a:rPr lang="en-US" sz="1300" dirty="0">
                <a:hlinkClick r:id="rId2"/>
              </a:rPr>
              <a:t>https://www.amazon.science/publications/end-to-end-learning-of-coherent-probabilistic-forecasts-for-hierarchical-time-series</a:t>
            </a:r>
            <a:endParaRPr lang="en-US" sz="1300" dirty="0"/>
          </a:p>
        </p:txBody>
      </p:sp>
      <p:sp>
        <p:nvSpPr>
          <p:cNvPr id="2" name="TextBox 1">
            <a:extLst>
              <a:ext uri="{FF2B5EF4-FFF2-40B4-BE49-F238E27FC236}">
                <a16:creationId xmlns:a16="http://schemas.microsoft.com/office/drawing/2014/main" id="{FE5C3E01-8178-4A27-D406-BB42E68F5C28}"/>
              </a:ext>
            </a:extLst>
          </p:cNvPr>
          <p:cNvSpPr txBox="1"/>
          <p:nvPr/>
        </p:nvSpPr>
        <p:spPr>
          <a:xfrm>
            <a:off x="446268" y="828000"/>
            <a:ext cx="11565732" cy="4106252"/>
          </a:xfrm>
          <a:prstGeom prst="rect">
            <a:avLst/>
          </a:prstGeom>
          <a:noFill/>
        </p:spPr>
        <p:txBody>
          <a:bodyPr wrap="square">
            <a:spAutoFit/>
          </a:bodyPr>
          <a:lstStyle/>
          <a:p>
            <a:pPr>
              <a:lnSpc>
                <a:spcPct val="200000"/>
              </a:lnSpc>
              <a:spcAft>
                <a:spcPts val="800"/>
              </a:spcAft>
            </a:pPr>
            <a:r>
              <a:rPr lang="en-US" sz="2000" b="1" dirty="0"/>
              <a:t>Application to Buffalo Milk Prediction</a:t>
            </a:r>
          </a:p>
          <a:p>
            <a:pPr marL="342900" indent="-342900">
              <a:lnSpc>
                <a:spcPct val="150000"/>
              </a:lnSpc>
              <a:spcAft>
                <a:spcPts val="800"/>
              </a:spcAft>
              <a:buFont typeface="Arial" panose="020B0604020202020204" pitchFamily="34" charset="0"/>
              <a:buChar char="•"/>
            </a:pPr>
            <a:r>
              <a:rPr lang="en-US" sz="2000" b="1" dirty="0">
                <a:solidFill>
                  <a:srgbClr val="002B49"/>
                </a:solidFill>
              </a:rPr>
              <a:t>E</a:t>
            </a:r>
            <a:r>
              <a:rPr lang="en-US" sz="2000" b="1" dirty="0"/>
              <a:t>xpected result: </a:t>
            </a:r>
            <a:r>
              <a:rPr lang="en-US" sz="2000" dirty="0"/>
              <a:t>Coherent probabilistic forecasts across </a:t>
            </a:r>
            <a:r>
              <a:rPr lang="en-US" sz="2000" dirty="0" err="1"/>
              <a:t>Total→Farm→Animal</a:t>
            </a:r>
            <a:r>
              <a:rPr lang="en-US" sz="2000" dirty="0"/>
              <a:t>.</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Comparison to Baseline:</a:t>
            </a:r>
            <a:r>
              <a:rPr lang="en-US" sz="2000" dirty="0"/>
              <a:t> Uncertainty</a:t>
            </a:r>
            <a:r>
              <a:rPr lang="en-US" sz="2000" i="1" dirty="0"/>
              <a:t> </a:t>
            </a:r>
            <a:r>
              <a:rPr lang="en-US" sz="2000" dirty="0"/>
              <a:t>quantification not present in the baseline approach.</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New insight: </a:t>
            </a:r>
            <a:r>
              <a:rPr lang="en-US" sz="2000" dirty="0"/>
              <a:t>Confidence intervals for predictions at all hierarchical levels simultaneously.</a:t>
            </a:r>
          </a:p>
        </p:txBody>
      </p:sp>
    </p:spTree>
    <p:extLst>
      <p:ext uri="{BB962C8B-B14F-4D97-AF65-F5344CB8AC3E}">
        <p14:creationId xmlns:p14="http://schemas.microsoft.com/office/powerpoint/2010/main" val="30862970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0F988-A726-295C-997B-254591366DF0}"/>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0CD27CB-E896-C5F0-AD93-C9D419D9DC50}"/>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55000" lnSpcReduction="200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5100" b="1" dirty="0"/>
              <a:t>Deep LSTM-Based Transfer Learning Approach, by Sagheer </a:t>
            </a:r>
            <a:endParaRPr lang="en-US" sz="2800" i="1" dirty="0"/>
          </a:p>
        </p:txBody>
      </p:sp>
      <p:sp>
        <p:nvSpPr>
          <p:cNvPr id="19" name="TextBox 18">
            <a:extLst>
              <a:ext uri="{FF2B5EF4-FFF2-40B4-BE49-F238E27FC236}">
                <a16:creationId xmlns:a16="http://schemas.microsoft.com/office/drawing/2014/main" id="{3E673650-EEE8-478B-5833-1E9DAEB4469E}"/>
              </a:ext>
            </a:extLst>
          </p:cNvPr>
          <p:cNvSpPr txBox="1"/>
          <p:nvPr/>
        </p:nvSpPr>
        <p:spPr>
          <a:xfrm>
            <a:off x="446269" y="1001997"/>
            <a:ext cx="11402048" cy="503215"/>
          </a:xfrm>
          <a:prstGeom prst="rect">
            <a:avLst/>
          </a:prstGeom>
          <a:noFill/>
        </p:spPr>
        <p:txBody>
          <a:bodyPr wrap="square">
            <a:spAutoFit/>
          </a:bodyPr>
          <a:lstStyle/>
          <a:p>
            <a:pPr>
              <a:lnSpc>
                <a:spcPct val="115000"/>
              </a:lnSpc>
              <a:spcAft>
                <a:spcPts val="800"/>
              </a:spcAft>
            </a:pPr>
            <a:r>
              <a:rPr lang="en-US" sz="2000" b="1" dirty="0"/>
              <a:t>DLSTM-AE: </a:t>
            </a:r>
            <a:r>
              <a:rPr lang="en-US" dirty="0"/>
              <a:t>They developed a Deep Long Short-Term Memory (DLSTM) in an auto-encoder (AE)</a:t>
            </a:r>
            <a:r>
              <a:rPr lang="en-US" sz="2400" dirty="0"/>
              <a:t> </a:t>
            </a:r>
            <a:endParaRPr lang="en-US" sz="2400" dirty="0">
              <a:solidFill>
                <a:srgbClr val="002B49"/>
              </a:solidFill>
            </a:endParaRPr>
          </a:p>
        </p:txBody>
      </p:sp>
      <p:sp>
        <p:nvSpPr>
          <p:cNvPr id="3" name="TextBox 2">
            <a:extLst>
              <a:ext uri="{FF2B5EF4-FFF2-40B4-BE49-F238E27FC236}">
                <a16:creationId xmlns:a16="http://schemas.microsoft.com/office/drawing/2014/main" id="{978DE87C-4088-5556-4C8C-CCAA6284EBF1}"/>
              </a:ext>
            </a:extLst>
          </p:cNvPr>
          <p:cNvSpPr txBox="1"/>
          <p:nvPr/>
        </p:nvSpPr>
        <p:spPr>
          <a:xfrm>
            <a:off x="446269" y="5831236"/>
            <a:ext cx="11600587" cy="523220"/>
          </a:xfrm>
          <a:prstGeom prst="rect">
            <a:avLst/>
          </a:prstGeom>
          <a:noFill/>
        </p:spPr>
        <p:txBody>
          <a:bodyPr wrap="square">
            <a:spAutoFit/>
          </a:bodyPr>
          <a:lstStyle/>
          <a:p>
            <a:r>
              <a:rPr lang="en-US" sz="1400" dirty="0"/>
              <a:t>A. Sagheer, </a:t>
            </a:r>
            <a:r>
              <a:rPr lang="en-US" sz="1400" i="1" dirty="0"/>
              <a:t>et al.,</a:t>
            </a:r>
            <a:r>
              <a:rPr lang="en-US" sz="1400" dirty="0"/>
              <a:t> "Deep LSTM-based transfer learning approach for coherent forecasts in hierarchical time series," in </a:t>
            </a:r>
            <a:r>
              <a:rPr lang="en-US" sz="1400" i="1" dirty="0"/>
              <a:t>Sensors</a:t>
            </a:r>
            <a:r>
              <a:rPr lang="en-US" sz="1400" dirty="0"/>
              <a:t>, vol. 21, no. 13, Art. no. 4379, Jun. 2021, </a:t>
            </a:r>
            <a:r>
              <a:rPr lang="en-US" sz="1400" dirty="0" err="1"/>
              <a:t>doi</a:t>
            </a:r>
            <a:r>
              <a:rPr lang="en-US" sz="1400" dirty="0"/>
              <a:t>: 10.3390/s21134379.</a:t>
            </a:r>
            <a:endParaRPr lang="en-US" sz="1300" dirty="0"/>
          </a:p>
        </p:txBody>
      </p:sp>
      <p:sp>
        <p:nvSpPr>
          <p:cNvPr id="2" name="TextBox 1">
            <a:extLst>
              <a:ext uri="{FF2B5EF4-FFF2-40B4-BE49-F238E27FC236}">
                <a16:creationId xmlns:a16="http://schemas.microsoft.com/office/drawing/2014/main" id="{CF3FA226-58A3-A8B0-1CF2-0248B5E95E67}"/>
              </a:ext>
            </a:extLst>
          </p:cNvPr>
          <p:cNvSpPr txBox="1"/>
          <p:nvPr/>
        </p:nvSpPr>
        <p:spPr>
          <a:xfrm>
            <a:off x="446270" y="1679209"/>
            <a:ext cx="5497330" cy="3170099"/>
          </a:xfrm>
          <a:prstGeom prst="rect">
            <a:avLst/>
          </a:prstGeom>
          <a:noFill/>
        </p:spPr>
        <p:txBody>
          <a:bodyPr wrap="square">
            <a:spAutoFit/>
          </a:bodyPr>
          <a:lstStyle/>
          <a:p>
            <a:r>
              <a:rPr lang="en-US" sz="2000" b="1" dirty="0"/>
              <a:t>Approach: </a:t>
            </a:r>
          </a:p>
          <a:p>
            <a:pPr algn="just"/>
            <a:r>
              <a:rPr lang="en-US" dirty="0"/>
              <a:t>They are using an </a:t>
            </a:r>
            <a:r>
              <a:rPr lang="en-US" b="1" dirty="0"/>
              <a:t>Auto Encoder </a:t>
            </a:r>
            <a:r>
              <a:rPr lang="en-US" dirty="0"/>
              <a:t>(AE) Architecture contains an </a:t>
            </a:r>
            <a:r>
              <a:rPr lang="en-US" b="1" dirty="0"/>
              <a:t>encoder</a:t>
            </a:r>
            <a:r>
              <a:rPr lang="en-US" dirty="0"/>
              <a:t> that by getting the sequential data as input, try to learn some </a:t>
            </a:r>
            <a:r>
              <a:rPr lang="en-US" b="1" dirty="0"/>
              <a:t>latent features</a:t>
            </a:r>
            <a:r>
              <a:rPr lang="en-US" dirty="0"/>
              <a:t>. And in the </a:t>
            </a:r>
            <a:r>
              <a:rPr lang="en-US" b="1" dirty="0"/>
              <a:t>decoder</a:t>
            </a:r>
            <a:r>
              <a:rPr lang="en-US" dirty="0"/>
              <a:t> part try to generate sequential data from the </a:t>
            </a:r>
            <a:r>
              <a:rPr lang="en-US" b="1" dirty="0"/>
              <a:t>latent features </a:t>
            </a:r>
            <a:r>
              <a:rPr lang="en-US" dirty="0"/>
              <a:t>found in </a:t>
            </a:r>
            <a:r>
              <a:rPr lang="en-US" b="1" dirty="0"/>
              <a:t>encoder</a:t>
            </a:r>
            <a:r>
              <a:rPr lang="en-US" dirty="0"/>
              <a:t>.</a:t>
            </a:r>
          </a:p>
          <a:p>
            <a:pPr algn="just"/>
            <a:r>
              <a:rPr lang="en-US" dirty="0"/>
              <a:t> </a:t>
            </a:r>
          </a:p>
          <a:p>
            <a:pPr algn="just"/>
            <a:r>
              <a:rPr lang="en-US" dirty="0"/>
              <a:t>For each part of </a:t>
            </a:r>
            <a:r>
              <a:rPr lang="en-US" b="1" dirty="0"/>
              <a:t>AE</a:t>
            </a:r>
            <a:r>
              <a:rPr lang="en-US" dirty="0"/>
              <a:t> they use a </a:t>
            </a:r>
            <a:r>
              <a:rPr lang="en-US" b="1" dirty="0"/>
              <a:t>LSTM</a:t>
            </a:r>
            <a:r>
              <a:rPr lang="en-US" dirty="0"/>
              <a:t> model (Long short-term Memory) that is an </a:t>
            </a:r>
            <a:r>
              <a:rPr lang="en-US" b="1" dirty="0"/>
              <a:t>RNN</a:t>
            </a:r>
            <a:r>
              <a:rPr lang="en-US" dirty="0"/>
              <a:t> model to learn sequent of data.</a:t>
            </a:r>
          </a:p>
        </p:txBody>
      </p:sp>
      <p:sp>
        <p:nvSpPr>
          <p:cNvPr id="5" name="AutoShape 2">
            <a:extLst>
              <a:ext uri="{FF2B5EF4-FFF2-40B4-BE49-F238E27FC236}">
                <a16:creationId xmlns:a16="http://schemas.microsoft.com/office/drawing/2014/main" id="{6900A52C-30E8-116B-9D4E-14C716C2350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ECC99D48-538A-732E-F609-1F47267E0EA3}"/>
              </a:ext>
            </a:extLst>
          </p:cNvPr>
          <p:cNvPicPr>
            <a:picLocks noChangeAspect="1"/>
          </p:cNvPicPr>
          <p:nvPr/>
        </p:nvPicPr>
        <p:blipFill>
          <a:blip r:embed="rId2"/>
          <a:stretch>
            <a:fillRect/>
          </a:stretch>
        </p:blipFill>
        <p:spPr>
          <a:xfrm>
            <a:off x="6246562" y="1869707"/>
            <a:ext cx="5722994" cy="3118585"/>
          </a:xfrm>
          <a:prstGeom prst="rect">
            <a:avLst/>
          </a:prstGeom>
        </p:spPr>
      </p:pic>
    </p:spTree>
    <p:extLst>
      <p:ext uri="{BB962C8B-B14F-4D97-AF65-F5344CB8AC3E}">
        <p14:creationId xmlns:p14="http://schemas.microsoft.com/office/powerpoint/2010/main" val="286812347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7ED67-57F2-B728-1CBF-7084529C1C43}"/>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CF31AD3-B50A-99AF-A75E-2D0A2AF5636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55000" lnSpcReduction="200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5100" b="1" dirty="0"/>
              <a:t>Deep LSTM-Based Transfer Learning Approach, by Sagheer </a:t>
            </a:r>
            <a:endParaRPr lang="en-US" sz="2800" i="1" dirty="0"/>
          </a:p>
        </p:txBody>
      </p:sp>
      <p:sp>
        <p:nvSpPr>
          <p:cNvPr id="19" name="TextBox 18">
            <a:extLst>
              <a:ext uri="{FF2B5EF4-FFF2-40B4-BE49-F238E27FC236}">
                <a16:creationId xmlns:a16="http://schemas.microsoft.com/office/drawing/2014/main" id="{5D9A8316-0D10-2312-73AE-91B8FB78ED32}"/>
              </a:ext>
            </a:extLst>
          </p:cNvPr>
          <p:cNvSpPr txBox="1"/>
          <p:nvPr/>
        </p:nvSpPr>
        <p:spPr>
          <a:xfrm>
            <a:off x="446269" y="1001997"/>
            <a:ext cx="3064374" cy="4462760"/>
          </a:xfrm>
          <a:prstGeom prst="rect">
            <a:avLst/>
          </a:prstGeom>
          <a:noFill/>
        </p:spPr>
        <p:txBody>
          <a:bodyPr wrap="square">
            <a:spAutoFit/>
          </a:bodyPr>
          <a:lstStyle/>
          <a:p>
            <a:pPr algn="just"/>
            <a:r>
              <a:rPr lang="en-US" sz="2400" b="1" dirty="0"/>
              <a:t>Transfer Learning: </a:t>
            </a:r>
          </a:p>
          <a:p>
            <a:pPr algn="just"/>
            <a:r>
              <a:rPr lang="en-US" sz="2000" dirty="0"/>
              <a:t>On the other hand, they are using Transfer learning to reduce the computational cost, first they train the model using just bottom level and then the weights of trained model  will be frozen and the model tuned on the upper levels for better forecasts.</a:t>
            </a:r>
          </a:p>
        </p:txBody>
      </p:sp>
      <p:sp>
        <p:nvSpPr>
          <p:cNvPr id="3" name="TextBox 2">
            <a:extLst>
              <a:ext uri="{FF2B5EF4-FFF2-40B4-BE49-F238E27FC236}">
                <a16:creationId xmlns:a16="http://schemas.microsoft.com/office/drawing/2014/main" id="{A0B1DA6F-820D-82DC-A729-A5E810CEA60D}"/>
              </a:ext>
            </a:extLst>
          </p:cNvPr>
          <p:cNvSpPr txBox="1"/>
          <p:nvPr/>
        </p:nvSpPr>
        <p:spPr>
          <a:xfrm>
            <a:off x="446269" y="5831236"/>
            <a:ext cx="11600587" cy="523220"/>
          </a:xfrm>
          <a:prstGeom prst="rect">
            <a:avLst/>
          </a:prstGeom>
          <a:noFill/>
        </p:spPr>
        <p:txBody>
          <a:bodyPr wrap="square">
            <a:spAutoFit/>
          </a:bodyPr>
          <a:lstStyle/>
          <a:p>
            <a:r>
              <a:rPr lang="en-US" sz="1400" dirty="0"/>
              <a:t>A. Sagheer, </a:t>
            </a:r>
            <a:r>
              <a:rPr lang="en-US" sz="1400" i="1" dirty="0"/>
              <a:t>et al.,</a:t>
            </a:r>
            <a:r>
              <a:rPr lang="en-US" sz="1400" dirty="0"/>
              <a:t> "Deep LSTM-based transfer learning approach for coherent forecasts in hierarchical time series," in </a:t>
            </a:r>
            <a:r>
              <a:rPr lang="en-US" sz="1400" i="1" dirty="0"/>
              <a:t>Sensors</a:t>
            </a:r>
            <a:r>
              <a:rPr lang="en-US" sz="1400" dirty="0"/>
              <a:t>, vol. 21, no. 13, Art. no. 4379, Jun. 2021, </a:t>
            </a:r>
            <a:r>
              <a:rPr lang="en-US" sz="1400" dirty="0" err="1"/>
              <a:t>doi</a:t>
            </a:r>
            <a:r>
              <a:rPr lang="en-US" sz="1400" dirty="0"/>
              <a:t>: 10.3390/s21134379.</a:t>
            </a:r>
            <a:endParaRPr lang="en-US" sz="1300" dirty="0"/>
          </a:p>
        </p:txBody>
      </p:sp>
      <p:sp>
        <p:nvSpPr>
          <p:cNvPr id="5" name="AutoShape 2">
            <a:extLst>
              <a:ext uri="{FF2B5EF4-FFF2-40B4-BE49-F238E27FC236}">
                <a16:creationId xmlns:a16="http://schemas.microsoft.com/office/drawing/2014/main" id="{73CCBDFD-53EC-30AD-218C-4E89088E54D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4" name="Picture 3">
            <a:extLst>
              <a:ext uri="{FF2B5EF4-FFF2-40B4-BE49-F238E27FC236}">
                <a16:creationId xmlns:a16="http://schemas.microsoft.com/office/drawing/2014/main" id="{0C7C745E-10F8-E9D9-9483-3647EDFD20C4}"/>
              </a:ext>
            </a:extLst>
          </p:cNvPr>
          <p:cNvPicPr>
            <a:picLocks noChangeAspect="1"/>
          </p:cNvPicPr>
          <p:nvPr/>
        </p:nvPicPr>
        <p:blipFill>
          <a:blip r:embed="rId2"/>
          <a:stretch>
            <a:fillRect/>
          </a:stretch>
        </p:blipFill>
        <p:spPr>
          <a:xfrm>
            <a:off x="4031167" y="975918"/>
            <a:ext cx="7714564" cy="4203835"/>
          </a:xfrm>
          <a:prstGeom prst="rect">
            <a:avLst/>
          </a:prstGeom>
        </p:spPr>
      </p:pic>
    </p:spTree>
    <p:extLst>
      <p:ext uri="{BB962C8B-B14F-4D97-AF65-F5344CB8AC3E}">
        <p14:creationId xmlns:p14="http://schemas.microsoft.com/office/powerpoint/2010/main" val="27697207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6CED6-DD42-F59E-9E25-B14CE141B7E4}"/>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23E39462-C14A-63F3-5754-D767732D81A7}"/>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55000" lnSpcReduction="200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5100" b="1" dirty="0"/>
              <a:t>Deep LSTM-Based Transfer Learning Approach, by Sagheer </a:t>
            </a:r>
            <a:endParaRPr lang="en-US" sz="2800" i="1" dirty="0"/>
          </a:p>
        </p:txBody>
      </p:sp>
      <p:sp>
        <p:nvSpPr>
          <p:cNvPr id="3" name="TextBox 2">
            <a:extLst>
              <a:ext uri="{FF2B5EF4-FFF2-40B4-BE49-F238E27FC236}">
                <a16:creationId xmlns:a16="http://schemas.microsoft.com/office/drawing/2014/main" id="{4B3D6B02-7617-C8FC-3482-DDEAB3856E53}"/>
              </a:ext>
            </a:extLst>
          </p:cNvPr>
          <p:cNvSpPr txBox="1"/>
          <p:nvPr/>
        </p:nvSpPr>
        <p:spPr>
          <a:xfrm>
            <a:off x="446269" y="5831236"/>
            <a:ext cx="11600587" cy="523220"/>
          </a:xfrm>
          <a:prstGeom prst="rect">
            <a:avLst/>
          </a:prstGeom>
          <a:noFill/>
        </p:spPr>
        <p:txBody>
          <a:bodyPr wrap="square">
            <a:spAutoFit/>
          </a:bodyPr>
          <a:lstStyle/>
          <a:p>
            <a:r>
              <a:rPr lang="en-US" sz="1400" dirty="0"/>
              <a:t>A. Sagheer, </a:t>
            </a:r>
            <a:r>
              <a:rPr lang="en-US" sz="1400" i="1" dirty="0"/>
              <a:t>et al.,</a:t>
            </a:r>
            <a:r>
              <a:rPr lang="en-US" sz="1400" dirty="0"/>
              <a:t> "Deep LSTM-based transfer learning approach for coherent forecasts in hierarchical time series," in </a:t>
            </a:r>
            <a:r>
              <a:rPr lang="en-US" sz="1400" i="1" dirty="0"/>
              <a:t>Sensors</a:t>
            </a:r>
            <a:r>
              <a:rPr lang="en-US" sz="1400" dirty="0"/>
              <a:t>, vol. 21, no. 13, Art. no. 4379, Jun. 2021, </a:t>
            </a:r>
            <a:r>
              <a:rPr lang="en-US" sz="1400" dirty="0" err="1"/>
              <a:t>doi</a:t>
            </a:r>
            <a:r>
              <a:rPr lang="en-US" sz="1400" dirty="0"/>
              <a:t>: 10.3390/s21134379.</a:t>
            </a:r>
            <a:endParaRPr lang="en-US" sz="1300" dirty="0"/>
          </a:p>
        </p:txBody>
      </p:sp>
      <p:pic>
        <p:nvPicPr>
          <p:cNvPr id="4100" name="Picture 4">
            <a:extLst>
              <a:ext uri="{FF2B5EF4-FFF2-40B4-BE49-F238E27FC236}">
                <a16:creationId xmlns:a16="http://schemas.microsoft.com/office/drawing/2014/main" id="{3C569CFC-E331-024C-C8CE-8DD1EDEE17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705" r="3821"/>
          <a:stretch>
            <a:fillRect/>
          </a:stretch>
        </p:blipFill>
        <p:spPr bwMode="auto">
          <a:xfrm>
            <a:off x="2923205" y="976620"/>
            <a:ext cx="3500345" cy="2286000"/>
          </a:xfrm>
          <a:prstGeom prst="rect">
            <a:avLst/>
          </a:prstGeom>
          <a:noFill/>
          <a:extLst>
            <a:ext uri="{909E8E84-426E-40DD-AFC4-6F175D3DCCD1}">
              <a14:hiddenFill xmlns:a14="http://schemas.microsoft.com/office/drawing/2010/main">
                <a:solidFill>
                  <a:srgbClr val="FFFFFF"/>
                </a:solidFill>
              </a14:hiddenFill>
            </a:ext>
          </a:extLst>
        </p:spPr>
      </p:pic>
      <p:pic>
        <p:nvPicPr>
          <p:cNvPr id="4099" name="Picture 3">
            <a:extLst>
              <a:ext uri="{FF2B5EF4-FFF2-40B4-BE49-F238E27FC236}">
                <a16:creationId xmlns:a16="http://schemas.microsoft.com/office/drawing/2014/main" id="{C32250B3-C1A7-858A-A18F-B5F0F6DEEC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46" r="4566"/>
          <a:stretch>
            <a:fillRect/>
          </a:stretch>
        </p:blipFill>
        <p:spPr bwMode="auto">
          <a:xfrm>
            <a:off x="6936945" y="976620"/>
            <a:ext cx="3499720" cy="2286000"/>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a:extLst>
              <a:ext uri="{FF2B5EF4-FFF2-40B4-BE49-F238E27FC236}">
                <a16:creationId xmlns:a16="http://schemas.microsoft.com/office/drawing/2014/main" id="{783A07DD-CE29-D8F1-FAE4-29A08CD334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685"/>
          <a:stretch>
            <a:fillRect/>
          </a:stretch>
        </p:blipFill>
        <p:spPr bwMode="auto">
          <a:xfrm>
            <a:off x="2833204" y="3365501"/>
            <a:ext cx="3680345" cy="2286000"/>
          </a:xfrm>
          <a:prstGeom prst="rect">
            <a:avLst/>
          </a:prstGeom>
          <a:noFill/>
          <a:extLst>
            <a:ext uri="{909E8E84-426E-40DD-AFC4-6F175D3DCCD1}">
              <a14:hiddenFill xmlns:a14="http://schemas.microsoft.com/office/drawing/2010/main">
                <a:solidFill>
                  <a:srgbClr val="FFFFFF"/>
                </a:solidFill>
              </a14:hiddenFill>
            </a:ext>
          </a:extLst>
        </p:spPr>
      </p:pic>
      <p:pic>
        <p:nvPicPr>
          <p:cNvPr id="4097" name="Picture 1">
            <a:extLst>
              <a:ext uri="{FF2B5EF4-FFF2-40B4-BE49-F238E27FC236}">
                <a16:creationId xmlns:a16="http://schemas.microsoft.com/office/drawing/2014/main" id="{F0076E0E-B23E-8241-9827-47DAFF478F2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685"/>
          <a:stretch>
            <a:fillRect/>
          </a:stretch>
        </p:blipFill>
        <p:spPr bwMode="auto">
          <a:xfrm>
            <a:off x="6756320" y="3365501"/>
            <a:ext cx="3680345" cy="228600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479BEA01-DB8F-B5C9-C873-1FEB820244B8}"/>
              </a:ext>
            </a:extLst>
          </p:cNvPr>
          <p:cNvSpPr txBox="1"/>
          <p:nvPr/>
        </p:nvSpPr>
        <p:spPr>
          <a:xfrm>
            <a:off x="697832" y="1085790"/>
            <a:ext cx="1148071" cy="400110"/>
          </a:xfrm>
          <a:prstGeom prst="rect">
            <a:avLst/>
          </a:prstGeom>
          <a:noFill/>
        </p:spPr>
        <p:txBody>
          <a:bodyPr wrap="none" rtlCol="0">
            <a:spAutoFit/>
          </a:bodyPr>
          <a:lstStyle/>
          <a:p>
            <a:r>
              <a:rPr lang="en-US" sz="2000" b="1" dirty="0"/>
              <a:t>Results</a:t>
            </a:r>
          </a:p>
        </p:txBody>
      </p:sp>
    </p:spTree>
    <p:extLst>
      <p:ext uri="{BB962C8B-B14F-4D97-AF65-F5344CB8AC3E}">
        <p14:creationId xmlns:p14="http://schemas.microsoft.com/office/powerpoint/2010/main" val="336550230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4B234-B207-920F-DEC2-84A8147F2F36}"/>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F52C2EBF-685E-37F8-479A-8DB001C3A10A}"/>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55000" lnSpcReduction="200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5100" b="1" dirty="0"/>
              <a:t>Deep LSTM-Based Transfer Learning Approach, by Sagheer </a:t>
            </a:r>
            <a:endParaRPr lang="en-US" sz="2800" i="1" dirty="0"/>
          </a:p>
        </p:txBody>
      </p:sp>
      <p:sp>
        <p:nvSpPr>
          <p:cNvPr id="3" name="TextBox 2">
            <a:extLst>
              <a:ext uri="{FF2B5EF4-FFF2-40B4-BE49-F238E27FC236}">
                <a16:creationId xmlns:a16="http://schemas.microsoft.com/office/drawing/2014/main" id="{E7D0974B-5AFB-E402-817D-D6873A346F7D}"/>
              </a:ext>
            </a:extLst>
          </p:cNvPr>
          <p:cNvSpPr txBox="1"/>
          <p:nvPr/>
        </p:nvSpPr>
        <p:spPr>
          <a:xfrm>
            <a:off x="446269" y="5831236"/>
            <a:ext cx="11600587" cy="523220"/>
          </a:xfrm>
          <a:prstGeom prst="rect">
            <a:avLst/>
          </a:prstGeom>
          <a:noFill/>
        </p:spPr>
        <p:txBody>
          <a:bodyPr wrap="square">
            <a:spAutoFit/>
          </a:bodyPr>
          <a:lstStyle/>
          <a:p>
            <a:r>
              <a:rPr lang="en-US" sz="1400" dirty="0"/>
              <a:t>A. Sagheer, </a:t>
            </a:r>
            <a:r>
              <a:rPr lang="en-US" sz="1400" i="1" dirty="0"/>
              <a:t>et al.,</a:t>
            </a:r>
            <a:r>
              <a:rPr lang="en-US" sz="1400" dirty="0"/>
              <a:t> "Deep LSTM-based transfer learning approach for coherent forecasts in hierarchical time series," in </a:t>
            </a:r>
            <a:r>
              <a:rPr lang="en-US" sz="1400" i="1" dirty="0"/>
              <a:t>Sensors</a:t>
            </a:r>
            <a:r>
              <a:rPr lang="en-US" sz="1400" dirty="0"/>
              <a:t>, vol. 21, no. 13, Art. no. 4379, Jun. 2021, </a:t>
            </a:r>
            <a:r>
              <a:rPr lang="en-US" sz="1400" dirty="0" err="1"/>
              <a:t>doi</a:t>
            </a:r>
            <a:r>
              <a:rPr lang="en-US" sz="1400" dirty="0"/>
              <a:t>: 10.3390/s21134379.</a:t>
            </a:r>
            <a:endParaRPr lang="en-US" sz="1300" dirty="0"/>
          </a:p>
        </p:txBody>
      </p:sp>
      <p:sp>
        <p:nvSpPr>
          <p:cNvPr id="2" name="TextBox 1">
            <a:extLst>
              <a:ext uri="{FF2B5EF4-FFF2-40B4-BE49-F238E27FC236}">
                <a16:creationId xmlns:a16="http://schemas.microsoft.com/office/drawing/2014/main" id="{CE384F82-7F4B-0705-9498-F203D2AACE07}"/>
              </a:ext>
            </a:extLst>
          </p:cNvPr>
          <p:cNvSpPr txBox="1"/>
          <p:nvPr/>
        </p:nvSpPr>
        <p:spPr>
          <a:xfrm>
            <a:off x="446268" y="828000"/>
            <a:ext cx="11565732" cy="4567917"/>
          </a:xfrm>
          <a:prstGeom prst="rect">
            <a:avLst/>
          </a:prstGeom>
          <a:noFill/>
        </p:spPr>
        <p:txBody>
          <a:bodyPr wrap="square">
            <a:spAutoFit/>
          </a:bodyPr>
          <a:lstStyle/>
          <a:p>
            <a:pPr>
              <a:lnSpc>
                <a:spcPct val="200000"/>
              </a:lnSpc>
              <a:spcAft>
                <a:spcPts val="800"/>
              </a:spcAft>
            </a:pPr>
            <a:r>
              <a:rPr lang="en-US" sz="2000" b="1" dirty="0"/>
              <a:t>Application to Buffalo Milk Prediction</a:t>
            </a:r>
          </a:p>
          <a:p>
            <a:pPr marL="342900" indent="-342900">
              <a:lnSpc>
                <a:spcPct val="150000"/>
              </a:lnSpc>
              <a:spcAft>
                <a:spcPts val="800"/>
              </a:spcAft>
              <a:buFont typeface="Arial" panose="020B0604020202020204" pitchFamily="34" charset="0"/>
              <a:buChar char="•"/>
            </a:pPr>
            <a:r>
              <a:rPr lang="en-US" sz="2000" b="1" dirty="0">
                <a:solidFill>
                  <a:srgbClr val="002B49"/>
                </a:solidFill>
              </a:rPr>
              <a:t>E</a:t>
            </a:r>
            <a:r>
              <a:rPr lang="en-US" sz="2000" b="1" dirty="0"/>
              <a:t>xpected result: </a:t>
            </a:r>
            <a:r>
              <a:rPr lang="en-US" sz="2000" dirty="0"/>
              <a:t>Efficient training by transferring knowledge from individual animals to farm/total levels.</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Comparison to Baseline:</a:t>
            </a:r>
            <a:r>
              <a:rPr lang="en-US" sz="2000" dirty="0"/>
              <a:t> computational efficiency and temporal sequence modeling (capturing lactation curves).</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New insight: </a:t>
            </a:r>
            <a:r>
              <a:rPr lang="en-US" sz="2000" dirty="0"/>
              <a:t>Better capture of DIM patterns and sequential dependencies in milk production.</a:t>
            </a:r>
          </a:p>
        </p:txBody>
      </p:sp>
    </p:spTree>
    <p:extLst>
      <p:ext uri="{BB962C8B-B14F-4D97-AF65-F5344CB8AC3E}">
        <p14:creationId xmlns:p14="http://schemas.microsoft.com/office/powerpoint/2010/main" val="173705612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5D602-8AD3-72C5-D660-DE971B3C1A97}"/>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827A5C55-E05A-498F-1054-E02CA63D3046}"/>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Neural Network Disaggregation (NND), by P. Mancuso </a:t>
            </a:r>
            <a:endParaRPr lang="en-US" sz="2000" i="1" dirty="0"/>
          </a:p>
        </p:txBody>
      </p:sp>
      <p:sp>
        <p:nvSpPr>
          <p:cNvPr id="3" name="TextBox 2">
            <a:extLst>
              <a:ext uri="{FF2B5EF4-FFF2-40B4-BE49-F238E27FC236}">
                <a16:creationId xmlns:a16="http://schemas.microsoft.com/office/drawing/2014/main" id="{97305593-0338-7358-AB41-89E2DE7D2C4D}"/>
              </a:ext>
            </a:extLst>
          </p:cNvPr>
          <p:cNvSpPr txBox="1"/>
          <p:nvPr/>
        </p:nvSpPr>
        <p:spPr>
          <a:xfrm>
            <a:off x="446269" y="5831236"/>
            <a:ext cx="11600587" cy="523220"/>
          </a:xfrm>
          <a:prstGeom prst="rect">
            <a:avLst/>
          </a:prstGeom>
          <a:noFill/>
        </p:spPr>
        <p:txBody>
          <a:bodyPr wrap="square">
            <a:spAutoFit/>
          </a:bodyPr>
          <a:lstStyle/>
          <a:p>
            <a:r>
              <a:rPr lang="en-US" sz="1400" dirty="0"/>
              <a:t>P. Mancuso </a:t>
            </a:r>
            <a:r>
              <a:rPr lang="en-US" sz="1400" i="1" dirty="0"/>
              <a:t>et </a:t>
            </a:r>
            <a:r>
              <a:rPr lang="en-US" sz="1400" i="1" dirty="0" err="1"/>
              <a:t>al.,</a:t>
            </a:r>
            <a:r>
              <a:rPr lang="en-US" sz="1400" dirty="0" err="1"/>
              <a:t>"A</a:t>
            </a:r>
            <a:r>
              <a:rPr lang="en-US" sz="1400" dirty="0"/>
              <a:t> machine learning approach for forecasting hierarchical time series,” in </a:t>
            </a:r>
            <a:r>
              <a:rPr lang="en-US" sz="1400" i="1" dirty="0"/>
              <a:t>Expert Syst. Appl.</a:t>
            </a:r>
            <a:r>
              <a:rPr lang="en-US" sz="1400" dirty="0"/>
              <a:t>, vol. 182, Art. no. 115102, Nov. 2021, </a:t>
            </a:r>
            <a:r>
              <a:rPr lang="en-US" sz="1400" dirty="0" err="1"/>
              <a:t>doi</a:t>
            </a:r>
            <a:r>
              <a:rPr lang="en-US" sz="1400" dirty="0"/>
              <a:t>: 10.1016/j.eswa.2021.115102.</a:t>
            </a:r>
            <a:endParaRPr lang="en-US" sz="1300" dirty="0"/>
          </a:p>
        </p:txBody>
      </p:sp>
      <p:sp>
        <p:nvSpPr>
          <p:cNvPr id="16" name="TextBox 15">
            <a:extLst>
              <a:ext uri="{FF2B5EF4-FFF2-40B4-BE49-F238E27FC236}">
                <a16:creationId xmlns:a16="http://schemas.microsoft.com/office/drawing/2014/main" id="{43A48B79-5CB4-84DE-AD55-0211E63219CC}"/>
              </a:ext>
            </a:extLst>
          </p:cNvPr>
          <p:cNvSpPr txBox="1"/>
          <p:nvPr/>
        </p:nvSpPr>
        <p:spPr>
          <a:xfrm>
            <a:off x="697833" y="1194276"/>
            <a:ext cx="11003388" cy="4185761"/>
          </a:xfrm>
          <a:prstGeom prst="rect">
            <a:avLst/>
          </a:prstGeom>
          <a:noFill/>
        </p:spPr>
        <p:txBody>
          <a:bodyPr wrap="square" rtlCol="0">
            <a:spAutoFit/>
          </a:bodyPr>
          <a:lstStyle/>
          <a:p>
            <a:pPr algn="just"/>
            <a:r>
              <a:rPr lang="en-US" sz="2000" b="1" dirty="0"/>
              <a:t>Objective: </a:t>
            </a:r>
            <a:r>
              <a:rPr lang="en-US" sz="2000" dirty="0"/>
              <a:t>Uses deep neural networks (specifically </a:t>
            </a:r>
            <a:r>
              <a:rPr lang="en-US" sz="2000" b="1" dirty="0"/>
              <a:t>CNNs</a:t>
            </a:r>
            <a:r>
              <a:rPr lang="en-US" sz="2000" dirty="0"/>
              <a:t>) to directly produce coherent forecasts across hierarchical time series, rather than using traditional post-processing reconciliation methods.</a:t>
            </a:r>
          </a:p>
          <a:p>
            <a:pPr algn="just"/>
            <a:endParaRPr lang="en-US" sz="2000" dirty="0"/>
          </a:p>
          <a:p>
            <a:r>
              <a:rPr lang="en-US" b="1" dirty="0"/>
              <a:t>Dataset: </a:t>
            </a:r>
          </a:p>
          <a:p>
            <a:r>
              <a:rPr lang="en-US" dirty="0"/>
              <a:t>1 - five years Italian grocery store, (3 levels)</a:t>
            </a:r>
          </a:p>
          <a:p>
            <a:r>
              <a:rPr lang="en-US" dirty="0"/>
              <a:t>2 - electricity demand in Switzerland (2 levels)</a:t>
            </a:r>
          </a:p>
          <a:p>
            <a:r>
              <a:rPr lang="en-US" dirty="0"/>
              <a:t>3 - Walmart data (M5) (4 levels)</a:t>
            </a:r>
          </a:p>
          <a:p>
            <a:r>
              <a:rPr lang="en-US" b="1" dirty="0"/>
              <a:t>Limitation: </a:t>
            </a:r>
            <a:r>
              <a:rPr lang="en-US" dirty="0"/>
              <a:t>a few years of observations for daily time series are needed</a:t>
            </a:r>
          </a:p>
          <a:p>
            <a:endParaRPr lang="en-US" dirty="0"/>
          </a:p>
          <a:p>
            <a:r>
              <a:rPr lang="en-US" dirty="0"/>
              <a:t>They implemented 2 models: </a:t>
            </a:r>
          </a:p>
          <a:p>
            <a:pPr algn="just"/>
            <a:r>
              <a:rPr lang="en-US" sz="2000" b="1" dirty="0"/>
              <a:t>	NND1:</a:t>
            </a:r>
            <a:r>
              <a:rPr lang="en-US" sz="2000" dirty="0"/>
              <a:t> Direct approach</a:t>
            </a:r>
          </a:p>
          <a:p>
            <a:pPr algn="just"/>
            <a:r>
              <a:rPr lang="en-US" sz="2000" b="1" dirty="0"/>
              <a:t>	NND2:</a:t>
            </a:r>
            <a:r>
              <a:rPr lang="en-US" sz="2000" dirty="0"/>
              <a:t> Step-by-step approach</a:t>
            </a:r>
          </a:p>
          <a:p>
            <a:endParaRPr lang="en-US" sz="2000" dirty="0"/>
          </a:p>
        </p:txBody>
      </p:sp>
      <p:pic>
        <p:nvPicPr>
          <p:cNvPr id="7" name="Picture 6">
            <a:extLst>
              <a:ext uri="{FF2B5EF4-FFF2-40B4-BE49-F238E27FC236}">
                <a16:creationId xmlns:a16="http://schemas.microsoft.com/office/drawing/2014/main" id="{CBB7E1CD-4EBB-3904-423C-95FF834B1866}"/>
              </a:ext>
            </a:extLst>
          </p:cNvPr>
          <p:cNvPicPr>
            <a:picLocks noChangeAspect="1"/>
          </p:cNvPicPr>
          <p:nvPr/>
        </p:nvPicPr>
        <p:blipFill>
          <a:blip r:embed="rId2"/>
          <a:stretch>
            <a:fillRect/>
          </a:stretch>
        </p:blipFill>
        <p:spPr>
          <a:xfrm>
            <a:off x="12624262" y="1117424"/>
            <a:ext cx="4315168" cy="4411597"/>
          </a:xfrm>
          <a:prstGeom prst="rect">
            <a:avLst/>
          </a:prstGeom>
        </p:spPr>
      </p:pic>
    </p:spTree>
    <p:extLst>
      <p:ext uri="{BB962C8B-B14F-4D97-AF65-F5344CB8AC3E}">
        <p14:creationId xmlns:p14="http://schemas.microsoft.com/office/powerpoint/2010/main" val="23354167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95732-6627-62E4-8849-53CA6EC7E380}"/>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D70EFD73-2A46-3543-C80C-5B70D9AACFDC}"/>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Neural Network Disaggregation (NND), by P. Mancuso </a:t>
            </a:r>
            <a:endParaRPr lang="en-US" sz="2000" i="1" dirty="0"/>
          </a:p>
        </p:txBody>
      </p:sp>
      <p:sp>
        <p:nvSpPr>
          <p:cNvPr id="3" name="TextBox 2">
            <a:extLst>
              <a:ext uri="{FF2B5EF4-FFF2-40B4-BE49-F238E27FC236}">
                <a16:creationId xmlns:a16="http://schemas.microsoft.com/office/drawing/2014/main" id="{277EEEB1-12E8-E2F7-50AE-CFC35A3F4BD1}"/>
              </a:ext>
            </a:extLst>
          </p:cNvPr>
          <p:cNvSpPr txBox="1"/>
          <p:nvPr/>
        </p:nvSpPr>
        <p:spPr>
          <a:xfrm>
            <a:off x="446269" y="5831236"/>
            <a:ext cx="11600587" cy="523220"/>
          </a:xfrm>
          <a:prstGeom prst="rect">
            <a:avLst/>
          </a:prstGeom>
          <a:noFill/>
        </p:spPr>
        <p:txBody>
          <a:bodyPr wrap="square">
            <a:spAutoFit/>
          </a:bodyPr>
          <a:lstStyle/>
          <a:p>
            <a:r>
              <a:rPr lang="en-US" sz="1400" dirty="0"/>
              <a:t>P. Mancuso </a:t>
            </a:r>
            <a:r>
              <a:rPr lang="en-US" sz="1400" i="1" dirty="0"/>
              <a:t>et </a:t>
            </a:r>
            <a:r>
              <a:rPr lang="en-US" sz="1400" i="1" dirty="0" err="1"/>
              <a:t>al.,</a:t>
            </a:r>
            <a:r>
              <a:rPr lang="en-US" sz="1400" dirty="0" err="1"/>
              <a:t>"A</a:t>
            </a:r>
            <a:r>
              <a:rPr lang="en-US" sz="1400" dirty="0"/>
              <a:t> machine learning approach for forecasting hierarchical time series,” in </a:t>
            </a:r>
            <a:r>
              <a:rPr lang="en-US" sz="1400" i="1" dirty="0"/>
              <a:t>Expert Syst. Appl.</a:t>
            </a:r>
            <a:r>
              <a:rPr lang="en-US" sz="1400" dirty="0"/>
              <a:t>, vol. 182, Art. no. 115102, Nov. 2021, </a:t>
            </a:r>
            <a:r>
              <a:rPr lang="en-US" sz="1400" dirty="0" err="1"/>
              <a:t>doi</a:t>
            </a:r>
            <a:r>
              <a:rPr lang="en-US" sz="1400" dirty="0"/>
              <a:t>: 10.1016/j.eswa.2021.115102.</a:t>
            </a:r>
            <a:endParaRPr lang="en-US" sz="1300" dirty="0"/>
          </a:p>
        </p:txBody>
      </p:sp>
      <p:sp>
        <p:nvSpPr>
          <p:cNvPr id="5" name="TextBox 4">
            <a:extLst>
              <a:ext uri="{FF2B5EF4-FFF2-40B4-BE49-F238E27FC236}">
                <a16:creationId xmlns:a16="http://schemas.microsoft.com/office/drawing/2014/main" id="{7123C345-FF64-EE30-C6E3-28A829C49A8B}"/>
              </a:ext>
            </a:extLst>
          </p:cNvPr>
          <p:cNvSpPr txBox="1"/>
          <p:nvPr/>
        </p:nvSpPr>
        <p:spPr>
          <a:xfrm>
            <a:off x="179999" y="1046768"/>
            <a:ext cx="7163775" cy="4482253"/>
          </a:xfrm>
          <a:prstGeom prst="rect">
            <a:avLst/>
          </a:prstGeom>
          <a:noFill/>
        </p:spPr>
        <p:txBody>
          <a:bodyPr wrap="square">
            <a:spAutoFit/>
          </a:bodyPr>
          <a:lstStyle/>
          <a:p>
            <a:pPr marL="0" marR="0" algn="justLow">
              <a:lnSpc>
                <a:spcPct val="115000"/>
              </a:lnSpc>
              <a:spcAft>
                <a:spcPts val="800"/>
              </a:spcAft>
              <a:buNone/>
            </a:pPr>
            <a:r>
              <a:rPr lang="en-US" sz="1600" b="1" kern="0" dirty="0">
                <a:effectLst/>
                <a:ea typeface="Times New Roman" panose="02020603050405020304" pitchFamily="18" charset="0"/>
                <a:cs typeface="Arial" panose="020B0604020202020204" pitchFamily="34" charset="0"/>
              </a:rPr>
              <a:t>NND1: The "Direct" Approach</a:t>
            </a:r>
            <a:endParaRPr lang="en-US" sz="1600" b="1" kern="100" dirty="0">
              <a:effectLst/>
              <a:ea typeface="Aptos" panose="020B0004020202020204" pitchFamily="34" charset="0"/>
              <a:cs typeface="Arial" panose="020B0604020202020204" pitchFamily="34" charset="0"/>
            </a:endParaRPr>
          </a:p>
          <a:p>
            <a:pPr marR="0" lvl="0" algn="justLow">
              <a:lnSpc>
                <a:spcPct val="115000"/>
              </a:lnSpc>
              <a:spcAft>
                <a:spcPts val="800"/>
              </a:spcAft>
              <a:buSzPts val="1000"/>
              <a:tabLst>
                <a:tab pos="457200" algn="l"/>
              </a:tabLst>
            </a:pPr>
            <a:r>
              <a:rPr lang="en-US" sz="1600" b="1" kern="0" dirty="0">
                <a:effectLst/>
                <a:ea typeface="Times New Roman" panose="02020603050405020304" pitchFamily="18" charset="0"/>
                <a:cs typeface="Arial" panose="020B0604020202020204" pitchFamily="34" charset="0"/>
              </a:rPr>
              <a:t>The Concept: </a:t>
            </a:r>
            <a:r>
              <a:rPr lang="en-US" sz="1600" kern="0" dirty="0">
                <a:effectLst/>
                <a:ea typeface="Times New Roman" panose="02020603050405020304" pitchFamily="18" charset="0"/>
                <a:cs typeface="Arial" panose="020B0604020202020204" pitchFamily="34" charset="0"/>
              </a:rPr>
              <a:t>This method jumps directly from the </a:t>
            </a:r>
            <a:r>
              <a:rPr lang="en-US" sz="1600" b="1" kern="0" dirty="0">
                <a:effectLst/>
                <a:ea typeface="Times New Roman" panose="02020603050405020304" pitchFamily="18" charset="0"/>
                <a:cs typeface="Arial" panose="020B0604020202020204" pitchFamily="34" charset="0"/>
              </a:rPr>
              <a:t>very top </a:t>
            </a:r>
            <a:r>
              <a:rPr lang="en-US" sz="1600" kern="0" dirty="0">
                <a:effectLst/>
                <a:ea typeface="Times New Roman" panose="02020603050405020304" pitchFamily="18" charset="0"/>
                <a:cs typeface="Arial" panose="020B0604020202020204" pitchFamily="34" charset="0"/>
              </a:rPr>
              <a:t>of the hierarchy to the </a:t>
            </a:r>
            <a:r>
              <a:rPr lang="en-US" sz="1600" b="1" kern="0" dirty="0">
                <a:effectLst/>
                <a:ea typeface="Times New Roman" panose="02020603050405020304" pitchFamily="18" charset="0"/>
                <a:cs typeface="Arial" panose="020B0604020202020204" pitchFamily="34" charset="0"/>
              </a:rPr>
              <a:t>very bottom</a:t>
            </a:r>
            <a:r>
              <a:rPr lang="en-US" sz="1600" b="1" kern="0" dirty="0">
                <a:ea typeface="Times New Roman" panose="02020603050405020304" pitchFamily="18" charset="0"/>
                <a:cs typeface="Arial" panose="020B0604020202020204" pitchFamily="34" charset="0"/>
              </a:rPr>
              <a:t>.</a:t>
            </a:r>
          </a:p>
          <a:p>
            <a:pPr marR="0" lvl="0" algn="justLow">
              <a:lnSpc>
                <a:spcPct val="115000"/>
              </a:lnSpc>
              <a:spcAft>
                <a:spcPts val="800"/>
              </a:spcAft>
              <a:buSzPts val="1000"/>
              <a:tabLst>
                <a:tab pos="457200" algn="l"/>
              </a:tabLst>
            </a:pPr>
            <a:endParaRPr lang="en-US" sz="1600" kern="100" dirty="0">
              <a:effectLst/>
              <a:ea typeface="Aptos" panose="020B0004020202020204" pitchFamily="34" charset="0"/>
              <a:cs typeface="Arial" panose="020B0604020202020204" pitchFamily="34" charset="0"/>
            </a:endParaRPr>
          </a:p>
          <a:p>
            <a:pPr marR="0" lvl="0" algn="justLow">
              <a:lnSpc>
                <a:spcPct val="115000"/>
              </a:lnSpc>
              <a:spcAft>
                <a:spcPts val="800"/>
              </a:spcAft>
              <a:buSzPts val="1000"/>
              <a:tabLst>
                <a:tab pos="457200" algn="l"/>
              </a:tabLst>
            </a:pPr>
            <a:r>
              <a:rPr lang="en-US" sz="1600" b="1" kern="0" dirty="0">
                <a:effectLst/>
                <a:ea typeface="Times New Roman" panose="02020603050405020304" pitchFamily="18" charset="0"/>
                <a:cs typeface="Arial" panose="020B0604020202020204" pitchFamily="34" charset="0"/>
              </a:rPr>
              <a:t>How it works: </a:t>
            </a:r>
            <a:r>
              <a:rPr lang="en-US" sz="1600" kern="0" dirty="0">
                <a:effectLst/>
                <a:ea typeface="Times New Roman" panose="02020603050405020304" pitchFamily="18" charset="0"/>
                <a:cs typeface="Arial" panose="020B0604020202020204" pitchFamily="34" charset="0"/>
              </a:rPr>
              <a:t>A single model is trained to look at the total aggregate data (</a:t>
            </a:r>
            <a:r>
              <a:rPr lang="en-US" sz="1600" b="1" kern="0" dirty="0">
                <a:effectLst/>
                <a:ea typeface="Times New Roman" panose="02020603050405020304" pitchFamily="18" charset="0"/>
                <a:cs typeface="Arial" panose="020B0604020202020204" pitchFamily="34" charset="0"/>
              </a:rPr>
              <a:t>Level 0</a:t>
            </a:r>
            <a:r>
              <a:rPr lang="en-US" sz="1600" kern="0" dirty="0">
                <a:effectLst/>
                <a:ea typeface="Times New Roman" panose="02020603050405020304" pitchFamily="18" charset="0"/>
                <a:cs typeface="Arial" panose="020B0604020202020204" pitchFamily="34" charset="0"/>
              </a:rPr>
              <a:t>) and immediately predict the most detailed items at the bottom level (</a:t>
            </a:r>
            <a:r>
              <a:rPr lang="en-US" sz="1600" b="1" kern="0" dirty="0">
                <a:effectLst/>
                <a:ea typeface="Times New Roman" panose="02020603050405020304" pitchFamily="18" charset="0"/>
                <a:cs typeface="Arial" panose="020B0604020202020204" pitchFamily="34" charset="0"/>
              </a:rPr>
              <a:t>Level K-1</a:t>
            </a:r>
            <a:r>
              <a:rPr lang="en-US" sz="1600" kern="0" dirty="0">
                <a:effectLst/>
                <a:ea typeface="Times New Roman" panose="02020603050405020304" pitchFamily="18" charset="0"/>
                <a:cs typeface="Arial" panose="020B0604020202020204" pitchFamily="34" charset="0"/>
              </a:rPr>
              <a:t>).</a:t>
            </a:r>
          </a:p>
          <a:p>
            <a:pPr marR="0" lvl="0" algn="justLow">
              <a:lnSpc>
                <a:spcPct val="115000"/>
              </a:lnSpc>
              <a:spcAft>
                <a:spcPts val="800"/>
              </a:spcAft>
              <a:buSzPts val="1000"/>
              <a:tabLst>
                <a:tab pos="457200" algn="l"/>
              </a:tabLst>
            </a:pPr>
            <a:endParaRPr lang="en-US" sz="1600" kern="100" dirty="0">
              <a:effectLst/>
              <a:ea typeface="Aptos" panose="020B0004020202020204" pitchFamily="34" charset="0"/>
              <a:cs typeface="Arial" panose="020B0604020202020204" pitchFamily="34" charset="0"/>
            </a:endParaRPr>
          </a:p>
          <a:p>
            <a:pPr marR="0" lvl="0" algn="justLow">
              <a:lnSpc>
                <a:spcPct val="115000"/>
              </a:lnSpc>
              <a:spcAft>
                <a:spcPts val="800"/>
              </a:spcAft>
              <a:buSzPts val="1000"/>
              <a:tabLst>
                <a:tab pos="457200" algn="l"/>
              </a:tabLst>
            </a:pPr>
            <a:r>
              <a:rPr lang="en-US" sz="1600" b="1" kern="0" dirty="0">
                <a:effectLst/>
                <a:ea typeface="Times New Roman" panose="02020603050405020304" pitchFamily="18" charset="0"/>
                <a:cs typeface="Arial" panose="020B0604020202020204" pitchFamily="34" charset="0"/>
              </a:rPr>
              <a:t>Final Step: </a:t>
            </a:r>
            <a:r>
              <a:rPr lang="en-US" sz="1600" kern="0" dirty="0">
                <a:effectLst/>
                <a:ea typeface="Times New Roman" panose="02020603050405020304" pitchFamily="18" charset="0"/>
                <a:cs typeface="Arial" panose="020B0604020202020204" pitchFamily="34" charset="0"/>
              </a:rPr>
              <a:t>Once the </a:t>
            </a:r>
            <a:r>
              <a:rPr lang="en-US" sz="1600" b="1" kern="0" dirty="0">
                <a:effectLst/>
                <a:ea typeface="Times New Roman" panose="02020603050405020304" pitchFamily="18" charset="0"/>
                <a:cs typeface="Arial" panose="020B0604020202020204" pitchFamily="34" charset="0"/>
              </a:rPr>
              <a:t>bottom-level</a:t>
            </a:r>
            <a:r>
              <a:rPr lang="en-US" sz="1600" kern="0" dirty="0">
                <a:effectLst/>
                <a:ea typeface="Times New Roman" panose="02020603050405020304" pitchFamily="18" charset="0"/>
                <a:cs typeface="Arial" panose="020B0604020202020204" pitchFamily="34" charset="0"/>
              </a:rPr>
              <a:t> items are predicted, you simply sum them back up to fill in the </a:t>
            </a:r>
            <a:r>
              <a:rPr lang="en-US" sz="1600" b="1" kern="0" dirty="0">
                <a:effectLst/>
                <a:ea typeface="Times New Roman" panose="02020603050405020304" pitchFamily="18" charset="0"/>
                <a:cs typeface="Arial" panose="020B0604020202020204" pitchFamily="34" charset="0"/>
              </a:rPr>
              <a:t>middle levels </a:t>
            </a:r>
            <a:r>
              <a:rPr lang="en-US" sz="1600" kern="0" dirty="0">
                <a:effectLst/>
                <a:ea typeface="Times New Roman" panose="02020603050405020304" pitchFamily="18" charset="0"/>
                <a:cs typeface="Arial" panose="020B0604020202020204" pitchFamily="34" charset="0"/>
              </a:rPr>
              <a:t>of the hierarchy.</a:t>
            </a:r>
          </a:p>
          <a:p>
            <a:pPr marR="0" lvl="0" algn="justLow">
              <a:lnSpc>
                <a:spcPct val="115000"/>
              </a:lnSpc>
              <a:spcAft>
                <a:spcPts val="800"/>
              </a:spcAft>
              <a:buSzPts val="1000"/>
              <a:tabLst>
                <a:tab pos="457200" algn="l"/>
              </a:tabLst>
            </a:pPr>
            <a:endParaRPr lang="en-US" sz="1600" kern="100" dirty="0">
              <a:effectLst/>
              <a:ea typeface="Aptos" panose="020B0004020202020204" pitchFamily="34" charset="0"/>
              <a:cs typeface="Arial" panose="020B0604020202020204" pitchFamily="34" charset="0"/>
            </a:endParaRPr>
          </a:p>
          <a:p>
            <a:pPr marR="0" lvl="0" algn="justLow">
              <a:lnSpc>
                <a:spcPct val="115000"/>
              </a:lnSpc>
              <a:spcAft>
                <a:spcPts val="800"/>
              </a:spcAft>
              <a:buSzPts val="1000"/>
              <a:tabLst>
                <a:tab pos="457200" algn="l"/>
              </a:tabLst>
            </a:pPr>
            <a:r>
              <a:rPr lang="en-US" sz="1600" b="1" kern="0" dirty="0">
                <a:effectLst/>
                <a:ea typeface="Times New Roman" panose="02020603050405020304" pitchFamily="18" charset="0"/>
                <a:cs typeface="Arial" panose="020B0604020202020204" pitchFamily="34" charset="0"/>
              </a:rPr>
              <a:t>Best for: </a:t>
            </a:r>
            <a:r>
              <a:rPr lang="en-US" sz="1600" kern="0" dirty="0">
                <a:effectLst/>
                <a:ea typeface="Times New Roman" panose="02020603050405020304" pitchFamily="18" charset="0"/>
                <a:cs typeface="Arial" panose="020B0604020202020204" pitchFamily="34" charset="0"/>
              </a:rPr>
              <a:t>This strategy was found to be most effective for the </a:t>
            </a:r>
            <a:r>
              <a:rPr lang="en-US" sz="1600" b="1" kern="0" dirty="0">
                <a:effectLst/>
                <a:ea typeface="Times New Roman" panose="02020603050405020304" pitchFamily="18" charset="0"/>
                <a:cs typeface="Arial" panose="020B0604020202020204" pitchFamily="34" charset="0"/>
              </a:rPr>
              <a:t>bottom-level</a:t>
            </a:r>
            <a:r>
              <a:rPr lang="en-US" sz="1600" kern="0" dirty="0">
                <a:effectLst/>
                <a:ea typeface="Times New Roman" panose="02020603050405020304" pitchFamily="18" charset="0"/>
                <a:cs typeface="Arial" panose="020B0604020202020204" pitchFamily="34" charset="0"/>
              </a:rPr>
              <a:t> items.</a:t>
            </a:r>
            <a:endParaRPr lang="en-US" sz="1600" kern="100" dirty="0">
              <a:effectLst/>
              <a:ea typeface="Aptos" panose="020B00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BE0A3747-46D2-727F-9B61-DA0AC98F147F}"/>
              </a:ext>
            </a:extLst>
          </p:cNvPr>
          <p:cNvPicPr>
            <a:picLocks noChangeAspect="1"/>
          </p:cNvPicPr>
          <p:nvPr/>
        </p:nvPicPr>
        <p:blipFill>
          <a:blip r:embed="rId2"/>
          <a:stretch>
            <a:fillRect/>
          </a:stretch>
        </p:blipFill>
        <p:spPr>
          <a:xfrm>
            <a:off x="7946755" y="1117424"/>
            <a:ext cx="4315168" cy="4411597"/>
          </a:xfrm>
          <a:prstGeom prst="rect">
            <a:avLst/>
          </a:prstGeom>
        </p:spPr>
      </p:pic>
      <p:pic>
        <p:nvPicPr>
          <p:cNvPr id="8" name="Picture 7">
            <a:extLst>
              <a:ext uri="{FF2B5EF4-FFF2-40B4-BE49-F238E27FC236}">
                <a16:creationId xmlns:a16="http://schemas.microsoft.com/office/drawing/2014/main" id="{1C9B41D9-058F-FCC2-2B6C-59771B1A0724}"/>
              </a:ext>
            </a:extLst>
          </p:cNvPr>
          <p:cNvPicPr>
            <a:picLocks noChangeAspect="1"/>
          </p:cNvPicPr>
          <p:nvPr/>
        </p:nvPicPr>
        <p:blipFill>
          <a:blip r:embed="rId3"/>
          <a:stretch>
            <a:fillRect/>
          </a:stretch>
        </p:blipFill>
        <p:spPr>
          <a:xfrm>
            <a:off x="-4550452" y="1117423"/>
            <a:ext cx="4315168" cy="4411597"/>
          </a:xfrm>
          <a:prstGeom prst="rect">
            <a:avLst/>
          </a:prstGeom>
        </p:spPr>
      </p:pic>
    </p:spTree>
    <p:extLst>
      <p:ext uri="{BB962C8B-B14F-4D97-AF65-F5344CB8AC3E}">
        <p14:creationId xmlns:p14="http://schemas.microsoft.com/office/powerpoint/2010/main" val="24104317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62E1B-FA26-190D-BB7E-71628D8FF73C}"/>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EDCFB48D-1274-B4FA-3814-F58CD504179A}"/>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Neural Network Disaggregation (NND), by P. Mancuso </a:t>
            </a:r>
            <a:endParaRPr lang="en-US" sz="2000" i="1" dirty="0"/>
          </a:p>
        </p:txBody>
      </p:sp>
      <p:sp>
        <p:nvSpPr>
          <p:cNvPr id="3" name="TextBox 2">
            <a:extLst>
              <a:ext uri="{FF2B5EF4-FFF2-40B4-BE49-F238E27FC236}">
                <a16:creationId xmlns:a16="http://schemas.microsoft.com/office/drawing/2014/main" id="{58732D89-4D90-4620-A7A2-19A17F9866ED}"/>
              </a:ext>
            </a:extLst>
          </p:cNvPr>
          <p:cNvSpPr txBox="1"/>
          <p:nvPr/>
        </p:nvSpPr>
        <p:spPr>
          <a:xfrm>
            <a:off x="446269" y="5831236"/>
            <a:ext cx="11600587" cy="523220"/>
          </a:xfrm>
          <a:prstGeom prst="rect">
            <a:avLst/>
          </a:prstGeom>
          <a:noFill/>
        </p:spPr>
        <p:txBody>
          <a:bodyPr wrap="square">
            <a:spAutoFit/>
          </a:bodyPr>
          <a:lstStyle/>
          <a:p>
            <a:r>
              <a:rPr lang="en-US" sz="1400" dirty="0"/>
              <a:t>P. Mancuso </a:t>
            </a:r>
            <a:r>
              <a:rPr lang="en-US" sz="1400" i="1" dirty="0"/>
              <a:t>et </a:t>
            </a:r>
            <a:r>
              <a:rPr lang="en-US" sz="1400" i="1" dirty="0" err="1"/>
              <a:t>al.,</a:t>
            </a:r>
            <a:r>
              <a:rPr lang="en-US" sz="1400" dirty="0" err="1"/>
              <a:t>"A</a:t>
            </a:r>
            <a:r>
              <a:rPr lang="en-US" sz="1400" dirty="0"/>
              <a:t> machine learning approach for forecasting hierarchical time series,” in </a:t>
            </a:r>
            <a:r>
              <a:rPr lang="en-US" sz="1400" i="1" dirty="0"/>
              <a:t>Expert Syst. Appl.</a:t>
            </a:r>
            <a:r>
              <a:rPr lang="en-US" sz="1400" dirty="0"/>
              <a:t>, vol. 182, Art. no. 115102, Nov. 2021, </a:t>
            </a:r>
            <a:r>
              <a:rPr lang="en-US" sz="1400" dirty="0" err="1"/>
              <a:t>doi</a:t>
            </a:r>
            <a:r>
              <a:rPr lang="en-US" sz="1400" dirty="0"/>
              <a:t>: 10.1016/j.eswa.2021.115102.</a:t>
            </a:r>
            <a:endParaRPr lang="en-US" sz="1300" dirty="0"/>
          </a:p>
        </p:txBody>
      </p:sp>
      <p:sp>
        <p:nvSpPr>
          <p:cNvPr id="5" name="TextBox 4">
            <a:extLst>
              <a:ext uri="{FF2B5EF4-FFF2-40B4-BE49-F238E27FC236}">
                <a16:creationId xmlns:a16="http://schemas.microsoft.com/office/drawing/2014/main" id="{6A60E770-3EA1-0620-B030-D1870BF45929}"/>
              </a:ext>
            </a:extLst>
          </p:cNvPr>
          <p:cNvSpPr txBox="1"/>
          <p:nvPr/>
        </p:nvSpPr>
        <p:spPr>
          <a:xfrm>
            <a:off x="4736498" y="1046768"/>
            <a:ext cx="7163775" cy="4092402"/>
          </a:xfrm>
          <a:prstGeom prst="rect">
            <a:avLst/>
          </a:prstGeom>
          <a:noFill/>
        </p:spPr>
        <p:txBody>
          <a:bodyPr wrap="square">
            <a:spAutoFit/>
          </a:bodyPr>
          <a:lstStyle/>
          <a:p>
            <a:pPr marL="0" marR="0" algn="just">
              <a:lnSpc>
                <a:spcPct val="115000"/>
              </a:lnSpc>
              <a:spcAft>
                <a:spcPts val="800"/>
              </a:spcAft>
              <a:buNone/>
            </a:pPr>
            <a:r>
              <a:rPr lang="en-US" sz="1600" b="1" kern="0" dirty="0">
                <a:effectLst/>
                <a:ea typeface="Times New Roman" panose="02020603050405020304" pitchFamily="18" charset="0"/>
                <a:cs typeface="Arial" panose="020B0604020202020204" pitchFamily="34" charset="0"/>
              </a:rPr>
              <a:t>NND2: The "Step-by-Step" (Iterative) Approach </a:t>
            </a:r>
          </a:p>
          <a:p>
            <a:pPr marL="0" marR="0" algn="just">
              <a:lnSpc>
                <a:spcPct val="115000"/>
              </a:lnSpc>
              <a:spcAft>
                <a:spcPts val="800"/>
              </a:spcAft>
              <a:buNone/>
            </a:pPr>
            <a:r>
              <a:rPr lang="en-US" sz="1600" b="1" kern="0" dirty="0">
                <a:effectLst/>
                <a:ea typeface="Times New Roman" panose="02020603050405020304" pitchFamily="18" charset="0"/>
                <a:cs typeface="Arial" panose="020B0604020202020204" pitchFamily="34" charset="0"/>
              </a:rPr>
              <a:t>The Concept: </a:t>
            </a:r>
            <a:r>
              <a:rPr lang="en-US" sz="1600" kern="0" dirty="0">
                <a:effectLst/>
                <a:ea typeface="Times New Roman" panose="02020603050405020304" pitchFamily="18" charset="0"/>
                <a:cs typeface="Arial" panose="020B0604020202020204" pitchFamily="34" charset="0"/>
              </a:rPr>
              <a:t>This method follows the natural structure of the hierarchy </a:t>
            </a:r>
            <a:r>
              <a:rPr lang="en-US" sz="1600" b="1" kern="0" dirty="0">
                <a:effectLst/>
                <a:ea typeface="Times New Roman" panose="02020603050405020304" pitchFamily="18" charset="0"/>
                <a:cs typeface="Arial" panose="020B0604020202020204" pitchFamily="34" charset="0"/>
              </a:rPr>
              <a:t>level by level</a:t>
            </a:r>
            <a:r>
              <a:rPr lang="en-US" sz="1600" kern="0" dirty="0">
                <a:effectLst/>
                <a:ea typeface="Times New Roman" panose="02020603050405020304" pitchFamily="18" charset="0"/>
                <a:cs typeface="Arial" panose="020B0604020202020204" pitchFamily="34" charset="0"/>
              </a:rPr>
              <a:t>. </a:t>
            </a:r>
          </a:p>
          <a:p>
            <a:pPr marR="0" lvl="0" algn="just">
              <a:lnSpc>
                <a:spcPct val="115000"/>
              </a:lnSpc>
              <a:spcAft>
                <a:spcPts val="800"/>
              </a:spcAft>
              <a:buSzPts val="1000"/>
              <a:tabLst>
                <a:tab pos="457200" algn="l"/>
              </a:tabLst>
            </a:pPr>
            <a:endParaRPr lang="en-US" sz="1600" kern="100" dirty="0">
              <a:effectLst/>
              <a:ea typeface="Aptos" panose="020B0004020202020204" pitchFamily="34" charset="0"/>
              <a:cs typeface="Arial" panose="020B0604020202020204" pitchFamily="34" charset="0"/>
            </a:endParaRPr>
          </a:p>
          <a:p>
            <a:pPr lvl="0" algn="just"/>
            <a:r>
              <a:rPr lang="en-US" sz="1600" b="1" kern="0" dirty="0">
                <a:effectLst/>
                <a:ea typeface="Times New Roman" panose="02020603050405020304" pitchFamily="18" charset="0"/>
                <a:cs typeface="Arial" panose="020B0604020202020204" pitchFamily="34" charset="0"/>
              </a:rPr>
              <a:t>How it works: </a:t>
            </a:r>
            <a:r>
              <a:rPr lang="en-US" sz="1600" kern="0" dirty="0">
                <a:cs typeface="Arial" panose="020B0604020202020204" pitchFamily="34" charset="0"/>
              </a:rPr>
              <a:t>Instead of one big jump, </a:t>
            </a:r>
            <a:r>
              <a:rPr lang="en-US" sz="1600" b="1" kern="0" dirty="0">
                <a:cs typeface="Arial" panose="020B0604020202020204" pitchFamily="34" charset="0"/>
              </a:rPr>
              <a:t>separate</a:t>
            </a:r>
            <a:r>
              <a:rPr lang="en-US" sz="1600" kern="0" dirty="0">
                <a:cs typeface="Arial" panose="020B0604020202020204" pitchFamily="34" charset="0"/>
              </a:rPr>
              <a:t> models are trained for every single level in the hierarchy. For example, the model first predicts </a:t>
            </a:r>
            <a:r>
              <a:rPr lang="en-US" sz="1600" b="1" kern="0" dirty="0">
                <a:cs typeface="Arial" panose="020B0604020202020204" pitchFamily="34" charset="0"/>
              </a:rPr>
              <a:t>Level 1 from Level 0</a:t>
            </a:r>
            <a:r>
              <a:rPr lang="en-US" sz="1600" kern="0" dirty="0">
                <a:cs typeface="Arial" panose="020B0604020202020204" pitchFamily="34" charset="0"/>
              </a:rPr>
              <a:t>, then </a:t>
            </a:r>
            <a:r>
              <a:rPr lang="en-US" sz="1600" b="1" kern="0" dirty="0">
                <a:cs typeface="Arial" panose="020B0604020202020204" pitchFamily="34" charset="0"/>
              </a:rPr>
              <a:t>Level 2 from Level 1</a:t>
            </a:r>
            <a:r>
              <a:rPr lang="en-US" sz="1600" kern="0" dirty="0">
                <a:cs typeface="Arial" panose="020B0604020202020204" pitchFamily="34" charset="0"/>
              </a:rPr>
              <a:t>, and so on.</a:t>
            </a:r>
          </a:p>
          <a:p>
            <a:pPr marR="0" lvl="0" algn="just">
              <a:lnSpc>
                <a:spcPct val="115000"/>
              </a:lnSpc>
              <a:spcAft>
                <a:spcPts val="800"/>
              </a:spcAft>
              <a:buSzPts val="1000"/>
              <a:tabLst>
                <a:tab pos="457200" algn="l"/>
              </a:tabLst>
            </a:pPr>
            <a:endParaRPr lang="en-US" sz="1600" kern="0" dirty="0">
              <a:cs typeface="Arial" panose="020B0604020202020204" pitchFamily="34" charset="0"/>
            </a:endParaRPr>
          </a:p>
          <a:p>
            <a:pPr lvl="0" algn="just"/>
            <a:r>
              <a:rPr lang="en-US" sz="1600" b="1" dirty="0"/>
              <a:t>Key Difference: </a:t>
            </a:r>
            <a:r>
              <a:rPr lang="en-US" sz="1600" dirty="0"/>
              <a:t>It requires training many models in parallel—one for every </a:t>
            </a:r>
            <a:r>
              <a:rPr lang="en-US" sz="1600" b="1" dirty="0"/>
              <a:t>parent </a:t>
            </a:r>
            <a:r>
              <a:rPr lang="en-US" sz="1600" dirty="0"/>
              <a:t>series that needs to be broken down.</a:t>
            </a:r>
          </a:p>
          <a:p>
            <a:pPr algn="just">
              <a:lnSpc>
                <a:spcPct val="115000"/>
              </a:lnSpc>
              <a:spcAft>
                <a:spcPts val="800"/>
              </a:spcAft>
              <a:buSzPts val="1000"/>
              <a:tabLst>
                <a:tab pos="457200" algn="l"/>
              </a:tabLst>
            </a:pPr>
            <a:endParaRPr lang="en-US" sz="1600" b="1" kern="0" dirty="0">
              <a:effectLst/>
              <a:ea typeface="Times New Roman" panose="02020603050405020304" pitchFamily="18" charset="0"/>
              <a:cs typeface="Arial" panose="020B0604020202020204" pitchFamily="34" charset="0"/>
            </a:endParaRPr>
          </a:p>
          <a:p>
            <a:pPr algn="just">
              <a:lnSpc>
                <a:spcPct val="115000"/>
              </a:lnSpc>
              <a:spcAft>
                <a:spcPts val="800"/>
              </a:spcAft>
              <a:buSzPts val="1000"/>
              <a:tabLst>
                <a:tab pos="457200" algn="l"/>
              </a:tabLst>
            </a:pPr>
            <a:r>
              <a:rPr lang="en-US" sz="1600" b="1" kern="0" dirty="0">
                <a:effectLst/>
                <a:ea typeface="Times New Roman" panose="02020603050405020304" pitchFamily="18" charset="0"/>
                <a:cs typeface="Arial" panose="020B0604020202020204" pitchFamily="34" charset="0"/>
              </a:rPr>
              <a:t>Best for: </a:t>
            </a:r>
            <a:r>
              <a:rPr lang="en-US" sz="1600" dirty="0"/>
              <a:t>This strategy is more flexible and captures the unique patterns of middle levels better. </a:t>
            </a:r>
            <a:endParaRPr lang="en-US" sz="1400" kern="100" dirty="0">
              <a:effectLst/>
              <a:ea typeface="Aptos" panose="020B00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DEC38F33-00D6-F67E-5AE4-F06067BC3EA6}"/>
              </a:ext>
            </a:extLst>
          </p:cNvPr>
          <p:cNvPicPr>
            <a:picLocks noChangeAspect="1"/>
          </p:cNvPicPr>
          <p:nvPr/>
        </p:nvPicPr>
        <p:blipFill>
          <a:blip r:embed="rId2"/>
          <a:stretch>
            <a:fillRect/>
          </a:stretch>
        </p:blipFill>
        <p:spPr>
          <a:xfrm>
            <a:off x="12624262" y="1117424"/>
            <a:ext cx="4315168" cy="4411597"/>
          </a:xfrm>
          <a:prstGeom prst="rect">
            <a:avLst/>
          </a:prstGeom>
        </p:spPr>
      </p:pic>
      <p:pic>
        <p:nvPicPr>
          <p:cNvPr id="6" name="Picture 5">
            <a:extLst>
              <a:ext uri="{FF2B5EF4-FFF2-40B4-BE49-F238E27FC236}">
                <a16:creationId xmlns:a16="http://schemas.microsoft.com/office/drawing/2014/main" id="{BCAB9397-EC64-EAC5-C6F8-7C079D9F7FAF}"/>
              </a:ext>
            </a:extLst>
          </p:cNvPr>
          <p:cNvPicPr>
            <a:picLocks noChangeAspect="1"/>
          </p:cNvPicPr>
          <p:nvPr/>
        </p:nvPicPr>
        <p:blipFill>
          <a:blip r:embed="rId3"/>
          <a:stretch>
            <a:fillRect/>
          </a:stretch>
        </p:blipFill>
        <p:spPr>
          <a:xfrm>
            <a:off x="-31204" y="1117423"/>
            <a:ext cx="4315168" cy="4411597"/>
          </a:xfrm>
          <a:prstGeom prst="rect">
            <a:avLst/>
          </a:prstGeom>
        </p:spPr>
      </p:pic>
    </p:spTree>
    <p:extLst>
      <p:ext uri="{BB962C8B-B14F-4D97-AF65-F5344CB8AC3E}">
        <p14:creationId xmlns:p14="http://schemas.microsoft.com/office/powerpoint/2010/main" val="32157447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D597A-C3C2-50CC-0C66-EEA93C6700BE}"/>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11D22869-2A25-330B-D2FE-8096CA5B94D6}"/>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Neural Network Disaggregation (NND), by P. Mancuso </a:t>
            </a:r>
            <a:endParaRPr lang="en-US" sz="2000" i="1" dirty="0"/>
          </a:p>
        </p:txBody>
      </p:sp>
      <p:sp>
        <p:nvSpPr>
          <p:cNvPr id="3" name="TextBox 2">
            <a:extLst>
              <a:ext uri="{FF2B5EF4-FFF2-40B4-BE49-F238E27FC236}">
                <a16:creationId xmlns:a16="http://schemas.microsoft.com/office/drawing/2014/main" id="{4025CDDF-964E-88E6-3C21-7FA0879BA397}"/>
              </a:ext>
            </a:extLst>
          </p:cNvPr>
          <p:cNvSpPr txBox="1"/>
          <p:nvPr/>
        </p:nvSpPr>
        <p:spPr>
          <a:xfrm>
            <a:off x="446269" y="5831236"/>
            <a:ext cx="11600587" cy="523220"/>
          </a:xfrm>
          <a:prstGeom prst="rect">
            <a:avLst/>
          </a:prstGeom>
          <a:noFill/>
        </p:spPr>
        <p:txBody>
          <a:bodyPr wrap="square">
            <a:spAutoFit/>
          </a:bodyPr>
          <a:lstStyle/>
          <a:p>
            <a:r>
              <a:rPr lang="en-US" sz="1400" dirty="0"/>
              <a:t>P. Mancuso </a:t>
            </a:r>
            <a:r>
              <a:rPr lang="en-US" sz="1400" i="1" dirty="0"/>
              <a:t>et </a:t>
            </a:r>
            <a:r>
              <a:rPr lang="en-US" sz="1400" i="1" dirty="0" err="1"/>
              <a:t>al.,</a:t>
            </a:r>
            <a:r>
              <a:rPr lang="en-US" sz="1400" dirty="0" err="1"/>
              <a:t>"A</a:t>
            </a:r>
            <a:r>
              <a:rPr lang="en-US" sz="1400" dirty="0"/>
              <a:t> machine learning approach for forecasting hierarchical time series,” in </a:t>
            </a:r>
            <a:r>
              <a:rPr lang="en-US" sz="1400" i="1" dirty="0"/>
              <a:t>Expert Syst. Appl.</a:t>
            </a:r>
            <a:r>
              <a:rPr lang="en-US" sz="1400" dirty="0"/>
              <a:t>, vol. 182, Art. no. 115102, Nov. 2021, </a:t>
            </a:r>
            <a:r>
              <a:rPr lang="en-US" sz="1400" dirty="0" err="1"/>
              <a:t>doi</a:t>
            </a:r>
            <a:r>
              <a:rPr lang="en-US" sz="1400" dirty="0"/>
              <a:t>: 10.1016/j.eswa.2021.115102.</a:t>
            </a:r>
            <a:endParaRPr lang="en-US" sz="1300" dirty="0"/>
          </a:p>
        </p:txBody>
      </p:sp>
      <p:sp>
        <p:nvSpPr>
          <p:cNvPr id="2" name="TextBox 1">
            <a:extLst>
              <a:ext uri="{FF2B5EF4-FFF2-40B4-BE49-F238E27FC236}">
                <a16:creationId xmlns:a16="http://schemas.microsoft.com/office/drawing/2014/main" id="{D6F32874-A14E-3017-90FD-5E445E5C7CA1}"/>
              </a:ext>
            </a:extLst>
          </p:cNvPr>
          <p:cNvSpPr txBox="1"/>
          <p:nvPr/>
        </p:nvSpPr>
        <p:spPr>
          <a:xfrm>
            <a:off x="446268" y="828000"/>
            <a:ext cx="11565732" cy="4106252"/>
          </a:xfrm>
          <a:prstGeom prst="rect">
            <a:avLst/>
          </a:prstGeom>
          <a:noFill/>
        </p:spPr>
        <p:txBody>
          <a:bodyPr wrap="square">
            <a:spAutoFit/>
          </a:bodyPr>
          <a:lstStyle/>
          <a:p>
            <a:pPr>
              <a:lnSpc>
                <a:spcPct val="200000"/>
              </a:lnSpc>
              <a:spcAft>
                <a:spcPts val="800"/>
              </a:spcAft>
            </a:pPr>
            <a:r>
              <a:rPr lang="en-US" sz="2000" b="1" dirty="0"/>
              <a:t>Application to Buffalo Milk Prediction</a:t>
            </a:r>
          </a:p>
          <a:p>
            <a:pPr marL="342900" indent="-342900">
              <a:lnSpc>
                <a:spcPct val="150000"/>
              </a:lnSpc>
              <a:spcAft>
                <a:spcPts val="800"/>
              </a:spcAft>
              <a:buFont typeface="Arial" panose="020B0604020202020204" pitchFamily="34" charset="0"/>
              <a:buChar char="•"/>
            </a:pPr>
            <a:r>
              <a:rPr lang="en-US" sz="2000" b="1" dirty="0">
                <a:solidFill>
                  <a:srgbClr val="002B49"/>
                </a:solidFill>
              </a:rPr>
              <a:t>E</a:t>
            </a:r>
            <a:r>
              <a:rPr lang="en-US" sz="2000" b="1" dirty="0"/>
              <a:t>xpected result: </a:t>
            </a:r>
            <a:r>
              <a:rPr lang="en-US" sz="2000" dirty="0"/>
              <a:t>Direct prediction from </a:t>
            </a:r>
            <a:r>
              <a:rPr lang="en-US" sz="2000" dirty="0" err="1"/>
              <a:t>Total→Individual</a:t>
            </a:r>
            <a:r>
              <a:rPr lang="en-US" sz="2000" dirty="0"/>
              <a:t> animals or step-by-step through Farm level.</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Comparison to Baseline:</a:t>
            </a:r>
            <a:r>
              <a:rPr lang="en-US" sz="2000" dirty="0"/>
              <a:t> </a:t>
            </a:r>
            <a:r>
              <a:rPr lang="en-US" sz="2000" i="1" dirty="0"/>
              <a:t>hierarchical coherence</a:t>
            </a:r>
            <a:r>
              <a:rPr lang="en-US" sz="2000" dirty="0"/>
              <a:t> while maintaining individual animal predictions.</a:t>
            </a:r>
          </a:p>
          <a:p>
            <a:pPr marL="342900" indent="-342900">
              <a:spcAft>
                <a:spcPts val="800"/>
              </a:spcAft>
              <a:buFont typeface="Arial" panose="020B0604020202020204" pitchFamily="34" charset="0"/>
              <a:buChar char="•"/>
            </a:pPr>
            <a:endParaRPr lang="en-US" sz="2000" dirty="0"/>
          </a:p>
          <a:p>
            <a:pPr marL="342900" indent="-342900">
              <a:lnSpc>
                <a:spcPct val="150000"/>
              </a:lnSpc>
              <a:spcAft>
                <a:spcPts val="800"/>
              </a:spcAft>
              <a:buFont typeface="Arial" panose="020B0604020202020204" pitchFamily="34" charset="0"/>
              <a:buChar char="•"/>
            </a:pPr>
            <a:r>
              <a:rPr lang="en-US" sz="2000" b="1" dirty="0"/>
              <a:t>New insight: </a:t>
            </a:r>
            <a:r>
              <a:rPr lang="en-US" sz="2000" dirty="0"/>
              <a:t>Guaranteed sum-consistency (farm totals = sum of animal predictions).</a:t>
            </a:r>
          </a:p>
        </p:txBody>
      </p:sp>
    </p:spTree>
    <p:extLst>
      <p:ext uri="{BB962C8B-B14F-4D97-AF65-F5344CB8AC3E}">
        <p14:creationId xmlns:p14="http://schemas.microsoft.com/office/powerpoint/2010/main" val="19419673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02A49"/>
        </a:solidFill>
        <a:effectLst/>
      </p:bgPr>
    </p:bg>
    <p:spTree>
      <p:nvGrpSpPr>
        <p:cNvPr id="1" name="">
          <a:extLst>
            <a:ext uri="{FF2B5EF4-FFF2-40B4-BE49-F238E27FC236}">
              <a16:creationId xmlns:a16="http://schemas.microsoft.com/office/drawing/2014/main" id="{CA420847-C62E-8F48-F246-59D980A07909}"/>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9A9CDC93-5BEE-EBAB-CF1B-E4D538BAE1CE}"/>
              </a:ext>
            </a:extLst>
          </p:cNvPr>
          <p:cNvSpPr>
            <a:spLocks noGrp="1"/>
          </p:cNvSpPr>
          <p:nvPr>
            <p:ph type="body" sz="quarter" idx="11"/>
          </p:nvPr>
        </p:nvSpPr>
        <p:spPr>
          <a:xfrm>
            <a:off x="5442857" y="1917000"/>
            <a:ext cx="6406093" cy="3024000"/>
          </a:xfrm>
        </p:spPr>
        <p:txBody>
          <a:bodyPr anchor="ctr">
            <a:normAutofit/>
          </a:bodyPr>
          <a:lstStyle/>
          <a:p>
            <a:pPr algn="ctr"/>
            <a:r>
              <a:rPr lang="en-US" sz="4400" b="1" dirty="0"/>
              <a:t>Methodology</a:t>
            </a:r>
          </a:p>
        </p:txBody>
      </p:sp>
      <p:sp>
        <p:nvSpPr>
          <p:cNvPr id="12" name="Rectangle 11">
            <a:extLst>
              <a:ext uri="{FF2B5EF4-FFF2-40B4-BE49-F238E27FC236}">
                <a16:creationId xmlns:a16="http://schemas.microsoft.com/office/drawing/2014/main" id="{A722E016-4770-86C8-1F33-705432435304}"/>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357387420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96DE0-0A16-6430-BDC6-E7E4E175694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E0D5DC8-F332-136C-5565-53EB69964D09}"/>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Preprocessing</a:t>
            </a:r>
            <a:endParaRPr lang="en-US" sz="2000" i="1" dirty="0"/>
          </a:p>
        </p:txBody>
      </p:sp>
      <p:sp>
        <p:nvSpPr>
          <p:cNvPr id="2" name="Round Same Side Corner Rectangle 3">
            <a:extLst>
              <a:ext uri="{FF2B5EF4-FFF2-40B4-BE49-F238E27FC236}">
                <a16:creationId xmlns:a16="http://schemas.microsoft.com/office/drawing/2014/main" id="{26904C78-E597-8F77-6031-979948C6DA2D}"/>
              </a:ext>
            </a:extLst>
          </p:cNvPr>
          <p:cNvSpPr>
            <a:spLocks/>
          </p:cNvSpPr>
          <p:nvPr/>
        </p:nvSpPr>
        <p:spPr bwMode="auto">
          <a:xfrm>
            <a:off x="13222555" y="1270167"/>
            <a:ext cx="5866776" cy="3505033"/>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5" name="Triangle 7">
            <a:extLst>
              <a:ext uri="{FF2B5EF4-FFF2-40B4-BE49-F238E27FC236}">
                <a16:creationId xmlns:a16="http://schemas.microsoft.com/office/drawing/2014/main" id="{9C42DEFD-5F43-8159-21C4-E7D5B8B6E2E0}"/>
              </a:ext>
            </a:extLst>
          </p:cNvPr>
          <p:cNvSpPr/>
          <p:nvPr/>
        </p:nvSpPr>
        <p:spPr bwMode="auto">
          <a:xfrm rot="16200000">
            <a:off x="11783523" y="2144542"/>
            <a:ext cx="2653654" cy="103670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Lst>
            <a:ahLst/>
            <a:cxnLst>
              <a:cxn ang="0">
                <a:pos x="csX0" y="csY0"/>
              </a:cxn>
              <a:cxn ang="0">
                <a:pos x="csX1" y="csY1"/>
              </a:cxn>
              <a:cxn ang="0">
                <a:pos x="csX2" y="csY2"/>
              </a:cxn>
              <a:cxn ang="0">
                <a:pos x="csX3" y="csY3"/>
              </a:cxn>
            </a:cxnLst>
            <a:rect l="l" t="t" r="r" b="b"/>
            <a:pathLst>
              <a:path w="2653654" h="1036708">
                <a:moveTo>
                  <a:pt x="0" y="647097"/>
                </a:moveTo>
                <a:cubicBezTo>
                  <a:pt x="778414" y="744198"/>
                  <a:pt x="1635177" y="281785"/>
                  <a:pt x="1806669" y="0"/>
                </a:cubicBezTo>
                <a:cubicBezTo>
                  <a:pt x="3497671" y="1625700"/>
                  <a:pt x="2213277" y="177874"/>
                  <a:pt x="1742760" y="1036708"/>
                </a:cubicBezTo>
                <a:lnTo>
                  <a:pt x="0" y="647097"/>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6" name="TextBox 5">
            <a:extLst>
              <a:ext uri="{FF2B5EF4-FFF2-40B4-BE49-F238E27FC236}">
                <a16:creationId xmlns:a16="http://schemas.microsoft.com/office/drawing/2014/main" id="{715F987C-D63C-8A5D-B9FE-5292195FCA22}"/>
              </a:ext>
            </a:extLst>
          </p:cNvPr>
          <p:cNvSpPr txBox="1"/>
          <p:nvPr/>
        </p:nvSpPr>
        <p:spPr>
          <a:xfrm>
            <a:off x="562204" y="1241039"/>
            <a:ext cx="6146548" cy="4260141"/>
          </a:xfrm>
          <a:prstGeom prst="rect">
            <a:avLst/>
          </a:prstGeom>
          <a:noFill/>
        </p:spPr>
        <p:txBody>
          <a:bodyPr wrap="square">
            <a:spAutoFit/>
          </a:bodyPr>
          <a:lstStyle/>
          <a:p>
            <a:pPr marL="342900" indent="-342900">
              <a:lnSpc>
                <a:spcPct val="150000"/>
              </a:lnSpc>
              <a:spcAft>
                <a:spcPts val="800"/>
              </a:spcAft>
              <a:buFont typeface="Arial" panose="020B0604020202020204" pitchFamily="34" charset="0"/>
              <a:buChar char="•"/>
            </a:pPr>
            <a:r>
              <a:rPr lang="en-US" sz="2000" b="1" dirty="0">
                <a:solidFill>
                  <a:srgbClr val="002B49"/>
                </a:solidFill>
              </a:rPr>
              <a:t>Removing Outliers and null values</a:t>
            </a:r>
          </a:p>
          <a:p>
            <a:pPr marL="914400" lvl="1" indent="-457200">
              <a:buFont typeface="Arial" panose="020B0604020202020204" pitchFamily="34" charset="0"/>
              <a:buChar char="•"/>
            </a:pPr>
            <a:r>
              <a:rPr lang="en-US" sz="2000" dirty="0">
                <a:solidFill>
                  <a:srgbClr val="002B49"/>
                </a:solidFill>
              </a:rPr>
              <a:t>Time Series Decomposition. </a:t>
            </a:r>
          </a:p>
          <a:p>
            <a:pPr marL="914400" lvl="1" indent="-457200">
              <a:buFont typeface="Arial" panose="020B0604020202020204" pitchFamily="34" charset="0"/>
              <a:buChar char="•"/>
            </a:pPr>
            <a:r>
              <a:rPr lang="en-US" sz="2000" dirty="0">
                <a:solidFill>
                  <a:srgbClr val="002B49"/>
                </a:solidFill>
              </a:rPr>
              <a:t>Statical</a:t>
            </a:r>
            <a:r>
              <a:rPr lang="en-US" sz="2000" dirty="0">
                <a:solidFill>
                  <a:schemeClr val="bg1">
                    <a:lumMod val="85000"/>
                  </a:schemeClr>
                </a:solidFill>
              </a:rPr>
              <a:t> </a:t>
            </a:r>
            <a:r>
              <a:rPr lang="en-US" sz="2000" dirty="0">
                <a:solidFill>
                  <a:srgbClr val="002B49"/>
                </a:solidFill>
              </a:rPr>
              <a:t>methods like normal distribution.</a:t>
            </a:r>
          </a:p>
          <a:p>
            <a:pPr marL="342900" indent="-342900">
              <a:lnSpc>
                <a:spcPct val="150000"/>
              </a:lnSpc>
              <a:spcAft>
                <a:spcPts val="800"/>
              </a:spcAft>
              <a:buFont typeface="Arial" panose="020B0604020202020204" pitchFamily="34" charset="0"/>
              <a:buChar char="•"/>
            </a:pPr>
            <a:r>
              <a:rPr lang="en-US" sz="2000" b="1" dirty="0">
                <a:solidFill>
                  <a:srgbClr val="002B49"/>
                </a:solidFill>
              </a:rPr>
              <a:t>Integrating climate data. </a:t>
            </a:r>
          </a:p>
          <a:p>
            <a:pPr marL="342900" indent="-342900">
              <a:lnSpc>
                <a:spcPct val="150000"/>
              </a:lnSpc>
              <a:spcAft>
                <a:spcPts val="800"/>
              </a:spcAft>
              <a:buFont typeface="Arial" panose="020B0604020202020204" pitchFamily="34" charset="0"/>
              <a:buChar char="•"/>
            </a:pPr>
            <a:r>
              <a:rPr lang="en-US" sz="2000" b="1" dirty="0">
                <a:solidFill>
                  <a:srgbClr val="002B49"/>
                </a:solidFill>
              </a:rPr>
              <a:t>THI Composite </a:t>
            </a:r>
          </a:p>
          <a:p>
            <a:pPr marL="914400" lvl="1" indent="-457200">
              <a:lnSpc>
                <a:spcPct val="150000"/>
              </a:lnSpc>
              <a:spcAft>
                <a:spcPts val="800"/>
              </a:spcAft>
              <a:buFont typeface="Arial" panose="020B0604020202020204" pitchFamily="34" charset="0"/>
              <a:buChar char="•"/>
            </a:pPr>
            <a:r>
              <a:rPr lang="en-US" sz="2000" dirty="0">
                <a:solidFill>
                  <a:srgbClr val="002B49"/>
                </a:solidFill>
              </a:rPr>
              <a:t>Avg of 2 days before and after </a:t>
            </a:r>
          </a:p>
          <a:p>
            <a:pPr marL="342900" indent="-342900">
              <a:lnSpc>
                <a:spcPct val="150000"/>
              </a:lnSpc>
              <a:spcAft>
                <a:spcPts val="800"/>
              </a:spcAft>
              <a:buFont typeface="Arial" panose="020B0604020202020204" pitchFamily="34" charset="0"/>
              <a:buChar char="•"/>
            </a:pPr>
            <a:r>
              <a:rPr lang="en-US" sz="2000" b="1" dirty="0">
                <a:solidFill>
                  <a:srgbClr val="002B49"/>
                </a:solidFill>
              </a:rPr>
              <a:t>Lag Features</a:t>
            </a:r>
          </a:p>
          <a:p>
            <a:pPr marL="914400" lvl="1" indent="-457200">
              <a:lnSpc>
                <a:spcPct val="150000"/>
              </a:lnSpc>
              <a:spcAft>
                <a:spcPts val="800"/>
              </a:spcAft>
              <a:buFont typeface="Arial" panose="020B0604020202020204" pitchFamily="34" charset="0"/>
              <a:buChar char="•"/>
            </a:pPr>
            <a:r>
              <a:rPr lang="en-US" sz="2000" dirty="0">
                <a:solidFill>
                  <a:srgbClr val="002B49"/>
                </a:solidFill>
              </a:rPr>
              <a:t>Captures the effect of past days</a:t>
            </a:r>
          </a:p>
        </p:txBody>
      </p:sp>
    </p:spTree>
    <p:extLst>
      <p:ext uri="{BB962C8B-B14F-4D97-AF65-F5344CB8AC3E}">
        <p14:creationId xmlns:p14="http://schemas.microsoft.com/office/powerpoint/2010/main" val="2634249336"/>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CD6EF-3AD6-4DDD-D324-85F98D6F56D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8661C1C-1721-411E-B37C-C8FBD537CF78}"/>
              </a:ext>
            </a:extLst>
          </p:cNvPr>
          <p:cNvSpPr txBox="1"/>
          <p:nvPr/>
        </p:nvSpPr>
        <p:spPr>
          <a:xfrm>
            <a:off x="562204" y="1241039"/>
            <a:ext cx="6146548" cy="4260141"/>
          </a:xfrm>
          <a:prstGeom prst="rect">
            <a:avLst/>
          </a:prstGeom>
          <a:noFill/>
        </p:spPr>
        <p:txBody>
          <a:bodyPr wrap="square">
            <a:spAutoFit/>
          </a:bodyPr>
          <a:lstStyle/>
          <a:p>
            <a:pPr marL="342900" indent="-342900">
              <a:lnSpc>
                <a:spcPct val="150000"/>
              </a:lnSpc>
              <a:spcAft>
                <a:spcPts val="800"/>
              </a:spcAft>
              <a:buFont typeface="Arial" panose="020B0604020202020204" pitchFamily="34" charset="0"/>
              <a:buChar char="•"/>
            </a:pPr>
            <a:r>
              <a:rPr lang="en-US" sz="2000" b="1" dirty="0">
                <a:solidFill>
                  <a:srgbClr val="002B49"/>
                </a:solidFill>
              </a:rPr>
              <a:t>Removing Outliers and null values</a:t>
            </a:r>
          </a:p>
          <a:p>
            <a:pPr marL="914400" lvl="1" indent="-457200">
              <a:buFont typeface="Arial" panose="020B0604020202020204" pitchFamily="34" charset="0"/>
              <a:buChar char="•"/>
            </a:pPr>
            <a:r>
              <a:rPr lang="en-US" sz="2000" dirty="0">
                <a:solidFill>
                  <a:srgbClr val="002B49"/>
                </a:solidFill>
              </a:rPr>
              <a:t>Time Series Decomposition. </a:t>
            </a:r>
          </a:p>
          <a:p>
            <a:pPr marL="914400" lvl="1" indent="-457200">
              <a:buFont typeface="Arial" panose="020B0604020202020204" pitchFamily="34" charset="0"/>
              <a:buChar char="•"/>
            </a:pPr>
            <a:r>
              <a:rPr lang="en-US" sz="2000" dirty="0">
                <a:solidFill>
                  <a:schemeClr val="bg1">
                    <a:lumMod val="85000"/>
                  </a:schemeClr>
                </a:solidFill>
              </a:rPr>
              <a:t>Statical methods like normal distribution.</a:t>
            </a:r>
            <a:endParaRPr lang="en-US" sz="2000" dirty="0">
              <a:solidFill>
                <a:srgbClr val="1B415D"/>
              </a:solidFill>
            </a:endParaRP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Integrating climate data. </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THI Composite </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Avg of 2 days before and after </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Lag Features</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Captures the effect of past days</a:t>
            </a:r>
          </a:p>
        </p:txBody>
      </p:sp>
      <p:sp>
        <p:nvSpPr>
          <p:cNvPr id="7" name="Title 1">
            <a:extLst>
              <a:ext uri="{FF2B5EF4-FFF2-40B4-BE49-F238E27FC236}">
                <a16:creationId xmlns:a16="http://schemas.microsoft.com/office/drawing/2014/main" id="{88B53C1D-18F3-73D3-4B66-3D70C3C33BC1}"/>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Preprocessing</a:t>
            </a:r>
            <a:endParaRPr lang="en-US" sz="2000" i="1" dirty="0"/>
          </a:p>
        </p:txBody>
      </p:sp>
      <p:sp>
        <p:nvSpPr>
          <p:cNvPr id="2" name="Round Same Side Corner Rectangle 3">
            <a:extLst>
              <a:ext uri="{FF2B5EF4-FFF2-40B4-BE49-F238E27FC236}">
                <a16:creationId xmlns:a16="http://schemas.microsoft.com/office/drawing/2014/main" id="{F8F08E6B-E5FC-E70E-FB6D-85895B6462B0}"/>
              </a:ext>
            </a:extLst>
          </p:cNvPr>
          <p:cNvSpPr>
            <a:spLocks/>
          </p:cNvSpPr>
          <p:nvPr/>
        </p:nvSpPr>
        <p:spPr bwMode="auto">
          <a:xfrm>
            <a:off x="6161355" y="991873"/>
            <a:ext cx="5866776" cy="4713188"/>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marL="0" algn="ctr" defTabSz="914400" rtl="0" eaLnBrk="1" latinLnBrk="0" hangingPunct="1"/>
            <a:endParaRPr lang="en-US" dirty="0"/>
          </a:p>
        </p:txBody>
      </p:sp>
      <p:sp>
        <p:nvSpPr>
          <p:cNvPr id="5" name="Triangle 7">
            <a:extLst>
              <a:ext uri="{FF2B5EF4-FFF2-40B4-BE49-F238E27FC236}">
                <a16:creationId xmlns:a16="http://schemas.microsoft.com/office/drawing/2014/main" id="{4D81F8C0-1268-AB72-0EFA-E69D789E568B}"/>
              </a:ext>
            </a:extLst>
          </p:cNvPr>
          <p:cNvSpPr/>
          <p:nvPr/>
        </p:nvSpPr>
        <p:spPr bwMode="auto">
          <a:xfrm rot="16200000">
            <a:off x="5172041" y="1738395"/>
            <a:ext cx="1903519" cy="101455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863175"/>
              <a:gd name="csY0" fmla="*/ 561372 h 950983"/>
              <a:gd name="csX1" fmla="*/ 2099563 w 2863175"/>
              <a:gd name="csY1" fmla="*/ 0 h 950983"/>
              <a:gd name="csX2" fmla="*/ 1742760 w 2863175"/>
              <a:gd name="csY2" fmla="*/ 950983 h 950983"/>
              <a:gd name="csX3" fmla="*/ 0 w 2863175"/>
              <a:gd name="csY3" fmla="*/ 561372 h 950983"/>
              <a:gd name="csX0" fmla="*/ 0 w 2675851"/>
              <a:gd name="csY0" fmla="*/ 561372 h 950983"/>
              <a:gd name="csX1" fmla="*/ 2099563 w 2675851"/>
              <a:gd name="csY1" fmla="*/ 0 h 950983"/>
              <a:gd name="csX2" fmla="*/ 1742760 w 2675851"/>
              <a:gd name="csY2" fmla="*/ 950983 h 950983"/>
              <a:gd name="csX3" fmla="*/ 0 w 2675851"/>
              <a:gd name="csY3" fmla="*/ 561372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1879785"/>
              <a:gd name="csY0" fmla="*/ 582889 h 950983"/>
              <a:gd name="csX1" fmla="*/ 1303497 w 1879785"/>
              <a:gd name="csY1" fmla="*/ 0 h 950983"/>
              <a:gd name="csX2" fmla="*/ 946694 w 1879785"/>
              <a:gd name="csY2" fmla="*/ 950983 h 950983"/>
              <a:gd name="csX3" fmla="*/ 0 w 1879785"/>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55665"/>
              <a:gd name="csY0" fmla="*/ 582889 h 950983"/>
              <a:gd name="csX1" fmla="*/ 1303497 w 1855665"/>
              <a:gd name="csY1" fmla="*/ 0 h 950983"/>
              <a:gd name="csX2" fmla="*/ 946694 w 1855665"/>
              <a:gd name="csY2" fmla="*/ 950983 h 950983"/>
              <a:gd name="csX3" fmla="*/ 0 w 1855665"/>
              <a:gd name="csY3" fmla="*/ 582889 h 950983"/>
              <a:gd name="csX0" fmla="*/ 0 w 1821595"/>
              <a:gd name="csY0" fmla="*/ 582889 h 1109926"/>
              <a:gd name="csX1" fmla="*/ 1303497 w 1821595"/>
              <a:gd name="csY1" fmla="*/ 0 h 1109926"/>
              <a:gd name="csX2" fmla="*/ 946694 w 1821595"/>
              <a:gd name="csY2" fmla="*/ 950983 h 1109926"/>
              <a:gd name="csX3" fmla="*/ 0 w 1821595"/>
              <a:gd name="csY3" fmla="*/ 582889 h 1109926"/>
              <a:gd name="csX0" fmla="*/ 0 w 1903519"/>
              <a:gd name="csY0" fmla="*/ 582889 h 1014558"/>
              <a:gd name="csX1" fmla="*/ 1303497 w 1903519"/>
              <a:gd name="csY1" fmla="*/ 0 h 1014558"/>
              <a:gd name="csX2" fmla="*/ 946694 w 1903519"/>
              <a:gd name="csY2" fmla="*/ 950983 h 1014558"/>
              <a:gd name="csX3" fmla="*/ 0 w 1903519"/>
              <a:gd name="csY3" fmla="*/ 582889 h 1014558"/>
            </a:gdLst>
            <a:ahLst/>
            <a:cxnLst>
              <a:cxn ang="0">
                <a:pos x="csX0" y="csY0"/>
              </a:cxn>
              <a:cxn ang="0">
                <a:pos x="csX1" y="csY1"/>
              </a:cxn>
              <a:cxn ang="0">
                <a:pos x="csX2" y="csY2"/>
              </a:cxn>
              <a:cxn ang="0">
                <a:pos x="csX3" y="csY3"/>
              </a:cxn>
            </a:cxnLst>
            <a:rect l="l" t="t" r="r" b="b"/>
            <a:pathLst>
              <a:path w="1903519" h="1014558">
                <a:moveTo>
                  <a:pt x="0" y="582889"/>
                </a:moveTo>
                <a:cubicBezTo>
                  <a:pt x="982809" y="507873"/>
                  <a:pt x="1120670" y="296899"/>
                  <a:pt x="1303497" y="0"/>
                </a:cubicBezTo>
                <a:cubicBezTo>
                  <a:pt x="2731717" y="1472615"/>
                  <a:pt x="1194278" y="889416"/>
                  <a:pt x="946694" y="950983"/>
                </a:cubicBezTo>
                <a:lnTo>
                  <a:pt x="0" y="582889"/>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9" name="TextBox 8">
            <a:extLst>
              <a:ext uri="{FF2B5EF4-FFF2-40B4-BE49-F238E27FC236}">
                <a16:creationId xmlns:a16="http://schemas.microsoft.com/office/drawing/2014/main" id="{B93BFD35-F26E-588E-40C8-B9B18BC6ED6D}"/>
              </a:ext>
            </a:extLst>
          </p:cNvPr>
          <p:cNvSpPr txBox="1"/>
          <p:nvPr/>
        </p:nvSpPr>
        <p:spPr>
          <a:xfrm>
            <a:off x="7512232" y="1405922"/>
            <a:ext cx="3165021" cy="332014"/>
          </a:xfrm>
          <a:prstGeom prst="rect">
            <a:avLst/>
          </a:prstGeom>
          <a:noFill/>
        </p:spPr>
        <p:txBody>
          <a:bodyPr wrap="square">
            <a:spAutoFit/>
          </a:bodyPr>
          <a:lstStyle/>
          <a:p>
            <a:pPr marL="0" marR="0" algn="ctr">
              <a:lnSpc>
                <a:spcPct val="115000"/>
              </a:lnSpc>
              <a:spcAft>
                <a:spcPts val="800"/>
              </a:spcAft>
              <a:buNone/>
            </a:pPr>
            <a:r>
              <a:rPr lang="en-US" sz="1400" b="1" dirty="0">
                <a:solidFill>
                  <a:srgbClr val="002B49"/>
                </a:solidFill>
              </a:rPr>
              <a:t>Time Series Decomposition</a:t>
            </a:r>
          </a:p>
        </p:txBody>
      </p:sp>
      <p:sp>
        <p:nvSpPr>
          <p:cNvPr id="6" name="TextBox 5">
            <a:extLst>
              <a:ext uri="{FF2B5EF4-FFF2-40B4-BE49-F238E27FC236}">
                <a16:creationId xmlns:a16="http://schemas.microsoft.com/office/drawing/2014/main" id="{0D86F463-649D-1FAC-2CF6-68F9287B5525}"/>
              </a:ext>
            </a:extLst>
          </p:cNvPr>
          <p:cNvSpPr txBox="1"/>
          <p:nvPr/>
        </p:nvSpPr>
        <p:spPr>
          <a:xfrm>
            <a:off x="6509552" y="1833089"/>
            <a:ext cx="5170379" cy="1477328"/>
          </a:xfrm>
          <a:prstGeom prst="rect">
            <a:avLst/>
          </a:prstGeom>
          <a:noFill/>
        </p:spPr>
        <p:txBody>
          <a:bodyPr wrap="square">
            <a:spAutoFit/>
          </a:bodyPr>
          <a:lstStyle/>
          <a:p>
            <a:pPr algn="just"/>
            <a:r>
              <a:rPr lang="en-US" dirty="0"/>
              <a:t>Separates the time series into trend, seasonal, and residual components to identify anomalous patterns that deviate significantly from the underlying structure of the data.</a:t>
            </a:r>
          </a:p>
        </p:txBody>
      </p:sp>
      <p:sp>
        <p:nvSpPr>
          <p:cNvPr id="8" name="TextBox 7">
            <a:extLst>
              <a:ext uri="{FF2B5EF4-FFF2-40B4-BE49-F238E27FC236}">
                <a16:creationId xmlns:a16="http://schemas.microsoft.com/office/drawing/2014/main" id="{D980DB79-F8D0-C910-694D-B60D32DD1BD0}"/>
              </a:ext>
            </a:extLst>
          </p:cNvPr>
          <p:cNvSpPr txBox="1"/>
          <p:nvPr/>
        </p:nvSpPr>
        <p:spPr>
          <a:xfrm>
            <a:off x="446269" y="5831236"/>
            <a:ext cx="11600587" cy="523220"/>
          </a:xfrm>
          <a:prstGeom prst="rect">
            <a:avLst/>
          </a:prstGeom>
          <a:noFill/>
        </p:spPr>
        <p:txBody>
          <a:bodyPr wrap="square">
            <a:spAutoFit/>
          </a:bodyPr>
          <a:lstStyle/>
          <a:p>
            <a:r>
              <a:rPr lang="en-US" sz="1400" dirty="0"/>
              <a:t>J.-M. Jung,</a:t>
            </a:r>
            <a:r>
              <a:rPr lang="fa-IR" sz="1400" dirty="0"/>
              <a:t> </a:t>
            </a:r>
            <a:r>
              <a:rPr lang="en-US" sz="1400" i="1" dirty="0"/>
              <a:t>et al</a:t>
            </a:r>
            <a:r>
              <a:rPr lang="en-US" sz="1400" dirty="0"/>
              <a:t>, "Multi-algorithmic approach for detecting outliers in cattle intake data," in </a:t>
            </a:r>
            <a:r>
              <a:rPr lang="en-US" sz="1400" i="1" dirty="0"/>
              <a:t>J. Agric. Food Res.</a:t>
            </a:r>
            <a:r>
              <a:rPr lang="en-US" sz="1400" dirty="0"/>
              <a:t>, vol. 15, Art. no. 101021, Mar. 2024, </a:t>
            </a:r>
            <a:r>
              <a:rPr lang="en-US" sz="1400" dirty="0" err="1"/>
              <a:t>doi</a:t>
            </a:r>
            <a:r>
              <a:rPr lang="en-US" sz="1400" dirty="0"/>
              <a:t>: 10.1016/j.jafr.2024.101021.</a:t>
            </a:r>
            <a:endParaRPr lang="en-US" sz="1300" dirty="0"/>
          </a:p>
        </p:txBody>
      </p:sp>
      <p:pic>
        <p:nvPicPr>
          <p:cNvPr id="16" name="Picture 15" descr="A graph of anomalous patterns&#10;&#10;AI-generated content may be incorrect.">
            <a:extLst>
              <a:ext uri="{FF2B5EF4-FFF2-40B4-BE49-F238E27FC236}">
                <a16:creationId xmlns:a16="http://schemas.microsoft.com/office/drawing/2014/main" id="{726FEF95-7178-B3E6-EA9C-767EF4957506}"/>
              </a:ext>
            </a:extLst>
          </p:cNvPr>
          <p:cNvPicPr>
            <a:picLocks noChangeAspect="1"/>
          </p:cNvPicPr>
          <p:nvPr/>
        </p:nvPicPr>
        <p:blipFill>
          <a:blip r:embed="rId3"/>
          <a:stretch>
            <a:fillRect/>
          </a:stretch>
        </p:blipFill>
        <p:spPr>
          <a:xfrm>
            <a:off x="7138196" y="3348467"/>
            <a:ext cx="4112290" cy="2248276"/>
          </a:xfrm>
          <a:prstGeom prst="rect">
            <a:avLst/>
          </a:prstGeom>
        </p:spPr>
      </p:pic>
    </p:spTree>
    <p:extLst>
      <p:ext uri="{BB962C8B-B14F-4D97-AF65-F5344CB8AC3E}">
        <p14:creationId xmlns:p14="http://schemas.microsoft.com/office/powerpoint/2010/main" val="195975804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1A77D-C998-468C-6ADC-9390C9D2CCD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A167CF-DDA3-4B7F-C314-6EE68CE2DE0A}"/>
              </a:ext>
            </a:extLst>
          </p:cNvPr>
          <p:cNvSpPr txBox="1"/>
          <p:nvPr/>
        </p:nvSpPr>
        <p:spPr>
          <a:xfrm>
            <a:off x="562204" y="1241039"/>
            <a:ext cx="6146548" cy="3939540"/>
          </a:xfrm>
          <a:prstGeom prst="rect">
            <a:avLst/>
          </a:prstGeom>
          <a:noFill/>
        </p:spPr>
        <p:txBody>
          <a:bodyPr wrap="square">
            <a:spAutoFit/>
          </a:bodyPr>
          <a:lstStyle/>
          <a:p>
            <a:pPr marL="342900" indent="-342900">
              <a:spcAft>
                <a:spcPts val="800"/>
              </a:spcAft>
              <a:buFont typeface="Arial" panose="020B0604020202020204" pitchFamily="34" charset="0"/>
              <a:buChar char="•"/>
            </a:pPr>
            <a:r>
              <a:rPr lang="en-US" sz="2000" b="1" dirty="0">
                <a:solidFill>
                  <a:srgbClr val="002B49"/>
                </a:solidFill>
              </a:rPr>
              <a:t>Removing Outliers and null values</a:t>
            </a:r>
          </a:p>
          <a:p>
            <a:pPr marL="800100" lvl="1" indent="-342900">
              <a:spcAft>
                <a:spcPts val="800"/>
              </a:spcAft>
              <a:buFont typeface="Arial" panose="020B0604020202020204" pitchFamily="34" charset="0"/>
              <a:buChar char="•"/>
            </a:pPr>
            <a:r>
              <a:rPr lang="en-US" sz="2000" dirty="0">
                <a:solidFill>
                  <a:schemeClr val="bg1">
                    <a:lumMod val="85000"/>
                  </a:schemeClr>
                </a:solidFill>
              </a:rPr>
              <a:t>Time Series Decomposition. </a:t>
            </a:r>
          </a:p>
          <a:p>
            <a:pPr marL="914400" lvl="1" indent="-457200">
              <a:buFont typeface="Arial" panose="020B0604020202020204" pitchFamily="34" charset="0"/>
              <a:buChar char="•"/>
            </a:pPr>
            <a:r>
              <a:rPr lang="en-US" sz="2000" dirty="0">
                <a:solidFill>
                  <a:srgbClr val="002B49"/>
                </a:solidFill>
              </a:rPr>
              <a:t>Statical methods like normal distribution.</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Integrating climate data. </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THI Composite </a:t>
            </a:r>
          </a:p>
          <a:p>
            <a:pPr marL="800100" lvl="1" indent="-342900">
              <a:spcAft>
                <a:spcPts val="800"/>
              </a:spcAft>
              <a:buFont typeface="Arial" panose="020B0604020202020204" pitchFamily="34" charset="0"/>
              <a:buChar char="•"/>
            </a:pPr>
            <a:r>
              <a:rPr lang="en-US" sz="2000" dirty="0">
                <a:solidFill>
                  <a:schemeClr val="bg1">
                    <a:lumMod val="85000"/>
                  </a:schemeClr>
                </a:solidFill>
              </a:rPr>
              <a:t>Avg of 2 days before and after </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Lag Features</a:t>
            </a:r>
          </a:p>
          <a:p>
            <a:pPr marL="800100" lvl="1" indent="-342900">
              <a:spcAft>
                <a:spcPts val="800"/>
              </a:spcAft>
              <a:buFont typeface="Arial" panose="020B0604020202020204" pitchFamily="34" charset="0"/>
              <a:buChar char="•"/>
            </a:pPr>
            <a:r>
              <a:rPr lang="en-US" sz="2000" dirty="0">
                <a:solidFill>
                  <a:schemeClr val="bg1">
                    <a:lumMod val="85000"/>
                  </a:schemeClr>
                </a:solidFill>
              </a:rPr>
              <a:t>Captures the effect of past days</a:t>
            </a:r>
          </a:p>
        </p:txBody>
      </p:sp>
      <p:sp>
        <p:nvSpPr>
          <p:cNvPr id="7" name="Title 1">
            <a:extLst>
              <a:ext uri="{FF2B5EF4-FFF2-40B4-BE49-F238E27FC236}">
                <a16:creationId xmlns:a16="http://schemas.microsoft.com/office/drawing/2014/main" id="{2BDCBF7C-EA4E-41B7-CBC6-D847E49D941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Preprocessing</a:t>
            </a:r>
            <a:endParaRPr lang="en-US" sz="2000" i="1" dirty="0"/>
          </a:p>
        </p:txBody>
      </p:sp>
      <p:sp>
        <p:nvSpPr>
          <p:cNvPr id="2" name="Round Same Side Corner Rectangle 3">
            <a:extLst>
              <a:ext uri="{FF2B5EF4-FFF2-40B4-BE49-F238E27FC236}">
                <a16:creationId xmlns:a16="http://schemas.microsoft.com/office/drawing/2014/main" id="{1F7FAB1E-9819-40A0-079D-98129AB54E55}"/>
              </a:ext>
            </a:extLst>
          </p:cNvPr>
          <p:cNvSpPr>
            <a:spLocks/>
          </p:cNvSpPr>
          <p:nvPr/>
        </p:nvSpPr>
        <p:spPr bwMode="auto">
          <a:xfrm>
            <a:off x="6161355" y="863859"/>
            <a:ext cx="5866776" cy="4753102"/>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5" name="Triangle 7">
            <a:extLst>
              <a:ext uri="{FF2B5EF4-FFF2-40B4-BE49-F238E27FC236}">
                <a16:creationId xmlns:a16="http://schemas.microsoft.com/office/drawing/2014/main" id="{6F4B9B83-AAC8-A445-0278-D597C6D315E2}"/>
              </a:ext>
            </a:extLst>
          </p:cNvPr>
          <p:cNvSpPr/>
          <p:nvPr/>
        </p:nvSpPr>
        <p:spPr bwMode="auto">
          <a:xfrm rot="16200000">
            <a:off x="5172041" y="2125304"/>
            <a:ext cx="1903519" cy="101455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863175"/>
              <a:gd name="csY0" fmla="*/ 561372 h 950983"/>
              <a:gd name="csX1" fmla="*/ 2099563 w 2863175"/>
              <a:gd name="csY1" fmla="*/ 0 h 950983"/>
              <a:gd name="csX2" fmla="*/ 1742760 w 2863175"/>
              <a:gd name="csY2" fmla="*/ 950983 h 950983"/>
              <a:gd name="csX3" fmla="*/ 0 w 2863175"/>
              <a:gd name="csY3" fmla="*/ 561372 h 950983"/>
              <a:gd name="csX0" fmla="*/ 0 w 2675851"/>
              <a:gd name="csY0" fmla="*/ 561372 h 950983"/>
              <a:gd name="csX1" fmla="*/ 2099563 w 2675851"/>
              <a:gd name="csY1" fmla="*/ 0 h 950983"/>
              <a:gd name="csX2" fmla="*/ 1742760 w 2675851"/>
              <a:gd name="csY2" fmla="*/ 950983 h 950983"/>
              <a:gd name="csX3" fmla="*/ 0 w 2675851"/>
              <a:gd name="csY3" fmla="*/ 561372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1879785"/>
              <a:gd name="csY0" fmla="*/ 582889 h 950983"/>
              <a:gd name="csX1" fmla="*/ 1303497 w 1879785"/>
              <a:gd name="csY1" fmla="*/ 0 h 950983"/>
              <a:gd name="csX2" fmla="*/ 946694 w 1879785"/>
              <a:gd name="csY2" fmla="*/ 950983 h 950983"/>
              <a:gd name="csX3" fmla="*/ 0 w 1879785"/>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55665"/>
              <a:gd name="csY0" fmla="*/ 582889 h 950983"/>
              <a:gd name="csX1" fmla="*/ 1303497 w 1855665"/>
              <a:gd name="csY1" fmla="*/ 0 h 950983"/>
              <a:gd name="csX2" fmla="*/ 946694 w 1855665"/>
              <a:gd name="csY2" fmla="*/ 950983 h 950983"/>
              <a:gd name="csX3" fmla="*/ 0 w 1855665"/>
              <a:gd name="csY3" fmla="*/ 582889 h 950983"/>
              <a:gd name="csX0" fmla="*/ 0 w 1821595"/>
              <a:gd name="csY0" fmla="*/ 582889 h 1109926"/>
              <a:gd name="csX1" fmla="*/ 1303497 w 1821595"/>
              <a:gd name="csY1" fmla="*/ 0 h 1109926"/>
              <a:gd name="csX2" fmla="*/ 946694 w 1821595"/>
              <a:gd name="csY2" fmla="*/ 950983 h 1109926"/>
              <a:gd name="csX3" fmla="*/ 0 w 1821595"/>
              <a:gd name="csY3" fmla="*/ 582889 h 1109926"/>
              <a:gd name="csX0" fmla="*/ 0 w 1903519"/>
              <a:gd name="csY0" fmla="*/ 582889 h 1014558"/>
              <a:gd name="csX1" fmla="*/ 1303497 w 1903519"/>
              <a:gd name="csY1" fmla="*/ 0 h 1014558"/>
              <a:gd name="csX2" fmla="*/ 946694 w 1903519"/>
              <a:gd name="csY2" fmla="*/ 950983 h 1014558"/>
              <a:gd name="csX3" fmla="*/ 0 w 1903519"/>
              <a:gd name="csY3" fmla="*/ 582889 h 1014558"/>
            </a:gdLst>
            <a:ahLst/>
            <a:cxnLst>
              <a:cxn ang="0">
                <a:pos x="csX0" y="csY0"/>
              </a:cxn>
              <a:cxn ang="0">
                <a:pos x="csX1" y="csY1"/>
              </a:cxn>
              <a:cxn ang="0">
                <a:pos x="csX2" y="csY2"/>
              </a:cxn>
              <a:cxn ang="0">
                <a:pos x="csX3" y="csY3"/>
              </a:cxn>
            </a:cxnLst>
            <a:rect l="l" t="t" r="r" b="b"/>
            <a:pathLst>
              <a:path w="1903519" h="1014558">
                <a:moveTo>
                  <a:pt x="0" y="582889"/>
                </a:moveTo>
                <a:cubicBezTo>
                  <a:pt x="982809" y="507873"/>
                  <a:pt x="1120670" y="296899"/>
                  <a:pt x="1303497" y="0"/>
                </a:cubicBezTo>
                <a:cubicBezTo>
                  <a:pt x="2731717" y="1472615"/>
                  <a:pt x="1194278" y="889416"/>
                  <a:pt x="946694" y="950983"/>
                </a:cubicBezTo>
                <a:lnTo>
                  <a:pt x="0" y="582889"/>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9" name="TextBox 8">
            <a:extLst>
              <a:ext uri="{FF2B5EF4-FFF2-40B4-BE49-F238E27FC236}">
                <a16:creationId xmlns:a16="http://schemas.microsoft.com/office/drawing/2014/main" id="{1DFD24B6-E65E-C7C3-B4E7-1BD8E39D281B}"/>
              </a:ext>
            </a:extLst>
          </p:cNvPr>
          <p:cNvSpPr txBox="1"/>
          <p:nvPr/>
        </p:nvSpPr>
        <p:spPr>
          <a:xfrm>
            <a:off x="6969322" y="1130868"/>
            <a:ext cx="4250837" cy="332014"/>
          </a:xfrm>
          <a:prstGeom prst="rect">
            <a:avLst/>
          </a:prstGeom>
          <a:noFill/>
        </p:spPr>
        <p:txBody>
          <a:bodyPr wrap="square">
            <a:spAutoFit/>
          </a:bodyPr>
          <a:lstStyle/>
          <a:p>
            <a:pPr marL="0" marR="0" algn="ctr">
              <a:lnSpc>
                <a:spcPct val="115000"/>
              </a:lnSpc>
              <a:spcAft>
                <a:spcPts val="800"/>
              </a:spcAft>
              <a:buNone/>
            </a:pPr>
            <a:r>
              <a:rPr lang="en-US" sz="1400" b="1" dirty="0">
                <a:solidFill>
                  <a:srgbClr val="002B49"/>
                </a:solidFill>
              </a:rPr>
              <a:t>Statistical methods like normal distribution</a:t>
            </a:r>
          </a:p>
        </p:txBody>
      </p:sp>
      <p:sp>
        <p:nvSpPr>
          <p:cNvPr id="6" name="TextBox 5">
            <a:extLst>
              <a:ext uri="{FF2B5EF4-FFF2-40B4-BE49-F238E27FC236}">
                <a16:creationId xmlns:a16="http://schemas.microsoft.com/office/drawing/2014/main" id="{5316069D-2111-8D53-1D7F-F094946B105E}"/>
              </a:ext>
            </a:extLst>
          </p:cNvPr>
          <p:cNvSpPr txBox="1"/>
          <p:nvPr/>
        </p:nvSpPr>
        <p:spPr>
          <a:xfrm>
            <a:off x="6509550" y="1484394"/>
            <a:ext cx="5170379" cy="1138773"/>
          </a:xfrm>
          <a:prstGeom prst="rect">
            <a:avLst/>
          </a:prstGeom>
          <a:noFill/>
        </p:spPr>
        <p:txBody>
          <a:bodyPr wrap="square">
            <a:spAutoFit/>
          </a:bodyPr>
          <a:lstStyle/>
          <a:p>
            <a:pPr algn="just"/>
            <a:r>
              <a:rPr lang="en-US" sz="1700" dirty="0"/>
              <a:t>statistical techniques such as </a:t>
            </a:r>
            <a:r>
              <a:rPr lang="en-US" sz="1700" b="1" dirty="0"/>
              <a:t>z-scores</a:t>
            </a:r>
            <a:r>
              <a:rPr lang="en-US" sz="1700" dirty="0"/>
              <a:t>, </a:t>
            </a:r>
            <a:r>
              <a:rPr lang="en-US" sz="1700" b="1" dirty="0"/>
              <a:t>IQR </a:t>
            </a:r>
            <a:r>
              <a:rPr lang="en-US" sz="1700" dirty="0"/>
              <a:t>or </a:t>
            </a:r>
            <a:r>
              <a:rPr lang="en-US" sz="1700" b="1" dirty="0"/>
              <a:t>standard deviation thresholds </a:t>
            </a:r>
            <a:r>
              <a:rPr lang="en-US" sz="1700" dirty="0"/>
              <a:t>to detect and remove values that fall outside expected ranges based on distributional assumptions.</a:t>
            </a:r>
          </a:p>
        </p:txBody>
      </p:sp>
      <p:sp>
        <p:nvSpPr>
          <p:cNvPr id="8" name="TextBox 7">
            <a:extLst>
              <a:ext uri="{FF2B5EF4-FFF2-40B4-BE49-F238E27FC236}">
                <a16:creationId xmlns:a16="http://schemas.microsoft.com/office/drawing/2014/main" id="{49F3BF3E-28E6-CE97-584E-B346196E2EBB}"/>
              </a:ext>
            </a:extLst>
          </p:cNvPr>
          <p:cNvSpPr txBox="1"/>
          <p:nvPr/>
        </p:nvSpPr>
        <p:spPr>
          <a:xfrm>
            <a:off x="446269" y="5831236"/>
            <a:ext cx="11600587" cy="523220"/>
          </a:xfrm>
          <a:prstGeom prst="rect">
            <a:avLst/>
          </a:prstGeom>
          <a:noFill/>
        </p:spPr>
        <p:txBody>
          <a:bodyPr wrap="square">
            <a:spAutoFit/>
          </a:bodyPr>
          <a:lstStyle/>
          <a:p>
            <a:r>
              <a:rPr lang="en-US" sz="1400" dirty="0"/>
              <a:t>J.-M. Jung,</a:t>
            </a:r>
            <a:r>
              <a:rPr lang="fa-IR" sz="1400" dirty="0"/>
              <a:t> </a:t>
            </a:r>
            <a:r>
              <a:rPr lang="en-US" sz="1400" i="1" dirty="0"/>
              <a:t>et al</a:t>
            </a:r>
            <a:r>
              <a:rPr lang="en-US" sz="1400" dirty="0"/>
              <a:t>, "Multi-algorithmic approach for detecting outliers in cattle intake data," in </a:t>
            </a:r>
            <a:r>
              <a:rPr lang="en-US" sz="1400" i="1" dirty="0"/>
              <a:t>J. Agric. Food Res.</a:t>
            </a:r>
            <a:r>
              <a:rPr lang="en-US" sz="1400" dirty="0"/>
              <a:t>, vol. 15, Art. no. 101021, Mar. 2024, </a:t>
            </a:r>
            <a:r>
              <a:rPr lang="en-US" sz="1400" dirty="0" err="1"/>
              <a:t>doi</a:t>
            </a:r>
            <a:r>
              <a:rPr lang="en-US" sz="1400" dirty="0"/>
              <a:t>: 10.1016/j.jafr.2024.101021.</a:t>
            </a:r>
            <a:endParaRPr lang="en-US" sz="1300" dirty="0"/>
          </a:p>
        </p:txBody>
      </p:sp>
      <p:pic>
        <p:nvPicPr>
          <p:cNvPr id="12" name="Picture 11" descr="A screenshot of a diagram&#10;&#10;AI-generated content may be incorrect.">
            <a:extLst>
              <a:ext uri="{FF2B5EF4-FFF2-40B4-BE49-F238E27FC236}">
                <a16:creationId xmlns:a16="http://schemas.microsoft.com/office/drawing/2014/main" id="{0D6D7DEB-B606-7A45-1719-CF06A39BAF46}"/>
              </a:ext>
            </a:extLst>
          </p:cNvPr>
          <p:cNvPicPr>
            <a:picLocks noChangeAspect="1"/>
          </p:cNvPicPr>
          <p:nvPr/>
        </p:nvPicPr>
        <p:blipFill>
          <a:blip r:embed="rId3"/>
          <a:stretch>
            <a:fillRect/>
          </a:stretch>
        </p:blipFill>
        <p:spPr>
          <a:xfrm>
            <a:off x="6611799" y="2687904"/>
            <a:ext cx="4965879" cy="2710866"/>
          </a:xfrm>
          <a:prstGeom prst="rect">
            <a:avLst/>
          </a:prstGeom>
        </p:spPr>
      </p:pic>
    </p:spTree>
    <p:extLst>
      <p:ext uri="{BB962C8B-B14F-4D97-AF65-F5344CB8AC3E}">
        <p14:creationId xmlns:p14="http://schemas.microsoft.com/office/powerpoint/2010/main" val="370307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9CD75-4CB6-F2C3-4C1A-429FFF94FAA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45B731-5B85-E93F-45AB-9F1A96AFF60E}"/>
              </a:ext>
            </a:extLst>
          </p:cNvPr>
          <p:cNvSpPr txBox="1"/>
          <p:nvPr/>
        </p:nvSpPr>
        <p:spPr>
          <a:xfrm>
            <a:off x="562204" y="1241039"/>
            <a:ext cx="6146548" cy="3939540"/>
          </a:xfrm>
          <a:prstGeom prst="rect">
            <a:avLst/>
          </a:prstGeom>
          <a:noFill/>
        </p:spPr>
        <p:txBody>
          <a:bodyPr wrap="square">
            <a:spAutoFit/>
          </a:bodyPr>
          <a:lstStyle/>
          <a:p>
            <a:pPr marL="342900" indent="-342900">
              <a:spcAft>
                <a:spcPts val="800"/>
              </a:spcAft>
              <a:buFont typeface="Arial" panose="020B0604020202020204" pitchFamily="34" charset="0"/>
              <a:buChar char="•"/>
            </a:pPr>
            <a:r>
              <a:rPr lang="en-US" sz="2000" b="1" dirty="0">
                <a:solidFill>
                  <a:schemeClr val="bg1">
                    <a:lumMod val="85000"/>
                  </a:schemeClr>
                </a:solidFill>
              </a:rPr>
              <a:t>Removing Outliers and null values</a:t>
            </a:r>
          </a:p>
          <a:p>
            <a:pPr marL="800100" lvl="1" indent="-342900">
              <a:spcAft>
                <a:spcPts val="800"/>
              </a:spcAft>
              <a:buFont typeface="Arial" panose="020B0604020202020204" pitchFamily="34" charset="0"/>
              <a:buChar char="•"/>
            </a:pPr>
            <a:r>
              <a:rPr lang="en-US" sz="2000" dirty="0">
                <a:solidFill>
                  <a:schemeClr val="bg1">
                    <a:lumMod val="85000"/>
                  </a:schemeClr>
                </a:solidFill>
              </a:rPr>
              <a:t>Time Series Decomposition. </a:t>
            </a:r>
          </a:p>
          <a:p>
            <a:pPr marL="914400" lvl="1" indent="-457200">
              <a:buFont typeface="Arial" panose="020B0604020202020204" pitchFamily="34" charset="0"/>
              <a:buChar char="•"/>
            </a:pPr>
            <a:r>
              <a:rPr lang="en-US" sz="2000" dirty="0">
                <a:solidFill>
                  <a:schemeClr val="bg1">
                    <a:lumMod val="85000"/>
                  </a:schemeClr>
                </a:solidFill>
              </a:rPr>
              <a:t>Statical methods like normal distribution.</a:t>
            </a:r>
          </a:p>
          <a:p>
            <a:pPr marL="342900" indent="-342900">
              <a:lnSpc>
                <a:spcPct val="150000"/>
              </a:lnSpc>
              <a:spcAft>
                <a:spcPts val="800"/>
              </a:spcAft>
              <a:buFont typeface="Arial" panose="020B0604020202020204" pitchFamily="34" charset="0"/>
              <a:buChar char="•"/>
            </a:pPr>
            <a:r>
              <a:rPr lang="en-US" sz="2000" b="1" dirty="0">
                <a:solidFill>
                  <a:srgbClr val="002B49"/>
                </a:solidFill>
              </a:rPr>
              <a:t>Integrating climate data.</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THI Composite </a:t>
            </a:r>
          </a:p>
          <a:p>
            <a:pPr marL="800100" lvl="1" indent="-342900">
              <a:spcAft>
                <a:spcPts val="800"/>
              </a:spcAft>
              <a:buFont typeface="Arial" panose="020B0604020202020204" pitchFamily="34" charset="0"/>
              <a:buChar char="•"/>
            </a:pPr>
            <a:r>
              <a:rPr lang="en-US" sz="2000" dirty="0">
                <a:solidFill>
                  <a:schemeClr val="bg1">
                    <a:lumMod val="85000"/>
                  </a:schemeClr>
                </a:solidFill>
              </a:rPr>
              <a:t>Avg of 2 days before and after </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Lag Features</a:t>
            </a:r>
          </a:p>
          <a:p>
            <a:pPr marL="800100" lvl="1" indent="-342900">
              <a:spcAft>
                <a:spcPts val="800"/>
              </a:spcAft>
              <a:buFont typeface="Arial" panose="020B0604020202020204" pitchFamily="34" charset="0"/>
              <a:buChar char="•"/>
            </a:pPr>
            <a:r>
              <a:rPr lang="en-US" sz="2000" dirty="0">
                <a:solidFill>
                  <a:schemeClr val="bg1">
                    <a:lumMod val="85000"/>
                  </a:schemeClr>
                </a:solidFill>
              </a:rPr>
              <a:t>Captures the effect of past days</a:t>
            </a:r>
          </a:p>
        </p:txBody>
      </p:sp>
      <p:sp>
        <p:nvSpPr>
          <p:cNvPr id="7" name="Title 1">
            <a:extLst>
              <a:ext uri="{FF2B5EF4-FFF2-40B4-BE49-F238E27FC236}">
                <a16:creationId xmlns:a16="http://schemas.microsoft.com/office/drawing/2014/main" id="{75894929-0FBC-D3CD-D0D1-0C3BE086F646}"/>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Preprocessing</a:t>
            </a:r>
            <a:endParaRPr lang="en-US" sz="2000" i="1" dirty="0"/>
          </a:p>
        </p:txBody>
      </p:sp>
      <p:sp>
        <p:nvSpPr>
          <p:cNvPr id="2" name="Round Same Side Corner Rectangle 3">
            <a:extLst>
              <a:ext uri="{FF2B5EF4-FFF2-40B4-BE49-F238E27FC236}">
                <a16:creationId xmlns:a16="http://schemas.microsoft.com/office/drawing/2014/main" id="{66449125-6743-66E4-A74A-2A0CEE748B2E}"/>
              </a:ext>
            </a:extLst>
          </p:cNvPr>
          <p:cNvSpPr>
            <a:spLocks/>
          </p:cNvSpPr>
          <p:nvPr/>
        </p:nvSpPr>
        <p:spPr bwMode="auto">
          <a:xfrm>
            <a:off x="6161355" y="1579956"/>
            <a:ext cx="5866776" cy="2741323"/>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5" name="Triangle 7">
            <a:extLst>
              <a:ext uri="{FF2B5EF4-FFF2-40B4-BE49-F238E27FC236}">
                <a16:creationId xmlns:a16="http://schemas.microsoft.com/office/drawing/2014/main" id="{52400C77-EF7E-61C3-A0B3-70415758978B}"/>
              </a:ext>
            </a:extLst>
          </p:cNvPr>
          <p:cNvSpPr/>
          <p:nvPr/>
        </p:nvSpPr>
        <p:spPr bwMode="auto">
          <a:xfrm rot="16200000">
            <a:off x="5070116" y="2539167"/>
            <a:ext cx="2063799" cy="895901"/>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863175"/>
              <a:gd name="csY0" fmla="*/ 561372 h 950983"/>
              <a:gd name="csX1" fmla="*/ 2099563 w 2863175"/>
              <a:gd name="csY1" fmla="*/ 0 h 950983"/>
              <a:gd name="csX2" fmla="*/ 1742760 w 2863175"/>
              <a:gd name="csY2" fmla="*/ 950983 h 950983"/>
              <a:gd name="csX3" fmla="*/ 0 w 2863175"/>
              <a:gd name="csY3" fmla="*/ 561372 h 950983"/>
              <a:gd name="csX0" fmla="*/ 0 w 2675851"/>
              <a:gd name="csY0" fmla="*/ 561372 h 950983"/>
              <a:gd name="csX1" fmla="*/ 2099563 w 2675851"/>
              <a:gd name="csY1" fmla="*/ 0 h 950983"/>
              <a:gd name="csX2" fmla="*/ 1742760 w 2675851"/>
              <a:gd name="csY2" fmla="*/ 950983 h 950983"/>
              <a:gd name="csX3" fmla="*/ 0 w 2675851"/>
              <a:gd name="csY3" fmla="*/ 561372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1879785"/>
              <a:gd name="csY0" fmla="*/ 582889 h 950983"/>
              <a:gd name="csX1" fmla="*/ 1303497 w 1879785"/>
              <a:gd name="csY1" fmla="*/ 0 h 950983"/>
              <a:gd name="csX2" fmla="*/ 946694 w 1879785"/>
              <a:gd name="csY2" fmla="*/ 950983 h 950983"/>
              <a:gd name="csX3" fmla="*/ 0 w 1879785"/>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55665"/>
              <a:gd name="csY0" fmla="*/ 582889 h 950983"/>
              <a:gd name="csX1" fmla="*/ 1303497 w 1855665"/>
              <a:gd name="csY1" fmla="*/ 0 h 950983"/>
              <a:gd name="csX2" fmla="*/ 946694 w 1855665"/>
              <a:gd name="csY2" fmla="*/ 950983 h 950983"/>
              <a:gd name="csX3" fmla="*/ 0 w 1855665"/>
              <a:gd name="csY3" fmla="*/ 582889 h 950983"/>
              <a:gd name="csX0" fmla="*/ 0 w 1821595"/>
              <a:gd name="csY0" fmla="*/ 582889 h 1109926"/>
              <a:gd name="csX1" fmla="*/ 1303497 w 1821595"/>
              <a:gd name="csY1" fmla="*/ 0 h 1109926"/>
              <a:gd name="csX2" fmla="*/ 946694 w 1821595"/>
              <a:gd name="csY2" fmla="*/ 950983 h 1109926"/>
              <a:gd name="csX3" fmla="*/ 0 w 1821595"/>
              <a:gd name="csY3" fmla="*/ 582889 h 1109926"/>
              <a:gd name="csX0" fmla="*/ 0 w 1903519"/>
              <a:gd name="csY0" fmla="*/ 582889 h 1014558"/>
              <a:gd name="csX1" fmla="*/ 1303497 w 1903519"/>
              <a:gd name="csY1" fmla="*/ 0 h 1014558"/>
              <a:gd name="csX2" fmla="*/ 946694 w 1903519"/>
              <a:gd name="csY2" fmla="*/ 950983 h 1014558"/>
              <a:gd name="csX3" fmla="*/ 0 w 1903519"/>
              <a:gd name="csY3" fmla="*/ 582889 h 1014558"/>
              <a:gd name="csX0" fmla="*/ 0 w 1760300"/>
              <a:gd name="csY0" fmla="*/ 726112 h 1014558"/>
              <a:gd name="csX1" fmla="*/ 1160278 w 1760300"/>
              <a:gd name="csY1" fmla="*/ 0 h 1014558"/>
              <a:gd name="csX2" fmla="*/ 803475 w 1760300"/>
              <a:gd name="csY2" fmla="*/ 950983 h 1014558"/>
              <a:gd name="csX3" fmla="*/ 0 w 1760300"/>
              <a:gd name="csY3" fmla="*/ 726112 h 1014558"/>
              <a:gd name="csX0" fmla="*/ 0 w 2011977"/>
              <a:gd name="csY0" fmla="*/ 726112 h 1143615"/>
              <a:gd name="csX1" fmla="*/ 1160278 w 2011977"/>
              <a:gd name="csY1" fmla="*/ 0 h 1143615"/>
              <a:gd name="csX2" fmla="*/ 1596690 w 2011977"/>
              <a:gd name="csY2" fmla="*/ 1138269 h 1143615"/>
              <a:gd name="csX3" fmla="*/ 0 w 2011977"/>
              <a:gd name="csY3" fmla="*/ 726112 h 1143615"/>
              <a:gd name="csX0" fmla="*/ 0 w 2199060"/>
              <a:gd name="csY0" fmla="*/ 726112 h 1110455"/>
              <a:gd name="csX1" fmla="*/ 1160278 w 2199060"/>
              <a:gd name="csY1" fmla="*/ 0 h 1110455"/>
              <a:gd name="csX2" fmla="*/ 1960246 w 2199060"/>
              <a:gd name="csY2" fmla="*/ 1094202 h 1110455"/>
              <a:gd name="csX3" fmla="*/ 0 w 2199060"/>
              <a:gd name="csY3" fmla="*/ 726112 h 1110455"/>
              <a:gd name="csX0" fmla="*/ 0 w 2311281"/>
              <a:gd name="csY0" fmla="*/ 726112 h 1094202"/>
              <a:gd name="csX1" fmla="*/ 1160278 w 2311281"/>
              <a:gd name="csY1" fmla="*/ 0 h 1094202"/>
              <a:gd name="csX2" fmla="*/ 1960246 w 2311281"/>
              <a:gd name="csY2" fmla="*/ 1094202 h 1094202"/>
              <a:gd name="csX3" fmla="*/ 0 w 2311281"/>
              <a:gd name="csY3" fmla="*/ 726112 h 1094202"/>
              <a:gd name="csX0" fmla="*/ 0 w 2304275"/>
              <a:gd name="csY0" fmla="*/ 726112 h 895901"/>
              <a:gd name="csX1" fmla="*/ 1160278 w 2304275"/>
              <a:gd name="csY1" fmla="*/ 0 h 895901"/>
              <a:gd name="csX2" fmla="*/ 1949231 w 2304275"/>
              <a:gd name="csY2" fmla="*/ 895901 h 895901"/>
              <a:gd name="csX3" fmla="*/ 0 w 2304275"/>
              <a:gd name="csY3" fmla="*/ 726112 h 895901"/>
              <a:gd name="csX0" fmla="*/ 0 w 2063799"/>
              <a:gd name="csY0" fmla="*/ 726112 h 895901"/>
              <a:gd name="csX1" fmla="*/ 1160278 w 2063799"/>
              <a:gd name="csY1" fmla="*/ 0 h 895901"/>
              <a:gd name="csX2" fmla="*/ 1949231 w 2063799"/>
              <a:gd name="csY2" fmla="*/ 895901 h 895901"/>
              <a:gd name="csX3" fmla="*/ 0 w 2063799"/>
              <a:gd name="csY3" fmla="*/ 726112 h 895901"/>
            </a:gdLst>
            <a:ahLst/>
            <a:cxnLst>
              <a:cxn ang="0">
                <a:pos x="csX0" y="csY0"/>
              </a:cxn>
              <a:cxn ang="0">
                <a:pos x="csX1" y="csY1"/>
              </a:cxn>
              <a:cxn ang="0">
                <a:pos x="csX2" y="csY2"/>
              </a:cxn>
              <a:cxn ang="0">
                <a:pos x="csX3" y="csY3"/>
              </a:cxn>
            </a:cxnLst>
            <a:rect l="l" t="t" r="r" b="b"/>
            <a:pathLst>
              <a:path w="2063799" h="895901">
                <a:moveTo>
                  <a:pt x="0" y="726112"/>
                </a:moveTo>
                <a:cubicBezTo>
                  <a:pt x="982809" y="651096"/>
                  <a:pt x="977451" y="296899"/>
                  <a:pt x="1160278" y="0"/>
                </a:cubicBezTo>
                <a:cubicBezTo>
                  <a:pt x="2588498" y="1472615"/>
                  <a:pt x="1877326" y="-35996"/>
                  <a:pt x="1949231" y="895901"/>
                </a:cubicBezTo>
                <a:cubicBezTo>
                  <a:pt x="1633666" y="773203"/>
                  <a:pt x="315565" y="848810"/>
                  <a:pt x="0" y="726112"/>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9" name="TextBox 8">
            <a:extLst>
              <a:ext uri="{FF2B5EF4-FFF2-40B4-BE49-F238E27FC236}">
                <a16:creationId xmlns:a16="http://schemas.microsoft.com/office/drawing/2014/main" id="{A0C1B6C7-A31B-5667-6B91-5B1DB0062659}"/>
              </a:ext>
            </a:extLst>
          </p:cNvPr>
          <p:cNvSpPr txBox="1"/>
          <p:nvPr/>
        </p:nvSpPr>
        <p:spPr>
          <a:xfrm>
            <a:off x="6969320" y="1836796"/>
            <a:ext cx="4250837" cy="332014"/>
          </a:xfrm>
          <a:prstGeom prst="rect">
            <a:avLst/>
          </a:prstGeom>
          <a:noFill/>
        </p:spPr>
        <p:txBody>
          <a:bodyPr wrap="square">
            <a:spAutoFit/>
          </a:bodyPr>
          <a:lstStyle/>
          <a:p>
            <a:pPr algn="ctr">
              <a:lnSpc>
                <a:spcPct val="115000"/>
              </a:lnSpc>
              <a:spcAft>
                <a:spcPts val="800"/>
              </a:spcAft>
            </a:pPr>
            <a:r>
              <a:rPr lang="en-US" sz="1400" b="1" dirty="0"/>
              <a:t>Integrating climate data</a:t>
            </a:r>
            <a:endParaRPr lang="en-US" sz="1400" b="1" dirty="0">
              <a:solidFill>
                <a:srgbClr val="002B49"/>
              </a:solidFill>
            </a:endParaRPr>
          </a:p>
        </p:txBody>
      </p:sp>
      <p:sp>
        <p:nvSpPr>
          <p:cNvPr id="6" name="TextBox 5">
            <a:extLst>
              <a:ext uri="{FF2B5EF4-FFF2-40B4-BE49-F238E27FC236}">
                <a16:creationId xmlns:a16="http://schemas.microsoft.com/office/drawing/2014/main" id="{3CC71E9C-9700-8D48-48CA-92E475135CD7}"/>
              </a:ext>
            </a:extLst>
          </p:cNvPr>
          <p:cNvSpPr txBox="1"/>
          <p:nvPr/>
        </p:nvSpPr>
        <p:spPr>
          <a:xfrm>
            <a:off x="6509548" y="2425650"/>
            <a:ext cx="5170379" cy="1569660"/>
          </a:xfrm>
          <a:prstGeom prst="rect">
            <a:avLst/>
          </a:prstGeom>
          <a:noFill/>
        </p:spPr>
        <p:txBody>
          <a:bodyPr wrap="square">
            <a:spAutoFit/>
          </a:bodyPr>
          <a:lstStyle/>
          <a:p>
            <a:pPr algn="just"/>
            <a:r>
              <a:rPr lang="en-US" sz="1600" dirty="0"/>
              <a:t>Incorporates climate variables (</a:t>
            </a:r>
            <a:r>
              <a:rPr lang="en-US" sz="1600" b="1" dirty="0"/>
              <a:t>temperature</a:t>
            </a:r>
            <a:r>
              <a:rPr lang="en-US" sz="1600" dirty="0"/>
              <a:t>, </a:t>
            </a:r>
            <a:r>
              <a:rPr lang="en-US" sz="1600" b="1" dirty="0"/>
              <a:t>humidity</a:t>
            </a:r>
            <a:r>
              <a:rPr lang="en-US" sz="1600" dirty="0"/>
              <a:t>, </a:t>
            </a:r>
            <a:r>
              <a:rPr lang="en-US" sz="1600" b="1" dirty="0"/>
              <a:t>THI</a:t>
            </a:r>
            <a:r>
              <a:rPr lang="en-US" sz="1600" dirty="0"/>
              <a:t> etc.) from </a:t>
            </a:r>
            <a:r>
              <a:rPr lang="en-US" sz="1600" b="1" dirty="0"/>
              <a:t>NASA POWER API</a:t>
            </a:r>
            <a:r>
              <a:rPr lang="en-US" sz="1600" dirty="0"/>
              <a:t> as inputs.</a:t>
            </a:r>
          </a:p>
          <a:p>
            <a:pPr algn="just"/>
            <a:r>
              <a:rPr lang="en-US" sz="1600" dirty="0"/>
              <a:t>using </a:t>
            </a:r>
            <a:r>
              <a:rPr lang="en-US" sz="1600" b="1" dirty="0"/>
              <a:t>satellite-based</a:t>
            </a:r>
            <a:r>
              <a:rPr lang="en-US" sz="1600" dirty="0"/>
              <a:t> data instead of physical weather </a:t>
            </a:r>
            <a:r>
              <a:rPr lang="en-US" sz="1600" b="1" dirty="0"/>
              <a:t>stations</a:t>
            </a:r>
            <a:r>
              <a:rPr lang="en-US" sz="1600" dirty="0"/>
              <a:t> for consistent coverage across all hierarchical locations.</a:t>
            </a:r>
            <a:endParaRPr lang="en-US" sz="1700" dirty="0"/>
          </a:p>
        </p:txBody>
      </p:sp>
      <p:sp>
        <p:nvSpPr>
          <p:cNvPr id="8" name="TextBox 7">
            <a:extLst>
              <a:ext uri="{FF2B5EF4-FFF2-40B4-BE49-F238E27FC236}">
                <a16:creationId xmlns:a16="http://schemas.microsoft.com/office/drawing/2014/main" id="{14011AB2-475D-8319-45D0-F9EB4C7D2AC8}"/>
              </a:ext>
            </a:extLst>
          </p:cNvPr>
          <p:cNvSpPr txBox="1"/>
          <p:nvPr/>
        </p:nvSpPr>
        <p:spPr>
          <a:xfrm>
            <a:off x="446269" y="5831236"/>
            <a:ext cx="11600587" cy="523220"/>
          </a:xfrm>
          <a:prstGeom prst="rect">
            <a:avLst/>
          </a:prstGeom>
          <a:noFill/>
        </p:spPr>
        <p:txBody>
          <a:bodyPr wrap="square">
            <a:spAutoFit/>
          </a:bodyPr>
          <a:lstStyle/>
          <a:p>
            <a:r>
              <a:rPr lang="en-US" sz="1400" dirty="0"/>
              <a:t>G. Neglia, </a:t>
            </a:r>
            <a:r>
              <a:rPr lang="en-US" sz="1400" i="1" dirty="0"/>
              <a:t>et al.,</a:t>
            </a:r>
            <a:r>
              <a:rPr lang="en-US" sz="1400" dirty="0"/>
              <a:t> "Exploring the sources of variation of electrical conductivity and total and differential somatic cell count in Italian Mediterranean buffaloes,” in </a:t>
            </a:r>
            <a:r>
              <a:rPr lang="en-US" sz="1400" i="1" dirty="0"/>
              <a:t>J. Dairy Sci.</a:t>
            </a:r>
            <a:r>
              <a:rPr lang="en-US" sz="1400" dirty="0"/>
              <a:t>, vol. 107, no. 1, pp. 508–515, Jan. 2024, </a:t>
            </a:r>
            <a:r>
              <a:rPr lang="en-US" sz="1400" dirty="0" err="1"/>
              <a:t>doi</a:t>
            </a:r>
            <a:r>
              <a:rPr lang="en-US" sz="1400" dirty="0"/>
              <a:t>: 10.3168/jds.2023-23629.</a:t>
            </a:r>
            <a:endParaRPr lang="en-US" sz="1300" dirty="0"/>
          </a:p>
        </p:txBody>
      </p:sp>
    </p:spTree>
    <p:extLst>
      <p:ext uri="{BB962C8B-B14F-4D97-AF65-F5344CB8AC3E}">
        <p14:creationId xmlns:p14="http://schemas.microsoft.com/office/powerpoint/2010/main" val="4383491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17CBA-DD1D-7B80-C295-2BF38EAEDAE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416223-8AE8-F424-2FF2-8490FE7F5271}"/>
              </a:ext>
            </a:extLst>
          </p:cNvPr>
          <p:cNvSpPr txBox="1"/>
          <p:nvPr/>
        </p:nvSpPr>
        <p:spPr>
          <a:xfrm>
            <a:off x="562204" y="1241039"/>
            <a:ext cx="6146548" cy="3939540"/>
          </a:xfrm>
          <a:prstGeom prst="rect">
            <a:avLst/>
          </a:prstGeom>
          <a:noFill/>
        </p:spPr>
        <p:txBody>
          <a:bodyPr wrap="square">
            <a:spAutoFit/>
          </a:bodyPr>
          <a:lstStyle/>
          <a:p>
            <a:pPr marL="342900" indent="-342900">
              <a:spcAft>
                <a:spcPts val="800"/>
              </a:spcAft>
              <a:buFont typeface="Arial" panose="020B0604020202020204" pitchFamily="34" charset="0"/>
              <a:buChar char="•"/>
            </a:pPr>
            <a:r>
              <a:rPr lang="en-US" sz="2000" b="1" dirty="0">
                <a:solidFill>
                  <a:schemeClr val="bg1">
                    <a:lumMod val="85000"/>
                  </a:schemeClr>
                </a:solidFill>
              </a:rPr>
              <a:t>Removing Outliers and null values</a:t>
            </a:r>
          </a:p>
          <a:p>
            <a:pPr marL="800100" lvl="1" indent="-342900">
              <a:spcAft>
                <a:spcPts val="800"/>
              </a:spcAft>
              <a:buFont typeface="Arial" panose="020B0604020202020204" pitchFamily="34" charset="0"/>
              <a:buChar char="•"/>
            </a:pPr>
            <a:r>
              <a:rPr lang="en-US" sz="2000" dirty="0">
                <a:solidFill>
                  <a:schemeClr val="bg1">
                    <a:lumMod val="85000"/>
                  </a:schemeClr>
                </a:solidFill>
              </a:rPr>
              <a:t>Time Series Decomposition. </a:t>
            </a:r>
          </a:p>
          <a:p>
            <a:pPr marL="914400" lvl="1" indent="-457200">
              <a:buFont typeface="Arial" panose="020B0604020202020204" pitchFamily="34" charset="0"/>
              <a:buChar char="•"/>
            </a:pPr>
            <a:r>
              <a:rPr lang="en-US" sz="2000" dirty="0">
                <a:solidFill>
                  <a:schemeClr val="bg1">
                    <a:lumMod val="85000"/>
                  </a:schemeClr>
                </a:solidFill>
              </a:rPr>
              <a:t>Statical methods like normal distribution.</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Integrating climate data.</a:t>
            </a:r>
            <a:endParaRPr lang="en-US" sz="2000" b="1" dirty="0">
              <a:solidFill>
                <a:srgbClr val="002B49"/>
              </a:solidFill>
            </a:endParaRPr>
          </a:p>
          <a:p>
            <a:pPr marL="342900" indent="-342900">
              <a:lnSpc>
                <a:spcPct val="150000"/>
              </a:lnSpc>
              <a:spcAft>
                <a:spcPts val="800"/>
              </a:spcAft>
              <a:buFont typeface="Arial" panose="020B0604020202020204" pitchFamily="34" charset="0"/>
              <a:buChar char="•"/>
            </a:pPr>
            <a:r>
              <a:rPr lang="en-US" sz="2000" b="1" dirty="0">
                <a:solidFill>
                  <a:srgbClr val="002B49"/>
                </a:solidFill>
              </a:rPr>
              <a:t>THI Composite </a:t>
            </a:r>
          </a:p>
          <a:p>
            <a:pPr marL="800100" lvl="1" indent="-342900">
              <a:spcAft>
                <a:spcPts val="800"/>
              </a:spcAft>
              <a:buFont typeface="Arial" panose="020B0604020202020204" pitchFamily="34" charset="0"/>
              <a:buChar char="•"/>
            </a:pPr>
            <a:r>
              <a:rPr lang="en-US" sz="2000" dirty="0">
                <a:solidFill>
                  <a:srgbClr val="002B49"/>
                </a:solidFill>
              </a:rPr>
              <a:t>Avg of 2 days before and after</a:t>
            </a:r>
            <a:endParaRPr lang="en-US" sz="2000" dirty="0">
              <a:solidFill>
                <a:schemeClr val="bg1">
                  <a:lumMod val="85000"/>
                </a:schemeClr>
              </a:solidFill>
            </a:endParaRP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Lag Features</a:t>
            </a:r>
          </a:p>
          <a:p>
            <a:pPr marL="800100" lvl="1" indent="-342900">
              <a:spcAft>
                <a:spcPts val="800"/>
              </a:spcAft>
              <a:buFont typeface="Arial" panose="020B0604020202020204" pitchFamily="34" charset="0"/>
              <a:buChar char="•"/>
            </a:pPr>
            <a:r>
              <a:rPr lang="en-US" sz="2000" dirty="0">
                <a:solidFill>
                  <a:schemeClr val="bg1">
                    <a:lumMod val="85000"/>
                  </a:schemeClr>
                </a:solidFill>
              </a:rPr>
              <a:t>Captures the effect of past days</a:t>
            </a:r>
          </a:p>
        </p:txBody>
      </p:sp>
      <p:sp>
        <p:nvSpPr>
          <p:cNvPr id="7" name="Title 1">
            <a:extLst>
              <a:ext uri="{FF2B5EF4-FFF2-40B4-BE49-F238E27FC236}">
                <a16:creationId xmlns:a16="http://schemas.microsoft.com/office/drawing/2014/main" id="{4009A92E-DAB8-E88F-1DA8-995DDC7FBE21}"/>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Preprocessing</a:t>
            </a:r>
            <a:endParaRPr lang="en-US" sz="2000" i="1" dirty="0"/>
          </a:p>
        </p:txBody>
      </p:sp>
      <p:sp>
        <p:nvSpPr>
          <p:cNvPr id="2" name="Round Same Side Corner Rectangle 3">
            <a:extLst>
              <a:ext uri="{FF2B5EF4-FFF2-40B4-BE49-F238E27FC236}">
                <a16:creationId xmlns:a16="http://schemas.microsoft.com/office/drawing/2014/main" id="{73317A6A-C0DA-2554-2B9D-E31BA632CF04}"/>
              </a:ext>
            </a:extLst>
          </p:cNvPr>
          <p:cNvSpPr>
            <a:spLocks/>
          </p:cNvSpPr>
          <p:nvPr/>
        </p:nvSpPr>
        <p:spPr bwMode="auto">
          <a:xfrm>
            <a:off x="6161355" y="1579956"/>
            <a:ext cx="5866776" cy="350983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5" name="Triangle 7">
            <a:extLst>
              <a:ext uri="{FF2B5EF4-FFF2-40B4-BE49-F238E27FC236}">
                <a16:creationId xmlns:a16="http://schemas.microsoft.com/office/drawing/2014/main" id="{0B02454C-4B63-F07B-A1C3-54FB717BE0AE}"/>
              </a:ext>
            </a:extLst>
          </p:cNvPr>
          <p:cNvSpPr/>
          <p:nvPr/>
        </p:nvSpPr>
        <p:spPr bwMode="auto">
          <a:xfrm rot="16200000">
            <a:off x="5129444" y="3609943"/>
            <a:ext cx="2063799" cy="895901"/>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863175"/>
              <a:gd name="csY0" fmla="*/ 561372 h 950983"/>
              <a:gd name="csX1" fmla="*/ 2099563 w 2863175"/>
              <a:gd name="csY1" fmla="*/ 0 h 950983"/>
              <a:gd name="csX2" fmla="*/ 1742760 w 2863175"/>
              <a:gd name="csY2" fmla="*/ 950983 h 950983"/>
              <a:gd name="csX3" fmla="*/ 0 w 2863175"/>
              <a:gd name="csY3" fmla="*/ 561372 h 950983"/>
              <a:gd name="csX0" fmla="*/ 0 w 2675851"/>
              <a:gd name="csY0" fmla="*/ 561372 h 950983"/>
              <a:gd name="csX1" fmla="*/ 2099563 w 2675851"/>
              <a:gd name="csY1" fmla="*/ 0 h 950983"/>
              <a:gd name="csX2" fmla="*/ 1742760 w 2675851"/>
              <a:gd name="csY2" fmla="*/ 950983 h 950983"/>
              <a:gd name="csX3" fmla="*/ 0 w 2675851"/>
              <a:gd name="csY3" fmla="*/ 561372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1879785"/>
              <a:gd name="csY0" fmla="*/ 582889 h 950983"/>
              <a:gd name="csX1" fmla="*/ 1303497 w 1879785"/>
              <a:gd name="csY1" fmla="*/ 0 h 950983"/>
              <a:gd name="csX2" fmla="*/ 946694 w 1879785"/>
              <a:gd name="csY2" fmla="*/ 950983 h 950983"/>
              <a:gd name="csX3" fmla="*/ 0 w 1879785"/>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55665"/>
              <a:gd name="csY0" fmla="*/ 582889 h 950983"/>
              <a:gd name="csX1" fmla="*/ 1303497 w 1855665"/>
              <a:gd name="csY1" fmla="*/ 0 h 950983"/>
              <a:gd name="csX2" fmla="*/ 946694 w 1855665"/>
              <a:gd name="csY2" fmla="*/ 950983 h 950983"/>
              <a:gd name="csX3" fmla="*/ 0 w 1855665"/>
              <a:gd name="csY3" fmla="*/ 582889 h 950983"/>
              <a:gd name="csX0" fmla="*/ 0 w 1821595"/>
              <a:gd name="csY0" fmla="*/ 582889 h 1109926"/>
              <a:gd name="csX1" fmla="*/ 1303497 w 1821595"/>
              <a:gd name="csY1" fmla="*/ 0 h 1109926"/>
              <a:gd name="csX2" fmla="*/ 946694 w 1821595"/>
              <a:gd name="csY2" fmla="*/ 950983 h 1109926"/>
              <a:gd name="csX3" fmla="*/ 0 w 1821595"/>
              <a:gd name="csY3" fmla="*/ 582889 h 1109926"/>
              <a:gd name="csX0" fmla="*/ 0 w 1903519"/>
              <a:gd name="csY0" fmla="*/ 582889 h 1014558"/>
              <a:gd name="csX1" fmla="*/ 1303497 w 1903519"/>
              <a:gd name="csY1" fmla="*/ 0 h 1014558"/>
              <a:gd name="csX2" fmla="*/ 946694 w 1903519"/>
              <a:gd name="csY2" fmla="*/ 950983 h 1014558"/>
              <a:gd name="csX3" fmla="*/ 0 w 1903519"/>
              <a:gd name="csY3" fmla="*/ 582889 h 1014558"/>
              <a:gd name="csX0" fmla="*/ 0 w 1760300"/>
              <a:gd name="csY0" fmla="*/ 726112 h 1014558"/>
              <a:gd name="csX1" fmla="*/ 1160278 w 1760300"/>
              <a:gd name="csY1" fmla="*/ 0 h 1014558"/>
              <a:gd name="csX2" fmla="*/ 803475 w 1760300"/>
              <a:gd name="csY2" fmla="*/ 950983 h 1014558"/>
              <a:gd name="csX3" fmla="*/ 0 w 1760300"/>
              <a:gd name="csY3" fmla="*/ 726112 h 1014558"/>
              <a:gd name="csX0" fmla="*/ 0 w 2011977"/>
              <a:gd name="csY0" fmla="*/ 726112 h 1143615"/>
              <a:gd name="csX1" fmla="*/ 1160278 w 2011977"/>
              <a:gd name="csY1" fmla="*/ 0 h 1143615"/>
              <a:gd name="csX2" fmla="*/ 1596690 w 2011977"/>
              <a:gd name="csY2" fmla="*/ 1138269 h 1143615"/>
              <a:gd name="csX3" fmla="*/ 0 w 2011977"/>
              <a:gd name="csY3" fmla="*/ 726112 h 1143615"/>
              <a:gd name="csX0" fmla="*/ 0 w 2199060"/>
              <a:gd name="csY0" fmla="*/ 726112 h 1110455"/>
              <a:gd name="csX1" fmla="*/ 1160278 w 2199060"/>
              <a:gd name="csY1" fmla="*/ 0 h 1110455"/>
              <a:gd name="csX2" fmla="*/ 1960246 w 2199060"/>
              <a:gd name="csY2" fmla="*/ 1094202 h 1110455"/>
              <a:gd name="csX3" fmla="*/ 0 w 2199060"/>
              <a:gd name="csY3" fmla="*/ 726112 h 1110455"/>
              <a:gd name="csX0" fmla="*/ 0 w 2311281"/>
              <a:gd name="csY0" fmla="*/ 726112 h 1094202"/>
              <a:gd name="csX1" fmla="*/ 1160278 w 2311281"/>
              <a:gd name="csY1" fmla="*/ 0 h 1094202"/>
              <a:gd name="csX2" fmla="*/ 1960246 w 2311281"/>
              <a:gd name="csY2" fmla="*/ 1094202 h 1094202"/>
              <a:gd name="csX3" fmla="*/ 0 w 2311281"/>
              <a:gd name="csY3" fmla="*/ 726112 h 1094202"/>
              <a:gd name="csX0" fmla="*/ 0 w 2304275"/>
              <a:gd name="csY0" fmla="*/ 726112 h 895901"/>
              <a:gd name="csX1" fmla="*/ 1160278 w 2304275"/>
              <a:gd name="csY1" fmla="*/ 0 h 895901"/>
              <a:gd name="csX2" fmla="*/ 1949231 w 2304275"/>
              <a:gd name="csY2" fmla="*/ 895901 h 895901"/>
              <a:gd name="csX3" fmla="*/ 0 w 2304275"/>
              <a:gd name="csY3" fmla="*/ 726112 h 895901"/>
              <a:gd name="csX0" fmla="*/ 0 w 2063799"/>
              <a:gd name="csY0" fmla="*/ 726112 h 895901"/>
              <a:gd name="csX1" fmla="*/ 1160278 w 2063799"/>
              <a:gd name="csY1" fmla="*/ 0 h 895901"/>
              <a:gd name="csX2" fmla="*/ 1949231 w 2063799"/>
              <a:gd name="csY2" fmla="*/ 895901 h 895901"/>
              <a:gd name="csX3" fmla="*/ 0 w 2063799"/>
              <a:gd name="csY3" fmla="*/ 726112 h 895901"/>
            </a:gdLst>
            <a:ahLst/>
            <a:cxnLst>
              <a:cxn ang="0">
                <a:pos x="csX0" y="csY0"/>
              </a:cxn>
              <a:cxn ang="0">
                <a:pos x="csX1" y="csY1"/>
              </a:cxn>
              <a:cxn ang="0">
                <a:pos x="csX2" y="csY2"/>
              </a:cxn>
              <a:cxn ang="0">
                <a:pos x="csX3" y="csY3"/>
              </a:cxn>
            </a:cxnLst>
            <a:rect l="l" t="t" r="r" b="b"/>
            <a:pathLst>
              <a:path w="2063799" h="895901">
                <a:moveTo>
                  <a:pt x="0" y="726112"/>
                </a:moveTo>
                <a:cubicBezTo>
                  <a:pt x="982809" y="651096"/>
                  <a:pt x="977451" y="296899"/>
                  <a:pt x="1160278" y="0"/>
                </a:cubicBezTo>
                <a:cubicBezTo>
                  <a:pt x="2588498" y="1472615"/>
                  <a:pt x="1877326" y="-35996"/>
                  <a:pt x="1949231" y="895901"/>
                </a:cubicBezTo>
                <a:cubicBezTo>
                  <a:pt x="1633666" y="773203"/>
                  <a:pt x="315565" y="848810"/>
                  <a:pt x="0" y="726112"/>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9" name="TextBox 8">
            <a:extLst>
              <a:ext uri="{FF2B5EF4-FFF2-40B4-BE49-F238E27FC236}">
                <a16:creationId xmlns:a16="http://schemas.microsoft.com/office/drawing/2014/main" id="{789C0819-5256-648D-2A37-763CF9BA2C41}"/>
              </a:ext>
            </a:extLst>
          </p:cNvPr>
          <p:cNvSpPr txBox="1"/>
          <p:nvPr/>
        </p:nvSpPr>
        <p:spPr>
          <a:xfrm>
            <a:off x="6969320" y="1836796"/>
            <a:ext cx="4250837" cy="388568"/>
          </a:xfrm>
          <a:prstGeom prst="rect">
            <a:avLst/>
          </a:prstGeom>
          <a:noFill/>
        </p:spPr>
        <p:txBody>
          <a:bodyPr wrap="square">
            <a:spAutoFit/>
          </a:bodyPr>
          <a:lstStyle/>
          <a:p>
            <a:pPr algn="ctr">
              <a:lnSpc>
                <a:spcPct val="150000"/>
              </a:lnSpc>
              <a:spcAft>
                <a:spcPts val="800"/>
              </a:spcAft>
            </a:pPr>
            <a:r>
              <a:rPr lang="en-US" sz="1400" b="1" dirty="0">
                <a:solidFill>
                  <a:srgbClr val="002B49"/>
                </a:solidFill>
              </a:rPr>
              <a:t>THI Composite </a:t>
            </a:r>
          </a:p>
        </p:txBody>
      </p:sp>
      <p:sp>
        <p:nvSpPr>
          <p:cNvPr id="6" name="TextBox 5">
            <a:extLst>
              <a:ext uri="{FF2B5EF4-FFF2-40B4-BE49-F238E27FC236}">
                <a16:creationId xmlns:a16="http://schemas.microsoft.com/office/drawing/2014/main" id="{BFDD048E-8F52-302F-FD81-83E4F0C5DE11}"/>
              </a:ext>
            </a:extLst>
          </p:cNvPr>
          <p:cNvSpPr txBox="1"/>
          <p:nvPr/>
        </p:nvSpPr>
        <p:spPr>
          <a:xfrm>
            <a:off x="6509548" y="2425650"/>
            <a:ext cx="5170379" cy="1323439"/>
          </a:xfrm>
          <a:prstGeom prst="rect">
            <a:avLst/>
          </a:prstGeom>
          <a:noFill/>
        </p:spPr>
        <p:txBody>
          <a:bodyPr wrap="square">
            <a:spAutoFit/>
          </a:bodyPr>
          <a:lstStyle/>
          <a:p>
            <a:pPr algn="just"/>
            <a:r>
              <a:rPr lang="en-US" sz="1600" dirty="0"/>
              <a:t>Creates a Temperature-Humidity Index (THI) feature by </a:t>
            </a:r>
            <a:r>
              <a:rPr lang="en-US" sz="1600" b="1" dirty="0"/>
              <a:t>averaging</a:t>
            </a:r>
            <a:r>
              <a:rPr lang="en-US" sz="1600" dirty="0"/>
              <a:t> climate conditions over a </a:t>
            </a:r>
            <a:r>
              <a:rPr lang="en-US" sz="1600" b="1" dirty="0"/>
              <a:t>5-day</a:t>
            </a:r>
            <a:r>
              <a:rPr lang="en-US" sz="1600" dirty="0"/>
              <a:t> window (2 days before, current day, and 2 days after), smoothing short-term fluctuations and capturing sustained climate stress periods.</a:t>
            </a:r>
            <a:endParaRPr lang="en-US" sz="1700" dirty="0"/>
          </a:p>
        </p:txBody>
      </p:sp>
      <p:sp>
        <p:nvSpPr>
          <p:cNvPr id="8" name="TextBox 7">
            <a:extLst>
              <a:ext uri="{FF2B5EF4-FFF2-40B4-BE49-F238E27FC236}">
                <a16:creationId xmlns:a16="http://schemas.microsoft.com/office/drawing/2014/main" id="{3DB674DB-EABC-A04F-891C-172B5584042F}"/>
              </a:ext>
            </a:extLst>
          </p:cNvPr>
          <p:cNvSpPr txBox="1"/>
          <p:nvPr/>
        </p:nvSpPr>
        <p:spPr>
          <a:xfrm>
            <a:off x="446269" y="5831236"/>
            <a:ext cx="11600587" cy="523220"/>
          </a:xfrm>
          <a:prstGeom prst="rect">
            <a:avLst/>
          </a:prstGeom>
          <a:noFill/>
        </p:spPr>
        <p:txBody>
          <a:bodyPr wrap="square">
            <a:spAutoFit/>
          </a:bodyPr>
          <a:lstStyle/>
          <a:p>
            <a:r>
              <a:rPr lang="en-US" sz="1400" dirty="0"/>
              <a:t>M. F. Hasan</a:t>
            </a:r>
            <a:r>
              <a:rPr lang="en-US" sz="1400" i="1" dirty="0"/>
              <a:t>, et </a:t>
            </a:r>
            <a:r>
              <a:rPr lang="en-US" sz="1400" i="1" dirty="0" err="1"/>
              <a:t>al.,</a:t>
            </a:r>
            <a:r>
              <a:rPr lang="en-US" sz="1400" dirty="0" err="1"/>
              <a:t>"An</a:t>
            </a:r>
            <a:r>
              <a:rPr lang="en-US" sz="1400" dirty="0"/>
              <a:t> effective way to incorporate temperature-humidity index to study effect of heat stress on milk yield by an </a:t>
            </a:r>
            <a:r>
              <a:rPr lang="en-US" sz="1400" dirty="0" err="1"/>
              <a:t>XGBoost</a:t>
            </a:r>
            <a:r>
              <a:rPr lang="en-US" sz="1400" dirty="0"/>
              <a:t> machine learning model," in </a:t>
            </a:r>
            <a:r>
              <a:rPr lang="en-US" sz="1400" i="1" dirty="0"/>
              <a:t>J. Dairy Sci.</a:t>
            </a:r>
            <a:r>
              <a:rPr lang="en-US" sz="1400" dirty="0"/>
              <a:t>, vol. 108, no. 12, pp. 13995–14017, Dec. 2025, </a:t>
            </a:r>
            <a:r>
              <a:rPr lang="en-US" sz="1400" dirty="0" err="1"/>
              <a:t>doi</a:t>
            </a:r>
            <a:r>
              <a:rPr lang="en-US" sz="1400" dirty="0"/>
              <a:t>: 10.3168/jds.2025-27193.</a:t>
            </a:r>
            <a:endParaRPr lang="en-US" sz="1300" dirty="0"/>
          </a:p>
        </p:txBody>
      </p:sp>
      <p:pic>
        <p:nvPicPr>
          <p:cNvPr id="4" name="Picture 3">
            <a:extLst>
              <a:ext uri="{FF2B5EF4-FFF2-40B4-BE49-F238E27FC236}">
                <a16:creationId xmlns:a16="http://schemas.microsoft.com/office/drawing/2014/main" id="{4EF4BFD5-3EDF-71E6-8958-AA60D09FFF4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13459" y="3949375"/>
            <a:ext cx="4176638" cy="632824"/>
          </a:xfrm>
          <a:prstGeom prst="rect">
            <a:avLst/>
          </a:prstGeom>
        </p:spPr>
      </p:pic>
      <p:pic>
        <p:nvPicPr>
          <p:cNvPr id="10" name="Picture 9">
            <a:extLst>
              <a:ext uri="{FF2B5EF4-FFF2-40B4-BE49-F238E27FC236}">
                <a16:creationId xmlns:a16="http://schemas.microsoft.com/office/drawing/2014/main" id="{9EA71B9E-2BC0-8B74-C345-B446AB942E38}"/>
              </a:ext>
            </a:extLst>
          </p:cNvPr>
          <p:cNvPicPr>
            <a:picLocks noChangeAspect="1"/>
          </p:cNvPicPr>
          <p:nvPr/>
        </p:nvPicPr>
        <p:blipFill>
          <a:blip r:embed="rId4">
            <a:clrChange>
              <a:clrFrom>
                <a:srgbClr val="FFFFFF"/>
              </a:clrFrom>
              <a:clrTo>
                <a:srgbClr val="FFFFFF">
                  <a:alpha val="0"/>
                </a:srgbClr>
              </a:clrTo>
            </a:clrChange>
          </a:blip>
          <a:srcRect l="17626" t="5076" b="-1"/>
          <a:stretch>
            <a:fillRect/>
          </a:stretch>
        </p:blipFill>
        <p:spPr>
          <a:xfrm>
            <a:off x="6250238" y="4228230"/>
            <a:ext cx="1407288" cy="201703"/>
          </a:xfrm>
          <a:prstGeom prst="rect">
            <a:avLst/>
          </a:prstGeom>
        </p:spPr>
      </p:pic>
    </p:spTree>
    <p:extLst>
      <p:ext uri="{BB962C8B-B14F-4D97-AF65-F5344CB8AC3E}">
        <p14:creationId xmlns:p14="http://schemas.microsoft.com/office/powerpoint/2010/main" val="41406865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0EF56-6812-7052-F917-904C3DB5829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94876DB-EFE5-D4C3-842E-10E12BFACE04}"/>
              </a:ext>
            </a:extLst>
          </p:cNvPr>
          <p:cNvSpPr txBox="1"/>
          <p:nvPr/>
        </p:nvSpPr>
        <p:spPr>
          <a:xfrm>
            <a:off x="562204" y="1241039"/>
            <a:ext cx="6146548" cy="3939540"/>
          </a:xfrm>
          <a:prstGeom prst="rect">
            <a:avLst/>
          </a:prstGeom>
          <a:noFill/>
        </p:spPr>
        <p:txBody>
          <a:bodyPr wrap="square">
            <a:spAutoFit/>
          </a:bodyPr>
          <a:lstStyle/>
          <a:p>
            <a:pPr marL="342900" indent="-342900">
              <a:spcAft>
                <a:spcPts val="800"/>
              </a:spcAft>
              <a:buFont typeface="Arial" panose="020B0604020202020204" pitchFamily="34" charset="0"/>
              <a:buChar char="•"/>
            </a:pPr>
            <a:r>
              <a:rPr lang="en-US" sz="2000" b="1" dirty="0">
                <a:solidFill>
                  <a:schemeClr val="bg1">
                    <a:lumMod val="85000"/>
                  </a:schemeClr>
                </a:solidFill>
              </a:rPr>
              <a:t>Removing Outliers and null values</a:t>
            </a:r>
          </a:p>
          <a:p>
            <a:pPr marL="800100" lvl="1" indent="-342900">
              <a:spcAft>
                <a:spcPts val="800"/>
              </a:spcAft>
              <a:buFont typeface="Arial" panose="020B0604020202020204" pitchFamily="34" charset="0"/>
              <a:buChar char="•"/>
            </a:pPr>
            <a:r>
              <a:rPr lang="en-US" sz="2000" dirty="0">
                <a:solidFill>
                  <a:schemeClr val="bg1">
                    <a:lumMod val="85000"/>
                  </a:schemeClr>
                </a:solidFill>
              </a:rPr>
              <a:t>Time Series Decomposition. </a:t>
            </a:r>
          </a:p>
          <a:p>
            <a:pPr marL="914400" lvl="1" indent="-457200">
              <a:buFont typeface="Arial" panose="020B0604020202020204" pitchFamily="34" charset="0"/>
              <a:buChar char="•"/>
            </a:pPr>
            <a:r>
              <a:rPr lang="en-US" sz="2000" dirty="0">
                <a:solidFill>
                  <a:schemeClr val="bg1">
                    <a:lumMod val="85000"/>
                  </a:schemeClr>
                </a:solidFill>
              </a:rPr>
              <a:t>Statical methods like normal distribution.</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Integrating climate data.</a:t>
            </a:r>
            <a:endParaRPr lang="en-US" sz="2000" b="1" dirty="0">
              <a:solidFill>
                <a:srgbClr val="002B49"/>
              </a:solidFill>
            </a:endParaRP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THI Composite </a:t>
            </a:r>
          </a:p>
          <a:p>
            <a:pPr marL="800100" lvl="1" indent="-342900">
              <a:spcAft>
                <a:spcPts val="800"/>
              </a:spcAft>
              <a:buFont typeface="Arial" panose="020B0604020202020204" pitchFamily="34" charset="0"/>
              <a:buChar char="•"/>
            </a:pPr>
            <a:r>
              <a:rPr lang="en-US" sz="2000" dirty="0">
                <a:solidFill>
                  <a:schemeClr val="bg1">
                    <a:lumMod val="85000"/>
                  </a:schemeClr>
                </a:solidFill>
              </a:rPr>
              <a:t>Avg of 2 days before and after</a:t>
            </a:r>
          </a:p>
          <a:p>
            <a:pPr marL="342900" indent="-342900">
              <a:lnSpc>
                <a:spcPct val="150000"/>
              </a:lnSpc>
              <a:spcAft>
                <a:spcPts val="800"/>
              </a:spcAft>
              <a:buFont typeface="Arial" panose="020B0604020202020204" pitchFamily="34" charset="0"/>
              <a:buChar char="•"/>
            </a:pPr>
            <a:r>
              <a:rPr lang="en-US" sz="2000" b="1" dirty="0">
                <a:solidFill>
                  <a:srgbClr val="002B49"/>
                </a:solidFill>
              </a:rPr>
              <a:t>Lag Features</a:t>
            </a:r>
          </a:p>
          <a:p>
            <a:pPr marL="800100" lvl="1" indent="-342900">
              <a:spcAft>
                <a:spcPts val="800"/>
              </a:spcAft>
              <a:buFont typeface="Arial" panose="020B0604020202020204" pitchFamily="34" charset="0"/>
              <a:buChar char="•"/>
            </a:pPr>
            <a:r>
              <a:rPr lang="en-US" sz="2000" dirty="0">
                <a:solidFill>
                  <a:srgbClr val="002B49"/>
                </a:solidFill>
              </a:rPr>
              <a:t>Captures the effect of past days</a:t>
            </a:r>
          </a:p>
        </p:txBody>
      </p:sp>
      <p:sp>
        <p:nvSpPr>
          <p:cNvPr id="7" name="Title 1">
            <a:extLst>
              <a:ext uri="{FF2B5EF4-FFF2-40B4-BE49-F238E27FC236}">
                <a16:creationId xmlns:a16="http://schemas.microsoft.com/office/drawing/2014/main" id="{459EE134-F3D5-A7B0-DB6D-4FD33472674C}"/>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Preprocessing</a:t>
            </a:r>
            <a:endParaRPr lang="en-US" sz="2000" i="1" dirty="0"/>
          </a:p>
        </p:txBody>
      </p:sp>
      <p:sp>
        <p:nvSpPr>
          <p:cNvPr id="2" name="Round Same Side Corner Rectangle 3">
            <a:extLst>
              <a:ext uri="{FF2B5EF4-FFF2-40B4-BE49-F238E27FC236}">
                <a16:creationId xmlns:a16="http://schemas.microsoft.com/office/drawing/2014/main" id="{3F0AF9E4-A170-7839-789C-70D99E7202B8}"/>
              </a:ext>
            </a:extLst>
          </p:cNvPr>
          <p:cNvSpPr>
            <a:spLocks/>
          </p:cNvSpPr>
          <p:nvPr/>
        </p:nvSpPr>
        <p:spPr bwMode="auto">
          <a:xfrm>
            <a:off x="6161355" y="828000"/>
            <a:ext cx="5866776" cy="4634649"/>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5" name="Triangle 7">
            <a:extLst>
              <a:ext uri="{FF2B5EF4-FFF2-40B4-BE49-F238E27FC236}">
                <a16:creationId xmlns:a16="http://schemas.microsoft.com/office/drawing/2014/main" id="{8072AF3A-2B80-6217-AB94-871600AE1C12}"/>
              </a:ext>
            </a:extLst>
          </p:cNvPr>
          <p:cNvSpPr/>
          <p:nvPr/>
        </p:nvSpPr>
        <p:spPr bwMode="auto">
          <a:xfrm rot="16200000">
            <a:off x="4970912" y="3095020"/>
            <a:ext cx="3161830" cy="161206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863175"/>
              <a:gd name="csY0" fmla="*/ 561372 h 950983"/>
              <a:gd name="csX1" fmla="*/ 2099563 w 2863175"/>
              <a:gd name="csY1" fmla="*/ 0 h 950983"/>
              <a:gd name="csX2" fmla="*/ 1742760 w 2863175"/>
              <a:gd name="csY2" fmla="*/ 950983 h 950983"/>
              <a:gd name="csX3" fmla="*/ 0 w 2863175"/>
              <a:gd name="csY3" fmla="*/ 561372 h 950983"/>
              <a:gd name="csX0" fmla="*/ 0 w 2675851"/>
              <a:gd name="csY0" fmla="*/ 561372 h 950983"/>
              <a:gd name="csX1" fmla="*/ 2099563 w 2675851"/>
              <a:gd name="csY1" fmla="*/ 0 h 950983"/>
              <a:gd name="csX2" fmla="*/ 1742760 w 2675851"/>
              <a:gd name="csY2" fmla="*/ 950983 h 950983"/>
              <a:gd name="csX3" fmla="*/ 0 w 2675851"/>
              <a:gd name="csY3" fmla="*/ 561372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2342364"/>
              <a:gd name="csY0" fmla="*/ 722736 h 950983"/>
              <a:gd name="csX1" fmla="*/ 1766076 w 2342364"/>
              <a:gd name="csY1" fmla="*/ 0 h 950983"/>
              <a:gd name="csX2" fmla="*/ 1409273 w 2342364"/>
              <a:gd name="csY2" fmla="*/ 950983 h 950983"/>
              <a:gd name="csX3" fmla="*/ 0 w 2342364"/>
              <a:gd name="csY3" fmla="*/ 722736 h 950983"/>
              <a:gd name="csX0" fmla="*/ 0 w 1879785"/>
              <a:gd name="csY0" fmla="*/ 582889 h 950983"/>
              <a:gd name="csX1" fmla="*/ 1303497 w 1879785"/>
              <a:gd name="csY1" fmla="*/ 0 h 950983"/>
              <a:gd name="csX2" fmla="*/ 946694 w 1879785"/>
              <a:gd name="csY2" fmla="*/ 950983 h 950983"/>
              <a:gd name="csX3" fmla="*/ 0 w 1879785"/>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68029"/>
              <a:gd name="csY0" fmla="*/ 582889 h 950983"/>
              <a:gd name="csX1" fmla="*/ 1303497 w 1868029"/>
              <a:gd name="csY1" fmla="*/ 0 h 950983"/>
              <a:gd name="csX2" fmla="*/ 946694 w 1868029"/>
              <a:gd name="csY2" fmla="*/ 950983 h 950983"/>
              <a:gd name="csX3" fmla="*/ 0 w 1868029"/>
              <a:gd name="csY3" fmla="*/ 582889 h 950983"/>
              <a:gd name="csX0" fmla="*/ 0 w 1855665"/>
              <a:gd name="csY0" fmla="*/ 582889 h 950983"/>
              <a:gd name="csX1" fmla="*/ 1303497 w 1855665"/>
              <a:gd name="csY1" fmla="*/ 0 h 950983"/>
              <a:gd name="csX2" fmla="*/ 946694 w 1855665"/>
              <a:gd name="csY2" fmla="*/ 950983 h 950983"/>
              <a:gd name="csX3" fmla="*/ 0 w 1855665"/>
              <a:gd name="csY3" fmla="*/ 582889 h 950983"/>
              <a:gd name="csX0" fmla="*/ 0 w 1821595"/>
              <a:gd name="csY0" fmla="*/ 582889 h 1109926"/>
              <a:gd name="csX1" fmla="*/ 1303497 w 1821595"/>
              <a:gd name="csY1" fmla="*/ 0 h 1109926"/>
              <a:gd name="csX2" fmla="*/ 946694 w 1821595"/>
              <a:gd name="csY2" fmla="*/ 950983 h 1109926"/>
              <a:gd name="csX3" fmla="*/ 0 w 1821595"/>
              <a:gd name="csY3" fmla="*/ 582889 h 1109926"/>
              <a:gd name="csX0" fmla="*/ 0 w 1903519"/>
              <a:gd name="csY0" fmla="*/ 582889 h 1014558"/>
              <a:gd name="csX1" fmla="*/ 1303497 w 1903519"/>
              <a:gd name="csY1" fmla="*/ 0 h 1014558"/>
              <a:gd name="csX2" fmla="*/ 946694 w 1903519"/>
              <a:gd name="csY2" fmla="*/ 950983 h 1014558"/>
              <a:gd name="csX3" fmla="*/ 0 w 1903519"/>
              <a:gd name="csY3" fmla="*/ 582889 h 1014558"/>
              <a:gd name="csX0" fmla="*/ 0 w 1760300"/>
              <a:gd name="csY0" fmla="*/ 726112 h 1014558"/>
              <a:gd name="csX1" fmla="*/ 1160278 w 1760300"/>
              <a:gd name="csY1" fmla="*/ 0 h 1014558"/>
              <a:gd name="csX2" fmla="*/ 803475 w 1760300"/>
              <a:gd name="csY2" fmla="*/ 950983 h 1014558"/>
              <a:gd name="csX3" fmla="*/ 0 w 1760300"/>
              <a:gd name="csY3" fmla="*/ 726112 h 1014558"/>
              <a:gd name="csX0" fmla="*/ 0 w 2011977"/>
              <a:gd name="csY0" fmla="*/ 726112 h 1143615"/>
              <a:gd name="csX1" fmla="*/ 1160278 w 2011977"/>
              <a:gd name="csY1" fmla="*/ 0 h 1143615"/>
              <a:gd name="csX2" fmla="*/ 1596690 w 2011977"/>
              <a:gd name="csY2" fmla="*/ 1138269 h 1143615"/>
              <a:gd name="csX3" fmla="*/ 0 w 2011977"/>
              <a:gd name="csY3" fmla="*/ 726112 h 1143615"/>
              <a:gd name="csX0" fmla="*/ 0 w 2199060"/>
              <a:gd name="csY0" fmla="*/ 726112 h 1110455"/>
              <a:gd name="csX1" fmla="*/ 1160278 w 2199060"/>
              <a:gd name="csY1" fmla="*/ 0 h 1110455"/>
              <a:gd name="csX2" fmla="*/ 1960246 w 2199060"/>
              <a:gd name="csY2" fmla="*/ 1094202 h 1110455"/>
              <a:gd name="csX3" fmla="*/ 0 w 2199060"/>
              <a:gd name="csY3" fmla="*/ 726112 h 1110455"/>
              <a:gd name="csX0" fmla="*/ 0 w 2311281"/>
              <a:gd name="csY0" fmla="*/ 726112 h 1094202"/>
              <a:gd name="csX1" fmla="*/ 1160278 w 2311281"/>
              <a:gd name="csY1" fmla="*/ 0 h 1094202"/>
              <a:gd name="csX2" fmla="*/ 1960246 w 2311281"/>
              <a:gd name="csY2" fmla="*/ 1094202 h 1094202"/>
              <a:gd name="csX3" fmla="*/ 0 w 2311281"/>
              <a:gd name="csY3" fmla="*/ 726112 h 1094202"/>
              <a:gd name="csX0" fmla="*/ 0 w 2304275"/>
              <a:gd name="csY0" fmla="*/ 726112 h 895901"/>
              <a:gd name="csX1" fmla="*/ 1160278 w 2304275"/>
              <a:gd name="csY1" fmla="*/ 0 h 895901"/>
              <a:gd name="csX2" fmla="*/ 1949231 w 2304275"/>
              <a:gd name="csY2" fmla="*/ 895901 h 895901"/>
              <a:gd name="csX3" fmla="*/ 0 w 2304275"/>
              <a:gd name="csY3" fmla="*/ 726112 h 895901"/>
              <a:gd name="csX0" fmla="*/ 0 w 2063799"/>
              <a:gd name="csY0" fmla="*/ 726112 h 895901"/>
              <a:gd name="csX1" fmla="*/ 1160278 w 2063799"/>
              <a:gd name="csY1" fmla="*/ 0 h 895901"/>
              <a:gd name="csX2" fmla="*/ 1949231 w 2063799"/>
              <a:gd name="csY2" fmla="*/ 895901 h 895901"/>
              <a:gd name="csX3" fmla="*/ 0 w 2063799"/>
              <a:gd name="csY3" fmla="*/ 726112 h 895901"/>
              <a:gd name="csX0" fmla="*/ 0 w 1949231"/>
              <a:gd name="csY0" fmla="*/ 693062 h 862851"/>
              <a:gd name="csX1" fmla="*/ 378080 w 1949231"/>
              <a:gd name="csY1" fmla="*/ 0 h 862851"/>
              <a:gd name="csX2" fmla="*/ 1949231 w 1949231"/>
              <a:gd name="csY2" fmla="*/ 862851 h 862851"/>
              <a:gd name="csX3" fmla="*/ 0 w 1949231"/>
              <a:gd name="csY3" fmla="*/ 693062 h 862851"/>
              <a:gd name="csX0" fmla="*/ 0 w 1850080"/>
              <a:gd name="csY0" fmla="*/ 2521862 h 2527549"/>
              <a:gd name="csX1" fmla="*/ 278929 w 1850080"/>
              <a:gd name="csY1" fmla="*/ 0 h 2527549"/>
              <a:gd name="csX2" fmla="*/ 1850080 w 1850080"/>
              <a:gd name="csY2" fmla="*/ 862851 h 2527549"/>
              <a:gd name="csX3" fmla="*/ 0 w 1850080"/>
              <a:gd name="csY3" fmla="*/ 2521862 h 2527549"/>
              <a:gd name="csX0" fmla="*/ 74197 w 1924277"/>
              <a:gd name="csY0" fmla="*/ 2521862 h 2527549"/>
              <a:gd name="csX1" fmla="*/ 353126 w 1924277"/>
              <a:gd name="csY1" fmla="*/ 0 h 2527549"/>
              <a:gd name="csX2" fmla="*/ 1924277 w 1924277"/>
              <a:gd name="csY2" fmla="*/ 862851 h 2527549"/>
              <a:gd name="csX3" fmla="*/ 74197 w 1924277"/>
              <a:gd name="csY3" fmla="*/ 2521862 h 2527549"/>
              <a:gd name="csX0" fmla="*/ 83160 w 1878156"/>
              <a:gd name="csY0" fmla="*/ 1585428 h 1596205"/>
              <a:gd name="csX1" fmla="*/ 307005 w 1878156"/>
              <a:gd name="csY1" fmla="*/ 0 h 1596205"/>
              <a:gd name="csX2" fmla="*/ 1878156 w 1878156"/>
              <a:gd name="csY2" fmla="*/ 862851 h 1596205"/>
              <a:gd name="csX3" fmla="*/ 83160 w 1878156"/>
              <a:gd name="csY3" fmla="*/ 1585428 h 1596205"/>
              <a:gd name="csX0" fmla="*/ 223267 w 2018263"/>
              <a:gd name="csY0" fmla="*/ 1585428 h 1596205"/>
              <a:gd name="csX1" fmla="*/ 447112 w 2018263"/>
              <a:gd name="csY1" fmla="*/ 0 h 1596205"/>
              <a:gd name="csX2" fmla="*/ 2018263 w 2018263"/>
              <a:gd name="csY2" fmla="*/ 862851 h 1596205"/>
              <a:gd name="csX3" fmla="*/ 223267 w 2018263"/>
              <a:gd name="csY3" fmla="*/ 1585428 h 1596205"/>
              <a:gd name="csX0" fmla="*/ 302004 w 2097000"/>
              <a:gd name="csY0" fmla="*/ 1585428 h 1596205"/>
              <a:gd name="csX1" fmla="*/ 254629 w 2097000"/>
              <a:gd name="csY1" fmla="*/ 0 h 1596205"/>
              <a:gd name="csX2" fmla="*/ 2097000 w 2097000"/>
              <a:gd name="csY2" fmla="*/ 862851 h 1596205"/>
              <a:gd name="csX3" fmla="*/ 302004 w 2097000"/>
              <a:gd name="csY3" fmla="*/ 1585428 h 1596205"/>
              <a:gd name="csX0" fmla="*/ 302004 w 1492565"/>
              <a:gd name="csY0" fmla="*/ 1585428 h 1599560"/>
              <a:gd name="csX1" fmla="*/ 254629 w 1492565"/>
              <a:gd name="csY1" fmla="*/ 0 h 1599560"/>
              <a:gd name="csX2" fmla="*/ 1492565 w 1492565"/>
              <a:gd name="csY2" fmla="*/ 1110827 h 1599560"/>
              <a:gd name="csX3" fmla="*/ 302004 w 1492565"/>
              <a:gd name="csY3" fmla="*/ 1585428 h 1599560"/>
              <a:gd name="csX0" fmla="*/ 302004 w 1774388"/>
              <a:gd name="csY0" fmla="*/ 1585428 h 1599560"/>
              <a:gd name="csX1" fmla="*/ 254629 w 1774388"/>
              <a:gd name="csY1" fmla="*/ 0 h 1599560"/>
              <a:gd name="csX2" fmla="*/ 1492565 w 1774388"/>
              <a:gd name="csY2" fmla="*/ 1110827 h 1599560"/>
              <a:gd name="csX3" fmla="*/ 302004 w 1774388"/>
              <a:gd name="csY3" fmla="*/ 1585428 h 1599560"/>
              <a:gd name="csX0" fmla="*/ 302004 w 1774388"/>
              <a:gd name="csY0" fmla="*/ 1585428 h 1606423"/>
              <a:gd name="csX1" fmla="*/ 254629 w 1774388"/>
              <a:gd name="csY1" fmla="*/ 0 h 1606423"/>
              <a:gd name="csX2" fmla="*/ 1492565 w 1774388"/>
              <a:gd name="csY2" fmla="*/ 1110827 h 1606423"/>
              <a:gd name="csX3" fmla="*/ 302004 w 1774388"/>
              <a:gd name="csY3" fmla="*/ 1585428 h 1606423"/>
              <a:gd name="csX0" fmla="*/ 302004 w 1341217"/>
              <a:gd name="csY0" fmla="*/ 1585428 h 1597277"/>
              <a:gd name="csX1" fmla="*/ 254629 w 1341217"/>
              <a:gd name="csY1" fmla="*/ 0 h 1597277"/>
              <a:gd name="csX2" fmla="*/ 864884 w 1341217"/>
              <a:gd name="csY2" fmla="*/ 692375 h 1597277"/>
              <a:gd name="csX3" fmla="*/ 302004 w 1341217"/>
              <a:gd name="csY3" fmla="*/ 1585428 h 1597277"/>
              <a:gd name="csX0" fmla="*/ 302004 w 1774005"/>
              <a:gd name="csY0" fmla="*/ 1585428 h 1597277"/>
              <a:gd name="csX1" fmla="*/ 254629 w 1774005"/>
              <a:gd name="csY1" fmla="*/ 0 h 1597277"/>
              <a:gd name="csX2" fmla="*/ 864884 w 1774005"/>
              <a:gd name="csY2" fmla="*/ 692375 h 1597277"/>
              <a:gd name="csX3" fmla="*/ 302004 w 1774005"/>
              <a:gd name="csY3" fmla="*/ 1585428 h 1597277"/>
              <a:gd name="csX0" fmla="*/ 302004 w 2648952"/>
              <a:gd name="csY0" fmla="*/ 1585428 h 1751955"/>
              <a:gd name="csX1" fmla="*/ 254629 w 2648952"/>
              <a:gd name="csY1" fmla="*/ 0 h 1751955"/>
              <a:gd name="csX2" fmla="*/ 2027257 w 2648952"/>
              <a:gd name="csY2" fmla="*/ 1684266 h 1751955"/>
              <a:gd name="csX3" fmla="*/ 302004 w 2648952"/>
              <a:gd name="csY3" fmla="*/ 1585428 h 1751955"/>
              <a:gd name="csX0" fmla="*/ 302004 w 3120938"/>
              <a:gd name="csY0" fmla="*/ 1585428 h 1612071"/>
              <a:gd name="csX1" fmla="*/ 254629 w 3120938"/>
              <a:gd name="csY1" fmla="*/ 0 h 1612071"/>
              <a:gd name="csX2" fmla="*/ 2585195 w 3120938"/>
              <a:gd name="csY2" fmla="*/ 1227069 h 1612071"/>
              <a:gd name="csX3" fmla="*/ 302004 w 3120938"/>
              <a:gd name="csY3" fmla="*/ 1585428 h 1612071"/>
              <a:gd name="csX0" fmla="*/ 302004 w 3162271"/>
              <a:gd name="csY0" fmla="*/ 1585428 h 1612071"/>
              <a:gd name="csX1" fmla="*/ 254629 w 3162271"/>
              <a:gd name="csY1" fmla="*/ 0 h 1612071"/>
              <a:gd name="csX2" fmla="*/ 2585195 w 3162271"/>
              <a:gd name="csY2" fmla="*/ 1227069 h 1612071"/>
              <a:gd name="csX3" fmla="*/ 302004 w 3162271"/>
              <a:gd name="csY3" fmla="*/ 1585428 h 1612071"/>
              <a:gd name="csX0" fmla="*/ 302004 w 3182265"/>
              <a:gd name="csY0" fmla="*/ 1585428 h 1612071"/>
              <a:gd name="csX1" fmla="*/ 254629 w 3182265"/>
              <a:gd name="csY1" fmla="*/ 0 h 1612071"/>
              <a:gd name="csX2" fmla="*/ 2585195 w 3182265"/>
              <a:gd name="csY2" fmla="*/ 1227069 h 1612071"/>
              <a:gd name="csX3" fmla="*/ 302004 w 3182265"/>
              <a:gd name="csY3" fmla="*/ 1585428 h 1612071"/>
              <a:gd name="csX0" fmla="*/ 302004 w 3130770"/>
              <a:gd name="csY0" fmla="*/ 1585428 h 1612071"/>
              <a:gd name="csX1" fmla="*/ 254629 w 3130770"/>
              <a:gd name="csY1" fmla="*/ 0 h 1612071"/>
              <a:gd name="csX2" fmla="*/ 2585195 w 3130770"/>
              <a:gd name="csY2" fmla="*/ 1227069 h 1612071"/>
              <a:gd name="csX3" fmla="*/ 302004 w 3130770"/>
              <a:gd name="csY3" fmla="*/ 1585428 h 1612071"/>
              <a:gd name="csX0" fmla="*/ 201561 w 3089567"/>
              <a:gd name="csY0" fmla="*/ 1585425 h 1612068"/>
              <a:gd name="csX1" fmla="*/ 534197 w 3089567"/>
              <a:gd name="csY1" fmla="*/ 0 h 1612068"/>
              <a:gd name="csX2" fmla="*/ 2484752 w 3089567"/>
              <a:gd name="csY2" fmla="*/ 1227066 h 1612068"/>
              <a:gd name="csX3" fmla="*/ 201561 w 3089567"/>
              <a:gd name="csY3" fmla="*/ 1585425 h 1612068"/>
              <a:gd name="csX0" fmla="*/ 273824 w 3161830"/>
              <a:gd name="csY0" fmla="*/ 1585425 h 1612068"/>
              <a:gd name="csX1" fmla="*/ 606460 w 3161830"/>
              <a:gd name="csY1" fmla="*/ 0 h 1612068"/>
              <a:gd name="csX2" fmla="*/ 2557015 w 3161830"/>
              <a:gd name="csY2" fmla="*/ 1227066 h 1612068"/>
              <a:gd name="csX3" fmla="*/ 273824 w 3161830"/>
              <a:gd name="csY3" fmla="*/ 1585425 h 1612068"/>
            </a:gdLst>
            <a:ahLst/>
            <a:cxnLst>
              <a:cxn ang="0">
                <a:pos x="csX0" y="csY0"/>
              </a:cxn>
              <a:cxn ang="0">
                <a:pos x="csX1" y="csY1"/>
              </a:cxn>
              <a:cxn ang="0">
                <a:pos x="csX2" y="csY2"/>
              </a:cxn>
              <a:cxn ang="0">
                <a:pos x="csX3" y="csY3"/>
              </a:cxn>
            </a:cxnLst>
            <a:rect l="l" t="t" r="r" b="b"/>
            <a:pathLst>
              <a:path w="3161830" h="1612068">
                <a:moveTo>
                  <a:pt x="273824" y="1585425"/>
                </a:moveTo>
                <a:cubicBezTo>
                  <a:pt x="-429952" y="1008793"/>
                  <a:pt x="423633" y="296899"/>
                  <a:pt x="606460" y="0"/>
                </a:cubicBezTo>
                <a:cubicBezTo>
                  <a:pt x="2189663" y="1170398"/>
                  <a:pt x="4182174" y="-216272"/>
                  <a:pt x="2557015" y="1227066"/>
                </a:cubicBezTo>
                <a:cubicBezTo>
                  <a:pt x="2272446" y="1375588"/>
                  <a:pt x="589389" y="1708123"/>
                  <a:pt x="273824" y="1585425"/>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9" name="TextBox 8">
            <a:extLst>
              <a:ext uri="{FF2B5EF4-FFF2-40B4-BE49-F238E27FC236}">
                <a16:creationId xmlns:a16="http://schemas.microsoft.com/office/drawing/2014/main" id="{74F01880-AC1F-7EBF-65C1-E4FCB0FF96CD}"/>
              </a:ext>
            </a:extLst>
          </p:cNvPr>
          <p:cNvSpPr txBox="1"/>
          <p:nvPr/>
        </p:nvSpPr>
        <p:spPr>
          <a:xfrm>
            <a:off x="6969318" y="1272161"/>
            <a:ext cx="4250837" cy="307777"/>
          </a:xfrm>
          <a:prstGeom prst="rect">
            <a:avLst/>
          </a:prstGeom>
          <a:noFill/>
        </p:spPr>
        <p:txBody>
          <a:bodyPr wrap="square">
            <a:spAutoFit/>
          </a:bodyPr>
          <a:lstStyle/>
          <a:p>
            <a:pPr algn="ctr"/>
            <a:r>
              <a:rPr lang="en-US" sz="1400" b="1" dirty="0"/>
              <a:t>Lag Features</a:t>
            </a:r>
            <a:endParaRPr lang="en-US" sz="1400" dirty="0"/>
          </a:p>
        </p:txBody>
      </p:sp>
      <p:sp>
        <p:nvSpPr>
          <p:cNvPr id="6" name="TextBox 5">
            <a:extLst>
              <a:ext uri="{FF2B5EF4-FFF2-40B4-BE49-F238E27FC236}">
                <a16:creationId xmlns:a16="http://schemas.microsoft.com/office/drawing/2014/main" id="{337C131E-97C1-60A5-F1BC-5161188C1EA2}"/>
              </a:ext>
            </a:extLst>
          </p:cNvPr>
          <p:cNvSpPr txBox="1"/>
          <p:nvPr/>
        </p:nvSpPr>
        <p:spPr>
          <a:xfrm>
            <a:off x="6509546" y="1727656"/>
            <a:ext cx="5170379" cy="1569660"/>
          </a:xfrm>
          <a:prstGeom prst="rect">
            <a:avLst/>
          </a:prstGeom>
          <a:noFill/>
        </p:spPr>
        <p:txBody>
          <a:bodyPr wrap="square">
            <a:spAutoFit/>
          </a:bodyPr>
          <a:lstStyle/>
          <a:p>
            <a:pPr algn="just"/>
            <a:r>
              <a:rPr lang="en-US" sz="1600" dirty="0"/>
              <a:t>Generates lagged variables that include historical values from previous time steps as predictors, allowing the model to learn temporal dependencies and autoregressive patterns where past observations influence future outcomes across the hierarchical structure.</a:t>
            </a:r>
          </a:p>
        </p:txBody>
      </p:sp>
      <p:sp>
        <p:nvSpPr>
          <p:cNvPr id="8" name="TextBox 7">
            <a:extLst>
              <a:ext uri="{FF2B5EF4-FFF2-40B4-BE49-F238E27FC236}">
                <a16:creationId xmlns:a16="http://schemas.microsoft.com/office/drawing/2014/main" id="{C283E4E9-384B-BA59-27B9-D9BCC2070D60}"/>
              </a:ext>
            </a:extLst>
          </p:cNvPr>
          <p:cNvSpPr txBox="1"/>
          <p:nvPr/>
        </p:nvSpPr>
        <p:spPr>
          <a:xfrm>
            <a:off x="446269" y="5831236"/>
            <a:ext cx="11600587" cy="523220"/>
          </a:xfrm>
          <a:prstGeom prst="rect">
            <a:avLst/>
          </a:prstGeom>
          <a:noFill/>
        </p:spPr>
        <p:txBody>
          <a:bodyPr wrap="square">
            <a:spAutoFit/>
          </a:bodyPr>
          <a:lstStyle/>
          <a:p>
            <a:r>
              <a:rPr lang="en-US" sz="1400" dirty="0"/>
              <a:t>G. Neglia, </a:t>
            </a:r>
            <a:r>
              <a:rPr lang="en-US" sz="1400" i="1" dirty="0"/>
              <a:t>et al.,</a:t>
            </a:r>
            <a:r>
              <a:rPr lang="en-US" sz="1400" dirty="0"/>
              <a:t> "Exploring the sources of variation of electrical conductivity and total and differential somatic cell count in Italian Mediterranean buffaloes,” in </a:t>
            </a:r>
            <a:r>
              <a:rPr lang="en-US" sz="1400" i="1" dirty="0"/>
              <a:t>J. Dairy Sci.</a:t>
            </a:r>
            <a:r>
              <a:rPr lang="en-US" sz="1400" dirty="0"/>
              <a:t>, vol. 107, no. 1, pp. 508–515, Jan. 2024, </a:t>
            </a:r>
            <a:r>
              <a:rPr lang="en-US" sz="1400" dirty="0" err="1"/>
              <a:t>doi</a:t>
            </a:r>
            <a:r>
              <a:rPr lang="en-US" sz="1400" dirty="0"/>
              <a:t>: 10.3168/jds.2023-23629.</a:t>
            </a:r>
            <a:endParaRPr lang="en-US" sz="1300" dirty="0"/>
          </a:p>
        </p:txBody>
      </p:sp>
      <p:pic>
        <p:nvPicPr>
          <p:cNvPr id="11" name="Picture 4" descr="https://www.geeksforgeeks.org/machine-learning/what-is-lag-in-time-series-forecasting/">
            <a:extLst>
              <a:ext uri="{FF2B5EF4-FFF2-40B4-BE49-F238E27FC236}">
                <a16:creationId xmlns:a16="http://schemas.microsoft.com/office/drawing/2014/main" id="{8F5DB4B6-2426-747C-BC62-A735272B65E9}"/>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7294913" y="3210809"/>
            <a:ext cx="3599644" cy="2165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536986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7D033-FE7B-99F9-B457-4B8E511198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0A7290A-CC72-DA4B-0DFB-57E85D976332}"/>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pic>
        <p:nvPicPr>
          <p:cNvPr id="12" name="Picture 11">
            <a:extLst>
              <a:ext uri="{FF2B5EF4-FFF2-40B4-BE49-F238E27FC236}">
                <a16:creationId xmlns:a16="http://schemas.microsoft.com/office/drawing/2014/main" id="{7B49657C-E918-A9CA-20B3-C8E0283EAA3A}"/>
              </a:ext>
            </a:extLst>
          </p:cNvPr>
          <p:cNvPicPr>
            <a:picLocks noChangeAspect="1"/>
          </p:cNvPicPr>
          <p:nvPr/>
        </p:nvPicPr>
        <p:blipFill>
          <a:blip r:embed="rId3"/>
          <a:srcRect l="2" t="3514" r="-758" b="-1145"/>
          <a:stretch>
            <a:fillRect/>
          </a:stretch>
        </p:blipFill>
        <p:spPr>
          <a:xfrm>
            <a:off x="0" y="1270167"/>
            <a:ext cx="12192000" cy="4497586"/>
          </a:xfrm>
          <a:prstGeom prst="rect">
            <a:avLst/>
          </a:prstGeom>
        </p:spPr>
      </p:pic>
      <p:sp>
        <p:nvSpPr>
          <p:cNvPr id="14" name="Round Same Side Corner Rectangle 3">
            <a:extLst>
              <a:ext uri="{FF2B5EF4-FFF2-40B4-BE49-F238E27FC236}">
                <a16:creationId xmlns:a16="http://schemas.microsoft.com/office/drawing/2014/main" id="{3D37551A-6970-DBAE-78A1-95F921EE21E7}"/>
              </a:ext>
            </a:extLst>
          </p:cNvPr>
          <p:cNvSpPr>
            <a:spLocks/>
          </p:cNvSpPr>
          <p:nvPr/>
        </p:nvSpPr>
        <p:spPr bwMode="auto">
          <a:xfrm>
            <a:off x="12962190" y="3200982"/>
            <a:ext cx="4995599" cy="1059742"/>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90876" h="2336663">
                <a:moveTo>
                  <a:pt x="172899" y="842292"/>
                </a:moveTo>
                <a:cubicBezTo>
                  <a:pt x="178954" y="393507"/>
                  <a:pt x="-14398" y="111627"/>
                  <a:pt x="549444" y="99515"/>
                </a:cubicBezTo>
                <a:cubicBezTo>
                  <a:pt x="2138740" y="99515"/>
                  <a:pt x="3790908" y="569041"/>
                  <a:pt x="5317332" y="99515"/>
                </a:cubicBezTo>
                <a:cubicBezTo>
                  <a:pt x="5636500" y="-231911"/>
                  <a:pt x="5866776" y="345509"/>
                  <a:pt x="5866776" y="648959"/>
                </a:cubicBezTo>
                <a:lnTo>
                  <a:pt x="5882494" y="1870076"/>
                </a:lnTo>
                <a:cubicBezTo>
                  <a:pt x="5882494" y="2173526"/>
                  <a:pt x="5994967" y="1756663"/>
                  <a:pt x="5395922" y="2336663"/>
                </a:cubicBezTo>
                <a:cubicBezTo>
                  <a:pt x="5317485" y="1590949"/>
                  <a:pt x="2018235" y="2336663"/>
                  <a:pt x="329391" y="2336663"/>
                </a:cubicBezTo>
                <a:cubicBezTo>
                  <a:pt x="25941" y="2336663"/>
                  <a:pt x="0" y="1842098"/>
                  <a:pt x="0" y="1538648"/>
                </a:cubicBezTo>
                <a:cubicBezTo>
                  <a:pt x="0" y="1242085"/>
                  <a:pt x="172899" y="1138855"/>
                  <a:pt x="172899" y="842292"/>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extBox 14">
            <a:extLst>
              <a:ext uri="{FF2B5EF4-FFF2-40B4-BE49-F238E27FC236}">
                <a16:creationId xmlns:a16="http://schemas.microsoft.com/office/drawing/2014/main" id="{E3D9FB20-AB7C-4628-8861-A46F374ABBB9}"/>
              </a:ext>
            </a:extLst>
          </p:cNvPr>
          <p:cNvSpPr txBox="1"/>
          <p:nvPr/>
        </p:nvSpPr>
        <p:spPr>
          <a:xfrm>
            <a:off x="12992453" y="3407688"/>
            <a:ext cx="4988491" cy="646331"/>
          </a:xfrm>
          <a:prstGeom prst="rect">
            <a:avLst/>
          </a:prstGeom>
          <a:noFill/>
        </p:spPr>
        <p:txBody>
          <a:bodyPr wrap="square">
            <a:spAutoFit/>
          </a:bodyPr>
          <a:lstStyle/>
          <a:p>
            <a:pPr algn="ctr"/>
            <a:r>
              <a:rPr lang="en-US" sz="1800" dirty="0"/>
              <a:t>Use </a:t>
            </a:r>
            <a:r>
              <a:rPr lang="en-US" sz="1800" b="1" dirty="0"/>
              <a:t>same</a:t>
            </a:r>
            <a:r>
              <a:rPr lang="en-US" sz="1800" dirty="0"/>
              <a:t> or </a:t>
            </a:r>
            <a:r>
              <a:rPr lang="en-US" sz="1800" b="1" dirty="0"/>
              <a:t>new</a:t>
            </a:r>
            <a:r>
              <a:rPr lang="en-US" sz="1800" dirty="0"/>
              <a:t> data sources:</a:t>
            </a:r>
          </a:p>
          <a:p>
            <a:pPr algn="ctr"/>
            <a:r>
              <a:rPr lang="en-US" sz="1800" dirty="0"/>
              <a:t>test-day records + </a:t>
            </a:r>
            <a:r>
              <a:rPr lang="en-US" sz="1800" b="1" dirty="0"/>
              <a:t>NASA POWER </a:t>
            </a:r>
            <a:r>
              <a:rPr lang="en-US" sz="1800" dirty="0"/>
              <a:t>climate</a:t>
            </a:r>
          </a:p>
        </p:txBody>
      </p:sp>
      <p:sp>
        <p:nvSpPr>
          <p:cNvPr id="17" name="Freeform 16">
            <a:extLst>
              <a:ext uri="{FF2B5EF4-FFF2-40B4-BE49-F238E27FC236}">
                <a16:creationId xmlns:a16="http://schemas.microsoft.com/office/drawing/2014/main" id="{C7307BAF-57D0-7594-C677-829C634A456C}"/>
              </a:ext>
            </a:extLst>
          </p:cNvPr>
          <p:cNvSpPr>
            <a:spLocks noChangeAspect="1"/>
          </p:cNvSpPr>
          <p:nvPr/>
        </p:nvSpPr>
        <p:spPr bwMode="auto">
          <a:xfrm>
            <a:off x="-56642662" y="-4568921"/>
            <a:ext cx="147508194" cy="26791920"/>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Tree>
    <p:extLst>
      <p:ext uri="{BB962C8B-B14F-4D97-AF65-F5344CB8AC3E}">
        <p14:creationId xmlns:p14="http://schemas.microsoft.com/office/powerpoint/2010/main" val="3369317271"/>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AF52F-CD5F-D79A-957A-C6C8A408297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9AB31FE-59EE-C111-8809-619BCACD4C26}"/>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pic>
        <p:nvPicPr>
          <p:cNvPr id="12" name="Picture 11">
            <a:extLst>
              <a:ext uri="{FF2B5EF4-FFF2-40B4-BE49-F238E27FC236}">
                <a16:creationId xmlns:a16="http://schemas.microsoft.com/office/drawing/2014/main" id="{5C5E7994-C70E-567C-E531-6EDEDCE34033}"/>
              </a:ext>
            </a:extLst>
          </p:cNvPr>
          <p:cNvPicPr>
            <a:picLocks noChangeAspect="1"/>
          </p:cNvPicPr>
          <p:nvPr/>
        </p:nvPicPr>
        <p:blipFill>
          <a:blip r:embed="rId3"/>
          <a:srcRect l="2" t="12894" r="-758" b="-1145"/>
          <a:stretch>
            <a:fillRect/>
          </a:stretch>
        </p:blipFill>
        <p:spPr>
          <a:xfrm>
            <a:off x="0" y="1990357"/>
            <a:ext cx="12192000" cy="4065494"/>
          </a:xfrm>
          <a:prstGeom prst="rect">
            <a:avLst/>
          </a:prstGeom>
        </p:spPr>
      </p:pic>
      <p:sp>
        <p:nvSpPr>
          <p:cNvPr id="3" name="Freeform 2">
            <a:extLst>
              <a:ext uri="{FF2B5EF4-FFF2-40B4-BE49-F238E27FC236}">
                <a16:creationId xmlns:a16="http://schemas.microsoft.com/office/drawing/2014/main" id="{D57DCAE9-2BD5-9FD2-7FF2-79B46072548B}"/>
              </a:ext>
            </a:extLst>
          </p:cNvPr>
          <p:cNvSpPr/>
          <p:nvPr/>
        </p:nvSpPr>
        <p:spPr bwMode="auto">
          <a:xfrm>
            <a:off x="-9034814" y="1992817"/>
            <a:ext cx="24483639" cy="4122404"/>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9" name="TextBox 8">
            <a:extLst>
              <a:ext uri="{FF2B5EF4-FFF2-40B4-BE49-F238E27FC236}">
                <a16:creationId xmlns:a16="http://schemas.microsoft.com/office/drawing/2014/main" id="{73E9DA7B-3033-C47D-74A6-AF254AF470C2}"/>
              </a:ext>
            </a:extLst>
          </p:cNvPr>
          <p:cNvSpPr txBox="1"/>
          <p:nvPr/>
        </p:nvSpPr>
        <p:spPr>
          <a:xfrm>
            <a:off x="353860" y="1156863"/>
            <a:ext cx="14072992" cy="646331"/>
          </a:xfrm>
          <a:prstGeom prst="rect">
            <a:avLst/>
          </a:prstGeom>
          <a:noFill/>
        </p:spPr>
        <p:txBody>
          <a:bodyPr wrap="square">
            <a:spAutoFit/>
          </a:bodyPr>
          <a:lstStyle/>
          <a:p>
            <a:pPr>
              <a:buNone/>
            </a:pPr>
            <a:r>
              <a:rPr lang="en-US" sz="1800" b="1" dirty="0"/>
              <a:t>Phase 1</a:t>
            </a:r>
            <a:endParaRPr lang="en-US" sz="1800" dirty="0"/>
          </a:p>
          <a:p>
            <a:r>
              <a:rPr lang="en-US" sz="1800" dirty="0"/>
              <a:t>Replicate </a:t>
            </a:r>
            <a:r>
              <a:rPr lang="en-US" sz="1800" b="1" dirty="0"/>
              <a:t>Neglia</a:t>
            </a:r>
            <a:r>
              <a:rPr lang="en-US" sz="1800" dirty="0"/>
              <a:t> &amp; </a:t>
            </a:r>
            <a:r>
              <a:rPr lang="en-US" sz="1800" b="1" dirty="0" err="1"/>
              <a:t>Santinello</a:t>
            </a:r>
            <a:r>
              <a:rPr lang="en-US" sz="1800" dirty="0"/>
              <a:t> workflow for milk yield (instead of mastitis)</a:t>
            </a:r>
          </a:p>
        </p:txBody>
      </p:sp>
      <p:sp>
        <p:nvSpPr>
          <p:cNvPr id="2" name="Round Same Side Corner Rectangle 3">
            <a:extLst>
              <a:ext uri="{FF2B5EF4-FFF2-40B4-BE49-F238E27FC236}">
                <a16:creationId xmlns:a16="http://schemas.microsoft.com/office/drawing/2014/main" id="{29015435-71EA-346C-E4B9-6A3CA4C98738}"/>
              </a:ext>
            </a:extLst>
          </p:cNvPr>
          <p:cNvSpPr>
            <a:spLocks/>
          </p:cNvSpPr>
          <p:nvPr/>
        </p:nvSpPr>
        <p:spPr bwMode="auto">
          <a:xfrm>
            <a:off x="3752066" y="3200982"/>
            <a:ext cx="4995599" cy="1059742"/>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90876" h="2336663">
                <a:moveTo>
                  <a:pt x="172899" y="842292"/>
                </a:moveTo>
                <a:cubicBezTo>
                  <a:pt x="178954" y="393507"/>
                  <a:pt x="-14398" y="111627"/>
                  <a:pt x="549444" y="99515"/>
                </a:cubicBezTo>
                <a:cubicBezTo>
                  <a:pt x="2138740" y="99515"/>
                  <a:pt x="3790908" y="569041"/>
                  <a:pt x="5317332" y="99515"/>
                </a:cubicBezTo>
                <a:cubicBezTo>
                  <a:pt x="5636500" y="-231911"/>
                  <a:pt x="5866776" y="345509"/>
                  <a:pt x="5866776" y="648959"/>
                </a:cubicBezTo>
                <a:lnTo>
                  <a:pt x="5882494" y="1870076"/>
                </a:lnTo>
                <a:cubicBezTo>
                  <a:pt x="5882494" y="2173526"/>
                  <a:pt x="5994967" y="1756663"/>
                  <a:pt x="5395922" y="2336663"/>
                </a:cubicBezTo>
                <a:cubicBezTo>
                  <a:pt x="5317485" y="1590949"/>
                  <a:pt x="2018235" y="2336663"/>
                  <a:pt x="329391" y="2336663"/>
                </a:cubicBezTo>
                <a:cubicBezTo>
                  <a:pt x="25941" y="2336663"/>
                  <a:pt x="0" y="1842098"/>
                  <a:pt x="0" y="1538648"/>
                </a:cubicBezTo>
                <a:cubicBezTo>
                  <a:pt x="0" y="1242085"/>
                  <a:pt x="172899" y="1138855"/>
                  <a:pt x="172899" y="842292"/>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6" name="TextBox 5">
            <a:extLst>
              <a:ext uri="{FF2B5EF4-FFF2-40B4-BE49-F238E27FC236}">
                <a16:creationId xmlns:a16="http://schemas.microsoft.com/office/drawing/2014/main" id="{00C5EBCB-F74A-EBBB-F771-1522C06FD877}"/>
              </a:ext>
            </a:extLst>
          </p:cNvPr>
          <p:cNvSpPr txBox="1"/>
          <p:nvPr/>
        </p:nvSpPr>
        <p:spPr>
          <a:xfrm>
            <a:off x="3782329" y="3407688"/>
            <a:ext cx="4988491" cy="646331"/>
          </a:xfrm>
          <a:prstGeom prst="rect">
            <a:avLst/>
          </a:prstGeom>
          <a:noFill/>
        </p:spPr>
        <p:txBody>
          <a:bodyPr wrap="square">
            <a:spAutoFit/>
          </a:bodyPr>
          <a:lstStyle/>
          <a:p>
            <a:pPr algn="ctr"/>
            <a:r>
              <a:rPr lang="en-US" sz="1800" dirty="0"/>
              <a:t>Use </a:t>
            </a:r>
            <a:r>
              <a:rPr lang="en-US" sz="1800" b="1" dirty="0"/>
              <a:t>same</a:t>
            </a:r>
            <a:r>
              <a:rPr lang="en-US" sz="1800" dirty="0"/>
              <a:t> or </a:t>
            </a:r>
            <a:r>
              <a:rPr lang="en-US" sz="1800" b="1" dirty="0"/>
              <a:t>new</a:t>
            </a:r>
            <a:r>
              <a:rPr lang="en-US" sz="1800" dirty="0"/>
              <a:t> data sources:</a:t>
            </a:r>
          </a:p>
          <a:p>
            <a:pPr algn="ctr"/>
            <a:r>
              <a:rPr lang="en-US" sz="1800" dirty="0"/>
              <a:t>test-day records + </a:t>
            </a:r>
            <a:r>
              <a:rPr lang="en-US" sz="1800" b="1" dirty="0"/>
              <a:t>NASA POWER </a:t>
            </a:r>
            <a:r>
              <a:rPr lang="en-US" sz="1800" dirty="0"/>
              <a:t>climate</a:t>
            </a:r>
          </a:p>
        </p:txBody>
      </p:sp>
    </p:spTree>
    <p:extLst>
      <p:ext uri="{BB962C8B-B14F-4D97-AF65-F5344CB8AC3E}">
        <p14:creationId xmlns:p14="http://schemas.microsoft.com/office/powerpoint/2010/main" val="15875437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9E010-7FA0-81C1-22FC-CF0165E8D68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37C6D6B-1D7A-9EA9-515B-DAB38B2682C2}"/>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pic>
        <p:nvPicPr>
          <p:cNvPr id="12" name="Picture 11">
            <a:extLst>
              <a:ext uri="{FF2B5EF4-FFF2-40B4-BE49-F238E27FC236}">
                <a16:creationId xmlns:a16="http://schemas.microsoft.com/office/drawing/2014/main" id="{BBE557FE-B122-E25B-238B-C8BB94F00AB6}"/>
              </a:ext>
            </a:extLst>
          </p:cNvPr>
          <p:cNvPicPr>
            <a:picLocks noChangeAspect="1"/>
          </p:cNvPicPr>
          <p:nvPr/>
        </p:nvPicPr>
        <p:blipFill>
          <a:blip r:embed="rId3"/>
          <a:srcRect l="2" t="12894" r="-758" b="-1145"/>
          <a:stretch>
            <a:fillRect/>
          </a:stretch>
        </p:blipFill>
        <p:spPr>
          <a:xfrm>
            <a:off x="0" y="1990357"/>
            <a:ext cx="12192000" cy="4065494"/>
          </a:xfrm>
          <a:prstGeom prst="rect">
            <a:avLst/>
          </a:prstGeom>
        </p:spPr>
      </p:pic>
      <p:sp>
        <p:nvSpPr>
          <p:cNvPr id="3" name="Freeform 2">
            <a:extLst>
              <a:ext uri="{FF2B5EF4-FFF2-40B4-BE49-F238E27FC236}">
                <a16:creationId xmlns:a16="http://schemas.microsoft.com/office/drawing/2014/main" id="{45EC90B5-2DD1-0AA8-EFCC-714754728522}"/>
              </a:ext>
            </a:extLst>
          </p:cNvPr>
          <p:cNvSpPr/>
          <p:nvPr/>
        </p:nvSpPr>
        <p:spPr bwMode="auto">
          <a:xfrm>
            <a:off x="-6391608" y="1990357"/>
            <a:ext cx="24483639" cy="4122404"/>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9" name="TextBox 8">
            <a:extLst>
              <a:ext uri="{FF2B5EF4-FFF2-40B4-BE49-F238E27FC236}">
                <a16:creationId xmlns:a16="http://schemas.microsoft.com/office/drawing/2014/main" id="{3D095B96-1AD1-FDB0-85D8-BCA72AEC2498}"/>
              </a:ext>
            </a:extLst>
          </p:cNvPr>
          <p:cNvSpPr txBox="1"/>
          <p:nvPr/>
        </p:nvSpPr>
        <p:spPr>
          <a:xfrm>
            <a:off x="353860" y="1156863"/>
            <a:ext cx="14072992" cy="646331"/>
          </a:xfrm>
          <a:prstGeom prst="rect">
            <a:avLst/>
          </a:prstGeom>
          <a:noFill/>
        </p:spPr>
        <p:txBody>
          <a:bodyPr wrap="square">
            <a:spAutoFit/>
          </a:bodyPr>
          <a:lstStyle/>
          <a:p>
            <a:pPr>
              <a:buNone/>
            </a:pPr>
            <a:r>
              <a:rPr lang="en-US" sz="1800" b="1" dirty="0"/>
              <a:t>Phase 1</a:t>
            </a:r>
            <a:endParaRPr lang="en-US" sz="1800" dirty="0"/>
          </a:p>
          <a:p>
            <a:r>
              <a:rPr lang="en-US" sz="1800" dirty="0"/>
              <a:t>Replicate </a:t>
            </a:r>
            <a:r>
              <a:rPr lang="en-US" sz="1800" b="1" dirty="0"/>
              <a:t>Neglia</a:t>
            </a:r>
            <a:r>
              <a:rPr lang="en-US" sz="1800" dirty="0"/>
              <a:t> &amp; </a:t>
            </a:r>
            <a:r>
              <a:rPr lang="en-US" sz="1800" b="1" dirty="0" err="1"/>
              <a:t>Santinello</a:t>
            </a:r>
            <a:r>
              <a:rPr lang="en-US" sz="1800" dirty="0"/>
              <a:t> workflow for milk yield (instead of mastitis)</a:t>
            </a:r>
          </a:p>
        </p:txBody>
      </p:sp>
      <p:sp>
        <p:nvSpPr>
          <p:cNvPr id="2" name="Round Same Side Corner Rectangle 3">
            <a:extLst>
              <a:ext uri="{FF2B5EF4-FFF2-40B4-BE49-F238E27FC236}">
                <a16:creationId xmlns:a16="http://schemas.microsoft.com/office/drawing/2014/main" id="{89E120FD-90CA-B70C-6043-CA13995D2CEA}"/>
              </a:ext>
            </a:extLst>
          </p:cNvPr>
          <p:cNvSpPr>
            <a:spLocks/>
          </p:cNvSpPr>
          <p:nvPr/>
        </p:nvSpPr>
        <p:spPr bwMode="auto">
          <a:xfrm>
            <a:off x="5740303" y="3235928"/>
            <a:ext cx="5066798" cy="1046830"/>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64233 h 2358604"/>
              <a:gd name="csX1" fmla="*/ 523462 w 5890876"/>
              <a:gd name="csY1" fmla="*/ 0 h 2358604"/>
              <a:gd name="csX2" fmla="*/ 5317332 w 5890876"/>
              <a:gd name="csY2" fmla="*/ 121456 h 2358604"/>
              <a:gd name="csX3" fmla="*/ 5866776 w 5890876"/>
              <a:gd name="csY3" fmla="*/ 670900 h 2358604"/>
              <a:gd name="csX4" fmla="*/ 5882494 w 5890876"/>
              <a:gd name="csY4" fmla="*/ 1892017 h 2358604"/>
              <a:gd name="csX5" fmla="*/ 5395922 w 5890876"/>
              <a:gd name="csY5" fmla="*/ 2358604 h 2358604"/>
              <a:gd name="csX6" fmla="*/ 329391 w 5890876"/>
              <a:gd name="csY6" fmla="*/ 2358604 h 2358604"/>
              <a:gd name="csX7" fmla="*/ 0 w 5890876"/>
              <a:gd name="csY7" fmla="*/ 1560589 h 2358604"/>
              <a:gd name="csX8" fmla="*/ 172899 w 5890876"/>
              <a:gd name="csY8" fmla="*/ 864233 h 2358604"/>
              <a:gd name="csX0" fmla="*/ 172899 w 5890876"/>
              <a:gd name="csY0" fmla="*/ 1453650 h 2948021"/>
              <a:gd name="csX1" fmla="*/ 523462 w 5890876"/>
              <a:gd name="csY1" fmla="*/ 589417 h 2948021"/>
              <a:gd name="csX2" fmla="*/ 5317332 w 5890876"/>
              <a:gd name="csY2" fmla="*/ 710873 h 2948021"/>
              <a:gd name="csX3" fmla="*/ 5866776 w 5890876"/>
              <a:gd name="csY3" fmla="*/ 1260317 h 2948021"/>
              <a:gd name="csX4" fmla="*/ 5882494 w 5890876"/>
              <a:gd name="csY4" fmla="*/ 2481434 h 2948021"/>
              <a:gd name="csX5" fmla="*/ 5395922 w 5890876"/>
              <a:gd name="csY5" fmla="*/ 2948021 h 2948021"/>
              <a:gd name="csX6" fmla="*/ 329391 w 5890876"/>
              <a:gd name="csY6" fmla="*/ 2948021 h 2948021"/>
              <a:gd name="csX7" fmla="*/ 0 w 5890876"/>
              <a:gd name="csY7" fmla="*/ 2150006 h 2948021"/>
              <a:gd name="csX8" fmla="*/ 172899 w 5890876"/>
              <a:gd name="csY8" fmla="*/ 1453650 h 2948021"/>
              <a:gd name="csX0" fmla="*/ 172899 w 5890876"/>
              <a:gd name="csY0" fmla="*/ 1203736 h 2698107"/>
              <a:gd name="csX1" fmla="*/ 523462 w 5890876"/>
              <a:gd name="csY1" fmla="*/ 339503 h 2698107"/>
              <a:gd name="csX2" fmla="*/ 5317332 w 5890876"/>
              <a:gd name="csY2" fmla="*/ 460959 h 2698107"/>
              <a:gd name="csX3" fmla="*/ 5866776 w 5890876"/>
              <a:gd name="csY3" fmla="*/ 1010403 h 2698107"/>
              <a:gd name="csX4" fmla="*/ 5882494 w 5890876"/>
              <a:gd name="csY4" fmla="*/ 2231520 h 2698107"/>
              <a:gd name="csX5" fmla="*/ 5395922 w 5890876"/>
              <a:gd name="csY5" fmla="*/ 2698107 h 2698107"/>
              <a:gd name="csX6" fmla="*/ 329391 w 5890876"/>
              <a:gd name="csY6" fmla="*/ 2698107 h 2698107"/>
              <a:gd name="csX7" fmla="*/ 0 w 5890876"/>
              <a:gd name="csY7" fmla="*/ 1900092 h 2698107"/>
              <a:gd name="csX8" fmla="*/ 172899 w 5890876"/>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876464 h 2419416"/>
              <a:gd name="csX1" fmla="*/ 538364 w 5897396"/>
              <a:gd name="csY1" fmla="*/ 12231 h 2419416"/>
              <a:gd name="csX2" fmla="*/ 4695663 w 5897396"/>
              <a:gd name="csY2" fmla="*/ 182271 h 2419416"/>
              <a:gd name="csX3" fmla="*/ 5881678 w 5897396"/>
              <a:gd name="csY3" fmla="*/ 683131 h 2419416"/>
              <a:gd name="csX4" fmla="*/ 5897396 w 5897396"/>
              <a:gd name="csY4" fmla="*/ 1904248 h 2419416"/>
              <a:gd name="csX5" fmla="*/ 4891175 w 5897396"/>
              <a:gd name="csY5" fmla="*/ 2419416 h 2419416"/>
              <a:gd name="csX6" fmla="*/ 344293 w 5897396"/>
              <a:gd name="csY6" fmla="*/ 2370835 h 2419416"/>
              <a:gd name="csX7" fmla="*/ 14902 w 5897396"/>
              <a:gd name="csY7" fmla="*/ 1572820 h 2419416"/>
              <a:gd name="csX8" fmla="*/ 187801 w 5897396"/>
              <a:gd name="csY8" fmla="*/ 876464 h 2419416"/>
              <a:gd name="csX0" fmla="*/ 104283 w 6008746"/>
              <a:gd name="csY0" fmla="*/ 626922 h 2412790"/>
              <a:gd name="csX1" fmla="*/ 649714 w 6008746"/>
              <a:gd name="csY1" fmla="*/ 5605 h 2412790"/>
              <a:gd name="csX2" fmla="*/ 4807013 w 6008746"/>
              <a:gd name="csY2" fmla="*/ 175645 h 2412790"/>
              <a:gd name="csX3" fmla="*/ 5993028 w 6008746"/>
              <a:gd name="csY3" fmla="*/ 676505 h 2412790"/>
              <a:gd name="csX4" fmla="*/ 6008746 w 6008746"/>
              <a:gd name="csY4" fmla="*/ 1897622 h 2412790"/>
              <a:gd name="csX5" fmla="*/ 5002525 w 6008746"/>
              <a:gd name="csY5" fmla="*/ 2412790 h 2412790"/>
              <a:gd name="csX6" fmla="*/ 455643 w 6008746"/>
              <a:gd name="csY6" fmla="*/ 2364209 h 2412790"/>
              <a:gd name="csX7" fmla="*/ 126252 w 6008746"/>
              <a:gd name="csY7" fmla="*/ 1566194 h 2412790"/>
              <a:gd name="csX8" fmla="*/ 104283 w 6008746"/>
              <a:gd name="csY8" fmla="*/ 626922 h 2412790"/>
              <a:gd name="csX0" fmla="*/ 104283 w 6008746"/>
              <a:gd name="csY0" fmla="*/ 522324 h 2308192"/>
              <a:gd name="csX1" fmla="*/ 1000478 w 6008746"/>
              <a:gd name="csY1" fmla="*/ 192506 h 2308192"/>
              <a:gd name="csX2" fmla="*/ 4807013 w 6008746"/>
              <a:gd name="csY2" fmla="*/ 71047 h 2308192"/>
              <a:gd name="csX3" fmla="*/ 5993028 w 6008746"/>
              <a:gd name="csY3" fmla="*/ 571907 h 2308192"/>
              <a:gd name="csX4" fmla="*/ 6008746 w 6008746"/>
              <a:gd name="csY4" fmla="*/ 1793024 h 2308192"/>
              <a:gd name="csX5" fmla="*/ 5002525 w 6008746"/>
              <a:gd name="csY5" fmla="*/ 2308192 h 2308192"/>
              <a:gd name="csX6" fmla="*/ 455643 w 6008746"/>
              <a:gd name="csY6" fmla="*/ 2259611 h 2308192"/>
              <a:gd name="csX7" fmla="*/ 126252 w 6008746"/>
              <a:gd name="csY7" fmla="*/ 1461596 h 2308192"/>
              <a:gd name="csX8" fmla="*/ 104283 w 6008746"/>
              <a:gd name="csY8" fmla="*/ 522324 h 2308192"/>
              <a:gd name="csX0" fmla="*/ 146883 w 5921434"/>
              <a:gd name="csY0" fmla="*/ 813824 h 2308192"/>
              <a:gd name="csX1" fmla="*/ 913166 w 5921434"/>
              <a:gd name="csY1" fmla="*/ 19250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887184 w 5921434"/>
              <a:gd name="csY1" fmla="*/ 168214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68950 w 5943501"/>
              <a:gd name="csY0" fmla="*/ 833567 h 2327935"/>
              <a:gd name="csX1" fmla="*/ 974206 w 5943501"/>
              <a:gd name="csY1" fmla="*/ 139374 h 2327935"/>
              <a:gd name="csX2" fmla="*/ 4741768 w 5943501"/>
              <a:gd name="csY2" fmla="*/ 90790 h 2327935"/>
              <a:gd name="csX3" fmla="*/ 5927783 w 5943501"/>
              <a:gd name="csY3" fmla="*/ 591650 h 2327935"/>
              <a:gd name="csX4" fmla="*/ 5943501 w 5943501"/>
              <a:gd name="csY4" fmla="*/ 1812767 h 2327935"/>
              <a:gd name="csX5" fmla="*/ 4937280 w 5943501"/>
              <a:gd name="csY5" fmla="*/ 2327935 h 2327935"/>
              <a:gd name="csX6" fmla="*/ 390398 w 5943501"/>
              <a:gd name="csY6" fmla="*/ 2279354 h 2327935"/>
              <a:gd name="csX7" fmla="*/ 18555 w 5943501"/>
              <a:gd name="csY7" fmla="*/ 1814725 h 2327935"/>
              <a:gd name="csX8" fmla="*/ 168950 w 5943501"/>
              <a:gd name="csY8" fmla="*/ 833567 h 2327935"/>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27946 w 5927969"/>
              <a:gd name="csY0" fmla="*/ 718571 h 2308192"/>
              <a:gd name="csX1" fmla="*/ 958674 w 5927969"/>
              <a:gd name="csY1" fmla="*/ 119631 h 2308192"/>
              <a:gd name="csX2" fmla="*/ 4726236 w 5927969"/>
              <a:gd name="csY2" fmla="*/ 71047 h 2308192"/>
              <a:gd name="csX3" fmla="*/ 5912251 w 5927969"/>
              <a:gd name="csY3" fmla="*/ 571907 h 2308192"/>
              <a:gd name="csX4" fmla="*/ 5927969 w 5927969"/>
              <a:gd name="csY4" fmla="*/ 1793024 h 2308192"/>
              <a:gd name="csX5" fmla="*/ 4921748 w 5927969"/>
              <a:gd name="csY5" fmla="*/ 2308192 h 2308192"/>
              <a:gd name="csX6" fmla="*/ 374866 w 5927969"/>
              <a:gd name="csY6" fmla="*/ 2259611 h 2308192"/>
              <a:gd name="csX7" fmla="*/ 3023 w 5927969"/>
              <a:gd name="csY7" fmla="*/ 1794982 h 2308192"/>
              <a:gd name="csX8" fmla="*/ 127946 w 5927969"/>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74836" h="2308192">
                <a:moveTo>
                  <a:pt x="174813" y="718571"/>
                </a:moveTo>
                <a:cubicBezTo>
                  <a:pt x="240300" y="269787"/>
                  <a:pt x="239159" y="227552"/>
                  <a:pt x="1005541" y="119631"/>
                </a:cubicBezTo>
                <a:cubicBezTo>
                  <a:pt x="1771923" y="11710"/>
                  <a:pt x="3246679" y="540573"/>
                  <a:pt x="4773103" y="71047"/>
                </a:cubicBezTo>
                <a:cubicBezTo>
                  <a:pt x="5092271" y="-260379"/>
                  <a:pt x="5283574" y="681413"/>
                  <a:pt x="5959118" y="571907"/>
                </a:cubicBezTo>
                <a:cubicBezTo>
                  <a:pt x="5770821" y="1108189"/>
                  <a:pt x="5969597" y="1385985"/>
                  <a:pt x="5974836" y="1793024"/>
                </a:cubicBezTo>
                <a:cubicBezTo>
                  <a:pt x="5974836" y="2096474"/>
                  <a:pt x="5255871" y="1290945"/>
                  <a:pt x="4968615" y="2308192"/>
                </a:cubicBezTo>
                <a:cubicBezTo>
                  <a:pt x="4227624" y="1465311"/>
                  <a:pt x="1830396" y="1830971"/>
                  <a:pt x="421733" y="2259611"/>
                </a:cubicBezTo>
                <a:cubicBezTo>
                  <a:pt x="636194" y="1910349"/>
                  <a:pt x="-2076" y="1734058"/>
                  <a:pt x="49890" y="1794982"/>
                </a:cubicBezTo>
                <a:cubicBezTo>
                  <a:pt x="49890" y="1498419"/>
                  <a:pt x="-122962" y="920646"/>
                  <a:pt x="174813" y="718571"/>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6" name="TextBox 5">
            <a:extLst>
              <a:ext uri="{FF2B5EF4-FFF2-40B4-BE49-F238E27FC236}">
                <a16:creationId xmlns:a16="http://schemas.microsoft.com/office/drawing/2014/main" id="{2799A251-8936-0C31-F215-4DB0BA948AF0}"/>
              </a:ext>
            </a:extLst>
          </p:cNvPr>
          <p:cNvSpPr txBox="1"/>
          <p:nvPr/>
        </p:nvSpPr>
        <p:spPr>
          <a:xfrm>
            <a:off x="5931856" y="3574677"/>
            <a:ext cx="4988491" cy="369332"/>
          </a:xfrm>
          <a:prstGeom prst="rect">
            <a:avLst/>
          </a:prstGeom>
          <a:noFill/>
        </p:spPr>
        <p:txBody>
          <a:bodyPr wrap="square">
            <a:spAutoFit/>
          </a:bodyPr>
          <a:lstStyle/>
          <a:p>
            <a:r>
              <a:rPr lang="en-US" dirty="0"/>
              <a:t>Apply same models: </a:t>
            </a:r>
            <a:r>
              <a:rPr lang="en-US" b="1" dirty="0"/>
              <a:t>GLM</a:t>
            </a:r>
            <a:r>
              <a:rPr lang="en-US" dirty="0"/>
              <a:t>, </a:t>
            </a:r>
            <a:r>
              <a:rPr lang="en-US" b="1" dirty="0"/>
              <a:t>SVM</a:t>
            </a:r>
            <a:r>
              <a:rPr lang="en-US" dirty="0"/>
              <a:t>, </a:t>
            </a:r>
            <a:r>
              <a:rPr lang="en-US" b="1" dirty="0"/>
              <a:t>RF</a:t>
            </a:r>
            <a:r>
              <a:rPr lang="en-US" dirty="0"/>
              <a:t>, </a:t>
            </a:r>
            <a:r>
              <a:rPr lang="en-US" b="1" dirty="0"/>
              <a:t>NN</a:t>
            </a:r>
          </a:p>
        </p:txBody>
      </p:sp>
    </p:spTree>
    <p:extLst>
      <p:ext uri="{BB962C8B-B14F-4D97-AF65-F5344CB8AC3E}">
        <p14:creationId xmlns:p14="http://schemas.microsoft.com/office/powerpoint/2010/main" val="295311759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DF084-7F92-C456-870C-3229E3198C4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DFC5702-5193-DFAA-8F56-71F9BDA11A0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pic>
        <p:nvPicPr>
          <p:cNvPr id="12" name="Picture 11">
            <a:extLst>
              <a:ext uri="{FF2B5EF4-FFF2-40B4-BE49-F238E27FC236}">
                <a16:creationId xmlns:a16="http://schemas.microsoft.com/office/drawing/2014/main" id="{B79F9040-003B-F850-5B20-0DBCFA08AE92}"/>
              </a:ext>
            </a:extLst>
          </p:cNvPr>
          <p:cNvPicPr>
            <a:picLocks noChangeAspect="1"/>
          </p:cNvPicPr>
          <p:nvPr/>
        </p:nvPicPr>
        <p:blipFill>
          <a:blip r:embed="rId3"/>
          <a:srcRect l="2" t="12894" r="-758" b="-1145"/>
          <a:stretch>
            <a:fillRect/>
          </a:stretch>
        </p:blipFill>
        <p:spPr>
          <a:xfrm>
            <a:off x="0" y="1990357"/>
            <a:ext cx="12192000" cy="4065494"/>
          </a:xfrm>
          <a:prstGeom prst="rect">
            <a:avLst/>
          </a:prstGeom>
        </p:spPr>
      </p:pic>
      <p:sp>
        <p:nvSpPr>
          <p:cNvPr id="3" name="Freeform 2">
            <a:extLst>
              <a:ext uri="{FF2B5EF4-FFF2-40B4-BE49-F238E27FC236}">
                <a16:creationId xmlns:a16="http://schemas.microsoft.com/office/drawing/2014/main" id="{F07EE999-58E3-A99E-0173-AAEBC554FC20}"/>
              </a:ext>
            </a:extLst>
          </p:cNvPr>
          <p:cNvSpPr/>
          <p:nvPr/>
        </p:nvSpPr>
        <p:spPr bwMode="auto">
          <a:xfrm>
            <a:off x="-3194963" y="1990357"/>
            <a:ext cx="22696692" cy="4122404"/>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9" name="TextBox 8">
            <a:extLst>
              <a:ext uri="{FF2B5EF4-FFF2-40B4-BE49-F238E27FC236}">
                <a16:creationId xmlns:a16="http://schemas.microsoft.com/office/drawing/2014/main" id="{349578A0-1B89-98D5-B5A5-959FDDFEE888}"/>
              </a:ext>
            </a:extLst>
          </p:cNvPr>
          <p:cNvSpPr txBox="1"/>
          <p:nvPr/>
        </p:nvSpPr>
        <p:spPr>
          <a:xfrm>
            <a:off x="353860" y="1156863"/>
            <a:ext cx="14072992" cy="646331"/>
          </a:xfrm>
          <a:prstGeom prst="rect">
            <a:avLst/>
          </a:prstGeom>
          <a:noFill/>
        </p:spPr>
        <p:txBody>
          <a:bodyPr wrap="square">
            <a:spAutoFit/>
          </a:bodyPr>
          <a:lstStyle/>
          <a:p>
            <a:pPr>
              <a:buNone/>
            </a:pPr>
            <a:r>
              <a:rPr lang="en-US" sz="1800" b="1" dirty="0"/>
              <a:t>Phase 1</a:t>
            </a:r>
            <a:endParaRPr lang="en-US" sz="1800" dirty="0"/>
          </a:p>
          <a:p>
            <a:r>
              <a:rPr lang="en-US" sz="1800" dirty="0"/>
              <a:t>Replicate </a:t>
            </a:r>
            <a:r>
              <a:rPr lang="en-US" sz="1800" b="1" dirty="0"/>
              <a:t>Neglia</a:t>
            </a:r>
            <a:r>
              <a:rPr lang="en-US" sz="1800" dirty="0"/>
              <a:t> &amp; </a:t>
            </a:r>
            <a:r>
              <a:rPr lang="en-US" sz="1800" b="1" dirty="0" err="1"/>
              <a:t>Santinello</a:t>
            </a:r>
            <a:r>
              <a:rPr lang="en-US" sz="1800" dirty="0"/>
              <a:t> workflow for milk yield (instead of mastitis)</a:t>
            </a:r>
          </a:p>
        </p:txBody>
      </p:sp>
      <p:sp>
        <p:nvSpPr>
          <p:cNvPr id="5" name="Round Same Side Corner Rectangle 3">
            <a:extLst>
              <a:ext uri="{FF2B5EF4-FFF2-40B4-BE49-F238E27FC236}">
                <a16:creationId xmlns:a16="http://schemas.microsoft.com/office/drawing/2014/main" id="{128925E5-10E5-BE2F-F4D5-D7ED6116E890}"/>
              </a:ext>
            </a:extLst>
          </p:cNvPr>
          <p:cNvSpPr>
            <a:spLocks/>
          </p:cNvSpPr>
          <p:nvPr/>
        </p:nvSpPr>
        <p:spPr bwMode="auto">
          <a:xfrm>
            <a:off x="256200" y="3298495"/>
            <a:ext cx="4995599" cy="1059742"/>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90876" h="2336663">
                <a:moveTo>
                  <a:pt x="172899" y="842292"/>
                </a:moveTo>
                <a:cubicBezTo>
                  <a:pt x="178954" y="393507"/>
                  <a:pt x="-14398" y="111627"/>
                  <a:pt x="549444" y="99515"/>
                </a:cubicBezTo>
                <a:cubicBezTo>
                  <a:pt x="2138740" y="99515"/>
                  <a:pt x="3790908" y="569041"/>
                  <a:pt x="5317332" y="99515"/>
                </a:cubicBezTo>
                <a:cubicBezTo>
                  <a:pt x="5636500" y="-231911"/>
                  <a:pt x="5866776" y="345509"/>
                  <a:pt x="5866776" y="648959"/>
                </a:cubicBezTo>
                <a:lnTo>
                  <a:pt x="5882494" y="1870076"/>
                </a:lnTo>
                <a:cubicBezTo>
                  <a:pt x="5882494" y="2173526"/>
                  <a:pt x="5994967" y="1756663"/>
                  <a:pt x="5395922" y="2336663"/>
                </a:cubicBezTo>
                <a:cubicBezTo>
                  <a:pt x="5317485" y="1590949"/>
                  <a:pt x="2018235" y="2336663"/>
                  <a:pt x="329391" y="2336663"/>
                </a:cubicBezTo>
                <a:cubicBezTo>
                  <a:pt x="25941" y="2336663"/>
                  <a:pt x="0" y="1842098"/>
                  <a:pt x="0" y="1538648"/>
                </a:cubicBezTo>
                <a:cubicBezTo>
                  <a:pt x="0" y="1242085"/>
                  <a:pt x="172899" y="1138855"/>
                  <a:pt x="172899" y="842292"/>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4" name="TextBox 3">
            <a:extLst>
              <a:ext uri="{FF2B5EF4-FFF2-40B4-BE49-F238E27FC236}">
                <a16:creationId xmlns:a16="http://schemas.microsoft.com/office/drawing/2014/main" id="{48F5274E-E34D-7FAE-FDFC-CFA17836D5DF}"/>
              </a:ext>
            </a:extLst>
          </p:cNvPr>
          <p:cNvSpPr txBox="1"/>
          <p:nvPr/>
        </p:nvSpPr>
        <p:spPr>
          <a:xfrm>
            <a:off x="419292" y="3505200"/>
            <a:ext cx="4669413" cy="646331"/>
          </a:xfrm>
          <a:prstGeom prst="rect">
            <a:avLst/>
          </a:prstGeom>
          <a:noFill/>
        </p:spPr>
        <p:txBody>
          <a:bodyPr wrap="square">
            <a:spAutoFit/>
          </a:bodyPr>
          <a:lstStyle/>
          <a:p>
            <a:pPr algn="ctr"/>
            <a:r>
              <a:rPr lang="en-US" dirty="0"/>
              <a:t>Forecasting Milk Yield for </a:t>
            </a:r>
            <a:r>
              <a:rPr lang="en-US" b="1" dirty="0"/>
              <a:t>individual</a:t>
            </a:r>
            <a:r>
              <a:rPr lang="en-US" dirty="0"/>
              <a:t> animals, </a:t>
            </a:r>
            <a:r>
              <a:rPr lang="en-US" b="1" dirty="0"/>
              <a:t>without</a:t>
            </a:r>
            <a:r>
              <a:rPr lang="en-US" dirty="0"/>
              <a:t> hierarchical stricture.</a:t>
            </a:r>
            <a:endParaRPr lang="en-US" b="1" dirty="0"/>
          </a:p>
        </p:txBody>
      </p:sp>
    </p:spTree>
    <p:extLst>
      <p:ext uri="{BB962C8B-B14F-4D97-AF65-F5344CB8AC3E}">
        <p14:creationId xmlns:p14="http://schemas.microsoft.com/office/powerpoint/2010/main" val="23336071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4F141-95AF-413F-9376-C30720B768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9C5B45B-15B6-7339-3C88-E65EA067A45A}"/>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pic>
        <p:nvPicPr>
          <p:cNvPr id="12" name="Picture 11">
            <a:extLst>
              <a:ext uri="{FF2B5EF4-FFF2-40B4-BE49-F238E27FC236}">
                <a16:creationId xmlns:a16="http://schemas.microsoft.com/office/drawing/2014/main" id="{E82D9FAC-7A3E-83AD-1569-62F785FA0359}"/>
              </a:ext>
            </a:extLst>
          </p:cNvPr>
          <p:cNvPicPr>
            <a:picLocks noChangeAspect="1"/>
          </p:cNvPicPr>
          <p:nvPr/>
        </p:nvPicPr>
        <p:blipFill>
          <a:blip r:embed="rId3"/>
          <a:srcRect l="2" t="12894" r="-758" b="-1145"/>
          <a:stretch>
            <a:fillRect/>
          </a:stretch>
        </p:blipFill>
        <p:spPr>
          <a:xfrm>
            <a:off x="0" y="1990357"/>
            <a:ext cx="12192000" cy="4065494"/>
          </a:xfrm>
          <a:prstGeom prst="rect">
            <a:avLst/>
          </a:prstGeom>
        </p:spPr>
      </p:pic>
      <p:sp>
        <p:nvSpPr>
          <p:cNvPr id="3" name="Freeform 2">
            <a:extLst>
              <a:ext uri="{FF2B5EF4-FFF2-40B4-BE49-F238E27FC236}">
                <a16:creationId xmlns:a16="http://schemas.microsoft.com/office/drawing/2014/main" id="{A1634A68-51C8-79C0-1A29-A0C0D12A82AC}"/>
              </a:ext>
            </a:extLst>
          </p:cNvPr>
          <p:cNvSpPr/>
          <p:nvPr/>
        </p:nvSpPr>
        <p:spPr bwMode="auto">
          <a:xfrm>
            <a:off x="-756563" y="1990357"/>
            <a:ext cx="22696692" cy="4122404"/>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9" name="TextBox 8">
            <a:extLst>
              <a:ext uri="{FF2B5EF4-FFF2-40B4-BE49-F238E27FC236}">
                <a16:creationId xmlns:a16="http://schemas.microsoft.com/office/drawing/2014/main" id="{9E66CB71-55BC-702F-5805-D86FC2ED23BC}"/>
              </a:ext>
            </a:extLst>
          </p:cNvPr>
          <p:cNvSpPr txBox="1"/>
          <p:nvPr/>
        </p:nvSpPr>
        <p:spPr>
          <a:xfrm>
            <a:off x="353860" y="1156863"/>
            <a:ext cx="14072992" cy="646331"/>
          </a:xfrm>
          <a:prstGeom prst="rect">
            <a:avLst/>
          </a:prstGeom>
          <a:noFill/>
        </p:spPr>
        <p:txBody>
          <a:bodyPr wrap="square">
            <a:spAutoFit/>
          </a:bodyPr>
          <a:lstStyle/>
          <a:p>
            <a:pPr>
              <a:buNone/>
            </a:pPr>
            <a:r>
              <a:rPr lang="en-US" sz="1800" b="1" dirty="0"/>
              <a:t>Phase 1</a:t>
            </a:r>
            <a:endParaRPr lang="en-US" sz="1800" dirty="0"/>
          </a:p>
          <a:p>
            <a:r>
              <a:rPr lang="en-US" sz="1800" dirty="0"/>
              <a:t>Replicate </a:t>
            </a:r>
            <a:r>
              <a:rPr lang="en-US" sz="1800" b="1" dirty="0"/>
              <a:t>Neglia</a:t>
            </a:r>
            <a:r>
              <a:rPr lang="en-US" sz="1800" dirty="0"/>
              <a:t> &amp; </a:t>
            </a:r>
            <a:r>
              <a:rPr lang="en-US" sz="1800" b="1" dirty="0" err="1"/>
              <a:t>Santinello</a:t>
            </a:r>
            <a:r>
              <a:rPr lang="en-US" sz="1800" dirty="0"/>
              <a:t> workflow for milk yield (instead of mastitis)</a:t>
            </a:r>
          </a:p>
        </p:txBody>
      </p:sp>
      <p:sp>
        <p:nvSpPr>
          <p:cNvPr id="8" name="Round Same Side Corner Rectangle 3">
            <a:extLst>
              <a:ext uri="{FF2B5EF4-FFF2-40B4-BE49-F238E27FC236}">
                <a16:creationId xmlns:a16="http://schemas.microsoft.com/office/drawing/2014/main" id="{526CCBAA-3EB8-5B0C-DDCF-2C21CE9FA2DC}"/>
              </a:ext>
            </a:extLst>
          </p:cNvPr>
          <p:cNvSpPr>
            <a:spLocks/>
          </p:cNvSpPr>
          <p:nvPr/>
        </p:nvSpPr>
        <p:spPr bwMode="auto">
          <a:xfrm>
            <a:off x="2104475" y="3312129"/>
            <a:ext cx="5066798" cy="1046830"/>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64233 h 2358604"/>
              <a:gd name="csX1" fmla="*/ 523462 w 5890876"/>
              <a:gd name="csY1" fmla="*/ 0 h 2358604"/>
              <a:gd name="csX2" fmla="*/ 5317332 w 5890876"/>
              <a:gd name="csY2" fmla="*/ 121456 h 2358604"/>
              <a:gd name="csX3" fmla="*/ 5866776 w 5890876"/>
              <a:gd name="csY3" fmla="*/ 670900 h 2358604"/>
              <a:gd name="csX4" fmla="*/ 5882494 w 5890876"/>
              <a:gd name="csY4" fmla="*/ 1892017 h 2358604"/>
              <a:gd name="csX5" fmla="*/ 5395922 w 5890876"/>
              <a:gd name="csY5" fmla="*/ 2358604 h 2358604"/>
              <a:gd name="csX6" fmla="*/ 329391 w 5890876"/>
              <a:gd name="csY6" fmla="*/ 2358604 h 2358604"/>
              <a:gd name="csX7" fmla="*/ 0 w 5890876"/>
              <a:gd name="csY7" fmla="*/ 1560589 h 2358604"/>
              <a:gd name="csX8" fmla="*/ 172899 w 5890876"/>
              <a:gd name="csY8" fmla="*/ 864233 h 2358604"/>
              <a:gd name="csX0" fmla="*/ 172899 w 5890876"/>
              <a:gd name="csY0" fmla="*/ 1453650 h 2948021"/>
              <a:gd name="csX1" fmla="*/ 523462 w 5890876"/>
              <a:gd name="csY1" fmla="*/ 589417 h 2948021"/>
              <a:gd name="csX2" fmla="*/ 5317332 w 5890876"/>
              <a:gd name="csY2" fmla="*/ 710873 h 2948021"/>
              <a:gd name="csX3" fmla="*/ 5866776 w 5890876"/>
              <a:gd name="csY3" fmla="*/ 1260317 h 2948021"/>
              <a:gd name="csX4" fmla="*/ 5882494 w 5890876"/>
              <a:gd name="csY4" fmla="*/ 2481434 h 2948021"/>
              <a:gd name="csX5" fmla="*/ 5395922 w 5890876"/>
              <a:gd name="csY5" fmla="*/ 2948021 h 2948021"/>
              <a:gd name="csX6" fmla="*/ 329391 w 5890876"/>
              <a:gd name="csY6" fmla="*/ 2948021 h 2948021"/>
              <a:gd name="csX7" fmla="*/ 0 w 5890876"/>
              <a:gd name="csY7" fmla="*/ 2150006 h 2948021"/>
              <a:gd name="csX8" fmla="*/ 172899 w 5890876"/>
              <a:gd name="csY8" fmla="*/ 1453650 h 2948021"/>
              <a:gd name="csX0" fmla="*/ 172899 w 5890876"/>
              <a:gd name="csY0" fmla="*/ 1203736 h 2698107"/>
              <a:gd name="csX1" fmla="*/ 523462 w 5890876"/>
              <a:gd name="csY1" fmla="*/ 339503 h 2698107"/>
              <a:gd name="csX2" fmla="*/ 5317332 w 5890876"/>
              <a:gd name="csY2" fmla="*/ 460959 h 2698107"/>
              <a:gd name="csX3" fmla="*/ 5866776 w 5890876"/>
              <a:gd name="csY3" fmla="*/ 1010403 h 2698107"/>
              <a:gd name="csX4" fmla="*/ 5882494 w 5890876"/>
              <a:gd name="csY4" fmla="*/ 2231520 h 2698107"/>
              <a:gd name="csX5" fmla="*/ 5395922 w 5890876"/>
              <a:gd name="csY5" fmla="*/ 2698107 h 2698107"/>
              <a:gd name="csX6" fmla="*/ 329391 w 5890876"/>
              <a:gd name="csY6" fmla="*/ 2698107 h 2698107"/>
              <a:gd name="csX7" fmla="*/ 0 w 5890876"/>
              <a:gd name="csY7" fmla="*/ 1900092 h 2698107"/>
              <a:gd name="csX8" fmla="*/ 172899 w 5890876"/>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876464 h 2419416"/>
              <a:gd name="csX1" fmla="*/ 538364 w 5897396"/>
              <a:gd name="csY1" fmla="*/ 12231 h 2419416"/>
              <a:gd name="csX2" fmla="*/ 4695663 w 5897396"/>
              <a:gd name="csY2" fmla="*/ 182271 h 2419416"/>
              <a:gd name="csX3" fmla="*/ 5881678 w 5897396"/>
              <a:gd name="csY3" fmla="*/ 683131 h 2419416"/>
              <a:gd name="csX4" fmla="*/ 5897396 w 5897396"/>
              <a:gd name="csY4" fmla="*/ 1904248 h 2419416"/>
              <a:gd name="csX5" fmla="*/ 4891175 w 5897396"/>
              <a:gd name="csY5" fmla="*/ 2419416 h 2419416"/>
              <a:gd name="csX6" fmla="*/ 344293 w 5897396"/>
              <a:gd name="csY6" fmla="*/ 2370835 h 2419416"/>
              <a:gd name="csX7" fmla="*/ 14902 w 5897396"/>
              <a:gd name="csY7" fmla="*/ 1572820 h 2419416"/>
              <a:gd name="csX8" fmla="*/ 187801 w 5897396"/>
              <a:gd name="csY8" fmla="*/ 876464 h 2419416"/>
              <a:gd name="csX0" fmla="*/ 104283 w 6008746"/>
              <a:gd name="csY0" fmla="*/ 626922 h 2412790"/>
              <a:gd name="csX1" fmla="*/ 649714 w 6008746"/>
              <a:gd name="csY1" fmla="*/ 5605 h 2412790"/>
              <a:gd name="csX2" fmla="*/ 4807013 w 6008746"/>
              <a:gd name="csY2" fmla="*/ 175645 h 2412790"/>
              <a:gd name="csX3" fmla="*/ 5993028 w 6008746"/>
              <a:gd name="csY3" fmla="*/ 676505 h 2412790"/>
              <a:gd name="csX4" fmla="*/ 6008746 w 6008746"/>
              <a:gd name="csY4" fmla="*/ 1897622 h 2412790"/>
              <a:gd name="csX5" fmla="*/ 5002525 w 6008746"/>
              <a:gd name="csY5" fmla="*/ 2412790 h 2412790"/>
              <a:gd name="csX6" fmla="*/ 455643 w 6008746"/>
              <a:gd name="csY6" fmla="*/ 2364209 h 2412790"/>
              <a:gd name="csX7" fmla="*/ 126252 w 6008746"/>
              <a:gd name="csY7" fmla="*/ 1566194 h 2412790"/>
              <a:gd name="csX8" fmla="*/ 104283 w 6008746"/>
              <a:gd name="csY8" fmla="*/ 626922 h 2412790"/>
              <a:gd name="csX0" fmla="*/ 104283 w 6008746"/>
              <a:gd name="csY0" fmla="*/ 522324 h 2308192"/>
              <a:gd name="csX1" fmla="*/ 1000478 w 6008746"/>
              <a:gd name="csY1" fmla="*/ 192506 h 2308192"/>
              <a:gd name="csX2" fmla="*/ 4807013 w 6008746"/>
              <a:gd name="csY2" fmla="*/ 71047 h 2308192"/>
              <a:gd name="csX3" fmla="*/ 5993028 w 6008746"/>
              <a:gd name="csY3" fmla="*/ 571907 h 2308192"/>
              <a:gd name="csX4" fmla="*/ 6008746 w 6008746"/>
              <a:gd name="csY4" fmla="*/ 1793024 h 2308192"/>
              <a:gd name="csX5" fmla="*/ 5002525 w 6008746"/>
              <a:gd name="csY5" fmla="*/ 2308192 h 2308192"/>
              <a:gd name="csX6" fmla="*/ 455643 w 6008746"/>
              <a:gd name="csY6" fmla="*/ 2259611 h 2308192"/>
              <a:gd name="csX7" fmla="*/ 126252 w 6008746"/>
              <a:gd name="csY7" fmla="*/ 1461596 h 2308192"/>
              <a:gd name="csX8" fmla="*/ 104283 w 6008746"/>
              <a:gd name="csY8" fmla="*/ 522324 h 2308192"/>
              <a:gd name="csX0" fmla="*/ 146883 w 5921434"/>
              <a:gd name="csY0" fmla="*/ 813824 h 2308192"/>
              <a:gd name="csX1" fmla="*/ 913166 w 5921434"/>
              <a:gd name="csY1" fmla="*/ 19250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887184 w 5921434"/>
              <a:gd name="csY1" fmla="*/ 168214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68950 w 5943501"/>
              <a:gd name="csY0" fmla="*/ 833567 h 2327935"/>
              <a:gd name="csX1" fmla="*/ 974206 w 5943501"/>
              <a:gd name="csY1" fmla="*/ 139374 h 2327935"/>
              <a:gd name="csX2" fmla="*/ 4741768 w 5943501"/>
              <a:gd name="csY2" fmla="*/ 90790 h 2327935"/>
              <a:gd name="csX3" fmla="*/ 5927783 w 5943501"/>
              <a:gd name="csY3" fmla="*/ 591650 h 2327935"/>
              <a:gd name="csX4" fmla="*/ 5943501 w 5943501"/>
              <a:gd name="csY4" fmla="*/ 1812767 h 2327935"/>
              <a:gd name="csX5" fmla="*/ 4937280 w 5943501"/>
              <a:gd name="csY5" fmla="*/ 2327935 h 2327935"/>
              <a:gd name="csX6" fmla="*/ 390398 w 5943501"/>
              <a:gd name="csY6" fmla="*/ 2279354 h 2327935"/>
              <a:gd name="csX7" fmla="*/ 18555 w 5943501"/>
              <a:gd name="csY7" fmla="*/ 1814725 h 2327935"/>
              <a:gd name="csX8" fmla="*/ 168950 w 5943501"/>
              <a:gd name="csY8" fmla="*/ 833567 h 2327935"/>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27946 w 5927969"/>
              <a:gd name="csY0" fmla="*/ 718571 h 2308192"/>
              <a:gd name="csX1" fmla="*/ 958674 w 5927969"/>
              <a:gd name="csY1" fmla="*/ 119631 h 2308192"/>
              <a:gd name="csX2" fmla="*/ 4726236 w 5927969"/>
              <a:gd name="csY2" fmla="*/ 71047 h 2308192"/>
              <a:gd name="csX3" fmla="*/ 5912251 w 5927969"/>
              <a:gd name="csY3" fmla="*/ 571907 h 2308192"/>
              <a:gd name="csX4" fmla="*/ 5927969 w 5927969"/>
              <a:gd name="csY4" fmla="*/ 1793024 h 2308192"/>
              <a:gd name="csX5" fmla="*/ 4921748 w 5927969"/>
              <a:gd name="csY5" fmla="*/ 2308192 h 2308192"/>
              <a:gd name="csX6" fmla="*/ 374866 w 5927969"/>
              <a:gd name="csY6" fmla="*/ 2259611 h 2308192"/>
              <a:gd name="csX7" fmla="*/ 3023 w 5927969"/>
              <a:gd name="csY7" fmla="*/ 1794982 h 2308192"/>
              <a:gd name="csX8" fmla="*/ 127946 w 5927969"/>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74836" h="2308192">
                <a:moveTo>
                  <a:pt x="174813" y="718571"/>
                </a:moveTo>
                <a:cubicBezTo>
                  <a:pt x="240300" y="269787"/>
                  <a:pt x="239159" y="227552"/>
                  <a:pt x="1005541" y="119631"/>
                </a:cubicBezTo>
                <a:cubicBezTo>
                  <a:pt x="1771923" y="11710"/>
                  <a:pt x="3246679" y="540573"/>
                  <a:pt x="4773103" y="71047"/>
                </a:cubicBezTo>
                <a:cubicBezTo>
                  <a:pt x="5092271" y="-260379"/>
                  <a:pt x="5283574" y="681413"/>
                  <a:pt x="5959118" y="571907"/>
                </a:cubicBezTo>
                <a:cubicBezTo>
                  <a:pt x="5770821" y="1108189"/>
                  <a:pt x="5969597" y="1385985"/>
                  <a:pt x="5974836" y="1793024"/>
                </a:cubicBezTo>
                <a:cubicBezTo>
                  <a:pt x="5974836" y="2096474"/>
                  <a:pt x="5255871" y="1290945"/>
                  <a:pt x="4968615" y="2308192"/>
                </a:cubicBezTo>
                <a:cubicBezTo>
                  <a:pt x="4227624" y="1465311"/>
                  <a:pt x="1830396" y="1830971"/>
                  <a:pt x="421733" y="2259611"/>
                </a:cubicBezTo>
                <a:cubicBezTo>
                  <a:pt x="636194" y="1910349"/>
                  <a:pt x="-2076" y="1734058"/>
                  <a:pt x="49890" y="1794982"/>
                </a:cubicBezTo>
                <a:cubicBezTo>
                  <a:pt x="49890" y="1498419"/>
                  <a:pt x="-122962" y="920646"/>
                  <a:pt x="174813" y="718571"/>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11" name="TextBox 10">
            <a:extLst>
              <a:ext uri="{FF2B5EF4-FFF2-40B4-BE49-F238E27FC236}">
                <a16:creationId xmlns:a16="http://schemas.microsoft.com/office/drawing/2014/main" id="{879445EA-2049-CFC8-4F27-4407DB106B01}"/>
              </a:ext>
            </a:extLst>
          </p:cNvPr>
          <p:cNvSpPr txBox="1"/>
          <p:nvPr/>
        </p:nvSpPr>
        <p:spPr>
          <a:xfrm>
            <a:off x="2454728" y="3466212"/>
            <a:ext cx="4392386" cy="646331"/>
          </a:xfrm>
          <a:prstGeom prst="rect">
            <a:avLst/>
          </a:prstGeom>
          <a:noFill/>
        </p:spPr>
        <p:txBody>
          <a:bodyPr wrap="square">
            <a:spAutoFit/>
          </a:bodyPr>
          <a:lstStyle/>
          <a:p>
            <a:pPr algn="ctr"/>
            <a:r>
              <a:rPr lang="en-US" dirty="0"/>
              <a:t>Validate and establish baseline </a:t>
            </a:r>
          </a:p>
          <a:p>
            <a:pPr algn="ctr"/>
            <a:r>
              <a:rPr lang="en-US" dirty="0"/>
              <a:t>performance metrics (R², RMSE, MAE)</a:t>
            </a:r>
          </a:p>
        </p:txBody>
      </p:sp>
    </p:spTree>
    <p:extLst>
      <p:ext uri="{BB962C8B-B14F-4D97-AF65-F5344CB8AC3E}">
        <p14:creationId xmlns:p14="http://schemas.microsoft.com/office/powerpoint/2010/main" val="421917303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0457C-55EA-A1C7-A54E-E0BB9EBB9B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61A5A6D-7BC3-895F-CC9D-0550C55D300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sp>
        <p:nvSpPr>
          <p:cNvPr id="3" name="Freeform 2">
            <a:extLst>
              <a:ext uri="{FF2B5EF4-FFF2-40B4-BE49-F238E27FC236}">
                <a16:creationId xmlns:a16="http://schemas.microsoft.com/office/drawing/2014/main" id="{92B3E5D6-CDC4-A0FC-CF7C-A83940A83F49}"/>
              </a:ext>
            </a:extLst>
          </p:cNvPr>
          <p:cNvSpPr>
            <a:spLocks noChangeAspect="1"/>
          </p:cNvSpPr>
          <p:nvPr/>
        </p:nvSpPr>
        <p:spPr bwMode="auto">
          <a:xfrm>
            <a:off x="-56642662" y="-4568921"/>
            <a:ext cx="147508194" cy="26791920"/>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pic>
        <p:nvPicPr>
          <p:cNvPr id="2" name="Picture 1">
            <a:extLst>
              <a:ext uri="{FF2B5EF4-FFF2-40B4-BE49-F238E27FC236}">
                <a16:creationId xmlns:a16="http://schemas.microsoft.com/office/drawing/2014/main" id="{42337DEE-46BA-5576-8AF4-08B91E4A1A67}"/>
              </a:ext>
            </a:extLst>
          </p:cNvPr>
          <p:cNvPicPr>
            <a:picLocks noChangeAspect="1"/>
          </p:cNvPicPr>
          <p:nvPr/>
        </p:nvPicPr>
        <p:blipFill>
          <a:blip r:embed="rId3"/>
          <a:srcRect t="3750" b="9004"/>
          <a:stretch>
            <a:fillRect/>
          </a:stretch>
        </p:blipFill>
        <p:spPr>
          <a:xfrm>
            <a:off x="166199" y="1023257"/>
            <a:ext cx="11654970" cy="4981303"/>
          </a:xfrm>
          <a:prstGeom prst="rect">
            <a:avLst/>
          </a:prstGeom>
        </p:spPr>
      </p:pic>
    </p:spTree>
    <p:extLst>
      <p:ext uri="{BB962C8B-B14F-4D97-AF65-F5344CB8AC3E}">
        <p14:creationId xmlns:p14="http://schemas.microsoft.com/office/powerpoint/2010/main" val="4992068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B8CBB-1C22-E6AF-D785-9A3B6E20772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EB1D2E4-E500-DD91-90FC-282F219C4942}"/>
              </a:ext>
            </a:extLst>
          </p:cNvPr>
          <p:cNvPicPr>
            <a:picLocks noChangeAspect="1"/>
          </p:cNvPicPr>
          <p:nvPr/>
        </p:nvPicPr>
        <p:blipFill>
          <a:blip r:embed="rId3"/>
          <a:srcRect t="3750" b="9004"/>
          <a:stretch>
            <a:fillRect/>
          </a:stretch>
        </p:blipFill>
        <p:spPr>
          <a:xfrm>
            <a:off x="166199" y="1023257"/>
            <a:ext cx="11654970" cy="4981303"/>
          </a:xfrm>
          <a:prstGeom prst="rect">
            <a:avLst/>
          </a:prstGeom>
        </p:spPr>
      </p:pic>
      <p:sp>
        <p:nvSpPr>
          <p:cNvPr id="7" name="Title 1">
            <a:extLst>
              <a:ext uri="{FF2B5EF4-FFF2-40B4-BE49-F238E27FC236}">
                <a16:creationId xmlns:a16="http://schemas.microsoft.com/office/drawing/2014/main" id="{E31A3EC6-805D-7374-3C21-797774D700D6}"/>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sp>
        <p:nvSpPr>
          <p:cNvPr id="3" name="Freeform 2">
            <a:extLst>
              <a:ext uri="{FF2B5EF4-FFF2-40B4-BE49-F238E27FC236}">
                <a16:creationId xmlns:a16="http://schemas.microsoft.com/office/drawing/2014/main" id="{C593D03B-1D95-5158-E813-9991D338B117}"/>
              </a:ext>
            </a:extLst>
          </p:cNvPr>
          <p:cNvSpPr>
            <a:spLocks/>
          </p:cNvSpPr>
          <p:nvPr/>
        </p:nvSpPr>
        <p:spPr bwMode="auto">
          <a:xfrm>
            <a:off x="-7528922" y="1272185"/>
            <a:ext cx="20756880" cy="4846320"/>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6" name="Round Same Side Corner Rectangle 3">
            <a:extLst>
              <a:ext uri="{FF2B5EF4-FFF2-40B4-BE49-F238E27FC236}">
                <a16:creationId xmlns:a16="http://schemas.microsoft.com/office/drawing/2014/main" id="{EBC2F8F2-07B9-0229-CE89-CFDFB4A86788}"/>
              </a:ext>
            </a:extLst>
          </p:cNvPr>
          <p:cNvSpPr>
            <a:spLocks/>
          </p:cNvSpPr>
          <p:nvPr/>
        </p:nvSpPr>
        <p:spPr bwMode="auto">
          <a:xfrm>
            <a:off x="3379108" y="2216566"/>
            <a:ext cx="6487522" cy="2047246"/>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90876" h="2336663">
                <a:moveTo>
                  <a:pt x="172899" y="842292"/>
                </a:moveTo>
                <a:cubicBezTo>
                  <a:pt x="178954" y="393507"/>
                  <a:pt x="-14398" y="111627"/>
                  <a:pt x="549444" y="99515"/>
                </a:cubicBezTo>
                <a:cubicBezTo>
                  <a:pt x="2138740" y="99515"/>
                  <a:pt x="3790908" y="569041"/>
                  <a:pt x="5317332" y="99515"/>
                </a:cubicBezTo>
                <a:cubicBezTo>
                  <a:pt x="5636500" y="-231911"/>
                  <a:pt x="5866776" y="345509"/>
                  <a:pt x="5866776" y="648959"/>
                </a:cubicBezTo>
                <a:lnTo>
                  <a:pt x="5882494" y="1870076"/>
                </a:lnTo>
                <a:cubicBezTo>
                  <a:pt x="5882494" y="2173526"/>
                  <a:pt x="5994967" y="1756663"/>
                  <a:pt x="5395922" y="2336663"/>
                </a:cubicBezTo>
                <a:cubicBezTo>
                  <a:pt x="5317485" y="1590949"/>
                  <a:pt x="2018235" y="2336663"/>
                  <a:pt x="329391" y="2336663"/>
                </a:cubicBezTo>
                <a:cubicBezTo>
                  <a:pt x="25941" y="2336663"/>
                  <a:pt x="0" y="1842098"/>
                  <a:pt x="0" y="1538648"/>
                </a:cubicBezTo>
                <a:cubicBezTo>
                  <a:pt x="0" y="1242085"/>
                  <a:pt x="172899" y="1138855"/>
                  <a:pt x="172899" y="842292"/>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5" name="TextBox 4">
            <a:extLst>
              <a:ext uri="{FF2B5EF4-FFF2-40B4-BE49-F238E27FC236}">
                <a16:creationId xmlns:a16="http://schemas.microsoft.com/office/drawing/2014/main" id="{ED1AE5B9-E7CA-5A1F-4C79-1568EEBCD0FE}"/>
              </a:ext>
            </a:extLst>
          </p:cNvPr>
          <p:cNvSpPr txBox="1"/>
          <p:nvPr/>
        </p:nvSpPr>
        <p:spPr>
          <a:xfrm>
            <a:off x="3646170" y="2518104"/>
            <a:ext cx="6220460" cy="1477328"/>
          </a:xfrm>
          <a:prstGeom prst="rect">
            <a:avLst/>
          </a:prstGeom>
          <a:noFill/>
        </p:spPr>
        <p:txBody>
          <a:bodyPr wrap="square">
            <a:spAutoFit/>
          </a:bodyPr>
          <a:lstStyle/>
          <a:p>
            <a:pPr>
              <a:buNone/>
            </a:pPr>
            <a:r>
              <a:rPr lang="en-US" b="1" dirty="0"/>
              <a:t>Preprocessing enhancements:</a:t>
            </a:r>
          </a:p>
          <a:p>
            <a:pPr>
              <a:buFont typeface="Arial" panose="020B0604020202020204" pitchFamily="34" charset="0"/>
              <a:buChar char="•"/>
            </a:pPr>
            <a:r>
              <a:rPr lang="en-US" dirty="0"/>
              <a:t>Converting data into Hierarchical structure</a:t>
            </a:r>
          </a:p>
          <a:p>
            <a:pPr>
              <a:buFont typeface="Arial" panose="020B0604020202020204" pitchFamily="34" charset="0"/>
              <a:buChar char="•"/>
            </a:pPr>
            <a:r>
              <a:rPr lang="en-US" dirty="0"/>
              <a:t>THI Composite (5-day window) - from Hassan 2025</a:t>
            </a:r>
          </a:p>
          <a:p>
            <a:pPr>
              <a:buFont typeface="Arial" panose="020B0604020202020204" pitchFamily="34" charset="0"/>
              <a:buChar char="•"/>
            </a:pPr>
            <a:r>
              <a:rPr lang="en-US" dirty="0"/>
              <a:t>Time series decomposition for outlier detection</a:t>
            </a:r>
          </a:p>
          <a:p>
            <a:pPr>
              <a:buFont typeface="Arial" panose="020B0604020202020204" pitchFamily="34" charset="0"/>
              <a:buChar char="•"/>
            </a:pPr>
            <a:r>
              <a:rPr lang="en-US" dirty="0"/>
              <a:t>Lag features for temporal dependencies</a:t>
            </a:r>
          </a:p>
        </p:txBody>
      </p:sp>
    </p:spTree>
    <p:extLst>
      <p:ext uri="{BB962C8B-B14F-4D97-AF65-F5344CB8AC3E}">
        <p14:creationId xmlns:p14="http://schemas.microsoft.com/office/powerpoint/2010/main" val="14616042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D801-787F-F88C-670E-0B2CD44A374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CCF5B72-2416-2C27-8ECE-594E3671DA39}"/>
              </a:ext>
            </a:extLst>
          </p:cNvPr>
          <p:cNvPicPr>
            <a:picLocks noChangeAspect="1"/>
          </p:cNvPicPr>
          <p:nvPr/>
        </p:nvPicPr>
        <p:blipFill>
          <a:blip r:embed="rId3"/>
          <a:srcRect t="3750" b="9004"/>
          <a:stretch>
            <a:fillRect/>
          </a:stretch>
        </p:blipFill>
        <p:spPr>
          <a:xfrm>
            <a:off x="166199" y="1023257"/>
            <a:ext cx="11654970" cy="4981303"/>
          </a:xfrm>
          <a:prstGeom prst="rect">
            <a:avLst/>
          </a:prstGeom>
        </p:spPr>
      </p:pic>
      <p:sp>
        <p:nvSpPr>
          <p:cNvPr id="7" name="Title 1">
            <a:extLst>
              <a:ext uri="{FF2B5EF4-FFF2-40B4-BE49-F238E27FC236}">
                <a16:creationId xmlns:a16="http://schemas.microsoft.com/office/drawing/2014/main" id="{E36EE11C-CAA7-11DA-9F96-2FE2EEC11FD2}"/>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sp>
        <p:nvSpPr>
          <p:cNvPr id="3" name="Freeform 2">
            <a:extLst>
              <a:ext uri="{FF2B5EF4-FFF2-40B4-BE49-F238E27FC236}">
                <a16:creationId xmlns:a16="http://schemas.microsoft.com/office/drawing/2014/main" id="{DC2711EC-FB90-3664-1817-B854BD28793D}"/>
              </a:ext>
            </a:extLst>
          </p:cNvPr>
          <p:cNvSpPr>
            <a:spLocks/>
          </p:cNvSpPr>
          <p:nvPr/>
        </p:nvSpPr>
        <p:spPr bwMode="auto">
          <a:xfrm>
            <a:off x="-15476790" y="1233702"/>
            <a:ext cx="47091600" cy="4937760"/>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4" name="Round Same Side Corner Rectangle 3">
            <a:extLst>
              <a:ext uri="{FF2B5EF4-FFF2-40B4-BE49-F238E27FC236}">
                <a16:creationId xmlns:a16="http://schemas.microsoft.com/office/drawing/2014/main" id="{508FC632-58C5-7EBA-70AA-A8FAAC42A040}"/>
              </a:ext>
            </a:extLst>
          </p:cNvPr>
          <p:cNvSpPr>
            <a:spLocks/>
          </p:cNvSpPr>
          <p:nvPr/>
        </p:nvSpPr>
        <p:spPr bwMode="auto">
          <a:xfrm>
            <a:off x="6959408" y="2366682"/>
            <a:ext cx="4744561" cy="1828800"/>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64233 h 2358604"/>
              <a:gd name="csX1" fmla="*/ 523462 w 5890876"/>
              <a:gd name="csY1" fmla="*/ 0 h 2358604"/>
              <a:gd name="csX2" fmla="*/ 5317332 w 5890876"/>
              <a:gd name="csY2" fmla="*/ 121456 h 2358604"/>
              <a:gd name="csX3" fmla="*/ 5866776 w 5890876"/>
              <a:gd name="csY3" fmla="*/ 670900 h 2358604"/>
              <a:gd name="csX4" fmla="*/ 5882494 w 5890876"/>
              <a:gd name="csY4" fmla="*/ 1892017 h 2358604"/>
              <a:gd name="csX5" fmla="*/ 5395922 w 5890876"/>
              <a:gd name="csY5" fmla="*/ 2358604 h 2358604"/>
              <a:gd name="csX6" fmla="*/ 329391 w 5890876"/>
              <a:gd name="csY6" fmla="*/ 2358604 h 2358604"/>
              <a:gd name="csX7" fmla="*/ 0 w 5890876"/>
              <a:gd name="csY7" fmla="*/ 1560589 h 2358604"/>
              <a:gd name="csX8" fmla="*/ 172899 w 5890876"/>
              <a:gd name="csY8" fmla="*/ 864233 h 2358604"/>
              <a:gd name="csX0" fmla="*/ 172899 w 5890876"/>
              <a:gd name="csY0" fmla="*/ 1453650 h 2948021"/>
              <a:gd name="csX1" fmla="*/ 523462 w 5890876"/>
              <a:gd name="csY1" fmla="*/ 589417 h 2948021"/>
              <a:gd name="csX2" fmla="*/ 5317332 w 5890876"/>
              <a:gd name="csY2" fmla="*/ 710873 h 2948021"/>
              <a:gd name="csX3" fmla="*/ 5866776 w 5890876"/>
              <a:gd name="csY3" fmla="*/ 1260317 h 2948021"/>
              <a:gd name="csX4" fmla="*/ 5882494 w 5890876"/>
              <a:gd name="csY4" fmla="*/ 2481434 h 2948021"/>
              <a:gd name="csX5" fmla="*/ 5395922 w 5890876"/>
              <a:gd name="csY5" fmla="*/ 2948021 h 2948021"/>
              <a:gd name="csX6" fmla="*/ 329391 w 5890876"/>
              <a:gd name="csY6" fmla="*/ 2948021 h 2948021"/>
              <a:gd name="csX7" fmla="*/ 0 w 5890876"/>
              <a:gd name="csY7" fmla="*/ 2150006 h 2948021"/>
              <a:gd name="csX8" fmla="*/ 172899 w 5890876"/>
              <a:gd name="csY8" fmla="*/ 1453650 h 2948021"/>
              <a:gd name="csX0" fmla="*/ 172899 w 5890876"/>
              <a:gd name="csY0" fmla="*/ 1203736 h 2698107"/>
              <a:gd name="csX1" fmla="*/ 523462 w 5890876"/>
              <a:gd name="csY1" fmla="*/ 339503 h 2698107"/>
              <a:gd name="csX2" fmla="*/ 5317332 w 5890876"/>
              <a:gd name="csY2" fmla="*/ 460959 h 2698107"/>
              <a:gd name="csX3" fmla="*/ 5866776 w 5890876"/>
              <a:gd name="csY3" fmla="*/ 1010403 h 2698107"/>
              <a:gd name="csX4" fmla="*/ 5882494 w 5890876"/>
              <a:gd name="csY4" fmla="*/ 2231520 h 2698107"/>
              <a:gd name="csX5" fmla="*/ 5395922 w 5890876"/>
              <a:gd name="csY5" fmla="*/ 2698107 h 2698107"/>
              <a:gd name="csX6" fmla="*/ 329391 w 5890876"/>
              <a:gd name="csY6" fmla="*/ 2698107 h 2698107"/>
              <a:gd name="csX7" fmla="*/ 0 w 5890876"/>
              <a:gd name="csY7" fmla="*/ 1900092 h 2698107"/>
              <a:gd name="csX8" fmla="*/ 172899 w 5890876"/>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876464 h 2419416"/>
              <a:gd name="csX1" fmla="*/ 538364 w 5897396"/>
              <a:gd name="csY1" fmla="*/ 12231 h 2419416"/>
              <a:gd name="csX2" fmla="*/ 4695663 w 5897396"/>
              <a:gd name="csY2" fmla="*/ 182271 h 2419416"/>
              <a:gd name="csX3" fmla="*/ 5881678 w 5897396"/>
              <a:gd name="csY3" fmla="*/ 683131 h 2419416"/>
              <a:gd name="csX4" fmla="*/ 5897396 w 5897396"/>
              <a:gd name="csY4" fmla="*/ 1904248 h 2419416"/>
              <a:gd name="csX5" fmla="*/ 4891175 w 5897396"/>
              <a:gd name="csY5" fmla="*/ 2419416 h 2419416"/>
              <a:gd name="csX6" fmla="*/ 344293 w 5897396"/>
              <a:gd name="csY6" fmla="*/ 2370835 h 2419416"/>
              <a:gd name="csX7" fmla="*/ 14902 w 5897396"/>
              <a:gd name="csY7" fmla="*/ 1572820 h 2419416"/>
              <a:gd name="csX8" fmla="*/ 187801 w 5897396"/>
              <a:gd name="csY8" fmla="*/ 876464 h 2419416"/>
              <a:gd name="csX0" fmla="*/ 104283 w 6008746"/>
              <a:gd name="csY0" fmla="*/ 626922 h 2412790"/>
              <a:gd name="csX1" fmla="*/ 649714 w 6008746"/>
              <a:gd name="csY1" fmla="*/ 5605 h 2412790"/>
              <a:gd name="csX2" fmla="*/ 4807013 w 6008746"/>
              <a:gd name="csY2" fmla="*/ 175645 h 2412790"/>
              <a:gd name="csX3" fmla="*/ 5993028 w 6008746"/>
              <a:gd name="csY3" fmla="*/ 676505 h 2412790"/>
              <a:gd name="csX4" fmla="*/ 6008746 w 6008746"/>
              <a:gd name="csY4" fmla="*/ 1897622 h 2412790"/>
              <a:gd name="csX5" fmla="*/ 5002525 w 6008746"/>
              <a:gd name="csY5" fmla="*/ 2412790 h 2412790"/>
              <a:gd name="csX6" fmla="*/ 455643 w 6008746"/>
              <a:gd name="csY6" fmla="*/ 2364209 h 2412790"/>
              <a:gd name="csX7" fmla="*/ 126252 w 6008746"/>
              <a:gd name="csY7" fmla="*/ 1566194 h 2412790"/>
              <a:gd name="csX8" fmla="*/ 104283 w 6008746"/>
              <a:gd name="csY8" fmla="*/ 626922 h 2412790"/>
              <a:gd name="csX0" fmla="*/ 104283 w 6008746"/>
              <a:gd name="csY0" fmla="*/ 522324 h 2308192"/>
              <a:gd name="csX1" fmla="*/ 1000478 w 6008746"/>
              <a:gd name="csY1" fmla="*/ 192506 h 2308192"/>
              <a:gd name="csX2" fmla="*/ 4807013 w 6008746"/>
              <a:gd name="csY2" fmla="*/ 71047 h 2308192"/>
              <a:gd name="csX3" fmla="*/ 5993028 w 6008746"/>
              <a:gd name="csY3" fmla="*/ 571907 h 2308192"/>
              <a:gd name="csX4" fmla="*/ 6008746 w 6008746"/>
              <a:gd name="csY4" fmla="*/ 1793024 h 2308192"/>
              <a:gd name="csX5" fmla="*/ 5002525 w 6008746"/>
              <a:gd name="csY5" fmla="*/ 2308192 h 2308192"/>
              <a:gd name="csX6" fmla="*/ 455643 w 6008746"/>
              <a:gd name="csY6" fmla="*/ 2259611 h 2308192"/>
              <a:gd name="csX7" fmla="*/ 126252 w 6008746"/>
              <a:gd name="csY7" fmla="*/ 1461596 h 2308192"/>
              <a:gd name="csX8" fmla="*/ 104283 w 6008746"/>
              <a:gd name="csY8" fmla="*/ 522324 h 2308192"/>
              <a:gd name="csX0" fmla="*/ 146883 w 5921434"/>
              <a:gd name="csY0" fmla="*/ 813824 h 2308192"/>
              <a:gd name="csX1" fmla="*/ 913166 w 5921434"/>
              <a:gd name="csY1" fmla="*/ 19250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887184 w 5921434"/>
              <a:gd name="csY1" fmla="*/ 168214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68950 w 5943501"/>
              <a:gd name="csY0" fmla="*/ 833567 h 2327935"/>
              <a:gd name="csX1" fmla="*/ 974206 w 5943501"/>
              <a:gd name="csY1" fmla="*/ 139374 h 2327935"/>
              <a:gd name="csX2" fmla="*/ 4741768 w 5943501"/>
              <a:gd name="csY2" fmla="*/ 90790 h 2327935"/>
              <a:gd name="csX3" fmla="*/ 5927783 w 5943501"/>
              <a:gd name="csY3" fmla="*/ 591650 h 2327935"/>
              <a:gd name="csX4" fmla="*/ 5943501 w 5943501"/>
              <a:gd name="csY4" fmla="*/ 1812767 h 2327935"/>
              <a:gd name="csX5" fmla="*/ 4937280 w 5943501"/>
              <a:gd name="csY5" fmla="*/ 2327935 h 2327935"/>
              <a:gd name="csX6" fmla="*/ 390398 w 5943501"/>
              <a:gd name="csY6" fmla="*/ 2279354 h 2327935"/>
              <a:gd name="csX7" fmla="*/ 18555 w 5943501"/>
              <a:gd name="csY7" fmla="*/ 1814725 h 2327935"/>
              <a:gd name="csX8" fmla="*/ 168950 w 5943501"/>
              <a:gd name="csY8" fmla="*/ 833567 h 2327935"/>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27946 w 5927969"/>
              <a:gd name="csY0" fmla="*/ 718571 h 2308192"/>
              <a:gd name="csX1" fmla="*/ 958674 w 5927969"/>
              <a:gd name="csY1" fmla="*/ 119631 h 2308192"/>
              <a:gd name="csX2" fmla="*/ 4726236 w 5927969"/>
              <a:gd name="csY2" fmla="*/ 71047 h 2308192"/>
              <a:gd name="csX3" fmla="*/ 5912251 w 5927969"/>
              <a:gd name="csY3" fmla="*/ 571907 h 2308192"/>
              <a:gd name="csX4" fmla="*/ 5927969 w 5927969"/>
              <a:gd name="csY4" fmla="*/ 1793024 h 2308192"/>
              <a:gd name="csX5" fmla="*/ 4921748 w 5927969"/>
              <a:gd name="csY5" fmla="*/ 2308192 h 2308192"/>
              <a:gd name="csX6" fmla="*/ 374866 w 5927969"/>
              <a:gd name="csY6" fmla="*/ 2259611 h 2308192"/>
              <a:gd name="csX7" fmla="*/ 3023 w 5927969"/>
              <a:gd name="csY7" fmla="*/ 1794982 h 2308192"/>
              <a:gd name="csX8" fmla="*/ 127946 w 5927969"/>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74836" h="2308192">
                <a:moveTo>
                  <a:pt x="174813" y="718571"/>
                </a:moveTo>
                <a:cubicBezTo>
                  <a:pt x="240300" y="269787"/>
                  <a:pt x="239159" y="227552"/>
                  <a:pt x="1005541" y="119631"/>
                </a:cubicBezTo>
                <a:cubicBezTo>
                  <a:pt x="1771923" y="11710"/>
                  <a:pt x="3246679" y="540573"/>
                  <a:pt x="4773103" y="71047"/>
                </a:cubicBezTo>
                <a:cubicBezTo>
                  <a:pt x="5092271" y="-260379"/>
                  <a:pt x="5283574" y="681413"/>
                  <a:pt x="5959118" y="571907"/>
                </a:cubicBezTo>
                <a:cubicBezTo>
                  <a:pt x="5770821" y="1108189"/>
                  <a:pt x="5969597" y="1385985"/>
                  <a:pt x="5974836" y="1793024"/>
                </a:cubicBezTo>
                <a:cubicBezTo>
                  <a:pt x="5974836" y="2096474"/>
                  <a:pt x="5255871" y="1290945"/>
                  <a:pt x="4968615" y="2308192"/>
                </a:cubicBezTo>
                <a:cubicBezTo>
                  <a:pt x="4227624" y="1465311"/>
                  <a:pt x="1830396" y="1830971"/>
                  <a:pt x="421733" y="2259611"/>
                </a:cubicBezTo>
                <a:cubicBezTo>
                  <a:pt x="636194" y="1910349"/>
                  <a:pt x="-2076" y="1734058"/>
                  <a:pt x="49890" y="1794982"/>
                </a:cubicBezTo>
                <a:cubicBezTo>
                  <a:pt x="49890" y="1498419"/>
                  <a:pt x="-122962" y="920646"/>
                  <a:pt x="174813" y="718571"/>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5" name="TextBox 4">
            <a:extLst>
              <a:ext uri="{FF2B5EF4-FFF2-40B4-BE49-F238E27FC236}">
                <a16:creationId xmlns:a16="http://schemas.microsoft.com/office/drawing/2014/main" id="{7E6B3E63-C268-4EAA-E77A-946E4BD092C3}"/>
              </a:ext>
            </a:extLst>
          </p:cNvPr>
          <p:cNvSpPr txBox="1"/>
          <p:nvPr/>
        </p:nvSpPr>
        <p:spPr>
          <a:xfrm>
            <a:off x="7321749" y="2553963"/>
            <a:ext cx="4283609" cy="1200329"/>
          </a:xfrm>
          <a:prstGeom prst="rect">
            <a:avLst/>
          </a:prstGeom>
          <a:noFill/>
        </p:spPr>
        <p:txBody>
          <a:bodyPr wrap="square">
            <a:spAutoFit/>
          </a:bodyPr>
          <a:lstStyle/>
          <a:p>
            <a:pPr>
              <a:buNone/>
            </a:pPr>
            <a:r>
              <a:rPr lang="en-US" b="1" dirty="0"/>
              <a:t>Models:</a:t>
            </a:r>
          </a:p>
          <a:p>
            <a:pPr>
              <a:buNone/>
            </a:pPr>
            <a:r>
              <a:rPr lang="en-US" dirty="0"/>
              <a:t>Implementing 3 different methods to evaluating which one works better on Buffaloes Milk forecasting</a:t>
            </a:r>
          </a:p>
        </p:txBody>
      </p:sp>
    </p:spTree>
    <p:extLst>
      <p:ext uri="{BB962C8B-B14F-4D97-AF65-F5344CB8AC3E}">
        <p14:creationId xmlns:p14="http://schemas.microsoft.com/office/powerpoint/2010/main" val="11053326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C6D3C-B221-6B19-9853-FA8C965B437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08AB3C7-4F02-5881-5B94-A7B70918F9B9}"/>
              </a:ext>
            </a:extLst>
          </p:cNvPr>
          <p:cNvPicPr>
            <a:picLocks noChangeAspect="1"/>
          </p:cNvPicPr>
          <p:nvPr/>
        </p:nvPicPr>
        <p:blipFill>
          <a:blip r:embed="rId3"/>
          <a:srcRect t="3750" b="9004"/>
          <a:stretch>
            <a:fillRect/>
          </a:stretch>
        </p:blipFill>
        <p:spPr>
          <a:xfrm>
            <a:off x="166199" y="1023257"/>
            <a:ext cx="11654970" cy="4981303"/>
          </a:xfrm>
          <a:prstGeom prst="rect">
            <a:avLst/>
          </a:prstGeom>
        </p:spPr>
      </p:pic>
      <p:sp>
        <p:nvSpPr>
          <p:cNvPr id="7" name="Title 1">
            <a:extLst>
              <a:ext uri="{FF2B5EF4-FFF2-40B4-BE49-F238E27FC236}">
                <a16:creationId xmlns:a16="http://schemas.microsoft.com/office/drawing/2014/main" id="{144B378A-6A36-39CF-3BDA-8CD67448DEFA}"/>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sp>
        <p:nvSpPr>
          <p:cNvPr id="3" name="Freeform 2">
            <a:extLst>
              <a:ext uri="{FF2B5EF4-FFF2-40B4-BE49-F238E27FC236}">
                <a16:creationId xmlns:a16="http://schemas.microsoft.com/office/drawing/2014/main" id="{1BE62547-4FAE-FEC9-5E69-D937A0C584EF}"/>
              </a:ext>
            </a:extLst>
          </p:cNvPr>
          <p:cNvSpPr>
            <a:spLocks/>
          </p:cNvSpPr>
          <p:nvPr/>
        </p:nvSpPr>
        <p:spPr bwMode="auto">
          <a:xfrm>
            <a:off x="-3765325" y="1243203"/>
            <a:ext cx="28254960" cy="4937760"/>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4433226" h="3129851">
                <a:moveTo>
                  <a:pt x="0" y="0"/>
                </a:moveTo>
                <a:lnTo>
                  <a:pt x="44272633" y="0"/>
                </a:lnTo>
                <a:lnTo>
                  <a:pt x="44433226" y="3129851"/>
                </a:lnTo>
                <a:lnTo>
                  <a:pt x="0" y="3129851"/>
                </a:lnTo>
                <a:lnTo>
                  <a:pt x="0" y="0"/>
                </a:lnTo>
                <a:close/>
                <a:moveTo>
                  <a:pt x="17317019" y="118849"/>
                </a:moveTo>
                <a:cubicBezTo>
                  <a:pt x="17155311" y="118849"/>
                  <a:pt x="17024220" y="141821"/>
                  <a:pt x="17024220" y="303529"/>
                </a:cubicBezTo>
                <a:lnTo>
                  <a:pt x="17024220" y="2799133"/>
                </a:lnTo>
                <a:cubicBezTo>
                  <a:pt x="17024220" y="2960841"/>
                  <a:pt x="17155311" y="2983812"/>
                  <a:pt x="17317019" y="2983812"/>
                </a:cubicBezTo>
                <a:lnTo>
                  <a:pt x="20607962" y="2983812"/>
                </a:lnTo>
                <a:cubicBezTo>
                  <a:pt x="20769670" y="2983812"/>
                  <a:pt x="20900760" y="2966531"/>
                  <a:pt x="20900760" y="2804823"/>
                </a:cubicBezTo>
                <a:lnTo>
                  <a:pt x="20900760" y="286457"/>
                </a:lnTo>
                <a:cubicBezTo>
                  <a:pt x="20900760" y="124749"/>
                  <a:pt x="20769670" y="118849"/>
                  <a:pt x="20607962" y="118849"/>
                </a:cubicBezTo>
                <a:lnTo>
                  <a:pt x="17317019" y="118849"/>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6" name="Round Same Side Corner Rectangle 3">
            <a:extLst>
              <a:ext uri="{FF2B5EF4-FFF2-40B4-BE49-F238E27FC236}">
                <a16:creationId xmlns:a16="http://schemas.microsoft.com/office/drawing/2014/main" id="{6686070D-DAA6-E853-6507-ACB2C4EF81E3}"/>
              </a:ext>
            </a:extLst>
          </p:cNvPr>
          <p:cNvSpPr>
            <a:spLocks/>
          </p:cNvSpPr>
          <p:nvPr/>
        </p:nvSpPr>
        <p:spPr bwMode="auto">
          <a:xfrm>
            <a:off x="1894788" y="2381591"/>
            <a:ext cx="4692945" cy="1558813"/>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90876" h="2336663">
                <a:moveTo>
                  <a:pt x="172899" y="842292"/>
                </a:moveTo>
                <a:cubicBezTo>
                  <a:pt x="178954" y="393507"/>
                  <a:pt x="-14398" y="111627"/>
                  <a:pt x="549444" y="99515"/>
                </a:cubicBezTo>
                <a:cubicBezTo>
                  <a:pt x="2138740" y="99515"/>
                  <a:pt x="3790908" y="569041"/>
                  <a:pt x="5317332" y="99515"/>
                </a:cubicBezTo>
                <a:cubicBezTo>
                  <a:pt x="5636500" y="-231911"/>
                  <a:pt x="5866776" y="345509"/>
                  <a:pt x="5866776" y="648959"/>
                </a:cubicBezTo>
                <a:lnTo>
                  <a:pt x="5882494" y="1870076"/>
                </a:lnTo>
                <a:cubicBezTo>
                  <a:pt x="5882494" y="2173526"/>
                  <a:pt x="5994967" y="1756663"/>
                  <a:pt x="5395922" y="2336663"/>
                </a:cubicBezTo>
                <a:cubicBezTo>
                  <a:pt x="5317485" y="1590949"/>
                  <a:pt x="2018235" y="2336663"/>
                  <a:pt x="329391" y="2336663"/>
                </a:cubicBezTo>
                <a:cubicBezTo>
                  <a:pt x="25941" y="2336663"/>
                  <a:pt x="0" y="1842098"/>
                  <a:pt x="0" y="1538648"/>
                </a:cubicBezTo>
                <a:cubicBezTo>
                  <a:pt x="0" y="1242085"/>
                  <a:pt x="172899" y="1138855"/>
                  <a:pt x="172899" y="842292"/>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5" name="TextBox 4">
            <a:extLst>
              <a:ext uri="{FF2B5EF4-FFF2-40B4-BE49-F238E27FC236}">
                <a16:creationId xmlns:a16="http://schemas.microsoft.com/office/drawing/2014/main" id="{31E549FF-B8AB-49EE-20DA-E28B6D70682C}"/>
              </a:ext>
            </a:extLst>
          </p:cNvPr>
          <p:cNvSpPr txBox="1"/>
          <p:nvPr/>
        </p:nvSpPr>
        <p:spPr>
          <a:xfrm>
            <a:off x="2140157" y="2567818"/>
            <a:ext cx="4283609" cy="1200329"/>
          </a:xfrm>
          <a:prstGeom prst="rect">
            <a:avLst/>
          </a:prstGeom>
          <a:noFill/>
        </p:spPr>
        <p:txBody>
          <a:bodyPr wrap="square">
            <a:spAutoFit/>
          </a:bodyPr>
          <a:lstStyle/>
          <a:p>
            <a:pPr>
              <a:buNone/>
            </a:pPr>
            <a:r>
              <a:rPr lang="en-US" b="1" dirty="0"/>
              <a:t>Performance:</a:t>
            </a:r>
          </a:p>
          <a:p>
            <a:pPr>
              <a:buNone/>
            </a:pPr>
            <a:r>
              <a:rPr lang="en-US" dirty="0"/>
              <a:t>Analize and compute Performance of each model and compare it with baseline</a:t>
            </a:r>
          </a:p>
        </p:txBody>
      </p:sp>
    </p:spTree>
    <p:extLst>
      <p:ext uri="{BB962C8B-B14F-4D97-AF65-F5344CB8AC3E}">
        <p14:creationId xmlns:p14="http://schemas.microsoft.com/office/powerpoint/2010/main" val="39336199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372AE-6D90-0177-F693-32185A725BF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40221C6-340E-C6E3-9C5C-5BA61F601E2D}"/>
              </a:ext>
            </a:extLst>
          </p:cNvPr>
          <p:cNvPicPr>
            <a:picLocks noChangeAspect="1"/>
          </p:cNvPicPr>
          <p:nvPr/>
        </p:nvPicPr>
        <p:blipFill>
          <a:blip r:embed="rId3"/>
          <a:srcRect t="3750" b="9004"/>
          <a:stretch>
            <a:fillRect/>
          </a:stretch>
        </p:blipFill>
        <p:spPr>
          <a:xfrm>
            <a:off x="166199" y="1023257"/>
            <a:ext cx="11654970" cy="4981303"/>
          </a:xfrm>
          <a:prstGeom prst="rect">
            <a:avLst/>
          </a:prstGeom>
        </p:spPr>
      </p:pic>
      <p:sp>
        <p:nvSpPr>
          <p:cNvPr id="7" name="Title 1">
            <a:extLst>
              <a:ext uri="{FF2B5EF4-FFF2-40B4-BE49-F238E27FC236}">
                <a16:creationId xmlns:a16="http://schemas.microsoft.com/office/drawing/2014/main" id="{6CD19B09-8A4E-F8B7-E952-299E4D326B12}"/>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Workflow – Two Phase Approach</a:t>
            </a:r>
            <a:endParaRPr lang="en-US" sz="2000" dirty="0"/>
          </a:p>
        </p:txBody>
      </p:sp>
      <p:sp>
        <p:nvSpPr>
          <p:cNvPr id="3" name="Freeform 2">
            <a:extLst>
              <a:ext uri="{FF2B5EF4-FFF2-40B4-BE49-F238E27FC236}">
                <a16:creationId xmlns:a16="http://schemas.microsoft.com/office/drawing/2014/main" id="{4A6CE074-B661-2A59-F15F-5450A6084AF8}"/>
              </a:ext>
            </a:extLst>
          </p:cNvPr>
          <p:cNvSpPr>
            <a:spLocks/>
          </p:cNvSpPr>
          <p:nvPr/>
        </p:nvSpPr>
        <p:spPr bwMode="auto">
          <a:xfrm>
            <a:off x="-577098" y="1191201"/>
            <a:ext cx="22269797" cy="5045825"/>
          </a:xfrm>
          <a:custGeom>
            <a:avLst/>
            <a:gdLst>
              <a:gd name="csX0" fmla="*/ 0 w 34958216"/>
              <a:gd name="csY0" fmla="*/ 0 h 3129851"/>
              <a:gd name="csX1" fmla="*/ 34958216 w 34958216"/>
              <a:gd name="csY1" fmla="*/ 0 h 3129851"/>
              <a:gd name="csX2" fmla="*/ 34958216 w 34958216"/>
              <a:gd name="csY2" fmla="*/ 3129851 h 3129851"/>
              <a:gd name="csX3" fmla="*/ 0 w 34958216"/>
              <a:gd name="csY3" fmla="*/ 3129851 h 3129851"/>
              <a:gd name="csX4" fmla="*/ 0 w 34958216"/>
              <a:gd name="csY4" fmla="*/ 0 h 3129851"/>
              <a:gd name="csX5" fmla="*/ 17317019 w 34958216"/>
              <a:gd name="csY5" fmla="*/ 118849 h 3129851"/>
              <a:gd name="csX6" fmla="*/ 17024220 w 34958216"/>
              <a:gd name="csY6" fmla="*/ 411648 h 3129851"/>
              <a:gd name="csX7" fmla="*/ 17024220 w 34958216"/>
              <a:gd name="csY7" fmla="*/ 2691013 h 3129851"/>
              <a:gd name="csX8" fmla="*/ 17317019 w 34958216"/>
              <a:gd name="csY8" fmla="*/ 2983812 h 3129851"/>
              <a:gd name="csX9" fmla="*/ 20607962 w 34958216"/>
              <a:gd name="csY9" fmla="*/ 2983812 h 3129851"/>
              <a:gd name="csX10" fmla="*/ 20900761 w 34958216"/>
              <a:gd name="csY10" fmla="*/ 2691013 h 3129851"/>
              <a:gd name="csX11" fmla="*/ 20900761 w 34958216"/>
              <a:gd name="csY11" fmla="*/ 411648 h 3129851"/>
              <a:gd name="csX12" fmla="*/ 20607962 w 34958216"/>
              <a:gd name="csY12" fmla="*/ 118849 h 3129851"/>
              <a:gd name="csX13" fmla="*/ 17317019 w 34958216"/>
              <a:gd name="csY13" fmla="*/ 118849 h 3129851"/>
              <a:gd name="csX0" fmla="*/ 0 w 44433226"/>
              <a:gd name="csY0" fmla="*/ 0 h 3129851"/>
              <a:gd name="csX1" fmla="*/ 34958216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1 w 44433226"/>
              <a:gd name="csY11" fmla="*/ 411648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411648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69101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1 w 44433226"/>
              <a:gd name="csY10" fmla="*/ 269101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07962 w 44433226"/>
              <a:gd name="csY12" fmla="*/ 11884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900760 w 44433226"/>
              <a:gd name="csY11" fmla="*/ 286457 h 3129851"/>
              <a:gd name="csX12" fmla="*/ 20669347 w 44433226"/>
              <a:gd name="csY12" fmla="*/ 46860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24220 w 44433226"/>
              <a:gd name="csY6" fmla="*/ 303529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69347 w 44433226"/>
              <a:gd name="csY12" fmla="*/ 46860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317019 w 44433226"/>
              <a:gd name="csY5" fmla="*/ 118849 h 3129851"/>
              <a:gd name="csX6" fmla="*/ 17036498 w 44433226"/>
              <a:gd name="csY6" fmla="*/ 633303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69347 w 44433226"/>
              <a:gd name="csY12" fmla="*/ 468609 h 3129851"/>
              <a:gd name="csX13" fmla="*/ 17317019 w 44433226"/>
              <a:gd name="csY13" fmla="*/ 118849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461947 h 3129851"/>
              <a:gd name="csX6" fmla="*/ 17036498 w 44433226"/>
              <a:gd name="csY6" fmla="*/ 633303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69347 w 44433226"/>
              <a:gd name="csY12" fmla="*/ 468609 h 3129851"/>
              <a:gd name="csX13" fmla="*/ 17280188 w 44433226"/>
              <a:gd name="csY13" fmla="*/ 461947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69347 w 44433226"/>
              <a:gd name="csY12" fmla="*/ 468609 h 3129851"/>
              <a:gd name="csX13" fmla="*/ 17280188 w 44433226"/>
              <a:gd name="csY13" fmla="*/ 511912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81624 w 44433226"/>
              <a:gd name="csY12" fmla="*/ 515244 h 3129851"/>
              <a:gd name="csX13" fmla="*/ 17280188 w 44433226"/>
              <a:gd name="csY13" fmla="*/ 511912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0 w 44433226"/>
              <a:gd name="csY7" fmla="*/ 2799133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81624 w 44433226"/>
              <a:gd name="csY12" fmla="*/ 515244 h 3129851"/>
              <a:gd name="csX13" fmla="*/ 17280188 w 44433226"/>
              <a:gd name="csY13" fmla="*/ 511912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1 w 44433226"/>
              <a:gd name="csY7" fmla="*/ 2326124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81624 w 44433226"/>
              <a:gd name="csY12" fmla="*/ 515244 h 3129851"/>
              <a:gd name="csX13" fmla="*/ 17280188 w 44433226"/>
              <a:gd name="csY13" fmla="*/ 511912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1 w 44433226"/>
              <a:gd name="csY7" fmla="*/ 2206207 h 3129851"/>
              <a:gd name="csX8" fmla="*/ 17317019 w 44433226"/>
              <a:gd name="csY8" fmla="*/ 2983812 h 3129851"/>
              <a:gd name="csX9" fmla="*/ 20607962 w 44433226"/>
              <a:gd name="csY9" fmla="*/ 2983812 h 3129851"/>
              <a:gd name="csX10" fmla="*/ 20900760 w 44433226"/>
              <a:gd name="csY10" fmla="*/ 2804823 h 3129851"/>
              <a:gd name="csX11" fmla="*/ 20888482 w 44433226"/>
              <a:gd name="csY11" fmla="*/ 652872 h 3129851"/>
              <a:gd name="csX12" fmla="*/ 20681624 w 44433226"/>
              <a:gd name="csY12" fmla="*/ 515244 h 3129851"/>
              <a:gd name="csX13" fmla="*/ 17280188 w 44433226"/>
              <a:gd name="csY13" fmla="*/ 511912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1 w 44433226"/>
              <a:gd name="csY7" fmla="*/ 2206207 h 3129851"/>
              <a:gd name="csX8" fmla="*/ 17317019 w 44433226"/>
              <a:gd name="csY8" fmla="*/ 2983812 h 3129851"/>
              <a:gd name="csX9" fmla="*/ 20607962 w 44433226"/>
              <a:gd name="csY9" fmla="*/ 2983812 h 3129851"/>
              <a:gd name="csX10" fmla="*/ 20900761 w 44433226"/>
              <a:gd name="csY10" fmla="*/ 2245207 h 3129851"/>
              <a:gd name="csX11" fmla="*/ 20888482 w 44433226"/>
              <a:gd name="csY11" fmla="*/ 652872 h 3129851"/>
              <a:gd name="csX12" fmla="*/ 20681624 w 44433226"/>
              <a:gd name="csY12" fmla="*/ 515244 h 3129851"/>
              <a:gd name="csX13" fmla="*/ 17280188 w 44433226"/>
              <a:gd name="csY13" fmla="*/ 511912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1 w 44433226"/>
              <a:gd name="csY7" fmla="*/ 2206207 h 3129851"/>
              <a:gd name="csX8" fmla="*/ 17317019 w 44433226"/>
              <a:gd name="csY8" fmla="*/ 2983812 h 3129851"/>
              <a:gd name="csX9" fmla="*/ 20657070 w 44433226"/>
              <a:gd name="csY9" fmla="*/ 2344251 h 3129851"/>
              <a:gd name="csX10" fmla="*/ 20900761 w 44433226"/>
              <a:gd name="csY10" fmla="*/ 2245207 h 3129851"/>
              <a:gd name="csX11" fmla="*/ 20888482 w 44433226"/>
              <a:gd name="csY11" fmla="*/ 652872 h 3129851"/>
              <a:gd name="csX12" fmla="*/ 20681624 w 44433226"/>
              <a:gd name="csY12" fmla="*/ 515244 h 3129851"/>
              <a:gd name="csX13" fmla="*/ 17280188 w 44433226"/>
              <a:gd name="csY13" fmla="*/ 511912 h 3129851"/>
              <a:gd name="csX0" fmla="*/ 0 w 44433226"/>
              <a:gd name="csY0" fmla="*/ 0 h 3129851"/>
              <a:gd name="csX1" fmla="*/ 44272633 w 44433226"/>
              <a:gd name="csY1" fmla="*/ 0 h 3129851"/>
              <a:gd name="csX2" fmla="*/ 44433226 w 44433226"/>
              <a:gd name="csY2" fmla="*/ 3129851 h 3129851"/>
              <a:gd name="csX3" fmla="*/ 0 w 44433226"/>
              <a:gd name="csY3" fmla="*/ 3129851 h 3129851"/>
              <a:gd name="csX4" fmla="*/ 0 w 44433226"/>
              <a:gd name="csY4" fmla="*/ 0 h 3129851"/>
              <a:gd name="csX5" fmla="*/ 17280188 w 44433226"/>
              <a:gd name="csY5" fmla="*/ 511912 h 3129851"/>
              <a:gd name="csX6" fmla="*/ 17036498 w 44433226"/>
              <a:gd name="csY6" fmla="*/ 633303 h 3129851"/>
              <a:gd name="csX7" fmla="*/ 17024221 w 44433226"/>
              <a:gd name="csY7" fmla="*/ 2206207 h 3129851"/>
              <a:gd name="csX8" fmla="*/ 17280188 w 44433226"/>
              <a:gd name="csY8" fmla="*/ 2344251 h 3129851"/>
              <a:gd name="csX9" fmla="*/ 20657070 w 44433226"/>
              <a:gd name="csY9" fmla="*/ 2344251 h 3129851"/>
              <a:gd name="csX10" fmla="*/ 20900761 w 44433226"/>
              <a:gd name="csY10" fmla="*/ 2245207 h 3129851"/>
              <a:gd name="csX11" fmla="*/ 20888482 w 44433226"/>
              <a:gd name="csY11" fmla="*/ 652872 h 3129851"/>
              <a:gd name="csX12" fmla="*/ 20681624 w 44433226"/>
              <a:gd name="csY12" fmla="*/ 515244 h 3129851"/>
              <a:gd name="csX13" fmla="*/ 17280188 w 44433226"/>
              <a:gd name="csY13" fmla="*/ 511912 h 3129851"/>
              <a:gd name="csX0" fmla="*/ 0 w 52026493"/>
              <a:gd name="csY0" fmla="*/ 0 h 3198349"/>
              <a:gd name="csX1" fmla="*/ 51865900 w 52026493"/>
              <a:gd name="csY1" fmla="*/ 68498 h 3198349"/>
              <a:gd name="csX2" fmla="*/ 52026493 w 52026493"/>
              <a:gd name="csY2" fmla="*/ 3198349 h 3198349"/>
              <a:gd name="csX3" fmla="*/ 7593267 w 52026493"/>
              <a:gd name="csY3" fmla="*/ 3198349 h 3198349"/>
              <a:gd name="csX4" fmla="*/ 0 w 52026493"/>
              <a:gd name="csY4" fmla="*/ 0 h 3198349"/>
              <a:gd name="csX5" fmla="*/ 24873455 w 52026493"/>
              <a:gd name="csY5" fmla="*/ 580410 h 3198349"/>
              <a:gd name="csX6" fmla="*/ 24629765 w 52026493"/>
              <a:gd name="csY6" fmla="*/ 701801 h 3198349"/>
              <a:gd name="csX7" fmla="*/ 24617488 w 52026493"/>
              <a:gd name="csY7" fmla="*/ 2274705 h 3198349"/>
              <a:gd name="csX8" fmla="*/ 24873455 w 52026493"/>
              <a:gd name="csY8" fmla="*/ 2412749 h 3198349"/>
              <a:gd name="csX9" fmla="*/ 28250337 w 52026493"/>
              <a:gd name="csY9" fmla="*/ 2412749 h 3198349"/>
              <a:gd name="csX10" fmla="*/ 28494028 w 52026493"/>
              <a:gd name="csY10" fmla="*/ 2313705 h 3198349"/>
              <a:gd name="csX11" fmla="*/ 28481749 w 52026493"/>
              <a:gd name="csY11" fmla="*/ 721370 h 3198349"/>
              <a:gd name="csX12" fmla="*/ 28274891 w 52026493"/>
              <a:gd name="csY12" fmla="*/ 583742 h 3198349"/>
              <a:gd name="csX13" fmla="*/ 24873455 w 52026493"/>
              <a:gd name="csY13" fmla="*/ 580410 h 3198349"/>
              <a:gd name="csX0" fmla="*/ 0 w 52026493"/>
              <a:gd name="csY0" fmla="*/ 0 h 3198349"/>
              <a:gd name="csX1" fmla="*/ 51865900 w 52026493"/>
              <a:gd name="csY1" fmla="*/ 68498 h 3198349"/>
              <a:gd name="csX2" fmla="*/ 52026493 w 52026493"/>
              <a:gd name="csY2" fmla="*/ 3198349 h 3198349"/>
              <a:gd name="csX3" fmla="*/ 699126 w 52026493"/>
              <a:gd name="csY3" fmla="*/ 3193080 h 3198349"/>
              <a:gd name="csX4" fmla="*/ 0 w 52026493"/>
              <a:gd name="csY4" fmla="*/ 0 h 3198349"/>
              <a:gd name="csX5" fmla="*/ 24873455 w 52026493"/>
              <a:gd name="csY5" fmla="*/ 580410 h 3198349"/>
              <a:gd name="csX6" fmla="*/ 24629765 w 52026493"/>
              <a:gd name="csY6" fmla="*/ 701801 h 3198349"/>
              <a:gd name="csX7" fmla="*/ 24617488 w 52026493"/>
              <a:gd name="csY7" fmla="*/ 2274705 h 3198349"/>
              <a:gd name="csX8" fmla="*/ 24873455 w 52026493"/>
              <a:gd name="csY8" fmla="*/ 2412749 h 3198349"/>
              <a:gd name="csX9" fmla="*/ 28250337 w 52026493"/>
              <a:gd name="csY9" fmla="*/ 2412749 h 3198349"/>
              <a:gd name="csX10" fmla="*/ 28494028 w 52026493"/>
              <a:gd name="csY10" fmla="*/ 2313705 h 3198349"/>
              <a:gd name="csX11" fmla="*/ 28481749 w 52026493"/>
              <a:gd name="csY11" fmla="*/ 721370 h 3198349"/>
              <a:gd name="csX12" fmla="*/ 28274891 w 52026493"/>
              <a:gd name="csY12" fmla="*/ 583742 h 3198349"/>
              <a:gd name="csX13" fmla="*/ 24873455 w 52026493"/>
              <a:gd name="csY13" fmla="*/ 580410 h 31983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2026493" h="3198349">
                <a:moveTo>
                  <a:pt x="0" y="0"/>
                </a:moveTo>
                <a:lnTo>
                  <a:pt x="51865900" y="68498"/>
                </a:lnTo>
                <a:lnTo>
                  <a:pt x="52026493" y="3198349"/>
                </a:lnTo>
                <a:lnTo>
                  <a:pt x="699126" y="3193080"/>
                </a:lnTo>
                <a:lnTo>
                  <a:pt x="0" y="0"/>
                </a:lnTo>
                <a:close/>
                <a:moveTo>
                  <a:pt x="24873455" y="580410"/>
                </a:moveTo>
                <a:cubicBezTo>
                  <a:pt x="24711747" y="580410"/>
                  <a:pt x="24629765" y="540093"/>
                  <a:pt x="24629765" y="701801"/>
                </a:cubicBezTo>
                <a:cubicBezTo>
                  <a:pt x="24625672" y="1423744"/>
                  <a:pt x="24621581" y="1552762"/>
                  <a:pt x="24617488" y="2274705"/>
                </a:cubicBezTo>
                <a:cubicBezTo>
                  <a:pt x="24617488" y="2436413"/>
                  <a:pt x="24711747" y="2412749"/>
                  <a:pt x="24873455" y="2412749"/>
                </a:cubicBezTo>
                <a:lnTo>
                  <a:pt x="28250337" y="2412749"/>
                </a:lnTo>
                <a:cubicBezTo>
                  <a:pt x="28412045" y="2412749"/>
                  <a:pt x="28494028" y="2475413"/>
                  <a:pt x="28494028" y="2313705"/>
                </a:cubicBezTo>
                <a:cubicBezTo>
                  <a:pt x="28489935" y="1596388"/>
                  <a:pt x="28485842" y="1438687"/>
                  <a:pt x="28481749" y="721370"/>
                </a:cubicBezTo>
                <a:cubicBezTo>
                  <a:pt x="28481749" y="559662"/>
                  <a:pt x="28497985" y="603729"/>
                  <a:pt x="28274891" y="583742"/>
                </a:cubicBezTo>
                <a:lnTo>
                  <a:pt x="24873455" y="580410"/>
                </a:lnTo>
                <a:close/>
              </a:path>
            </a:pathLst>
          </a:custGeom>
          <a:solidFill>
            <a:schemeClr val="bg1">
              <a:lumMod val="95000"/>
              <a:alpha val="86000"/>
            </a:schemeClr>
          </a:solidFill>
          <a:ln>
            <a:noFill/>
          </a:ln>
        </p:spPr>
        <p:txBody>
          <a:bodyPr vert="horz" wrap="square" lIns="91440" tIns="45720" rIns="91440" bIns="45720" numCol="1" rtlCol="0" anchor="t" anchorCtr="0" compatLnSpc="1">
            <a:prstTxWarp prst="textNoShape">
              <a:avLst/>
            </a:prstTxWarp>
            <a:noAutofit/>
          </a:bodyPr>
          <a:lstStyle/>
          <a:p>
            <a:pPr algn="ctr"/>
            <a:endParaRPr lang="en-US" dirty="0"/>
          </a:p>
        </p:txBody>
      </p:sp>
      <p:sp>
        <p:nvSpPr>
          <p:cNvPr id="4" name="Round Same Side Corner Rectangle 3">
            <a:extLst>
              <a:ext uri="{FF2B5EF4-FFF2-40B4-BE49-F238E27FC236}">
                <a16:creationId xmlns:a16="http://schemas.microsoft.com/office/drawing/2014/main" id="{D3501E6A-E756-4962-864D-73B08975F81A}"/>
              </a:ext>
            </a:extLst>
          </p:cNvPr>
          <p:cNvSpPr>
            <a:spLocks/>
          </p:cNvSpPr>
          <p:nvPr/>
        </p:nvSpPr>
        <p:spPr bwMode="auto">
          <a:xfrm>
            <a:off x="4477132" y="2369960"/>
            <a:ext cx="4012445" cy="1512083"/>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172899 w 5866776"/>
              <a:gd name="csY0" fmla="*/ 742777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172899 w 5866776"/>
              <a:gd name="csY8" fmla="*/ 742777 h 1988577"/>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17332 w 5866776"/>
              <a:gd name="csY5" fmla="*/ 1988577 h 2237148"/>
              <a:gd name="csX6" fmla="*/ 329391 w 5866776"/>
              <a:gd name="csY6" fmla="*/ 2237148 h 2237148"/>
              <a:gd name="csX7" fmla="*/ 0 w 5866776"/>
              <a:gd name="csY7" fmla="*/ 1439133 h 2237148"/>
              <a:gd name="csX8" fmla="*/ 172899 w 5866776"/>
              <a:gd name="csY8" fmla="*/ 742777 h 2237148"/>
              <a:gd name="csX0" fmla="*/ 172899 w 5866776"/>
              <a:gd name="csY0" fmla="*/ 742777 h 2237148"/>
              <a:gd name="csX1" fmla="*/ 549444 w 5866776"/>
              <a:gd name="csY1" fmla="*/ 0 h 2237148"/>
              <a:gd name="csX2" fmla="*/ 5317332 w 5866776"/>
              <a:gd name="csY2" fmla="*/ 0 h 2237148"/>
              <a:gd name="csX3" fmla="*/ 5866776 w 5866776"/>
              <a:gd name="csY3" fmla="*/ 549444 h 2237148"/>
              <a:gd name="csX4" fmla="*/ 5866776 w 5866776"/>
              <a:gd name="csY4" fmla="*/ 1439133 h 2237148"/>
              <a:gd name="csX5" fmla="*/ 5301614 w 5866776"/>
              <a:gd name="csY5" fmla="*/ 1712386 h 2237148"/>
              <a:gd name="csX6" fmla="*/ 329391 w 5866776"/>
              <a:gd name="csY6" fmla="*/ 2237148 h 2237148"/>
              <a:gd name="csX7" fmla="*/ 0 w 5866776"/>
              <a:gd name="csY7" fmla="*/ 1439133 h 2237148"/>
              <a:gd name="csX8" fmla="*/ 172899 w 5866776"/>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01614 w 5882494"/>
              <a:gd name="csY5" fmla="*/ 1712386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742777 h 2237148"/>
              <a:gd name="csX1" fmla="*/ 549444 w 5882494"/>
              <a:gd name="csY1" fmla="*/ 0 h 2237148"/>
              <a:gd name="csX2" fmla="*/ 5317332 w 5882494"/>
              <a:gd name="csY2" fmla="*/ 0 h 2237148"/>
              <a:gd name="csX3" fmla="*/ 5866776 w 5882494"/>
              <a:gd name="csY3" fmla="*/ 549444 h 2237148"/>
              <a:gd name="csX4" fmla="*/ 5882494 w 5882494"/>
              <a:gd name="csY4" fmla="*/ 1770561 h 2237148"/>
              <a:gd name="csX5" fmla="*/ 5395922 w 5882494"/>
              <a:gd name="csY5" fmla="*/ 2237148 h 2237148"/>
              <a:gd name="csX6" fmla="*/ 329391 w 5882494"/>
              <a:gd name="csY6" fmla="*/ 2237148 h 2237148"/>
              <a:gd name="csX7" fmla="*/ 0 w 5882494"/>
              <a:gd name="csY7" fmla="*/ 1439133 h 2237148"/>
              <a:gd name="csX8" fmla="*/ 172899 w 5882494"/>
              <a:gd name="csY8" fmla="*/ 742777 h 2237148"/>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82494"/>
              <a:gd name="csY0" fmla="*/ 842292 h 2336663"/>
              <a:gd name="csX1" fmla="*/ 549444 w 5882494"/>
              <a:gd name="csY1" fmla="*/ 99515 h 2336663"/>
              <a:gd name="csX2" fmla="*/ 5317332 w 5882494"/>
              <a:gd name="csY2" fmla="*/ 99515 h 2336663"/>
              <a:gd name="csX3" fmla="*/ 5866776 w 5882494"/>
              <a:gd name="csY3" fmla="*/ 648959 h 2336663"/>
              <a:gd name="csX4" fmla="*/ 5882494 w 5882494"/>
              <a:gd name="csY4" fmla="*/ 1870076 h 2336663"/>
              <a:gd name="csX5" fmla="*/ 5395922 w 5882494"/>
              <a:gd name="csY5" fmla="*/ 2336663 h 2336663"/>
              <a:gd name="csX6" fmla="*/ 329391 w 5882494"/>
              <a:gd name="csY6" fmla="*/ 2336663 h 2336663"/>
              <a:gd name="csX7" fmla="*/ 0 w 5882494"/>
              <a:gd name="csY7" fmla="*/ 1538648 h 2336663"/>
              <a:gd name="csX8" fmla="*/ 172899 w 5882494"/>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42292 h 2336663"/>
              <a:gd name="csX1" fmla="*/ 549444 w 5890876"/>
              <a:gd name="csY1" fmla="*/ 99515 h 2336663"/>
              <a:gd name="csX2" fmla="*/ 5317332 w 5890876"/>
              <a:gd name="csY2" fmla="*/ 99515 h 2336663"/>
              <a:gd name="csX3" fmla="*/ 5866776 w 5890876"/>
              <a:gd name="csY3" fmla="*/ 648959 h 2336663"/>
              <a:gd name="csX4" fmla="*/ 5882494 w 5890876"/>
              <a:gd name="csY4" fmla="*/ 1870076 h 2336663"/>
              <a:gd name="csX5" fmla="*/ 5395922 w 5890876"/>
              <a:gd name="csY5" fmla="*/ 2336663 h 2336663"/>
              <a:gd name="csX6" fmla="*/ 329391 w 5890876"/>
              <a:gd name="csY6" fmla="*/ 2336663 h 2336663"/>
              <a:gd name="csX7" fmla="*/ 0 w 5890876"/>
              <a:gd name="csY7" fmla="*/ 1538648 h 2336663"/>
              <a:gd name="csX8" fmla="*/ 172899 w 5890876"/>
              <a:gd name="csY8" fmla="*/ 842292 h 2336663"/>
              <a:gd name="csX0" fmla="*/ 172899 w 5890876"/>
              <a:gd name="csY0" fmla="*/ 864233 h 2358604"/>
              <a:gd name="csX1" fmla="*/ 523462 w 5890876"/>
              <a:gd name="csY1" fmla="*/ 0 h 2358604"/>
              <a:gd name="csX2" fmla="*/ 5317332 w 5890876"/>
              <a:gd name="csY2" fmla="*/ 121456 h 2358604"/>
              <a:gd name="csX3" fmla="*/ 5866776 w 5890876"/>
              <a:gd name="csY3" fmla="*/ 670900 h 2358604"/>
              <a:gd name="csX4" fmla="*/ 5882494 w 5890876"/>
              <a:gd name="csY4" fmla="*/ 1892017 h 2358604"/>
              <a:gd name="csX5" fmla="*/ 5395922 w 5890876"/>
              <a:gd name="csY5" fmla="*/ 2358604 h 2358604"/>
              <a:gd name="csX6" fmla="*/ 329391 w 5890876"/>
              <a:gd name="csY6" fmla="*/ 2358604 h 2358604"/>
              <a:gd name="csX7" fmla="*/ 0 w 5890876"/>
              <a:gd name="csY7" fmla="*/ 1560589 h 2358604"/>
              <a:gd name="csX8" fmla="*/ 172899 w 5890876"/>
              <a:gd name="csY8" fmla="*/ 864233 h 2358604"/>
              <a:gd name="csX0" fmla="*/ 172899 w 5890876"/>
              <a:gd name="csY0" fmla="*/ 1453650 h 2948021"/>
              <a:gd name="csX1" fmla="*/ 523462 w 5890876"/>
              <a:gd name="csY1" fmla="*/ 589417 h 2948021"/>
              <a:gd name="csX2" fmla="*/ 5317332 w 5890876"/>
              <a:gd name="csY2" fmla="*/ 710873 h 2948021"/>
              <a:gd name="csX3" fmla="*/ 5866776 w 5890876"/>
              <a:gd name="csY3" fmla="*/ 1260317 h 2948021"/>
              <a:gd name="csX4" fmla="*/ 5882494 w 5890876"/>
              <a:gd name="csY4" fmla="*/ 2481434 h 2948021"/>
              <a:gd name="csX5" fmla="*/ 5395922 w 5890876"/>
              <a:gd name="csY5" fmla="*/ 2948021 h 2948021"/>
              <a:gd name="csX6" fmla="*/ 329391 w 5890876"/>
              <a:gd name="csY6" fmla="*/ 2948021 h 2948021"/>
              <a:gd name="csX7" fmla="*/ 0 w 5890876"/>
              <a:gd name="csY7" fmla="*/ 2150006 h 2948021"/>
              <a:gd name="csX8" fmla="*/ 172899 w 5890876"/>
              <a:gd name="csY8" fmla="*/ 1453650 h 2948021"/>
              <a:gd name="csX0" fmla="*/ 172899 w 5890876"/>
              <a:gd name="csY0" fmla="*/ 1203736 h 2698107"/>
              <a:gd name="csX1" fmla="*/ 523462 w 5890876"/>
              <a:gd name="csY1" fmla="*/ 339503 h 2698107"/>
              <a:gd name="csX2" fmla="*/ 5317332 w 5890876"/>
              <a:gd name="csY2" fmla="*/ 460959 h 2698107"/>
              <a:gd name="csX3" fmla="*/ 5866776 w 5890876"/>
              <a:gd name="csY3" fmla="*/ 1010403 h 2698107"/>
              <a:gd name="csX4" fmla="*/ 5882494 w 5890876"/>
              <a:gd name="csY4" fmla="*/ 2231520 h 2698107"/>
              <a:gd name="csX5" fmla="*/ 5395922 w 5890876"/>
              <a:gd name="csY5" fmla="*/ 2698107 h 2698107"/>
              <a:gd name="csX6" fmla="*/ 329391 w 5890876"/>
              <a:gd name="csY6" fmla="*/ 2698107 h 2698107"/>
              <a:gd name="csX7" fmla="*/ 0 w 5890876"/>
              <a:gd name="csY7" fmla="*/ 1900092 h 2698107"/>
              <a:gd name="csX8" fmla="*/ 172899 w 5890876"/>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3275 w 5901252"/>
              <a:gd name="csY0" fmla="*/ 1203736 h 2698107"/>
              <a:gd name="csX1" fmla="*/ 533838 w 5901252"/>
              <a:gd name="csY1" fmla="*/ 339503 h 2698107"/>
              <a:gd name="csX2" fmla="*/ 5327708 w 5901252"/>
              <a:gd name="csY2" fmla="*/ 460959 h 2698107"/>
              <a:gd name="csX3" fmla="*/ 5877152 w 5901252"/>
              <a:gd name="csY3" fmla="*/ 1010403 h 2698107"/>
              <a:gd name="csX4" fmla="*/ 5892870 w 5901252"/>
              <a:gd name="csY4" fmla="*/ 2231520 h 2698107"/>
              <a:gd name="csX5" fmla="*/ 5406298 w 5901252"/>
              <a:gd name="csY5" fmla="*/ 2698107 h 2698107"/>
              <a:gd name="csX6" fmla="*/ 339767 w 5901252"/>
              <a:gd name="csY6" fmla="*/ 2698107 h 2698107"/>
              <a:gd name="csX7" fmla="*/ 10376 w 5901252"/>
              <a:gd name="csY7" fmla="*/ 1900092 h 2698107"/>
              <a:gd name="csX8" fmla="*/ 183275 w 5901252"/>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905778"/>
              <a:gd name="csY0" fmla="*/ 1203736 h 2698107"/>
              <a:gd name="csX1" fmla="*/ 538364 w 5905778"/>
              <a:gd name="csY1" fmla="*/ 339503 h 2698107"/>
              <a:gd name="csX2" fmla="*/ 5332234 w 5905778"/>
              <a:gd name="csY2" fmla="*/ 460959 h 2698107"/>
              <a:gd name="csX3" fmla="*/ 5881678 w 5905778"/>
              <a:gd name="csY3" fmla="*/ 1010403 h 2698107"/>
              <a:gd name="csX4" fmla="*/ 5897396 w 5905778"/>
              <a:gd name="csY4" fmla="*/ 2231520 h 2698107"/>
              <a:gd name="csX5" fmla="*/ 5410824 w 5905778"/>
              <a:gd name="csY5" fmla="*/ 2698107 h 2698107"/>
              <a:gd name="csX6" fmla="*/ 344293 w 5905778"/>
              <a:gd name="csY6" fmla="*/ 2698107 h 2698107"/>
              <a:gd name="csX7" fmla="*/ 14902 w 5905778"/>
              <a:gd name="csY7" fmla="*/ 1900092 h 2698107"/>
              <a:gd name="csX8" fmla="*/ 187801 w 5905778"/>
              <a:gd name="csY8" fmla="*/ 1203736 h 2698107"/>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1203736 h 2746688"/>
              <a:gd name="csX1" fmla="*/ 538364 w 5897396"/>
              <a:gd name="csY1" fmla="*/ 339503 h 2746688"/>
              <a:gd name="csX2" fmla="*/ 5332234 w 5897396"/>
              <a:gd name="csY2" fmla="*/ 460959 h 2746688"/>
              <a:gd name="csX3" fmla="*/ 5881678 w 5897396"/>
              <a:gd name="csY3" fmla="*/ 1010403 h 2746688"/>
              <a:gd name="csX4" fmla="*/ 5897396 w 5897396"/>
              <a:gd name="csY4" fmla="*/ 2231520 h 2746688"/>
              <a:gd name="csX5" fmla="*/ 4891175 w 5897396"/>
              <a:gd name="csY5" fmla="*/ 2746688 h 2746688"/>
              <a:gd name="csX6" fmla="*/ 344293 w 5897396"/>
              <a:gd name="csY6" fmla="*/ 2698107 h 2746688"/>
              <a:gd name="csX7" fmla="*/ 14902 w 5897396"/>
              <a:gd name="csY7" fmla="*/ 1900092 h 2746688"/>
              <a:gd name="csX8" fmla="*/ 187801 w 5897396"/>
              <a:gd name="csY8" fmla="*/ 1203736 h 2746688"/>
              <a:gd name="csX0" fmla="*/ 187801 w 5897396"/>
              <a:gd name="csY0" fmla="*/ 876464 h 2419416"/>
              <a:gd name="csX1" fmla="*/ 538364 w 5897396"/>
              <a:gd name="csY1" fmla="*/ 12231 h 2419416"/>
              <a:gd name="csX2" fmla="*/ 4695663 w 5897396"/>
              <a:gd name="csY2" fmla="*/ 182271 h 2419416"/>
              <a:gd name="csX3" fmla="*/ 5881678 w 5897396"/>
              <a:gd name="csY3" fmla="*/ 683131 h 2419416"/>
              <a:gd name="csX4" fmla="*/ 5897396 w 5897396"/>
              <a:gd name="csY4" fmla="*/ 1904248 h 2419416"/>
              <a:gd name="csX5" fmla="*/ 4891175 w 5897396"/>
              <a:gd name="csY5" fmla="*/ 2419416 h 2419416"/>
              <a:gd name="csX6" fmla="*/ 344293 w 5897396"/>
              <a:gd name="csY6" fmla="*/ 2370835 h 2419416"/>
              <a:gd name="csX7" fmla="*/ 14902 w 5897396"/>
              <a:gd name="csY7" fmla="*/ 1572820 h 2419416"/>
              <a:gd name="csX8" fmla="*/ 187801 w 5897396"/>
              <a:gd name="csY8" fmla="*/ 876464 h 2419416"/>
              <a:gd name="csX0" fmla="*/ 104283 w 6008746"/>
              <a:gd name="csY0" fmla="*/ 626922 h 2412790"/>
              <a:gd name="csX1" fmla="*/ 649714 w 6008746"/>
              <a:gd name="csY1" fmla="*/ 5605 h 2412790"/>
              <a:gd name="csX2" fmla="*/ 4807013 w 6008746"/>
              <a:gd name="csY2" fmla="*/ 175645 h 2412790"/>
              <a:gd name="csX3" fmla="*/ 5993028 w 6008746"/>
              <a:gd name="csY3" fmla="*/ 676505 h 2412790"/>
              <a:gd name="csX4" fmla="*/ 6008746 w 6008746"/>
              <a:gd name="csY4" fmla="*/ 1897622 h 2412790"/>
              <a:gd name="csX5" fmla="*/ 5002525 w 6008746"/>
              <a:gd name="csY5" fmla="*/ 2412790 h 2412790"/>
              <a:gd name="csX6" fmla="*/ 455643 w 6008746"/>
              <a:gd name="csY6" fmla="*/ 2364209 h 2412790"/>
              <a:gd name="csX7" fmla="*/ 126252 w 6008746"/>
              <a:gd name="csY7" fmla="*/ 1566194 h 2412790"/>
              <a:gd name="csX8" fmla="*/ 104283 w 6008746"/>
              <a:gd name="csY8" fmla="*/ 626922 h 2412790"/>
              <a:gd name="csX0" fmla="*/ 104283 w 6008746"/>
              <a:gd name="csY0" fmla="*/ 522324 h 2308192"/>
              <a:gd name="csX1" fmla="*/ 1000478 w 6008746"/>
              <a:gd name="csY1" fmla="*/ 192506 h 2308192"/>
              <a:gd name="csX2" fmla="*/ 4807013 w 6008746"/>
              <a:gd name="csY2" fmla="*/ 71047 h 2308192"/>
              <a:gd name="csX3" fmla="*/ 5993028 w 6008746"/>
              <a:gd name="csY3" fmla="*/ 571907 h 2308192"/>
              <a:gd name="csX4" fmla="*/ 6008746 w 6008746"/>
              <a:gd name="csY4" fmla="*/ 1793024 h 2308192"/>
              <a:gd name="csX5" fmla="*/ 5002525 w 6008746"/>
              <a:gd name="csY5" fmla="*/ 2308192 h 2308192"/>
              <a:gd name="csX6" fmla="*/ 455643 w 6008746"/>
              <a:gd name="csY6" fmla="*/ 2259611 h 2308192"/>
              <a:gd name="csX7" fmla="*/ 126252 w 6008746"/>
              <a:gd name="csY7" fmla="*/ 1461596 h 2308192"/>
              <a:gd name="csX8" fmla="*/ 104283 w 6008746"/>
              <a:gd name="csY8" fmla="*/ 522324 h 2308192"/>
              <a:gd name="csX0" fmla="*/ 146883 w 5921434"/>
              <a:gd name="csY0" fmla="*/ 813824 h 2308192"/>
              <a:gd name="csX1" fmla="*/ 913166 w 5921434"/>
              <a:gd name="csY1" fmla="*/ 19250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757271 w 5921434"/>
              <a:gd name="csY1" fmla="*/ 362546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13824 h 2308192"/>
              <a:gd name="csX1" fmla="*/ 887184 w 5921434"/>
              <a:gd name="csY1" fmla="*/ 168214 h 2308192"/>
              <a:gd name="csX2" fmla="*/ 4719701 w 5921434"/>
              <a:gd name="csY2" fmla="*/ 71047 h 2308192"/>
              <a:gd name="csX3" fmla="*/ 5905716 w 5921434"/>
              <a:gd name="csY3" fmla="*/ 571907 h 2308192"/>
              <a:gd name="csX4" fmla="*/ 5921434 w 5921434"/>
              <a:gd name="csY4" fmla="*/ 1793024 h 2308192"/>
              <a:gd name="csX5" fmla="*/ 4915213 w 5921434"/>
              <a:gd name="csY5" fmla="*/ 2308192 h 2308192"/>
              <a:gd name="csX6" fmla="*/ 368331 w 5921434"/>
              <a:gd name="csY6" fmla="*/ 2259611 h 2308192"/>
              <a:gd name="csX7" fmla="*/ 38940 w 5921434"/>
              <a:gd name="csY7" fmla="*/ 1461596 h 2308192"/>
              <a:gd name="csX8" fmla="*/ 146883 w 5921434"/>
              <a:gd name="csY8" fmla="*/ 813824 h 2308192"/>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46883 w 5921434"/>
              <a:gd name="csY0" fmla="*/ 833567 h 2327935"/>
              <a:gd name="csX1" fmla="*/ 952139 w 5921434"/>
              <a:gd name="csY1" fmla="*/ 139374 h 2327935"/>
              <a:gd name="csX2" fmla="*/ 4719701 w 5921434"/>
              <a:gd name="csY2" fmla="*/ 90790 h 2327935"/>
              <a:gd name="csX3" fmla="*/ 5905716 w 5921434"/>
              <a:gd name="csY3" fmla="*/ 591650 h 2327935"/>
              <a:gd name="csX4" fmla="*/ 5921434 w 5921434"/>
              <a:gd name="csY4" fmla="*/ 1812767 h 2327935"/>
              <a:gd name="csX5" fmla="*/ 4915213 w 5921434"/>
              <a:gd name="csY5" fmla="*/ 2327935 h 2327935"/>
              <a:gd name="csX6" fmla="*/ 368331 w 5921434"/>
              <a:gd name="csY6" fmla="*/ 2279354 h 2327935"/>
              <a:gd name="csX7" fmla="*/ 38940 w 5921434"/>
              <a:gd name="csY7" fmla="*/ 1481339 h 2327935"/>
              <a:gd name="csX8" fmla="*/ 146883 w 5921434"/>
              <a:gd name="csY8" fmla="*/ 833567 h 2327935"/>
              <a:gd name="csX0" fmla="*/ 168950 w 5943501"/>
              <a:gd name="csY0" fmla="*/ 833567 h 2327935"/>
              <a:gd name="csX1" fmla="*/ 974206 w 5943501"/>
              <a:gd name="csY1" fmla="*/ 139374 h 2327935"/>
              <a:gd name="csX2" fmla="*/ 4741768 w 5943501"/>
              <a:gd name="csY2" fmla="*/ 90790 h 2327935"/>
              <a:gd name="csX3" fmla="*/ 5927783 w 5943501"/>
              <a:gd name="csY3" fmla="*/ 591650 h 2327935"/>
              <a:gd name="csX4" fmla="*/ 5943501 w 5943501"/>
              <a:gd name="csY4" fmla="*/ 1812767 h 2327935"/>
              <a:gd name="csX5" fmla="*/ 4937280 w 5943501"/>
              <a:gd name="csY5" fmla="*/ 2327935 h 2327935"/>
              <a:gd name="csX6" fmla="*/ 390398 w 5943501"/>
              <a:gd name="csY6" fmla="*/ 2279354 h 2327935"/>
              <a:gd name="csX7" fmla="*/ 18555 w 5943501"/>
              <a:gd name="csY7" fmla="*/ 1814725 h 2327935"/>
              <a:gd name="csX8" fmla="*/ 168950 w 5943501"/>
              <a:gd name="csY8" fmla="*/ 833567 h 2327935"/>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55027 w 5955050"/>
              <a:gd name="csY0" fmla="*/ 718571 h 2308192"/>
              <a:gd name="csX1" fmla="*/ 985755 w 5955050"/>
              <a:gd name="csY1" fmla="*/ 119631 h 2308192"/>
              <a:gd name="csX2" fmla="*/ 4753317 w 5955050"/>
              <a:gd name="csY2" fmla="*/ 71047 h 2308192"/>
              <a:gd name="csX3" fmla="*/ 5939332 w 5955050"/>
              <a:gd name="csY3" fmla="*/ 571907 h 2308192"/>
              <a:gd name="csX4" fmla="*/ 5955050 w 5955050"/>
              <a:gd name="csY4" fmla="*/ 1793024 h 2308192"/>
              <a:gd name="csX5" fmla="*/ 4948829 w 5955050"/>
              <a:gd name="csY5" fmla="*/ 2308192 h 2308192"/>
              <a:gd name="csX6" fmla="*/ 401947 w 5955050"/>
              <a:gd name="csY6" fmla="*/ 2259611 h 2308192"/>
              <a:gd name="csX7" fmla="*/ 30104 w 5955050"/>
              <a:gd name="csY7" fmla="*/ 1794982 h 2308192"/>
              <a:gd name="csX8" fmla="*/ 155027 w 5955050"/>
              <a:gd name="csY8" fmla="*/ 718571 h 2308192"/>
              <a:gd name="csX0" fmla="*/ 127946 w 5927969"/>
              <a:gd name="csY0" fmla="*/ 718571 h 2308192"/>
              <a:gd name="csX1" fmla="*/ 958674 w 5927969"/>
              <a:gd name="csY1" fmla="*/ 119631 h 2308192"/>
              <a:gd name="csX2" fmla="*/ 4726236 w 5927969"/>
              <a:gd name="csY2" fmla="*/ 71047 h 2308192"/>
              <a:gd name="csX3" fmla="*/ 5912251 w 5927969"/>
              <a:gd name="csY3" fmla="*/ 571907 h 2308192"/>
              <a:gd name="csX4" fmla="*/ 5927969 w 5927969"/>
              <a:gd name="csY4" fmla="*/ 1793024 h 2308192"/>
              <a:gd name="csX5" fmla="*/ 4921748 w 5927969"/>
              <a:gd name="csY5" fmla="*/ 2308192 h 2308192"/>
              <a:gd name="csX6" fmla="*/ 374866 w 5927969"/>
              <a:gd name="csY6" fmla="*/ 2259611 h 2308192"/>
              <a:gd name="csX7" fmla="*/ 3023 w 5927969"/>
              <a:gd name="csY7" fmla="*/ 1794982 h 2308192"/>
              <a:gd name="csX8" fmla="*/ 127946 w 5927969"/>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 name="csX0" fmla="*/ 174813 w 5974836"/>
              <a:gd name="csY0" fmla="*/ 718571 h 2308192"/>
              <a:gd name="csX1" fmla="*/ 1005541 w 5974836"/>
              <a:gd name="csY1" fmla="*/ 119631 h 2308192"/>
              <a:gd name="csX2" fmla="*/ 4773103 w 5974836"/>
              <a:gd name="csY2" fmla="*/ 71047 h 2308192"/>
              <a:gd name="csX3" fmla="*/ 5959118 w 5974836"/>
              <a:gd name="csY3" fmla="*/ 571907 h 2308192"/>
              <a:gd name="csX4" fmla="*/ 5974836 w 5974836"/>
              <a:gd name="csY4" fmla="*/ 1793024 h 2308192"/>
              <a:gd name="csX5" fmla="*/ 4968615 w 5974836"/>
              <a:gd name="csY5" fmla="*/ 2308192 h 2308192"/>
              <a:gd name="csX6" fmla="*/ 421733 w 5974836"/>
              <a:gd name="csY6" fmla="*/ 2259611 h 2308192"/>
              <a:gd name="csX7" fmla="*/ 49890 w 5974836"/>
              <a:gd name="csY7" fmla="*/ 1794982 h 2308192"/>
              <a:gd name="csX8" fmla="*/ 174813 w 5974836"/>
              <a:gd name="csY8" fmla="*/ 718571 h 23081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74836" h="2308192">
                <a:moveTo>
                  <a:pt x="174813" y="718571"/>
                </a:moveTo>
                <a:cubicBezTo>
                  <a:pt x="240300" y="269787"/>
                  <a:pt x="239159" y="227552"/>
                  <a:pt x="1005541" y="119631"/>
                </a:cubicBezTo>
                <a:cubicBezTo>
                  <a:pt x="1771923" y="11710"/>
                  <a:pt x="3246679" y="540573"/>
                  <a:pt x="4773103" y="71047"/>
                </a:cubicBezTo>
                <a:cubicBezTo>
                  <a:pt x="5092271" y="-260379"/>
                  <a:pt x="5283574" y="681413"/>
                  <a:pt x="5959118" y="571907"/>
                </a:cubicBezTo>
                <a:cubicBezTo>
                  <a:pt x="5770821" y="1108189"/>
                  <a:pt x="5969597" y="1385985"/>
                  <a:pt x="5974836" y="1793024"/>
                </a:cubicBezTo>
                <a:cubicBezTo>
                  <a:pt x="5974836" y="2096474"/>
                  <a:pt x="5255871" y="1290945"/>
                  <a:pt x="4968615" y="2308192"/>
                </a:cubicBezTo>
                <a:cubicBezTo>
                  <a:pt x="4227624" y="1465311"/>
                  <a:pt x="1830396" y="1830971"/>
                  <a:pt x="421733" y="2259611"/>
                </a:cubicBezTo>
                <a:cubicBezTo>
                  <a:pt x="636194" y="1910349"/>
                  <a:pt x="-2076" y="1734058"/>
                  <a:pt x="49890" y="1794982"/>
                </a:cubicBezTo>
                <a:cubicBezTo>
                  <a:pt x="49890" y="1498419"/>
                  <a:pt x="-122962" y="920646"/>
                  <a:pt x="174813" y="718571"/>
                </a:cubicBezTo>
                <a:close/>
              </a:path>
            </a:pathLst>
          </a:custGeom>
          <a:solidFill>
            <a:srgbClr val="002A49">
              <a:alpha val="62775"/>
            </a:srgb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dirty="0"/>
          </a:p>
        </p:txBody>
      </p:sp>
      <p:sp>
        <p:nvSpPr>
          <p:cNvPr id="5" name="TextBox 4">
            <a:extLst>
              <a:ext uri="{FF2B5EF4-FFF2-40B4-BE49-F238E27FC236}">
                <a16:creationId xmlns:a16="http://schemas.microsoft.com/office/drawing/2014/main" id="{D6B84952-7F77-205F-B0F4-9716AFF97093}"/>
              </a:ext>
            </a:extLst>
          </p:cNvPr>
          <p:cNvSpPr txBox="1"/>
          <p:nvPr/>
        </p:nvSpPr>
        <p:spPr>
          <a:xfrm>
            <a:off x="4416662" y="2567817"/>
            <a:ext cx="4012444" cy="923330"/>
          </a:xfrm>
          <a:prstGeom prst="rect">
            <a:avLst/>
          </a:prstGeom>
          <a:noFill/>
        </p:spPr>
        <p:txBody>
          <a:bodyPr wrap="square">
            <a:spAutoFit/>
          </a:bodyPr>
          <a:lstStyle/>
          <a:p>
            <a:pPr algn="ctr">
              <a:buNone/>
            </a:pPr>
            <a:r>
              <a:rPr lang="en-US" dirty="0"/>
              <a:t>Improve performance of forecasting using HTS methods for Buffaloes milk forecasting</a:t>
            </a:r>
          </a:p>
        </p:txBody>
      </p:sp>
    </p:spTree>
    <p:extLst>
      <p:ext uri="{BB962C8B-B14F-4D97-AF65-F5344CB8AC3E}">
        <p14:creationId xmlns:p14="http://schemas.microsoft.com/office/powerpoint/2010/main" val="18604986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4406E-D70F-1704-D17E-DC6B0603C5B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E8DE25F-6346-9A96-27FC-E23F62084A7D}"/>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Research Objectives</a:t>
            </a:r>
          </a:p>
        </p:txBody>
      </p:sp>
      <p:sp>
        <p:nvSpPr>
          <p:cNvPr id="8" name="TextBox 7">
            <a:extLst>
              <a:ext uri="{FF2B5EF4-FFF2-40B4-BE49-F238E27FC236}">
                <a16:creationId xmlns:a16="http://schemas.microsoft.com/office/drawing/2014/main" id="{829A443B-EFEF-8F97-5858-85BB4CD72C82}"/>
              </a:ext>
            </a:extLst>
          </p:cNvPr>
          <p:cNvSpPr txBox="1"/>
          <p:nvPr/>
        </p:nvSpPr>
        <p:spPr>
          <a:xfrm>
            <a:off x="488473" y="1150706"/>
            <a:ext cx="8997050" cy="4212692"/>
          </a:xfrm>
          <a:prstGeom prst="rect">
            <a:avLst/>
          </a:prstGeom>
          <a:noFill/>
        </p:spPr>
        <p:txBody>
          <a:bodyPr wrap="square">
            <a:spAutoFit/>
          </a:bodyPr>
          <a:lstStyle/>
          <a:p>
            <a:pPr algn="just">
              <a:lnSpc>
                <a:spcPct val="150000"/>
              </a:lnSpc>
            </a:pPr>
            <a:r>
              <a:rPr lang="en-US" b="1" dirty="0"/>
              <a:t>Main Goal</a:t>
            </a:r>
          </a:p>
          <a:p>
            <a:pPr algn="just">
              <a:lnSpc>
                <a:spcPct val="150000"/>
              </a:lnSpc>
            </a:pPr>
            <a:r>
              <a:rPr lang="en-US" dirty="0"/>
              <a:t>Develop and evaluate hierarchical forecasting methods for predicting Italian Mediterranean buffalo </a:t>
            </a:r>
            <a:r>
              <a:rPr lang="en-US" b="1" dirty="0"/>
              <a:t>milk </a:t>
            </a:r>
            <a:r>
              <a:rPr lang="en-US" dirty="0"/>
              <a:t>production under </a:t>
            </a:r>
            <a:r>
              <a:rPr lang="en-US" b="1" dirty="0"/>
              <a:t>climate stress.</a:t>
            </a:r>
          </a:p>
          <a:p>
            <a:pPr algn="just">
              <a:lnSpc>
                <a:spcPct val="150000"/>
              </a:lnSpc>
            </a:pPr>
            <a:endParaRPr lang="en-US" dirty="0"/>
          </a:p>
          <a:p>
            <a:pPr algn="just">
              <a:lnSpc>
                <a:spcPct val="150000"/>
              </a:lnSpc>
            </a:pPr>
            <a:endParaRPr lang="en-US" dirty="0"/>
          </a:p>
          <a:p>
            <a:pPr algn="just">
              <a:lnSpc>
                <a:spcPct val="150000"/>
              </a:lnSpc>
            </a:pPr>
            <a:r>
              <a:rPr lang="en-US" b="1" dirty="0"/>
              <a:t>Specific Objectives</a:t>
            </a:r>
          </a:p>
          <a:p>
            <a:pPr algn="just">
              <a:lnSpc>
                <a:spcPct val="150000"/>
              </a:lnSpc>
            </a:pPr>
            <a:r>
              <a:rPr lang="en-US" dirty="0"/>
              <a:t>1. Establish </a:t>
            </a:r>
            <a:r>
              <a:rPr lang="en-US" b="1" dirty="0"/>
              <a:t>baseline</a:t>
            </a:r>
            <a:r>
              <a:rPr lang="en-US" dirty="0"/>
              <a:t> prediction performance using traditional ML methods</a:t>
            </a:r>
          </a:p>
          <a:p>
            <a:pPr algn="just">
              <a:lnSpc>
                <a:spcPct val="150000"/>
              </a:lnSpc>
            </a:pPr>
            <a:r>
              <a:rPr lang="en-US" dirty="0"/>
              <a:t>2. </a:t>
            </a:r>
            <a:r>
              <a:rPr lang="en-US" b="1" dirty="0"/>
              <a:t>Implement</a:t>
            </a:r>
            <a:r>
              <a:rPr lang="en-US" dirty="0"/>
              <a:t> and </a:t>
            </a:r>
            <a:r>
              <a:rPr lang="en-US" b="1" dirty="0"/>
              <a:t>compare</a:t>
            </a:r>
            <a:r>
              <a:rPr lang="en-US" dirty="0"/>
              <a:t> hierarchical time series forecasting approaches</a:t>
            </a:r>
          </a:p>
          <a:p>
            <a:pPr algn="just">
              <a:lnSpc>
                <a:spcPct val="150000"/>
              </a:lnSpc>
            </a:pPr>
            <a:r>
              <a:rPr lang="en-US" dirty="0"/>
              <a:t>3. Evaluate the impact of </a:t>
            </a:r>
            <a:r>
              <a:rPr lang="en-US" b="1" dirty="0"/>
              <a:t>THI composite </a:t>
            </a:r>
            <a:r>
              <a:rPr lang="en-US" dirty="0"/>
              <a:t>on prediction accuracy</a:t>
            </a:r>
          </a:p>
          <a:p>
            <a:pPr algn="just">
              <a:lnSpc>
                <a:spcPct val="150000"/>
              </a:lnSpc>
            </a:pPr>
            <a:r>
              <a:rPr lang="en-US" dirty="0"/>
              <a:t>4. Identify optimal reconciliation methods for </a:t>
            </a:r>
            <a:r>
              <a:rPr lang="en-US" b="1" dirty="0"/>
              <a:t>buffalo milk </a:t>
            </a:r>
            <a:r>
              <a:rPr lang="en-US" dirty="0"/>
              <a:t>forecasting</a:t>
            </a:r>
          </a:p>
        </p:txBody>
      </p:sp>
    </p:spTree>
    <p:extLst>
      <p:ext uri="{BB962C8B-B14F-4D97-AF65-F5344CB8AC3E}">
        <p14:creationId xmlns:p14="http://schemas.microsoft.com/office/powerpoint/2010/main" val="2674332367"/>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C1D9A89-ECF6-BD7A-E216-D163A219957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7E309FA-8948-CDE1-BBFF-4E72F50D300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CDF67F3D-1603-6EDC-BB50-23477F80C397}"/>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D4D5C47-4C9E-EB83-A8F8-0D9200D1A0C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1E0AA4A9-334B-A211-989D-08ACB9567B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366E2C6B-3CDE-3041-D2B6-769DCFF9D002}"/>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A283B44E-7921-EF96-4794-1C66DDB30B5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B37888E-5652-3DC3-B11A-4FA3A7738A1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CABCFC7-3A1D-6D79-B1F9-ADBD569E0C1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3D0C6B46-A9B6-BC44-2A4F-84217D395719}"/>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Model Selection for Prediction Task</a:t>
            </a:r>
          </a:p>
        </p:txBody>
      </p:sp>
      <p:sp>
        <p:nvSpPr>
          <p:cNvPr id="3" name="TextBox 2">
            <a:extLst>
              <a:ext uri="{FF2B5EF4-FFF2-40B4-BE49-F238E27FC236}">
                <a16:creationId xmlns:a16="http://schemas.microsoft.com/office/drawing/2014/main" id="{7BBD6652-674A-2793-3116-46F04A248A7F}"/>
              </a:ext>
            </a:extLst>
          </p:cNvPr>
          <p:cNvSpPr txBox="1"/>
          <p:nvPr/>
        </p:nvSpPr>
        <p:spPr>
          <a:xfrm>
            <a:off x="566684" y="2289067"/>
            <a:ext cx="11272634" cy="2615460"/>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for each animal </a:t>
            </a:r>
            <a:r>
              <a:rPr lang="en-US" sz="2000" dirty="0">
                <a:solidFill>
                  <a:srgbClr val="1B415D"/>
                </a:solidFill>
                <a:sym typeface="Wingdings" pitchFamily="2" charset="2"/>
              </a:rPr>
              <a:t>[5,6]</a:t>
            </a:r>
            <a:r>
              <a:rPr lang="en-US" sz="2800" dirty="0">
                <a:solidFill>
                  <a:srgbClr val="1B415D"/>
                </a:solidFill>
                <a:sym typeface="Wingdings" pitchFamily="2" charset="2"/>
              </a:rPr>
              <a:t>:</a:t>
            </a:r>
          </a:p>
          <a:p>
            <a:pPr marL="800100" lvl="1" indent="-342900">
              <a:lnSpc>
                <a:spcPct val="150000"/>
              </a:lnSpc>
              <a:buFont typeface="Arial" panose="020B0604020202020204" pitchFamily="34" charset="0"/>
              <a:buChar char="•"/>
            </a:pPr>
            <a:r>
              <a:rPr lang="en-US" sz="2800" dirty="0">
                <a:solidFill>
                  <a:srgbClr val="1B415D"/>
                </a:solidFill>
                <a:sym typeface="Wingdings" pitchFamily="2" charset="2"/>
              </a:rPr>
              <a:t>Not scalable.</a:t>
            </a:r>
          </a:p>
          <a:p>
            <a:pPr marL="342900" indent="-342900">
              <a:lnSpc>
                <a:spcPct val="150000"/>
              </a:lnSpc>
              <a:buFont typeface="Arial" panose="020B0604020202020204" pitchFamily="34" charset="0"/>
              <a:buChar char="•"/>
            </a:pPr>
            <a:r>
              <a:rPr lang="en-US" sz="2800" dirty="0">
                <a:solidFill>
                  <a:srgbClr val="1B415D"/>
                </a:solidFill>
              </a:rPr>
              <a:t>Global model for all the animals.</a:t>
            </a:r>
          </a:p>
          <a:p>
            <a:pPr marL="800100" lvl="1" indent="-342900">
              <a:lnSpc>
                <a:spcPct val="150000"/>
              </a:lnSpc>
              <a:buFont typeface="Arial" panose="020B0604020202020204" pitchFamily="34" charset="0"/>
              <a:buChar char="•"/>
            </a:pPr>
            <a:r>
              <a:rPr lang="en-US" sz="2800" dirty="0">
                <a:solidFill>
                  <a:srgbClr val="1B415D"/>
                </a:solidFill>
              </a:rPr>
              <a:t>LGBM, </a:t>
            </a:r>
            <a:r>
              <a:rPr lang="en-US" sz="2800" dirty="0" err="1">
                <a:solidFill>
                  <a:srgbClr val="1B415D"/>
                </a:solidFill>
              </a:rPr>
              <a:t>XGBoost</a:t>
            </a:r>
            <a:r>
              <a:rPr lang="en-US" sz="2800" dirty="0">
                <a:solidFill>
                  <a:srgbClr val="1B415D"/>
                </a:solidFill>
              </a:rPr>
              <a:t>,  RNN works perfectly for global model. </a:t>
            </a:r>
            <a:r>
              <a:rPr lang="en-US" sz="2000" dirty="0">
                <a:solidFill>
                  <a:srgbClr val="1B415D"/>
                </a:solidFill>
              </a:rPr>
              <a:t>[3,7]</a:t>
            </a:r>
            <a:endParaRPr lang="en-US" sz="2800" dirty="0">
              <a:solidFill>
                <a:srgbClr val="1B415D"/>
              </a:solidFill>
            </a:endParaRPr>
          </a:p>
        </p:txBody>
      </p:sp>
    </p:spTree>
    <p:extLst>
      <p:ext uri="{BB962C8B-B14F-4D97-AF65-F5344CB8AC3E}">
        <p14:creationId xmlns:p14="http://schemas.microsoft.com/office/powerpoint/2010/main" val="4012219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94EB18-D00A-7C25-2638-BAED9338C1A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6BA13EB-7948-8069-10B1-2815AFEEA82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4B7E5826-B507-4BC3-5367-072A51DE8CB6}"/>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091BE09-867C-2BCE-22F4-C8E2979CDADE}"/>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805527F1-098F-87A7-ACE5-DBCDDA7EC3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5411C04-E3EC-E5F7-FC4C-35BE27F1216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2735159E-AEB3-0A07-BD84-6BEAA75D640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5CFD98B8-5E2E-5276-B932-B6F554ADECD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8DBD9DB-CE9F-329E-C5D9-51BCFDE4E9F1}"/>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724BF28-A004-F740-3888-69C7D66C9403}"/>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2669AA5B-F0A3-5C0E-39FC-2011331C9DF5}"/>
              </a:ext>
            </a:extLst>
          </p:cNvPr>
          <p:cNvSpPr txBox="1"/>
          <p:nvPr/>
        </p:nvSpPr>
        <p:spPr>
          <a:xfrm>
            <a:off x="566684" y="2289067"/>
            <a:ext cx="3299922" cy="32378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Cross-Validation</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Global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both</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time series cross validation </a:t>
            </a:r>
            <a:endParaRPr lang="en-US" sz="2800" dirty="0">
              <a:solidFill>
                <a:srgbClr val="1B415D"/>
              </a:solidFill>
              <a:sym typeface="Wingdings" pitchFamily="2" charset="2"/>
            </a:endParaRPr>
          </a:p>
        </p:txBody>
      </p:sp>
      <p:pic>
        <p:nvPicPr>
          <p:cNvPr id="2052" name="Picture 4" descr="Classical k -fold cross validation vs. time series split cross validation |  Download Scientific Diagram">
            <a:extLst>
              <a:ext uri="{FF2B5EF4-FFF2-40B4-BE49-F238E27FC236}">
                <a16:creationId xmlns:a16="http://schemas.microsoft.com/office/drawing/2014/main" id="{8A136E2D-582B-46BF-190A-CFBDDFC380D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66606" y="2182065"/>
            <a:ext cx="8104846" cy="344217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9423F93-BC90-179B-42B2-A9D218D0A3AF}"/>
              </a:ext>
            </a:extLst>
          </p:cNvPr>
          <p:cNvSpPr txBox="1"/>
          <p:nvPr/>
        </p:nvSpPr>
        <p:spPr>
          <a:xfrm>
            <a:off x="4564263" y="5358796"/>
            <a:ext cx="7014755" cy="246221"/>
          </a:xfrm>
          <a:prstGeom prst="rect">
            <a:avLst/>
          </a:prstGeom>
          <a:noFill/>
        </p:spPr>
        <p:txBody>
          <a:bodyPr wrap="square">
            <a:spAutoFit/>
          </a:bodyPr>
          <a:lstStyle/>
          <a:p>
            <a:r>
              <a:rPr lang="en-US" sz="1000" dirty="0">
                <a:hlinkClick r:id="rId9"/>
              </a:rPr>
              <a:t>https://</a:t>
            </a:r>
            <a:r>
              <a:rPr lang="en-US" sz="1000" dirty="0" err="1">
                <a:hlinkClick r:id="rId9"/>
              </a:rPr>
              <a:t>www.researchgate.net</a:t>
            </a:r>
            <a:r>
              <a:rPr lang="en-US" sz="1000" dirty="0">
                <a:hlinkClick r:id="rId9"/>
              </a:rPr>
              <a:t>/figure/Classical-k-fold-cross-validation-vs-time-series-split-cross-validation_fig1_355889701</a:t>
            </a:r>
            <a:endParaRPr lang="en-US" sz="1000" dirty="0"/>
          </a:p>
        </p:txBody>
      </p:sp>
    </p:spTree>
    <p:extLst>
      <p:ext uri="{BB962C8B-B14F-4D97-AF65-F5344CB8AC3E}">
        <p14:creationId xmlns:p14="http://schemas.microsoft.com/office/powerpoint/2010/main" val="724607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FA5A5CA-E797-8018-7C7F-0DB67A977A6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AC5F19D-D7B4-CAB4-FF21-47E9769D7ABE}"/>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EB3A298-452F-21BD-485E-3C9E8248911A}"/>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9EBB90D6-E970-4110-A519-7DE513BE3D70}"/>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D74CD919-B5C1-AD1B-3ACC-CC3E7D364D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2BDE0108-3AF2-23B5-BD5E-AC0C472F9B6C}"/>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C890D234-11D1-C222-1BC1-01D4B1BD295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904A8618-FD2B-D227-7643-5F35407585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35310C75-2454-FCEF-E21A-20243FEDD3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BBBF64D3-34F2-5F4B-E621-70E69116F484}"/>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30849FA3-C5A7-89A2-EEC2-E15D54812CEE}"/>
              </a:ext>
            </a:extLst>
          </p:cNvPr>
          <p:cNvSpPr txBox="1"/>
          <p:nvPr/>
        </p:nvSpPr>
        <p:spPr>
          <a:xfrm>
            <a:off x="566684" y="2289067"/>
            <a:ext cx="4597400" cy="196912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R-squared</a:t>
            </a:r>
          </a:p>
          <a:p>
            <a:pPr>
              <a:lnSpc>
                <a:spcPct val="150000"/>
              </a:lnSpc>
            </a:pPr>
            <a:endParaRPr lang="en-US" sz="28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Root mean squared Error</a:t>
            </a:r>
          </a:p>
        </p:txBody>
      </p:sp>
      <p:grpSp>
        <p:nvGrpSpPr>
          <p:cNvPr id="4" name="Group 3">
            <a:extLst>
              <a:ext uri="{FF2B5EF4-FFF2-40B4-BE49-F238E27FC236}">
                <a16:creationId xmlns:a16="http://schemas.microsoft.com/office/drawing/2014/main" id="{68931B18-8309-86A0-966A-C03108FC3468}"/>
              </a:ext>
            </a:extLst>
          </p:cNvPr>
          <p:cNvGrpSpPr/>
          <p:nvPr/>
        </p:nvGrpSpPr>
        <p:grpSpPr>
          <a:xfrm>
            <a:off x="4728053" y="2150588"/>
            <a:ext cx="4380412" cy="1381024"/>
            <a:chOff x="4388418" y="2122544"/>
            <a:chExt cx="4380412" cy="1381024"/>
          </a:xfrm>
        </p:grpSpPr>
        <p:pic>
          <p:nvPicPr>
            <p:cNvPr id="4100" name="Picture 4" descr="Looking at R-Squared. In data science we create regression… | by Erika D |  Medium">
              <a:extLst>
                <a:ext uri="{FF2B5EF4-FFF2-40B4-BE49-F238E27FC236}">
                  <a16:creationId xmlns:a16="http://schemas.microsoft.com/office/drawing/2014/main" id="{0E40B6AA-5458-2E01-3C3B-B08DFEB223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83397"/>
            <a:stretch>
              <a:fillRect/>
            </a:stretch>
          </p:blipFill>
          <p:spPr bwMode="auto">
            <a:xfrm>
              <a:off x="4388418" y="2122544"/>
              <a:ext cx="1150233" cy="1381024"/>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Looking at R-Squared. In data science we create regression… | by Erika D |  Medium">
              <a:extLst>
                <a:ext uri="{FF2B5EF4-FFF2-40B4-BE49-F238E27FC236}">
                  <a16:creationId xmlns:a16="http://schemas.microsoft.com/office/drawing/2014/main" id="{A2AF35E4-69CA-A58A-D606-1D3D6F659607}"/>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53373"/>
            <a:stretch>
              <a:fillRect/>
            </a:stretch>
          </p:blipFill>
          <p:spPr bwMode="auto">
            <a:xfrm>
              <a:off x="5538651" y="2122544"/>
              <a:ext cx="3230179" cy="1381024"/>
            </a:xfrm>
            <a:prstGeom prst="rect">
              <a:avLst/>
            </a:prstGeom>
            <a:noFill/>
            <a:extLst>
              <a:ext uri="{909E8E84-426E-40DD-AFC4-6F175D3DCCD1}">
                <a14:hiddenFill xmlns:a14="http://schemas.microsoft.com/office/drawing/2010/main">
                  <a:solidFill>
                    <a:srgbClr val="FFFFFF"/>
                  </a:solidFill>
                </a14:hiddenFill>
              </a:ext>
            </a:extLst>
          </p:spPr>
        </p:pic>
      </p:grpSp>
      <p:pic>
        <p:nvPicPr>
          <p:cNvPr id="6" name="Picture 5">
            <a:extLst>
              <a:ext uri="{FF2B5EF4-FFF2-40B4-BE49-F238E27FC236}">
                <a16:creationId xmlns:a16="http://schemas.microsoft.com/office/drawing/2014/main" id="{9B210D00-49D2-20A5-B2A8-4569425A21AB}"/>
              </a:ext>
            </a:extLst>
          </p:cNvPr>
          <p:cNvPicPr>
            <a:picLocks noChangeAspect="1"/>
          </p:cNvPicPr>
          <p:nvPr/>
        </p:nvPicPr>
        <p:blipFill>
          <a:blip r:embed="rId9"/>
          <a:stretch>
            <a:fillRect/>
          </a:stretch>
        </p:blipFill>
        <p:spPr>
          <a:xfrm>
            <a:off x="4511065" y="4288451"/>
            <a:ext cx="4597400" cy="1435100"/>
          </a:xfrm>
          <a:prstGeom prst="rect">
            <a:avLst/>
          </a:prstGeom>
        </p:spPr>
      </p:pic>
      <p:pic>
        <p:nvPicPr>
          <p:cNvPr id="9" name="Picture 8" descr="Looking at R-Squared. In data science we create regression… | by Erika D |  Medium">
            <a:extLst>
              <a:ext uri="{FF2B5EF4-FFF2-40B4-BE49-F238E27FC236}">
                <a16:creationId xmlns:a16="http://schemas.microsoft.com/office/drawing/2014/main" id="{3ED164B5-161F-71FA-C448-07617ACF89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6529" t="8411" r="7868" b="53199"/>
          <a:stretch>
            <a:fillRect/>
          </a:stretch>
        </p:blipFill>
        <p:spPr bwMode="auto">
          <a:xfrm>
            <a:off x="9958700" y="2360532"/>
            <a:ext cx="388158" cy="530174"/>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D99142A-D796-B2CC-361B-FE35B8CA0A3F}"/>
              </a:ext>
            </a:extLst>
          </p:cNvPr>
          <p:cNvSpPr txBox="1"/>
          <p:nvPr/>
        </p:nvSpPr>
        <p:spPr>
          <a:xfrm>
            <a:off x="10346858" y="2520078"/>
            <a:ext cx="1745221" cy="369332"/>
          </a:xfrm>
          <a:prstGeom prst="rect">
            <a:avLst/>
          </a:prstGeom>
          <a:noFill/>
        </p:spPr>
        <p:txBody>
          <a:bodyPr wrap="none" rtlCol="0">
            <a:spAutoFit/>
          </a:bodyPr>
          <a:lstStyle/>
          <a:p>
            <a:r>
              <a:rPr lang="en-US" dirty="0">
                <a:solidFill>
                  <a:srgbClr val="1B415D"/>
                </a:solidFill>
              </a:rPr>
              <a:t>Predicted Value</a:t>
            </a:r>
          </a:p>
        </p:txBody>
      </p:sp>
      <p:pic>
        <p:nvPicPr>
          <p:cNvPr id="16" name="Picture 8" descr="Looking at R-Squared. In data science we create regression… | by Erika D |  Medium">
            <a:extLst>
              <a:ext uri="{FF2B5EF4-FFF2-40B4-BE49-F238E27FC236}">
                <a16:creationId xmlns:a16="http://schemas.microsoft.com/office/drawing/2014/main" id="{A80365AB-8A15-FD84-785B-EBB96F4DE4D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75114" t="20052" r="19283" b="56608"/>
          <a:stretch>
            <a:fillRect/>
          </a:stretch>
        </p:blipFill>
        <p:spPr bwMode="auto">
          <a:xfrm>
            <a:off x="9984826" y="3043480"/>
            <a:ext cx="388158" cy="322339"/>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1B68D679-75F3-5413-C529-C6F651512BE5}"/>
              </a:ext>
            </a:extLst>
          </p:cNvPr>
          <p:cNvSpPr txBox="1"/>
          <p:nvPr/>
        </p:nvSpPr>
        <p:spPr>
          <a:xfrm>
            <a:off x="10400421" y="3048806"/>
            <a:ext cx="1431161" cy="369332"/>
          </a:xfrm>
          <a:prstGeom prst="rect">
            <a:avLst/>
          </a:prstGeom>
          <a:noFill/>
        </p:spPr>
        <p:txBody>
          <a:bodyPr wrap="none" rtlCol="0">
            <a:spAutoFit/>
          </a:bodyPr>
          <a:lstStyle/>
          <a:p>
            <a:r>
              <a:rPr lang="en-US" dirty="0">
                <a:solidFill>
                  <a:srgbClr val="1B415D"/>
                </a:solidFill>
              </a:rPr>
              <a:t>Actual Value</a:t>
            </a:r>
          </a:p>
        </p:txBody>
      </p:sp>
      <p:pic>
        <p:nvPicPr>
          <p:cNvPr id="18" name="Picture 8" descr="Looking at R-Squared. In data science we create regression… | by Erika D |  Medium">
            <a:extLst>
              <a:ext uri="{FF2B5EF4-FFF2-40B4-BE49-F238E27FC236}">
                <a16:creationId xmlns:a16="http://schemas.microsoft.com/office/drawing/2014/main" id="{0B7B060C-C3A3-96D7-E4FA-4D8F9BB70878}"/>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7566" t="52612" r="8285" b="8860"/>
          <a:stretch>
            <a:fillRect/>
          </a:stretch>
        </p:blipFill>
        <p:spPr bwMode="auto">
          <a:xfrm>
            <a:off x="9997889" y="3570845"/>
            <a:ext cx="287383" cy="532083"/>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AE693343-3B7E-BF3B-2D17-19DE55AC5DC6}"/>
              </a:ext>
            </a:extLst>
          </p:cNvPr>
          <p:cNvSpPr txBox="1"/>
          <p:nvPr/>
        </p:nvSpPr>
        <p:spPr>
          <a:xfrm>
            <a:off x="10478797" y="3507423"/>
            <a:ext cx="1431161" cy="646331"/>
          </a:xfrm>
          <a:prstGeom prst="rect">
            <a:avLst/>
          </a:prstGeom>
          <a:noFill/>
        </p:spPr>
        <p:txBody>
          <a:bodyPr wrap="square" rtlCol="0">
            <a:spAutoFit/>
          </a:bodyPr>
          <a:lstStyle/>
          <a:p>
            <a:r>
              <a:rPr lang="en-US" dirty="0">
                <a:solidFill>
                  <a:srgbClr val="1B415D"/>
                </a:solidFill>
              </a:rPr>
              <a:t>Mean of Actual Value</a:t>
            </a:r>
          </a:p>
        </p:txBody>
      </p:sp>
      <p:pic>
        <p:nvPicPr>
          <p:cNvPr id="21" name="Picture 20">
            <a:extLst>
              <a:ext uri="{FF2B5EF4-FFF2-40B4-BE49-F238E27FC236}">
                <a16:creationId xmlns:a16="http://schemas.microsoft.com/office/drawing/2014/main" id="{678503FC-9F12-4FC8-5A0D-9924A622DADC}"/>
              </a:ext>
            </a:extLst>
          </p:cNvPr>
          <p:cNvPicPr>
            <a:picLocks noChangeAspect="1"/>
          </p:cNvPicPr>
          <p:nvPr/>
        </p:nvPicPr>
        <p:blipFill>
          <a:blip r:embed="rId9"/>
          <a:srcRect l="75762" t="55833" r="13725" b="15012"/>
          <a:stretch>
            <a:fillRect/>
          </a:stretch>
        </p:blipFill>
        <p:spPr>
          <a:xfrm>
            <a:off x="9899916" y="4282651"/>
            <a:ext cx="483327" cy="418414"/>
          </a:xfrm>
          <a:prstGeom prst="rect">
            <a:avLst/>
          </a:prstGeom>
        </p:spPr>
      </p:pic>
      <p:sp>
        <p:nvSpPr>
          <p:cNvPr id="22" name="TextBox 21">
            <a:extLst>
              <a:ext uri="{FF2B5EF4-FFF2-40B4-BE49-F238E27FC236}">
                <a16:creationId xmlns:a16="http://schemas.microsoft.com/office/drawing/2014/main" id="{F7DDF06C-7BF4-1C8C-D259-970562DDD128}"/>
              </a:ext>
            </a:extLst>
          </p:cNvPr>
          <p:cNvSpPr txBox="1"/>
          <p:nvPr/>
        </p:nvSpPr>
        <p:spPr>
          <a:xfrm>
            <a:off x="10519297" y="4221776"/>
            <a:ext cx="1431161" cy="646331"/>
          </a:xfrm>
          <a:prstGeom prst="rect">
            <a:avLst/>
          </a:prstGeom>
          <a:noFill/>
        </p:spPr>
        <p:txBody>
          <a:bodyPr wrap="square" rtlCol="0">
            <a:spAutoFit/>
          </a:bodyPr>
          <a:lstStyle/>
          <a:p>
            <a:r>
              <a:rPr lang="en-US" dirty="0">
                <a:solidFill>
                  <a:srgbClr val="1B415D"/>
                </a:solidFill>
              </a:rPr>
              <a:t>Number of samples</a:t>
            </a:r>
          </a:p>
        </p:txBody>
      </p:sp>
    </p:spTree>
    <p:extLst>
      <p:ext uri="{BB962C8B-B14F-4D97-AF65-F5344CB8AC3E}">
        <p14:creationId xmlns:p14="http://schemas.microsoft.com/office/powerpoint/2010/main" val="3079139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AC6BD99-2C49-3576-31E1-971C0FF4B1E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B3CAD3F-FEE7-F76C-0B11-BC4BE4020618}"/>
              </a:ext>
            </a:extLst>
          </p:cNvPr>
          <p:cNvSpPr txBox="1"/>
          <p:nvPr/>
        </p:nvSpPr>
        <p:spPr>
          <a:xfrm>
            <a:off x="404158" y="1584299"/>
            <a:ext cx="7723842" cy="646331"/>
          </a:xfrm>
          <a:prstGeom prst="rect">
            <a:avLst/>
          </a:prstGeom>
          <a:noFill/>
        </p:spPr>
        <p:txBody>
          <a:bodyPr wrap="square" rtlCol="0">
            <a:spAutoFit/>
          </a:bodyPr>
          <a:lstStyle/>
          <a:p>
            <a:pPr algn="ctr"/>
            <a:r>
              <a:rPr lang="en-US" sz="3600" b="1" dirty="0">
                <a:solidFill>
                  <a:srgbClr val="1B415D"/>
                </a:solidFill>
              </a:rPr>
              <a:t>Hierarchical Reconciliation </a:t>
            </a:r>
            <a:r>
              <a:rPr lang="en-US" b="1" dirty="0">
                <a:solidFill>
                  <a:srgbClr val="1B415D"/>
                </a:solidFill>
              </a:rPr>
              <a:t>[10]</a:t>
            </a:r>
            <a:endParaRPr lang="en-US" sz="3600" b="1" dirty="0">
              <a:solidFill>
                <a:srgbClr val="1B415D"/>
              </a:solidFill>
            </a:endParaRPr>
          </a:p>
        </p:txBody>
      </p:sp>
      <p:sp>
        <p:nvSpPr>
          <p:cNvPr id="2" name="TextBox 1">
            <a:extLst>
              <a:ext uri="{FF2B5EF4-FFF2-40B4-BE49-F238E27FC236}">
                <a16:creationId xmlns:a16="http://schemas.microsoft.com/office/drawing/2014/main" id="{9115CF70-4683-4F7E-1897-CF66F2EE0722}"/>
              </a:ext>
            </a:extLst>
          </p:cNvPr>
          <p:cNvSpPr txBox="1"/>
          <p:nvPr/>
        </p:nvSpPr>
        <p:spPr>
          <a:xfrm>
            <a:off x="404158" y="2348160"/>
            <a:ext cx="11534557" cy="3600986"/>
          </a:xfrm>
          <a:prstGeom prst="rect">
            <a:avLst/>
          </a:prstGeom>
          <a:noFill/>
        </p:spPr>
        <p:txBody>
          <a:bodyPr wrap="square" rtlCol="0">
            <a:spAutoFit/>
          </a:bodyPr>
          <a:lstStyle/>
          <a:p>
            <a:pPr marL="571500" indent="-571500">
              <a:buFont typeface="Arial" panose="020B0604020202020204" pitchFamily="34" charset="0"/>
              <a:buChar char="•"/>
            </a:pPr>
            <a:r>
              <a:rPr lang="en-US" sz="3200" dirty="0">
                <a:solidFill>
                  <a:srgbClr val="1B415D"/>
                </a:solidFill>
              </a:rPr>
              <a:t>A model will be trained on the data[</a:t>
            </a:r>
            <a:r>
              <a:rPr lang="en-US" sz="3200" dirty="0" err="1">
                <a:solidFill>
                  <a:srgbClr val="1B415D"/>
                </a:solidFill>
              </a:rPr>
              <a:t>XGBoost</a:t>
            </a:r>
            <a:r>
              <a:rPr lang="en-US" sz="3200" dirty="0">
                <a:solidFill>
                  <a:srgbClr val="1B415D"/>
                </a:solidFill>
              </a:rPr>
              <a:t>, ...].</a:t>
            </a:r>
          </a:p>
          <a:p>
            <a:pPr marL="571500" indent="-571500">
              <a:buFont typeface="Arial" panose="020B0604020202020204" pitchFamily="34" charset="0"/>
              <a:buChar char="•"/>
            </a:pPr>
            <a:r>
              <a:rPr lang="en-US" sz="3200" dirty="0">
                <a:solidFill>
                  <a:srgbClr val="1B415D"/>
                </a:solidFill>
              </a:rPr>
              <a:t>Forecast on the data using current model.</a:t>
            </a:r>
          </a:p>
          <a:p>
            <a:pPr marL="571500" indent="-571500">
              <a:buFont typeface="Arial" panose="020B0604020202020204" pitchFamily="34" charset="0"/>
              <a:buChar char="•"/>
            </a:pPr>
            <a:r>
              <a:rPr lang="en-US" sz="3200" dirty="0">
                <a:solidFill>
                  <a:srgbClr val="1B415D"/>
                </a:solidFill>
              </a:rPr>
              <a:t>Reconcile the predicted values using statistical approaches:</a:t>
            </a:r>
          </a:p>
          <a:p>
            <a:pPr marL="1028700" lvl="1" indent="-571500">
              <a:buFont typeface="Arial" panose="020B0604020202020204" pitchFamily="34" charset="0"/>
              <a:buChar char="•"/>
            </a:pPr>
            <a:r>
              <a:rPr lang="en-US" sz="3200" dirty="0">
                <a:solidFill>
                  <a:srgbClr val="1B415D"/>
                </a:solidFill>
              </a:rPr>
              <a:t> </a:t>
            </a:r>
            <a:r>
              <a:rPr lang="en-US" sz="2800" dirty="0" err="1">
                <a:solidFill>
                  <a:srgbClr val="1B415D"/>
                </a:solidFill>
              </a:rPr>
              <a:t>MinT</a:t>
            </a:r>
            <a:r>
              <a:rPr lang="en-US" sz="2800" b="1" dirty="0">
                <a:solidFill>
                  <a:srgbClr val="1B415D"/>
                </a:solidFill>
              </a:rPr>
              <a:t> : </a:t>
            </a:r>
            <a:r>
              <a:rPr lang="en-US" sz="2800" dirty="0">
                <a:solidFill>
                  <a:srgbClr val="1B415D"/>
                </a:solidFill>
              </a:rPr>
              <a:t>minimize the variance between reconciled values and base forecast error.</a:t>
            </a:r>
          </a:p>
          <a:p>
            <a:pPr marL="571500" indent="-571500">
              <a:buFont typeface="Arial" panose="020B0604020202020204" pitchFamily="34" charset="0"/>
              <a:buChar char="•"/>
            </a:pPr>
            <a:endParaRPr lang="en-US" sz="3200" dirty="0">
              <a:solidFill>
                <a:srgbClr val="1B415D"/>
              </a:solidFill>
            </a:endParaRPr>
          </a:p>
        </p:txBody>
      </p:sp>
      <p:pic>
        <p:nvPicPr>
          <p:cNvPr id="3" name="Picture 2">
            <a:extLst>
              <a:ext uri="{FF2B5EF4-FFF2-40B4-BE49-F238E27FC236}">
                <a16:creationId xmlns:a16="http://schemas.microsoft.com/office/drawing/2014/main" id="{F4659740-E0B8-551A-6F04-1D2CE601319A}"/>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D94A0AAE-0205-4AB3-BA62-FCAF5EB9662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AEF09FFF-9684-9E0F-FBC9-08C67AAB26A3}"/>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E7D2AA5A-DDC9-7324-C32C-3CF6CFFF9A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79304684-0EDB-57CB-B740-C699A37670B6}"/>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CF9EBC4C-90ED-D623-08C9-2B73C2D7B81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AB11A3AF-28C1-03D3-1FA9-D818DC516CD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98673295-50FE-9AA0-B70E-35F31C1FEFC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2777109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02A49"/>
        </a:solidFill>
        <a:effectLst/>
      </p:bgPr>
    </p:bg>
    <p:spTree>
      <p:nvGrpSpPr>
        <p:cNvPr id="1" name="">
          <a:extLst>
            <a:ext uri="{FF2B5EF4-FFF2-40B4-BE49-F238E27FC236}">
              <a16:creationId xmlns:a16="http://schemas.microsoft.com/office/drawing/2014/main" id="{7E3440C4-0497-00A3-E39B-09CC00DA31D8}"/>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F06A0970-B4D2-DC5A-FD24-8E18C8C8569D}"/>
              </a:ext>
            </a:extLst>
          </p:cNvPr>
          <p:cNvSpPr>
            <a:spLocks noGrp="1"/>
          </p:cNvSpPr>
          <p:nvPr>
            <p:ph type="body" sz="quarter" idx="11"/>
          </p:nvPr>
        </p:nvSpPr>
        <p:spPr>
          <a:xfrm>
            <a:off x="5442857" y="1917000"/>
            <a:ext cx="6406093" cy="3024000"/>
          </a:xfrm>
        </p:spPr>
        <p:txBody>
          <a:bodyPr anchor="ctr">
            <a:normAutofit/>
          </a:bodyPr>
          <a:lstStyle/>
          <a:p>
            <a:pPr algn="ctr"/>
            <a:r>
              <a:rPr lang="en-US" sz="4400" b="1" dirty="0"/>
              <a:t>References</a:t>
            </a:r>
          </a:p>
        </p:txBody>
      </p:sp>
      <p:sp>
        <p:nvSpPr>
          <p:cNvPr id="12" name="Rectangle 11">
            <a:extLst>
              <a:ext uri="{FF2B5EF4-FFF2-40B4-BE49-F238E27FC236}">
                <a16:creationId xmlns:a16="http://schemas.microsoft.com/office/drawing/2014/main" id="{811B4E40-D308-F8D4-ABF1-24EC09C44454}"/>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380047952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A337-90E0-F134-5C0E-A7D75A143F7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23C8ED20-8337-7B37-AB61-856BEF6BFF8F}"/>
              </a:ext>
            </a:extLst>
          </p:cNvPr>
          <p:cNvSpPr txBox="1"/>
          <p:nvPr/>
        </p:nvSpPr>
        <p:spPr>
          <a:xfrm>
            <a:off x="0" y="805966"/>
            <a:ext cx="12012000" cy="5747727"/>
          </a:xfrm>
          <a:prstGeom prst="rect">
            <a:avLst/>
          </a:prstGeom>
          <a:noFill/>
        </p:spPr>
        <p:txBody>
          <a:bodyPr wrap="square">
            <a:spAutoFit/>
          </a:bodyPr>
          <a:lstStyle/>
          <a:p>
            <a:pPr marL="171450" indent="-171450" algn="just">
              <a:buFontTx/>
              <a:buChar char="-"/>
            </a:pPr>
            <a:r>
              <a:rPr lang="en-US" sz="1050" dirty="0">
                <a:solidFill>
                  <a:srgbClr val="333333"/>
                </a:solidFill>
              </a:rPr>
              <a:t>G. Neglia, M. </a:t>
            </a:r>
            <a:r>
              <a:rPr lang="en-US" sz="1050" dirty="0" err="1">
                <a:solidFill>
                  <a:srgbClr val="333333"/>
                </a:solidFill>
              </a:rPr>
              <a:t>Santinello</a:t>
            </a:r>
            <a:r>
              <a:rPr lang="en-US" sz="1050" dirty="0">
                <a:solidFill>
                  <a:srgbClr val="333333"/>
                </a:solidFill>
              </a:rPr>
              <a:t>, </a:t>
            </a:r>
            <a:r>
              <a:rPr lang="en-US" sz="1050" i="1" dirty="0">
                <a:solidFill>
                  <a:srgbClr val="333333"/>
                </a:solidFill>
              </a:rPr>
              <a:t>et al</a:t>
            </a:r>
            <a:r>
              <a:rPr lang="en-US" sz="1050" dirty="0">
                <a:solidFill>
                  <a:srgbClr val="333333"/>
                </a:solidFill>
              </a:rPr>
              <a:t> "Precision livestock farming in buffalo species: a sustainable approach for the future," in </a:t>
            </a:r>
            <a:r>
              <a:rPr lang="en-US" sz="1050" i="1" dirty="0">
                <a:solidFill>
                  <a:srgbClr val="333333"/>
                </a:solidFill>
              </a:rPr>
              <a:t>Revista </a:t>
            </a:r>
            <a:r>
              <a:rPr lang="en-US" sz="1050" i="1" dirty="0" err="1">
                <a:solidFill>
                  <a:srgbClr val="333333"/>
                </a:solidFill>
              </a:rPr>
              <a:t>Científica</a:t>
            </a:r>
            <a:r>
              <a:rPr lang="en-US" sz="1050" i="1" dirty="0">
                <a:solidFill>
                  <a:srgbClr val="333333"/>
                </a:solidFill>
              </a:rPr>
              <a:t> de la </a:t>
            </a:r>
            <a:r>
              <a:rPr lang="en-US" sz="1050" i="1" dirty="0" err="1">
                <a:solidFill>
                  <a:srgbClr val="333333"/>
                </a:solidFill>
              </a:rPr>
              <a:t>Facultad</a:t>
            </a:r>
            <a:r>
              <a:rPr lang="en-US" sz="1050" i="1" dirty="0">
                <a:solidFill>
                  <a:srgbClr val="333333"/>
                </a:solidFill>
              </a:rPr>
              <a:t> de </a:t>
            </a:r>
            <a:r>
              <a:rPr lang="en-US" sz="1050" i="1" dirty="0" err="1">
                <a:solidFill>
                  <a:srgbClr val="333333"/>
                </a:solidFill>
              </a:rPr>
              <a:t>Ciencias</a:t>
            </a:r>
            <a:r>
              <a:rPr lang="en-US" sz="1050" i="1" dirty="0">
                <a:solidFill>
                  <a:srgbClr val="333333"/>
                </a:solidFill>
              </a:rPr>
              <a:t> </a:t>
            </a:r>
            <a:r>
              <a:rPr lang="en-US" sz="1050" i="1" dirty="0" err="1">
                <a:solidFill>
                  <a:srgbClr val="333333"/>
                </a:solidFill>
              </a:rPr>
              <a:t>Veterinarias</a:t>
            </a:r>
            <a:r>
              <a:rPr lang="en-US" sz="1050" dirty="0">
                <a:solidFill>
                  <a:srgbClr val="333333"/>
                </a:solidFill>
              </a:rPr>
              <a:t>, 2023, </a:t>
            </a:r>
            <a:r>
              <a:rPr lang="en-US" sz="1050" dirty="0" err="1">
                <a:solidFill>
                  <a:srgbClr val="333333"/>
                </a:solidFill>
              </a:rPr>
              <a:t>doi</a:t>
            </a:r>
            <a:r>
              <a:rPr lang="en-US" sz="1050" dirty="0">
                <a:solidFill>
                  <a:srgbClr val="333333"/>
                </a:solidFill>
              </a:rPr>
              <a:t>: 10.52973/rcfcv-wbc019.</a:t>
            </a:r>
          </a:p>
          <a:p>
            <a:pPr marL="171450" indent="-171450" algn="just">
              <a:buFontTx/>
              <a:buChar char="-"/>
            </a:pPr>
            <a:r>
              <a:rPr lang="en-US" sz="1050" dirty="0" err="1">
                <a:solidFill>
                  <a:srgbClr val="333333"/>
                </a:solidFill>
                <a:latin typeface="HelveticaNeue Regular"/>
              </a:rPr>
              <a:t>Bernabucci</a:t>
            </a:r>
            <a:r>
              <a:rPr lang="en-US" sz="1050" dirty="0">
                <a:solidFill>
                  <a:srgbClr val="333333"/>
                </a:solidFill>
                <a:latin typeface="HelveticaNeue Regular"/>
              </a:rPr>
              <a:t>, </a:t>
            </a:r>
            <a:r>
              <a:rPr lang="en-US" sz="1050" i="1" dirty="0">
                <a:solidFill>
                  <a:srgbClr val="333333"/>
                </a:solidFill>
                <a:latin typeface="HelveticaNeue Regular"/>
              </a:rPr>
              <a:t>et al</a:t>
            </a:r>
            <a:r>
              <a:rPr lang="en-US" sz="1050" dirty="0">
                <a:solidFill>
                  <a:srgbClr val="333333"/>
                </a:solidFill>
                <a:latin typeface="HelveticaNeue Regular"/>
              </a:rPr>
              <a:t>. “Metabolic and Hormonal Acclimation to Heat Stress in Domesticated Ruminants.” in  </a:t>
            </a:r>
            <a:r>
              <a:rPr lang="en-US" sz="1050" i="1" dirty="0">
                <a:solidFill>
                  <a:srgbClr val="333333"/>
                </a:solidFill>
                <a:latin typeface="HelveticaNeue Regular"/>
              </a:rPr>
              <a:t>Animal</a:t>
            </a:r>
            <a:r>
              <a:rPr lang="en-US" sz="1050" dirty="0">
                <a:solidFill>
                  <a:srgbClr val="333333"/>
                </a:solidFill>
                <a:latin typeface="HelveticaNeue Regular"/>
              </a:rPr>
              <a:t> 2010, 4, 1167–1183, </a:t>
            </a:r>
            <a:r>
              <a:rPr lang="en-US" sz="1050" dirty="0" err="1">
                <a:solidFill>
                  <a:srgbClr val="333333"/>
                </a:solidFill>
                <a:latin typeface="HelveticaNeue Regular"/>
              </a:rPr>
              <a:t>doi</a:t>
            </a:r>
            <a:r>
              <a:rPr lang="en-US" sz="1050" dirty="0">
                <a:solidFill>
                  <a:srgbClr val="333333"/>
                </a:solidFill>
                <a:latin typeface="HelveticaNeue Regular"/>
              </a:rPr>
              <a:t> : 10.1017/S175173111000090X</a:t>
            </a:r>
          </a:p>
          <a:p>
            <a:pPr marL="171450" indent="-171450" algn="just">
              <a:buFontTx/>
              <a:buChar char="-"/>
            </a:pPr>
            <a:r>
              <a:rPr lang="en-US" sz="1050" dirty="0" err="1">
                <a:solidFill>
                  <a:srgbClr val="333333"/>
                </a:solidFill>
                <a:latin typeface="HelveticaNeue Regular"/>
              </a:rPr>
              <a:t>Bohmanova</a:t>
            </a:r>
            <a:r>
              <a:rPr lang="en-US" sz="1050" dirty="0">
                <a:solidFill>
                  <a:srgbClr val="333333"/>
                </a:solidFill>
                <a:latin typeface="HelveticaNeue Regular"/>
              </a:rPr>
              <a:t>, J, </a:t>
            </a:r>
            <a:r>
              <a:rPr lang="en-US" sz="1050" i="1" dirty="0">
                <a:solidFill>
                  <a:srgbClr val="333333"/>
                </a:solidFill>
                <a:latin typeface="HelveticaNeue Regular"/>
              </a:rPr>
              <a:t>et al</a:t>
            </a:r>
            <a:r>
              <a:rPr lang="en-US" sz="1050" dirty="0">
                <a:solidFill>
                  <a:srgbClr val="333333"/>
                </a:solidFill>
                <a:latin typeface="HelveticaNeue Regular"/>
              </a:rPr>
              <a:t>. “Temperature-humidity indices as indicators of milk production losses due to heat stress.” in </a:t>
            </a:r>
            <a:r>
              <a:rPr lang="en-US" sz="1050" i="1" dirty="0">
                <a:solidFill>
                  <a:srgbClr val="333333"/>
                </a:solidFill>
                <a:latin typeface="HelveticaNeue Regular"/>
              </a:rPr>
              <a:t>Journal of Dairy Science</a:t>
            </a:r>
            <a:r>
              <a:rPr lang="en-US" sz="1050" dirty="0">
                <a:solidFill>
                  <a:srgbClr val="333333"/>
                </a:solidFill>
                <a:latin typeface="HelveticaNeue Regular"/>
              </a:rPr>
              <a:t>, 90(4), 1947–1956. </a:t>
            </a:r>
            <a:r>
              <a:rPr lang="en-US" sz="1050" dirty="0" err="1">
                <a:solidFill>
                  <a:srgbClr val="333333"/>
                </a:solidFill>
                <a:latin typeface="HelveticaNeue Regular"/>
              </a:rPr>
              <a:t>doi</a:t>
            </a:r>
            <a:r>
              <a:rPr lang="en-US" sz="1050" dirty="0">
                <a:solidFill>
                  <a:srgbClr val="333333"/>
                </a:solidFill>
                <a:latin typeface="HelveticaNeue Regular"/>
              </a:rPr>
              <a:t>: 10.3168/jds.2006-513</a:t>
            </a:r>
          </a:p>
          <a:p>
            <a:pPr marL="171450" indent="-171450" algn="just">
              <a:buFontTx/>
              <a:buChar char="-"/>
            </a:pPr>
            <a:r>
              <a:rPr lang="en-US" sz="1050" dirty="0">
                <a:solidFill>
                  <a:srgbClr val="333333"/>
                </a:solidFill>
                <a:latin typeface="HelveticaNeue Regular"/>
              </a:rPr>
              <a:t>V. L. de Araujo et al, "Responses of dairy buffalo to heat stress conditions and mitigation strategies: A review," in Animals, vol. 14, no. 5, Art. no. 731, Feb. 2024, </a:t>
            </a:r>
            <a:r>
              <a:rPr lang="en-US" sz="1050" dirty="0" err="1">
                <a:solidFill>
                  <a:srgbClr val="333333"/>
                </a:solidFill>
                <a:latin typeface="HelveticaNeue Regular"/>
              </a:rPr>
              <a:t>doi</a:t>
            </a:r>
            <a:r>
              <a:rPr lang="en-US" sz="1050" dirty="0">
                <a:solidFill>
                  <a:srgbClr val="333333"/>
                </a:solidFill>
                <a:latin typeface="HelveticaNeue Regular"/>
              </a:rPr>
              <a:t>: 10.3390/ani13071260</a:t>
            </a:r>
          </a:p>
          <a:p>
            <a:pPr marL="171450" indent="-171450" algn="just">
              <a:buFontTx/>
              <a:buChar char="-"/>
            </a:pPr>
            <a:r>
              <a:rPr lang="en-US" sz="1050" dirty="0">
                <a:solidFill>
                  <a:srgbClr val="333333"/>
                </a:solidFill>
                <a:latin typeface="HelveticaNeue Regular"/>
              </a:rPr>
              <a:t>S. Dash, </a:t>
            </a:r>
            <a:r>
              <a:rPr lang="en-US" sz="1050" i="1" dirty="0">
                <a:solidFill>
                  <a:srgbClr val="333333"/>
                </a:solidFill>
                <a:latin typeface="HelveticaNeue Regular"/>
              </a:rPr>
              <a:t>et al</a:t>
            </a:r>
            <a:r>
              <a:rPr lang="en-US" sz="1050" dirty="0">
                <a:solidFill>
                  <a:srgbClr val="333333"/>
                </a:solidFill>
                <a:latin typeface="HelveticaNeue Regular"/>
              </a:rPr>
              <a:t>, "Effect of heat stress on reproductive performances of dairy cattle and buffaloes: A review," in </a:t>
            </a:r>
            <a:r>
              <a:rPr lang="en-US" sz="1050" i="1" dirty="0">
                <a:solidFill>
                  <a:srgbClr val="333333"/>
                </a:solidFill>
                <a:latin typeface="HelveticaNeue Regular"/>
              </a:rPr>
              <a:t>Veterinary World</a:t>
            </a:r>
            <a:r>
              <a:rPr lang="en-US" sz="1050" dirty="0">
                <a:solidFill>
                  <a:srgbClr val="333333"/>
                </a:solidFill>
                <a:latin typeface="HelveticaNeue Regular"/>
              </a:rPr>
              <a:t>, vol. 9, no. 3, pp. 235–244, Mar. 2016, </a:t>
            </a:r>
            <a:r>
              <a:rPr lang="en-US" sz="1050" dirty="0" err="1">
                <a:solidFill>
                  <a:srgbClr val="333333"/>
                </a:solidFill>
                <a:latin typeface="HelveticaNeue Regular"/>
              </a:rPr>
              <a:t>doi</a:t>
            </a:r>
            <a:r>
              <a:rPr lang="en-US" sz="1050" dirty="0">
                <a:solidFill>
                  <a:srgbClr val="333333"/>
                </a:solidFill>
                <a:latin typeface="HelveticaNeue Regular"/>
              </a:rPr>
              <a:t>: 10.14202/vetworld.2016.235-244.</a:t>
            </a:r>
          </a:p>
          <a:p>
            <a:pPr marL="171450" indent="-171450" algn="just">
              <a:buFontTx/>
              <a:buChar char="-"/>
            </a:pPr>
            <a:r>
              <a:rPr lang="en-US" sz="1050" dirty="0">
                <a:solidFill>
                  <a:srgbClr val="333333"/>
                </a:solidFill>
                <a:latin typeface="HelveticaNeue Regular"/>
              </a:rPr>
              <a:t>M. F. Hasan, et al "An effective way to incorporate </a:t>
            </a:r>
            <a:r>
              <a:rPr lang="en-US" sz="1050" dirty="0" err="1">
                <a:solidFill>
                  <a:srgbClr val="333333"/>
                </a:solidFill>
                <a:latin typeface="HelveticaNeue Regular"/>
              </a:rPr>
              <a:t>temperatureÐhumidity</a:t>
            </a:r>
            <a:r>
              <a:rPr lang="en-US" sz="1050" dirty="0">
                <a:solidFill>
                  <a:srgbClr val="333333"/>
                </a:solidFill>
                <a:latin typeface="HelveticaNeue Regular"/>
              </a:rPr>
              <a:t> index to study effect of heat stress on milk yield by an </a:t>
            </a:r>
            <a:r>
              <a:rPr lang="en-US" sz="1050" dirty="0" err="1">
                <a:solidFill>
                  <a:srgbClr val="333333"/>
                </a:solidFill>
                <a:latin typeface="HelveticaNeue Regular"/>
              </a:rPr>
              <a:t>XGBoost</a:t>
            </a:r>
            <a:r>
              <a:rPr lang="en-US" sz="1050" dirty="0">
                <a:solidFill>
                  <a:srgbClr val="333333"/>
                </a:solidFill>
                <a:latin typeface="HelveticaNeue Regular"/>
              </a:rPr>
              <a:t> machine learning model," in Journal of Dairy Science, vol. 108, no. 12, 2025, </a:t>
            </a:r>
            <a:r>
              <a:rPr lang="en-US" sz="1050" dirty="0" err="1">
                <a:solidFill>
                  <a:srgbClr val="333333"/>
                </a:solidFill>
                <a:latin typeface="HelveticaNeue Regular"/>
              </a:rPr>
              <a:t>doi</a:t>
            </a:r>
            <a:r>
              <a:rPr lang="en-US" sz="1050" dirty="0">
                <a:solidFill>
                  <a:srgbClr val="333333"/>
                </a:solidFill>
                <a:latin typeface="HelveticaNeue Regular"/>
              </a:rPr>
              <a:t>: 10.3168/jds.2025-27193.</a:t>
            </a:r>
          </a:p>
          <a:p>
            <a:pPr marL="171450" indent="-171450" algn="just">
              <a:buFontTx/>
              <a:buChar char="-"/>
            </a:pPr>
            <a:r>
              <a:rPr lang="en-US" sz="1050" dirty="0">
                <a:solidFill>
                  <a:srgbClr val="333333"/>
                </a:solidFill>
                <a:latin typeface="HelveticaNeue Regular"/>
              </a:rPr>
              <a:t>J.-W. Song, et al "Development of individual models for predicting cow milk production for real-time monitoring," in Computers and Electronics in Agriculture, vol. 228, Art. no. 109698, Jan. 2025, </a:t>
            </a:r>
            <a:r>
              <a:rPr lang="en-US" sz="1050" dirty="0" err="1">
                <a:solidFill>
                  <a:srgbClr val="333333"/>
                </a:solidFill>
                <a:latin typeface="HelveticaNeue Regular"/>
              </a:rPr>
              <a:t>doi</a:t>
            </a:r>
            <a:r>
              <a:rPr lang="en-US" sz="1050" dirty="0">
                <a:solidFill>
                  <a:srgbClr val="333333"/>
                </a:solidFill>
                <a:latin typeface="HelveticaNeue Regular"/>
              </a:rPr>
              <a:t>: 10.1016/j.compag.2024.109698.</a:t>
            </a:r>
          </a:p>
          <a:p>
            <a:pPr marL="171450" indent="-171450" algn="just">
              <a:buFontTx/>
              <a:buChar char="-"/>
            </a:pPr>
            <a:r>
              <a:rPr lang="en-US" sz="1050" dirty="0">
                <a:solidFill>
                  <a:srgbClr val="333333"/>
                </a:solidFill>
                <a:latin typeface="HelveticaNeue Regular"/>
              </a:rPr>
              <a:t>B. Ji et al., "A machine learning framework to predict the next month's daily milk yield, milk composition and milking frequency for cows in a robotic dairy farm," in </a:t>
            </a:r>
            <a:r>
              <a:rPr lang="en-US" sz="1050" dirty="0" err="1">
                <a:solidFill>
                  <a:srgbClr val="333333"/>
                </a:solidFill>
                <a:latin typeface="HelveticaNeue Regular"/>
              </a:rPr>
              <a:t>Biosyst</a:t>
            </a:r>
            <a:r>
              <a:rPr lang="en-US" sz="1050" dirty="0">
                <a:solidFill>
                  <a:srgbClr val="333333"/>
                </a:solidFill>
                <a:latin typeface="HelveticaNeue Regular"/>
              </a:rPr>
              <a:t>. Eng., vol. 216, pp. 186Ð197, Apr. 2022, </a:t>
            </a:r>
            <a:r>
              <a:rPr lang="en-US" sz="1050" dirty="0" err="1">
                <a:solidFill>
                  <a:srgbClr val="333333"/>
                </a:solidFill>
                <a:latin typeface="HelveticaNeue Regular"/>
              </a:rPr>
              <a:t>doi</a:t>
            </a:r>
            <a:r>
              <a:rPr lang="en-US" sz="1050" dirty="0">
                <a:solidFill>
                  <a:srgbClr val="333333"/>
                </a:solidFill>
                <a:latin typeface="HelveticaNeue Regular"/>
              </a:rPr>
              <a:t>: 10.1016/j.biosystemseng.2022.02.013.</a:t>
            </a:r>
          </a:p>
          <a:p>
            <a:pPr marL="171450" indent="-171450" algn="just">
              <a:buFontTx/>
              <a:buChar char="-"/>
            </a:pPr>
            <a:r>
              <a:rPr lang="en-US" sz="1050" dirty="0">
                <a:solidFill>
                  <a:srgbClr val="333333"/>
                </a:solidFill>
                <a:latin typeface="HelveticaNeue Regular"/>
              </a:rPr>
              <a:t>M. </a:t>
            </a:r>
            <a:r>
              <a:rPr lang="en-US" sz="1050" dirty="0" err="1">
                <a:solidFill>
                  <a:srgbClr val="333333"/>
                </a:solidFill>
                <a:latin typeface="HelveticaNeue Regular"/>
              </a:rPr>
              <a:t>Santinello</a:t>
            </a:r>
            <a:r>
              <a:rPr lang="en-US" sz="1050" dirty="0">
                <a:solidFill>
                  <a:srgbClr val="333333"/>
                </a:solidFill>
                <a:latin typeface="HelveticaNeue Regular"/>
              </a:rPr>
              <a:t>, G. Neglia, et al., "The role of age at first calving in shaping production and reproductive outcomes in Italian buffaloes," in J. Dairy Sci., vol. 108, no. 7, pp. 7235–7247, Jul. 2025, </a:t>
            </a:r>
            <a:r>
              <a:rPr lang="en-US" sz="1050" dirty="0" err="1">
                <a:solidFill>
                  <a:srgbClr val="333333"/>
                </a:solidFill>
                <a:latin typeface="HelveticaNeue Regular"/>
              </a:rPr>
              <a:t>doi</a:t>
            </a:r>
            <a:r>
              <a:rPr lang="en-US" sz="1050" dirty="0">
                <a:solidFill>
                  <a:srgbClr val="333333"/>
                </a:solidFill>
                <a:latin typeface="HelveticaNeue Regular"/>
              </a:rPr>
              <a:t>: 10.3168/jds.2025-26369.</a:t>
            </a:r>
          </a:p>
          <a:p>
            <a:pPr marL="171450" indent="-171450" algn="just">
              <a:buFontTx/>
              <a:buChar char="-"/>
            </a:pPr>
            <a:r>
              <a:rPr lang="en-US" sz="1050" dirty="0">
                <a:solidFill>
                  <a:srgbClr val="333333"/>
                </a:solidFill>
                <a:latin typeface="HelveticaNeue Regular"/>
              </a:rPr>
              <a:t>M. </a:t>
            </a:r>
            <a:r>
              <a:rPr lang="en-US" sz="1050" dirty="0" err="1">
                <a:solidFill>
                  <a:srgbClr val="333333"/>
                </a:solidFill>
                <a:latin typeface="HelveticaNeue Regular"/>
              </a:rPr>
              <a:t>Santinello</a:t>
            </a:r>
            <a:r>
              <a:rPr lang="en-US" sz="1050" dirty="0">
                <a:solidFill>
                  <a:srgbClr val="333333"/>
                </a:solidFill>
                <a:latin typeface="HelveticaNeue Regular"/>
              </a:rPr>
              <a:t>, G. Neglia et al., "The cost of being early or late: Biological and economic outcomes of age at first calving in dairy buffaloes,” in J. Dairy Sci., vol. TBC, no. TBC, pp. TBC, 2025, </a:t>
            </a:r>
            <a:r>
              <a:rPr lang="en-US" sz="1050" dirty="0" err="1">
                <a:solidFill>
                  <a:srgbClr val="333333"/>
                </a:solidFill>
                <a:latin typeface="HelveticaNeue Regular"/>
              </a:rPr>
              <a:t>doi</a:t>
            </a:r>
            <a:r>
              <a:rPr lang="en-US" sz="1050" dirty="0">
                <a:solidFill>
                  <a:srgbClr val="333333"/>
                </a:solidFill>
                <a:latin typeface="HelveticaNeue Regular"/>
              </a:rPr>
              <a:t>: 10.3168/jds.2025-27467.</a:t>
            </a:r>
          </a:p>
          <a:p>
            <a:pPr marL="171450" indent="-171450" algn="just">
              <a:buFontTx/>
              <a:buChar char="-"/>
            </a:pPr>
            <a:r>
              <a:rPr lang="en-US" sz="1050" dirty="0">
                <a:solidFill>
                  <a:srgbClr val="333333"/>
                </a:solidFill>
                <a:latin typeface="HelveticaNeue Regular"/>
              </a:rPr>
              <a:t>G. Neglia et al., "Exploiting machine learning methods with monthly routine milk recording data and climatic information to predict subclinical mastitis in Italian Mediterranean buffaloes," in J. Dairy Sci., vol. 106, no. 3, pp. 1942Ð1952, Mar. 2023, </a:t>
            </a:r>
            <a:r>
              <a:rPr lang="en-US" sz="1050" dirty="0" err="1">
                <a:solidFill>
                  <a:srgbClr val="333333"/>
                </a:solidFill>
                <a:latin typeface="HelveticaNeue Regular"/>
              </a:rPr>
              <a:t>doi</a:t>
            </a:r>
            <a:r>
              <a:rPr lang="en-US" sz="1050" dirty="0">
                <a:solidFill>
                  <a:srgbClr val="333333"/>
                </a:solidFill>
                <a:latin typeface="HelveticaNeue Regular"/>
              </a:rPr>
              <a:t>: 10.3168/jds.2022-22292.</a:t>
            </a:r>
          </a:p>
          <a:p>
            <a:pPr marL="171450" indent="-171450" algn="just">
              <a:buFontTx/>
              <a:buChar char="-"/>
            </a:pPr>
            <a:r>
              <a:rPr lang="en-US" sz="1050" dirty="0">
                <a:solidFill>
                  <a:srgbClr val="333333"/>
                </a:solidFill>
                <a:latin typeface="HelveticaNeue Regular"/>
              </a:rPr>
              <a:t>R. J. Hyndman and G. Athanasopoulos, Forecasting: Principles and Practice, 3rd ed. Melbourne, Australia: </a:t>
            </a:r>
            <a:r>
              <a:rPr lang="en-US" sz="1050" dirty="0" err="1">
                <a:solidFill>
                  <a:srgbClr val="333333"/>
                </a:solidFill>
                <a:latin typeface="HelveticaNeue Regular"/>
              </a:rPr>
              <a:t>OTexts</a:t>
            </a:r>
            <a:r>
              <a:rPr lang="en-US" sz="1050" dirty="0">
                <a:solidFill>
                  <a:srgbClr val="333333"/>
                </a:solidFill>
                <a:latin typeface="HelveticaNeue Regular"/>
              </a:rPr>
              <a:t>, 2021. [Online]. Available: https://</a:t>
            </a:r>
            <a:r>
              <a:rPr lang="en-US" sz="1050" dirty="0" err="1">
                <a:solidFill>
                  <a:srgbClr val="333333"/>
                </a:solidFill>
                <a:latin typeface="HelveticaNeue Regular"/>
              </a:rPr>
              <a:t>otexts.com</a:t>
            </a:r>
            <a:r>
              <a:rPr lang="en-US" sz="1050" dirty="0">
                <a:solidFill>
                  <a:srgbClr val="333333"/>
                </a:solidFill>
                <a:latin typeface="HelveticaNeue Regular"/>
              </a:rPr>
              <a:t>/fpp3/ </a:t>
            </a:r>
          </a:p>
          <a:p>
            <a:pPr marL="171450" indent="-171450" algn="just">
              <a:buFontTx/>
              <a:buChar char="-"/>
            </a:pPr>
            <a:r>
              <a:rPr lang="en-US" sz="1050" dirty="0">
                <a:solidFill>
                  <a:srgbClr val="333333"/>
                </a:solidFill>
                <a:latin typeface="HelveticaNeue Regular"/>
              </a:rPr>
              <a:t>O. Omri, et al., "On the inventory performance of hierarchical forecasting approaches: case of a vaccine supply chain," J. Oper. Res. Soc., Oct. 2025, </a:t>
            </a:r>
            <a:r>
              <a:rPr lang="en-US" sz="1050" dirty="0" err="1">
                <a:solidFill>
                  <a:srgbClr val="333333"/>
                </a:solidFill>
                <a:latin typeface="HelveticaNeue Regular"/>
              </a:rPr>
              <a:t>doi</a:t>
            </a:r>
            <a:r>
              <a:rPr lang="en-US" sz="1050" dirty="0">
                <a:solidFill>
                  <a:srgbClr val="333333"/>
                </a:solidFill>
                <a:latin typeface="HelveticaNeue Regular"/>
              </a:rPr>
              <a:t>: 10.1080/01605682.2025.2566323.</a:t>
            </a:r>
          </a:p>
          <a:p>
            <a:pPr marL="171450" indent="-171450" algn="just">
              <a:buFontTx/>
              <a:buChar char="-"/>
            </a:pPr>
            <a:r>
              <a:rPr lang="en-US" sz="1050" dirty="0">
                <a:solidFill>
                  <a:srgbClr val="333333"/>
                </a:solidFill>
                <a:latin typeface="HelveticaNeue Regular"/>
              </a:rPr>
              <a:t>M. Kim, et </a:t>
            </a:r>
            <a:r>
              <a:rPr lang="en-US" sz="1050" dirty="0" err="1">
                <a:solidFill>
                  <a:srgbClr val="333333"/>
                </a:solidFill>
                <a:latin typeface="HelveticaNeue Regular"/>
              </a:rPr>
              <a:t>al.,"Beginner</a:t>
            </a:r>
            <a:r>
              <a:rPr lang="en-US" sz="1050" dirty="0">
                <a:solidFill>
                  <a:srgbClr val="333333"/>
                </a:solidFill>
                <a:latin typeface="HelveticaNeue Regular"/>
              </a:rPr>
              <a:t>-friendly review of research on R-based energy forecasting: Insights from text mining," in Electronics, vol. 14, no. 17, Art. no. 3513, Sep. 2025, </a:t>
            </a:r>
            <a:r>
              <a:rPr lang="en-US" sz="1050" dirty="0" err="1">
                <a:solidFill>
                  <a:srgbClr val="333333"/>
                </a:solidFill>
                <a:latin typeface="HelveticaNeue Regular"/>
              </a:rPr>
              <a:t>doi</a:t>
            </a:r>
            <a:r>
              <a:rPr lang="en-US" sz="1050" dirty="0">
                <a:solidFill>
                  <a:srgbClr val="333333"/>
                </a:solidFill>
                <a:latin typeface="HelveticaNeue Regular"/>
              </a:rPr>
              <a:t>: 10.3390/electronics14173513.</a:t>
            </a:r>
          </a:p>
          <a:p>
            <a:pPr marL="171450" indent="-171450" algn="just">
              <a:buFontTx/>
              <a:buChar char="-"/>
            </a:pPr>
            <a:r>
              <a:rPr lang="en-US" sz="1050" dirty="0">
                <a:solidFill>
                  <a:srgbClr val="333333"/>
                </a:solidFill>
                <a:latin typeface="HelveticaNeue Regular"/>
              </a:rPr>
              <a:t>R. J. Hyndman et al, "Optimal combination forecasts for hierarchical time series," in </a:t>
            </a:r>
            <a:r>
              <a:rPr lang="en-US" sz="1050" dirty="0" err="1">
                <a:solidFill>
                  <a:srgbClr val="333333"/>
                </a:solidFill>
                <a:latin typeface="HelveticaNeue Regular"/>
              </a:rPr>
              <a:t>Comput</a:t>
            </a:r>
            <a:r>
              <a:rPr lang="en-US" sz="1050" dirty="0">
                <a:solidFill>
                  <a:srgbClr val="333333"/>
                </a:solidFill>
                <a:latin typeface="HelveticaNeue Regular"/>
              </a:rPr>
              <a:t>. Stat. Data Anal., vol. 55, no. 9, pp. 2579–2589, Sep. 2011, </a:t>
            </a:r>
            <a:r>
              <a:rPr lang="en-US" sz="1050" dirty="0" err="1">
                <a:solidFill>
                  <a:srgbClr val="333333"/>
                </a:solidFill>
                <a:latin typeface="HelveticaNeue Regular"/>
              </a:rPr>
              <a:t>doi</a:t>
            </a:r>
            <a:r>
              <a:rPr lang="en-US" sz="1050" dirty="0">
                <a:solidFill>
                  <a:srgbClr val="333333"/>
                </a:solidFill>
                <a:latin typeface="HelveticaNeue Regular"/>
              </a:rPr>
              <a:t>: 10.1016/j.csda.2011.03.006.</a:t>
            </a:r>
          </a:p>
          <a:p>
            <a:pPr marL="171450" indent="-171450" algn="just">
              <a:buFontTx/>
              <a:buChar char="-"/>
            </a:pPr>
            <a:r>
              <a:rPr lang="en-US" sz="1050" dirty="0">
                <a:solidFill>
                  <a:srgbClr val="333333"/>
                </a:solidFill>
                <a:latin typeface="HelveticaNeue Regular"/>
              </a:rPr>
              <a:t>S. L. </a:t>
            </a:r>
            <a:r>
              <a:rPr lang="en-US" sz="1050" dirty="0" err="1">
                <a:solidFill>
                  <a:srgbClr val="333333"/>
                </a:solidFill>
                <a:latin typeface="HelveticaNeue Regular"/>
              </a:rPr>
              <a:t>Wickramasuriya</a:t>
            </a:r>
            <a:r>
              <a:rPr lang="en-US" sz="1050" dirty="0">
                <a:solidFill>
                  <a:srgbClr val="333333"/>
                </a:solidFill>
                <a:latin typeface="HelveticaNeue Regular"/>
              </a:rPr>
              <a:t>, et al., "Optimal forecast reconciliation for hierarchical and grouped time series through trace minimization,” in J. Amer. Stat. Assoc., vol. 114, no. 526, pp. 804–819, 2019, </a:t>
            </a:r>
            <a:r>
              <a:rPr lang="en-US" sz="1050" dirty="0" err="1">
                <a:solidFill>
                  <a:srgbClr val="333333"/>
                </a:solidFill>
                <a:latin typeface="HelveticaNeue Regular"/>
              </a:rPr>
              <a:t>doi</a:t>
            </a:r>
            <a:r>
              <a:rPr lang="en-US" sz="1050" dirty="0">
                <a:solidFill>
                  <a:srgbClr val="333333"/>
                </a:solidFill>
                <a:latin typeface="HelveticaNeue Regular"/>
              </a:rPr>
              <a:t>: 10.1080/01621459.2018.1448825.</a:t>
            </a:r>
          </a:p>
          <a:p>
            <a:pPr marL="171450" indent="-171450" algn="just">
              <a:buFontTx/>
              <a:buChar char="-"/>
            </a:pPr>
            <a:r>
              <a:rPr lang="en-US" sz="1050" dirty="0">
                <a:solidFill>
                  <a:srgbClr val="333333"/>
                </a:solidFill>
                <a:latin typeface="HelveticaNeue Regular"/>
              </a:rPr>
              <a:t>M. </a:t>
            </a:r>
            <a:r>
              <a:rPr lang="en-US" sz="1050" dirty="0" err="1">
                <a:solidFill>
                  <a:srgbClr val="333333"/>
                </a:solidFill>
                <a:latin typeface="HelveticaNeue Regular"/>
              </a:rPr>
              <a:t>Abolghasemi</a:t>
            </a:r>
            <a:r>
              <a:rPr lang="en-US" sz="1050" dirty="0">
                <a:solidFill>
                  <a:srgbClr val="333333"/>
                </a:solidFill>
                <a:latin typeface="HelveticaNeue Regular"/>
              </a:rPr>
              <a:t>, et al, "Model selection in reconciling hierarchical time series," in Mach. Learn., vol. 111, pp. 739–789, Feb. 2022, </a:t>
            </a:r>
            <a:r>
              <a:rPr lang="en-US" sz="1050" dirty="0" err="1">
                <a:solidFill>
                  <a:srgbClr val="333333"/>
                </a:solidFill>
                <a:latin typeface="HelveticaNeue Regular"/>
              </a:rPr>
              <a:t>doi</a:t>
            </a:r>
            <a:r>
              <a:rPr lang="en-US" sz="1050" dirty="0">
                <a:solidFill>
                  <a:srgbClr val="333333"/>
                </a:solidFill>
                <a:latin typeface="HelveticaNeue Regular"/>
              </a:rPr>
              <a:t>: 10.1007/s10994-021-06126-z.</a:t>
            </a:r>
          </a:p>
          <a:p>
            <a:pPr marL="171450" indent="-171450" algn="just">
              <a:buFontTx/>
              <a:buChar char="-"/>
            </a:pPr>
            <a:r>
              <a:rPr lang="en-US" sz="1050" dirty="0">
                <a:solidFill>
                  <a:srgbClr val="333333"/>
                </a:solidFill>
                <a:latin typeface="HelveticaNeue Regular"/>
              </a:rPr>
              <a:t>S. </a:t>
            </a:r>
            <a:r>
              <a:rPr lang="en-US" sz="1050" dirty="0" err="1">
                <a:solidFill>
                  <a:srgbClr val="333333"/>
                </a:solidFill>
                <a:latin typeface="HelveticaNeue Regular"/>
              </a:rPr>
              <a:t>Rangapuram</a:t>
            </a:r>
            <a:r>
              <a:rPr lang="en-US" sz="1050" dirty="0">
                <a:solidFill>
                  <a:srgbClr val="333333"/>
                </a:solidFill>
                <a:latin typeface="HelveticaNeue Regular"/>
              </a:rPr>
              <a:t>, et al., "End-to-end learning of coherent probabilistic forecasts for hierarchical time series," 2021. [Online]. Available: https://</a:t>
            </a:r>
            <a:r>
              <a:rPr lang="en-US" sz="1050" dirty="0" err="1">
                <a:solidFill>
                  <a:srgbClr val="333333"/>
                </a:solidFill>
                <a:latin typeface="HelveticaNeue Regular"/>
              </a:rPr>
              <a:t>www.amazon.science</a:t>
            </a:r>
            <a:r>
              <a:rPr lang="en-US" sz="1050" dirty="0">
                <a:solidFill>
                  <a:srgbClr val="333333"/>
                </a:solidFill>
                <a:latin typeface="HelveticaNeue Regular"/>
              </a:rPr>
              <a:t>/publications/end-to-end-learning-of-coherent-probabilistic-forecasts-for-hierarchical-time-series</a:t>
            </a:r>
          </a:p>
          <a:p>
            <a:pPr marL="171450" indent="-171450" algn="just">
              <a:buFontTx/>
              <a:buChar char="-"/>
            </a:pPr>
            <a:r>
              <a:rPr lang="en-US" sz="1050" dirty="0">
                <a:solidFill>
                  <a:srgbClr val="333333"/>
                </a:solidFill>
                <a:latin typeface="HelveticaNeue Regular"/>
              </a:rPr>
              <a:t>A. Sagheer, et al., "Deep LSTM-based transfer learning approach for coherent forecasts in hierarchical time series," in Sensors, vol. 21, no. 13, Art. no. 4379, Jun. 2021, </a:t>
            </a:r>
            <a:r>
              <a:rPr lang="en-US" sz="1050" dirty="0" err="1">
                <a:solidFill>
                  <a:srgbClr val="333333"/>
                </a:solidFill>
                <a:latin typeface="HelveticaNeue Regular"/>
              </a:rPr>
              <a:t>doi</a:t>
            </a:r>
            <a:r>
              <a:rPr lang="en-US" sz="1050" dirty="0">
                <a:solidFill>
                  <a:srgbClr val="333333"/>
                </a:solidFill>
                <a:latin typeface="HelveticaNeue Regular"/>
              </a:rPr>
              <a:t>: 10.3390/s21134379.</a:t>
            </a:r>
          </a:p>
          <a:p>
            <a:pPr marL="171450" indent="-171450" algn="just">
              <a:buFontTx/>
              <a:buChar char="-"/>
            </a:pPr>
            <a:r>
              <a:rPr lang="en-US" sz="1050" dirty="0">
                <a:solidFill>
                  <a:srgbClr val="333333"/>
                </a:solidFill>
                <a:latin typeface="HelveticaNeue Regular"/>
              </a:rPr>
              <a:t>P. Mancuso et </a:t>
            </a:r>
            <a:r>
              <a:rPr lang="en-US" sz="1050" dirty="0" err="1">
                <a:solidFill>
                  <a:srgbClr val="333333"/>
                </a:solidFill>
                <a:latin typeface="HelveticaNeue Regular"/>
              </a:rPr>
              <a:t>al.,"A</a:t>
            </a:r>
            <a:r>
              <a:rPr lang="en-US" sz="1050" dirty="0">
                <a:solidFill>
                  <a:srgbClr val="333333"/>
                </a:solidFill>
                <a:latin typeface="HelveticaNeue Regular"/>
              </a:rPr>
              <a:t> machine learning approach for forecasting hierarchical time series,” in Expert Syst. Appl., vol. 182, Art. no. 115102, Nov. 2021, </a:t>
            </a:r>
            <a:r>
              <a:rPr lang="en-US" sz="1050" dirty="0" err="1">
                <a:solidFill>
                  <a:srgbClr val="333333"/>
                </a:solidFill>
                <a:latin typeface="HelveticaNeue Regular"/>
              </a:rPr>
              <a:t>doi</a:t>
            </a:r>
            <a:r>
              <a:rPr lang="en-US" sz="1050" dirty="0">
                <a:solidFill>
                  <a:srgbClr val="333333"/>
                </a:solidFill>
                <a:latin typeface="HelveticaNeue Regular"/>
              </a:rPr>
              <a:t>: 10.1016/j.eswa.2021.115102.</a:t>
            </a:r>
          </a:p>
          <a:p>
            <a:pPr marL="171450" indent="-171450" algn="just">
              <a:buFontTx/>
              <a:buChar char="-"/>
            </a:pPr>
            <a:r>
              <a:rPr lang="en-US" sz="1050" dirty="0">
                <a:solidFill>
                  <a:srgbClr val="333333"/>
                </a:solidFill>
                <a:latin typeface="HelveticaNeue Regular"/>
              </a:rPr>
              <a:t>J.-M. Jung, et al, "Multi-algorithmic approach for detecting outliers in cattle intake data," in J. Agric. Food Res., vol. 15, Art. no. 101021, Mar. 2024, </a:t>
            </a:r>
            <a:r>
              <a:rPr lang="en-US" sz="1050" dirty="0" err="1">
                <a:solidFill>
                  <a:srgbClr val="333333"/>
                </a:solidFill>
                <a:latin typeface="HelveticaNeue Regular"/>
              </a:rPr>
              <a:t>doi</a:t>
            </a:r>
            <a:r>
              <a:rPr lang="en-US" sz="1050" dirty="0">
                <a:solidFill>
                  <a:srgbClr val="333333"/>
                </a:solidFill>
                <a:latin typeface="HelveticaNeue Regular"/>
              </a:rPr>
              <a:t>: 10.1016/j.jafr.2024.101021.</a:t>
            </a:r>
          </a:p>
          <a:p>
            <a:pPr marL="171450" indent="-171450" algn="just">
              <a:buFontTx/>
              <a:buChar char="-"/>
            </a:pPr>
            <a:r>
              <a:rPr lang="en-US" sz="1050" dirty="0">
                <a:solidFill>
                  <a:srgbClr val="333333"/>
                </a:solidFill>
                <a:latin typeface="HelveticaNeue Regular"/>
              </a:rPr>
              <a:t>G. Neglia, et al., "Exploring the sources of variation of electrical conductivity and total and differential somatic cell count in Italian Mediterranean buffaloes,” in J. Dairy Sci., vol. 107, no. 1, pp. 508–515, Jan. 2024, </a:t>
            </a:r>
            <a:r>
              <a:rPr lang="en-US" sz="1050" dirty="0" err="1">
                <a:solidFill>
                  <a:srgbClr val="333333"/>
                </a:solidFill>
                <a:latin typeface="HelveticaNeue Regular"/>
              </a:rPr>
              <a:t>doi</a:t>
            </a:r>
            <a:r>
              <a:rPr lang="en-US" sz="1050" dirty="0">
                <a:solidFill>
                  <a:srgbClr val="333333"/>
                </a:solidFill>
                <a:latin typeface="HelveticaNeue Regular"/>
              </a:rPr>
              <a:t>: 10.3168/jds.2023-23629.</a:t>
            </a:r>
          </a:p>
          <a:p>
            <a:pPr algn="just"/>
            <a:endParaRPr lang="en-US" sz="1050" dirty="0">
              <a:solidFill>
                <a:srgbClr val="333333"/>
              </a:solidFill>
            </a:endParaRPr>
          </a:p>
        </p:txBody>
      </p:sp>
      <p:sp>
        <p:nvSpPr>
          <p:cNvPr id="3" name="Title 1">
            <a:extLst>
              <a:ext uri="{FF2B5EF4-FFF2-40B4-BE49-F238E27FC236}">
                <a16:creationId xmlns:a16="http://schemas.microsoft.com/office/drawing/2014/main" id="{215495E0-8121-1A74-9D67-01E41B917642}"/>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References</a:t>
            </a:r>
            <a:endParaRPr lang="en-US" sz="2000" dirty="0"/>
          </a:p>
        </p:txBody>
      </p:sp>
    </p:spTree>
    <p:extLst>
      <p:ext uri="{BB962C8B-B14F-4D97-AF65-F5344CB8AC3E}">
        <p14:creationId xmlns:p14="http://schemas.microsoft.com/office/powerpoint/2010/main" val="285387278"/>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3C2DC4A-0F84-1DEC-34B8-C8BAE5A555F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861E41-70C1-00E2-CD0B-2B41C288BB6B}"/>
              </a:ext>
            </a:extLst>
          </p:cNvPr>
          <p:cNvPicPr>
            <a:picLocks/>
          </p:cNvPicPr>
          <p:nvPr/>
        </p:nvPicPr>
        <p:blipFill>
          <a:blip r:embed="rId2"/>
          <a:stretch>
            <a:fillRect/>
          </a:stretch>
        </p:blipFill>
        <p:spPr>
          <a:xfrm>
            <a:off x="-68921" y="5929314"/>
            <a:ext cx="12308114" cy="1063680"/>
          </a:xfrm>
          <a:prstGeom prst="rect">
            <a:avLst/>
          </a:prstGeom>
        </p:spPr>
      </p:pic>
      <p:sp>
        <p:nvSpPr>
          <p:cNvPr id="5" name="TextBox 4">
            <a:extLst>
              <a:ext uri="{FF2B5EF4-FFF2-40B4-BE49-F238E27FC236}">
                <a16:creationId xmlns:a16="http://schemas.microsoft.com/office/drawing/2014/main" id="{1990127C-438C-D562-DAE4-312B4114C95D}"/>
              </a:ext>
            </a:extLst>
          </p:cNvPr>
          <p:cNvSpPr txBox="1"/>
          <p:nvPr/>
        </p:nvSpPr>
        <p:spPr>
          <a:xfrm>
            <a:off x="178526" y="1247229"/>
            <a:ext cx="5802144" cy="646331"/>
          </a:xfrm>
          <a:prstGeom prst="rect">
            <a:avLst/>
          </a:prstGeom>
          <a:noFill/>
        </p:spPr>
        <p:txBody>
          <a:bodyPr wrap="square" rtlCol="0">
            <a:spAutoFit/>
          </a:bodyPr>
          <a:lstStyle/>
          <a:p>
            <a:r>
              <a:rPr lang="en-US" sz="3600" b="1" dirty="0">
                <a:solidFill>
                  <a:srgbClr val="1B415D"/>
                </a:solidFill>
              </a:rPr>
              <a:t>References</a:t>
            </a:r>
          </a:p>
        </p:txBody>
      </p:sp>
      <p:sp>
        <p:nvSpPr>
          <p:cNvPr id="10" name="TextBox 9">
            <a:extLst>
              <a:ext uri="{FF2B5EF4-FFF2-40B4-BE49-F238E27FC236}">
                <a16:creationId xmlns:a16="http://schemas.microsoft.com/office/drawing/2014/main" id="{139508DA-B83D-0BC6-5EE8-DE1BCB3B3D31}"/>
              </a:ext>
            </a:extLst>
          </p:cNvPr>
          <p:cNvSpPr txBox="1"/>
          <p:nvPr/>
        </p:nvSpPr>
        <p:spPr>
          <a:xfrm>
            <a:off x="326243" y="1841309"/>
            <a:ext cx="11865756" cy="738664"/>
          </a:xfrm>
          <a:prstGeom prst="rect">
            <a:avLst/>
          </a:prstGeom>
          <a:noFill/>
        </p:spPr>
        <p:txBody>
          <a:bodyPr wrap="square">
            <a:spAutoFit/>
          </a:bodyPr>
          <a:lstStyle/>
          <a:p>
            <a:pPr marL="920750" lvl="1" indent="-463550"/>
            <a:r>
              <a:rPr lang="en-US" sz="1400" dirty="0"/>
              <a:t>[11] - Omri, O., Kafa, N., Babai, M. Z., Jemai, Z. &amp; Rostami-Tabar, B. (2025). On the inventory performance of hierarchical forecasting approaches: case of a vaccine supply chain. Journal of the Operational Research Society. [</a:t>
            </a:r>
            <a:r>
              <a:rPr lang="en-US" sz="1400" dirty="0">
                <a:hlinkClick r:id="rId3"/>
              </a:rPr>
              <a:t>Ref</a:t>
            </a:r>
            <a:r>
              <a:rPr lang="en-US" sz="1400" dirty="0"/>
              <a:t>]</a:t>
            </a:r>
          </a:p>
          <a:p>
            <a:pPr marL="920750" lvl="1" indent="-463550"/>
            <a:r>
              <a:rPr lang="en-US" sz="1400" dirty="0"/>
              <a:t>[12] - Kim, M., Kim, H. &amp; Moon, J. (2025). Beginner-Friendly Review of Research on R-Based Energy Forecasting: Insights from Text Mining. [</a:t>
            </a:r>
            <a:r>
              <a:rPr lang="en-US" sz="1400" dirty="0">
                <a:hlinkClick r:id="rId4"/>
              </a:rPr>
              <a:t>Ref</a:t>
            </a:r>
            <a:r>
              <a:rPr lang="en-US" sz="1400" dirty="0"/>
              <a:t>]</a:t>
            </a:r>
          </a:p>
        </p:txBody>
      </p:sp>
      <p:pic>
        <p:nvPicPr>
          <p:cNvPr id="15" name="Picture 14">
            <a:extLst>
              <a:ext uri="{FF2B5EF4-FFF2-40B4-BE49-F238E27FC236}">
                <a16:creationId xmlns:a16="http://schemas.microsoft.com/office/drawing/2014/main" id="{1AF790AF-00B8-D5A2-3105-A8C134B24388}"/>
              </a:ext>
            </a:extLst>
          </p:cNvPr>
          <p:cNvPicPr>
            <a:picLocks/>
          </p:cNvPicPr>
          <p:nvPr/>
        </p:nvPicPr>
        <p:blipFill>
          <a:blip r:embed="rId2"/>
          <a:stretch>
            <a:fillRect/>
          </a:stretch>
        </p:blipFill>
        <p:spPr>
          <a:xfrm>
            <a:off x="-58056" y="-115208"/>
            <a:ext cx="12308114" cy="1333500"/>
          </a:xfrm>
          <a:prstGeom prst="rect">
            <a:avLst/>
          </a:prstGeom>
        </p:spPr>
      </p:pic>
      <p:pic>
        <p:nvPicPr>
          <p:cNvPr id="16" name="Picture 4" descr="Home – Planet">
            <a:extLst>
              <a:ext uri="{FF2B5EF4-FFF2-40B4-BE49-F238E27FC236}">
                <a16:creationId xmlns:a16="http://schemas.microsoft.com/office/drawing/2014/main" id="{042DC24F-79D3-A596-2E1E-B838F71D5A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0D8D28E4-11FA-970C-5316-3AF05E1A1EEC}"/>
              </a:ext>
            </a:extLst>
          </p:cNvPr>
          <p:cNvGrpSpPr/>
          <p:nvPr/>
        </p:nvGrpSpPr>
        <p:grpSpPr>
          <a:xfrm>
            <a:off x="8803346" y="58766"/>
            <a:ext cx="3388653" cy="1043369"/>
            <a:chOff x="6076930" y="399008"/>
            <a:chExt cx="6115070" cy="1882835"/>
          </a:xfrm>
        </p:grpSpPr>
        <p:pic>
          <p:nvPicPr>
            <p:cNvPr id="18" name="Picture 2" descr="Logo Università di Napoli Federico II">
              <a:extLst>
                <a:ext uri="{FF2B5EF4-FFF2-40B4-BE49-F238E27FC236}">
                  <a16:creationId xmlns:a16="http://schemas.microsoft.com/office/drawing/2014/main" id="{48117518-F467-729A-94E2-2F29F56AE3E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Master Degree | International Relations | Italia">
              <a:extLst>
                <a:ext uri="{FF2B5EF4-FFF2-40B4-BE49-F238E27FC236}">
                  <a16:creationId xmlns:a16="http://schemas.microsoft.com/office/drawing/2014/main" id="{99D2BB9E-0330-B5CD-4EB3-C7786187CEF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34E0105-06BB-72FA-4565-F67390CBAFF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4" name="Picture 2" descr="Predict PNG Transparent Images Free Download | Vector Files | Pngtree">
            <a:extLst>
              <a:ext uri="{FF2B5EF4-FFF2-40B4-BE49-F238E27FC236}">
                <a16:creationId xmlns:a16="http://schemas.microsoft.com/office/drawing/2014/main" id="{BA6A648B-938B-48B1-4A75-7CB20B05C785}"/>
              </a:ext>
            </a:extLst>
          </p:cNvPr>
          <p:cNvPicPr>
            <a:picLocks noChangeAspect="1" noChangeArrowheads="1"/>
          </p:cNvPicPr>
          <p:nvPr/>
        </p:nvPicPr>
        <p:blipFill>
          <a:blip r:embed="rId8">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698770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B8453-6EAD-E46A-30DC-C6085B53A56C}"/>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D75A5EED-870E-4D99-2D2E-D1D38BC6A85D}"/>
              </a:ext>
            </a:extLst>
          </p:cNvPr>
          <p:cNvSpPr>
            <a:spLocks noGrp="1"/>
          </p:cNvSpPr>
          <p:nvPr>
            <p:ph type="body" sz="quarter" idx="11"/>
          </p:nvPr>
        </p:nvSpPr>
        <p:spPr>
          <a:xfrm>
            <a:off x="279698" y="888227"/>
            <a:ext cx="11505901" cy="3024000"/>
          </a:xfrm>
        </p:spPr>
        <p:txBody>
          <a:bodyPr anchor="ctr">
            <a:normAutofit/>
          </a:bodyPr>
          <a:lstStyle/>
          <a:p>
            <a:r>
              <a:rPr lang="en-US" sz="4000" b="1" dirty="0"/>
              <a:t>Predictive Analytics of Climate Stress Impact on the Italian Mediterranean Buffalo</a:t>
            </a:r>
          </a:p>
          <a:p>
            <a:r>
              <a:rPr lang="en-US" sz="2400" b="1" dirty="0"/>
              <a:t>Physiological and Productive Responses</a:t>
            </a:r>
          </a:p>
        </p:txBody>
      </p:sp>
      <p:sp>
        <p:nvSpPr>
          <p:cNvPr id="3" name="Segnaposto testo 2">
            <a:extLst>
              <a:ext uri="{FF2B5EF4-FFF2-40B4-BE49-F238E27FC236}">
                <a16:creationId xmlns:a16="http://schemas.microsoft.com/office/drawing/2014/main" id="{5EFA5FE9-E117-4AFD-C1B4-0521EF71D14A}"/>
              </a:ext>
            </a:extLst>
          </p:cNvPr>
          <p:cNvSpPr>
            <a:spLocks noGrp="1"/>
          </p:cNvSpPr>
          <p:nvPr>
            <p:ph type="body" sz="quarter" idx="12"/>
          </p:nvPr>
        </p:nvSpPr>
        <p:spPr>
          <a:xfrm>
            <a:off x="9275886" y="4781075"/>
            <a:ext cx="2763714" cy="722589"/>
          </a:xfrm>
        </p:spPr>
        <p:txBody>
          <a:bodyPr anchor="ctr">
            <a:normAutofit/>
          </a:bodyPr>
          <a:lstStyle/>
          <a:p>
            <a:pPr algn="ctr"/>
            <a:r>
              <a:rPr lang="it-IT" sz="2000" b="1" dirty="0"/>
              <a:t>Mohammad Sheikh</a:t>
            </a:r>
          </a:p>
        </p:txBody>
      </p:sp>
      <p:pic>
        <p:nvPicPr>
          <p:cNvPr id="9" name="Picture 8">
            <a:extLst>
              <a:ext uri="{FF2B5EF4-FFF2-40B4-BE49-F238E27FC236}">
                <a16:creationId xmlns:a16="http://schemas.microsoft.com/office/drawing/2014/main" id="{1D6BDFE6-577D-28B6-C3AB-96C270AB64BE}"/>
              </a:ext>
            </a:extLst>
          </p:cNvPr>
          <p:cNvPicPr>
            <a:picLocks noChangeAspect="1"/>
          </p:cNvPicPr>
          <p:nvPr/>
        </p:nvPicPr>
        <p:blipFill rotWithShape="1">
          <a:blip r:embed="rId3"/>
          <a:srcRect l="55403"/>
          <a:stretch/>
        </p:blipFill>
        <p:spPr>
          <a:xfrm>
            <a:off x="5204629" y="5561039"/>
            <a:ext cx="1590839" cy="856124"/>
          </a:xfrm>
          <a:prstGeom prst="rect">
            <a:avLst/>
          </a:prstGeom>
        </p:spPr>
      </p:pic>
      <p:sp>
        <p:nvSpPr>
          <p:cNvPr id="11" name="TextBox 10">
            <a:extLst>
              <a:ext uri="{FF2B5EF4-FFF2-40B4-BE49-F238E27FC236}">
                <a16:creationId xmlns:a16="http://schemas.microsoft.com/office/drawing/2014/main" id="{5D68DC29-694F-D7B8-8DE5-8B14BC409FFE}"/>
              </a:ext>
            </a:extLst>
          </p:cNvPr>
          <p:cNvSpPr txBox="1"/>
          <p:nvPr/>
        </p:nvSpPr>
        <p:spPr>
          <a:xfrm>
            <a:off x="6795468" y="5939576"/>
            <a:ext cx="6096000" cy="646331"/>
          </a:xfrm>
          <a:prstGeom prst="rect">
            <a:avLst/>
          </a:prstGeom>
          <a:noFill/>
        </p:spPr>
        <p:txBody>
          <a:bodyPr wrap="square">
            <a:spAutoFit/>
          </a:bodyPr>
          <a:lstStyle/>
          <a:p>
            <a:r>
              <a:rPr lang="en-GB" dirty="0" err="1">
                <a:solidFill>
                  <a:schemeClr val="accent1"/>
                </a:solidFill>
              </a:rPr>
              <a:t>Dipartimento</a:t>
            </a:r>
            <a:r>
              <a:rPr lang="en-GB" dirty="0">
                <a:solidFill>
                  <a:schemeClr val="accent1"/>
                </a:solidFill>
              </a:rPr>
              <a:t> di </a:t>
            </a:r>
            <a:r>
              <a:rPr lang="en-GB" dirty="0" err="1">
                <a:solidFill>
                  <a:schemeClr val="accent1"/>
                </a:solidFill>
              </a:rPr>
              <a:t>Automatica</a:t>
            </a:r>
            <a:r>
              <a:rPr lang="en-GB" dirty="0">
                <a:solidFill>
                  <a:schemeClr val="accent1"/>
                </a:solidFill>
              </a:rPr>
              <a:t> e Informatica</a:t>
            </a:r>
          </a:p>
          <a:p>
            <a:endParaRPr lang="en-GB" dirty="0">
              <a:solidFill>
                <a:schemeClr val="accent1"/>
              </a:solidFill>
            </a:endParaRPr>
          </a:p>
        </p:txBody>
      </p:sp>
      <p:sp>
        <p:nvSpPr>
          <p:cNvPr id="13" name="TextBox 12">
            <a:extLst>
              <a:ext uri="{FF2B5EF4-FFF2-40B4-BE49-F238E27FC236}">
                <a16:creationId xmlns:a16="http://schemas.microsoft.com/office/drawing/2014/main" id="{442E53D0-BB9C-A482-E5B7-989E96A45641}"/>
              </a:ext>
            </a:extLst>
          </p:cNvPr>
          <p:cNvSpPr txBox="1"/>
          <p:nvPr/>
        </p:nvSpPr>
        <p:spPr>
          <a:xfrm>
            <a:off x="6795468" y="5600441"/>
            <a:ext cx="6096000" cy="338554"/>
          </a:xfrm>
          <a:prstGeom prst="rect">
            <a:avLst/>
          </a:prstGeom>
          <a:noFill/>
        </p:spPr>
        <p:txBody>
          <a:bodyPr wrap="square">
            <a:spAutoFit/>
          </a:bodyPr>
          <a:lstStyle/>
          <a:p>
            <a:r>
              <a:rPr lang="en-GB" sz="1600" b="1" dirty="0">
                <a:solidFill>
                  <a:schemeClr val="accent1"/>
                </a:solidFill>
              </a:rPr>
              <a:t>Department of Control and Computer Engineering</a:t>
            </a:r>
          </a:p>
        </p:txBody>
      </p:sp>
      <p:cxnSp>
        <p:nvCxnSpPr>
          <p:cNvPr id="15" name="Straight Connector 14">
            <a:extLst>
              <a:ext uri="{FF2B5EF4-FFF2-40B4-BE49-F238E27FC236}">
                <a16:creationId xmlns:a16="http://schemas.microsoft.com/office/drawing/2014/main" id="{1111F971-9757-D85C-BB51-34BE7B2D807F}"/>
              </a:ext>
            </a:extLst>
          </p:cNvPr>
          <p:cNvCxnSpPr>
            <a:cxnSpLocks/>
          </p:cNvCxnSpPr>
          <p:nvPr/>
        </p:nvCxnSpPr>
        <p:spPr>
          <a:xfrm>
            <a:off x="5287064" y="5406887"/>
            <a:ext cx="6752536"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egnaposto testo 2">
            <a:extLst>
              <a:ext uri="{FF2B5EF4-FFF2-40B4-BE49-F238E27FC236}">
                <a16:creationId xmlns:a16="http://schemas.microsoft.com/office/drawing/2014/main" id="{F5BD78BC-A553-BBA7-3124-064E6A1872C8}"/>
              </a:ext>
            </a:extLst>
          </p:cNvPr>
          <p:cNvSpPr txBox="1">
            <a:spLocks/>
          </p:cNvSpPr>
          <p:nvPr/>
        </p:nvSpPr>
        <p:spPr>
          <a:xfrm>
            <a:off x="5195268" y="4163420"/>
            <a:ext cx="3200400" cy="1825681"/>
          </a:xfrm>
          <a:prstGeom prst="rect">
            <a:avLst/>
          </a:prstGeom>
        </p:spPr>
        <p:txBody>
          <a:bodyPr anchor="ctr">
            <a:normAutofit/>
          </a:bodyPr>
          <a:lstStyle>
            <a:lvl1pPr marL="0" indent="0" algn="l" defTabSz="914400" rtl="0" eaLnBrk="1" latinLnBrk="0" hangingPunct="1">
              <a:lnSpc>
                <a:spcPct val="90000"/>
              </a:lnSpc>
              <a:spcBef>
                <a:spcPts val="1000"/>
              </a:spcBef>
              <a:buFontTx/>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2000" b="1" dirty="0"/>
              <a:t>Prof. Luca Barbierato</a:t>
            </a:r>
          </a:p>
          <a:p>
            <a:r>
              <a:rPr lang="it-IT" sz="2000" b="1" dirty="0"/>
              <a:t>Prof. Matteo </a:t>
            </a:r>
            <a:r>
              <a:rPr lang="it-IT" sz="2000" b="1" dirty="0" err="1"/>
              <a:t>Santinello</a:t>
            </a:r>
            <a:r>
              <a:rPr lang="it-IT" sz="2000" b="1" dirty="0"/>
              <a:t>	</a:t>
            </a:r>
          </a:p>
        </p:txBody>
      </p:sp>
    </p:spTree>
    <p:extLst>
      <p:ext uri="{BB962C8B-B14F-4D97-AF65-F5344CB8AC3E}">
        <p14:creationId xmlns:p14="http://schemas.microsoft.com/office/powerpoint/2010/main" val="4011227986"/>
      </p:ext>
    </p:extLst>
  </p:cSld>
  <p:clrMapOvr>
    <a:masterClrMapping/>
  </p:clrMapOvr>
</p:sld>
</file>

<file path=ppt/theme/theme1.xml><?xml version="1.0" encoding="utf-8"?>
<a:theme xmlns:a="http://schemas.openxmlformats.org/drawingml/2006/main" name="COPERTINE">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lito template_ITA" id="{B4DE900A-7F1E-FB4B-BE2A-0D4B6B8B958A}" vid="{413DD7D1-C3E5-6A4B-BFB7-237394F1067C}"/>
    </a:ext>
  </a:extLst>
</a:theme>
</file>

<file path=ppt/theme/theme2.xml><?xml version="1.0" encoding="utf-8"?>
<a:theme xmlns:a="http://schemas.openxmlformats.org/drawingml/2006/main" name="CONTENUTI 1 _ titoli blu">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rgbClr val="FFFFFF"/>
        </a:solidFill>
        <a:ln>
          <a:noFill/>
        </a:ln>
        <a:extLst>
          <a:ext uri="{91240B29-F687-4F45-9708-019B960494DF}">
            <a14:hiddenLine xmlns:a14="http://schemas.microsoft.com/office/drawing/2010/main" w="9525">
              <a:solidFill>
                <a:srgbClr val="000000"/>
              </a:solidFill>
              <a:round/>
              <a:headEnd/>
              <a:tailEnd/>
            </a14:hiddenLine>
          </a:ext>
        </a:extLst>
      </a:spPr>
      <a:bodyPr vert="horz" wrap="square" lIns="91440" tIns="45720" rIns="91440" bIns="45720" numCol="1" anchor="t" anchorCtr="0" compatLnSpc="1">
        <a:prstTxWarp prst="textNoShape">
          <a:avLst/>
        </a:prstTxWarp>
      </a:bodyPr>
      <a:lstStyle>
        <a:defPPr>
          <a:defRPr/>
        </a:defPPr>
      </a:lstStyle>
    </a:spDef>
  </a:objectDefaults>
  <a:extraClrSchemeLst/>
  <a:extLst>
    <a:ext uri="{05A4C25C-085E-4340-85A3-A5531E510DB2}">
      <thm15:themeFamily xmlns:thm15="http://schemas.microsoft.com/office/thememl/2012/main" name="Polito template_ITA" id="{B4DE900A-7F1E-FB4B-BE2A-0D4B6B8B958A}" vid="{A7BD8485-1F4D-B940-AD4F-9A9144EBD7DF}"/>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AD4CAB1AA5B43F4D9AAF01BADE0E3A4F" ma:contentTypeVersion="8" ma:contentTypeDescription="Creare un nuovo documento." ma:contentTypeScope="" ma:versionID="59c7fa7676cd10170f585e95f6181454">
  <xsd:schema xmlns:xsd="http://www.w3.org/2001/XMLSchema" xmlns:xs="http://www.w3.org/2001/XMLSchema" xmlns:p="http://schemas.microsoft.com/office/2006/metadata/properties" xmlns:ns2="ee8ce87a-fc1e-415b-8f19-964dc6e332da" targetNamespace="http://schemas.microsoft.com/office/2006/metadata/properties" ma:root="true" ma:fieldsID="e3f9aa92bd1d0291e55783ad41e7d77e" ns2:_="">
    <xsd:import namespace="ee8ce87a-fc1e-415b-8f19-964dc6e332d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8ce87a-fc1e-415b-8f19-964dc6e332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46FE114-0C58-4EEA-8876-F3C08EF0B541}">
  <ds:schemaRefs>
    <ds:schemaRef ds:uri="http://schemas.microsoft.com/sharepoint/v3/contenttype/forms"/>
  </ds:schemaRefs>
</ds:datastoreItem>
</file>

<file path=customXml/itemProps2.xml><?xml version="1.0" encoding="utf-8"?>
<ds:datastoreItem xmlns:ds="http://schemas.openxmlformats.org/officeDocument/2006/customXml" ds:itemID="{80F9F511-3832-4B05-91B3-5180D7ACFDC9}">
  <ds:schemaRefs>
    <ds:schemaRef ds:uri="http://purl.org/dc/terms/"/>
    <ds:schemaRef ds:uri="ee8ce87a-fc1e-415b-8f19-964dc6e332da"/>
    <ds:schemaRef ds:uri="http://schemas.microsoft.com/office/2006/documentManagement/types"/>
    <ds:schemaRef ds:uri="http://schemas.microsoft.com/office/2006/metadata/properties"/>
    <ds:schemaRef ds:uri="http://schemas.microsoft.com/office/infopath/2007/PartnerControls"/>
    <ds:schemaRef ds:uri="http://www.w3.org/XML/1998/namespace"/>
    <ds:schemaRef ds:uri="http://purl.org/dc/elements/1.1/"/>
    <ds:schemaRef ds:uri="http://schemas.openxmlformats.org/package/2006/metadata/core-properties"/>
    <ds:schemaRef ds:uri="http://purl.org/dc/dcmitype/"/>
  </ds:schemaRefs>
</ds:datastoreItem>
</file>

<file path=customXml/itemProps3.xml><?xml version="1.0" encoding="utf-8"?>
<ds:datastoreItem xmlns:ds="http://schemas.openxmlformats.org/officeDocument/2006/customXml" ds:itemID="{1B4A7BA3-74A2-491B-AF81-6CB1FF0218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8ce87a-fc1e-415b-8f19-964dc6e332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COPERTINE</Template>
  <TotalTime>69397</TotalTime>
  <Words>10900</Words>
  <Application>Microsoft Macintosh PowerPoint</Application>
  <PresentationFormat>Widescreen</PresentationFormat>
  <Paragraphs>1125</Paragraphs>
  <Slides>79</Slides>
  <Notes>32</Notes>
  <HiddenSlides>7</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79</vt:i4>
      </vt:variant>
    </vt:vector>
  </HeadingPairs>
  <TitlesOfParts>
    <vt:vector size="91" baseType="lpstr">
      <vt:lpstr>Times New Roman</vt:lpstr>
      <vt:lpstr>System Font Regular</vt:lpstr>
      <vt:lpstr>Wingdings</vt:lpstr>
      <vt:lpstr>HelveticaNeue Regular</vt:lpstr>
      <vt:lpstr>Poppins Medium</vt:lpstr>
      <vt:lpstr>Poppins</vt:lpstr>
      <vt:lpstr>Arial</vt:lpstr>
      <vt:lpstr>Cambria Math</vt:lpstr>
      <vt:lpstr>Calibri</vt:lpstr>
      <vt:lpstr>Aptos</vt:lpstr>
      <vt:lpstr>COPERTINE</vt:lpstr>
      <vt:lpstr>CONTENUTI 1 _ titoli blu</vt:lpstr>
      <vt:lpstr>PowerPoint Presentation</vt:lpstr>
      <vt:lpstr>Milk predictions of buffalo</vt:lpstr>
      <vt:lpstr>Precision livestock farming (PLF) </vt:lpstr>
      <vt:lpstr>Heat Stress is affecting …</vt:lpstr>
      <vt:lpstr>Temperature-Humidity Index (THI)</vt:lpstr>
      <vt:lpstr>THI refers to be an important KPI in milk production.</vt:lpstr>
      <vt:lpstr>Studies on Milk Prediction</vt:lpstr>
      <vt:lpstr>Effect of HS on cow milk yield by Hassan, 2025</vt:lpstr>
      <vt:lpstr>individual models for predicting cow milk production in Korea, by Song,2025 </vt:lpstr>
      <vt:lpstr>predict the next month's daily cow milk yield in Australia by Ji,2022 </vt:lpstr>
      <vt:lpstr>Effect of Calving on Milk Yield</vt:lpstr>
      <vt:lpstr>Effect of Days in Milk and Parity on Milk Yield</vt:lpstr>
      <vt:lpstr>Predict Subclinical Mastitis in Italian Buffaloes</vt:lpstr>
      <vt:lpstr>Predict Subclinical Mastitis in Italian Buffaloes</vt:lpstr>
      <vt:lpstr>Overview on Project, Phase 1: Baseline Reproduction</vt:lpstr>
      <vt:lpstr>Overview on Project, Phase 2: Hierarchical Timeseries Approach</vt:lpstr>
      <vt:lpstr>PowerPoint Presentation</vt:lpstr>
      <vt:lpstr>Hierarchy in time series (HTS)</vt:lpstr>
      <vt:lpstr>Hierarchy in time series (HTS)</vt:lpstr>
      <vt:lpstr>Applications on HTS</vt:lpstr>
      <vt:lpstr>Our Case Representation in HTS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Massimo Messori</dc:creator>
  <cp:lastModifiedBy>Sheikh Ahmadi Gandab  Seyed Mohammad</cp:lastModifiedBy>
  <cp:revision>29</cp:revision>
  <dcterms:created xsi:type="dcterms:W3CDTF">2024-10-30T07:55:12Z</dcterms:created>
  <dcterms:modified xsi:type="dcterms:W3CDTF">2026-02-09T10:28:34Z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0x010100AD4CAB1AA5B43F4D9AAF01BADE0E3A4F</vt:lpwstr>
  </property>
</Properties>
</file>