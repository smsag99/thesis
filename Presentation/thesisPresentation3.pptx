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77" r:id="rId4"/>
    <p:sldMasterId id="2147483767" r:id="rId5"/>
  </p:sldMasterIdLst>
  <p:notesMasterIdLst>
    <p:notesMasterId r:id="rId65"/>
  </p:notesMasterIdLst>
  <p:handoutMasterIdLst>
    <p:handoutMasterId r:id="rId66"/>
  </p:handoutMasterIdLst>
  <p:sldIdLst>
    <p:sldId id="256" r:id="rId6"/>
    <p:sldId id="288" r:id="rId7"/>
    <p:sldId id="353" r:id="rId8"/>
    <p:sldId id="369" r:id="rId9"/>
    <p:sldId id="354" r:id="rId10"/>
    <p:sldId id="370" r:id="rId11"/>
    <p:sldId id="356" r:id="rId12"/>
    <p:sldId id="357" r:id="rId13"/>
    <p:sldId id="359" r:id="rId14"/>
    <p:sldId id="360" r:id="rId15"/>
    <p:sldId id="361" r:id="rId16"/>
    <p:sldId id="362" r:id="rId17"/>
    <p:sldId id="363" r:id="rId18"/>
    <p:sldId id="364" r:id="rId19"/>
    <p:sldId id="365" r:id="rId20"/>
    <p:sldId id="366" r:id="rId21"/>
    <p:sldId id="367" r:id="rId22"/>
    <p:sldId id="368" r:id="rId23"/>
    <p:sldId id="319" r:id="rId24"/>
    <p:sldId id="305" r:id="rId25"/>
    <p:sldId id="301" r:id="rId26"/>
    <p:sldId id="332" r:id="rId27"/>
    <p:sldId id="303" r:id="rId28"/>
    <p:sldId id="304" r:id="rId29"/>
    <p:sldId id="333" r:id="rId30"/>
    <p:sldId id="313" r:id="rId31"/>
    <p:sldId id="314" r:id="rId32"/>
    <p:sldId id="334" r:id="rId33"/>
    <p:sldId id="335" r:id="rId34"/>
    <p:sldId id="336" r:id="rId35"/>
    <p:sldId id="321" r:id="rId36"/>
    <p:sldId id="337" r:id="rId37"/>
    <p:sldId id="338" r:id="rId38"/>
    <p:sldId id="339" r:id="rId39"/>
    <p:sldId id="340" r:id="rId40"/>
    <p:sldId id="341" r:id="rId41"/>
    <p:sldId id="342" r:id="rId42"/>
    <p:sldId id="306" r:id="rId43"/>
    <p:sldId id="343" r:id="rId44"/>
    <p:sldId id="344" r:id="rId45"/>
    <p:sldId id="315" r:id="rId46"/>
    <p:sldId id="345" r:id="rId47"/>
    <p:sldId id="346" r:id="rId48"/>
    <p:sldId id="347" r:id="rId49"/>
    <p:sldId id="348" r:id="rId50"/>
    <p:sldId id="349" r:id="rId51"/>
    <p:sldId id="350" r:id="rId52"/>
    <p:sldId id="351" r:id="rId53"/>
    <p:sldId id="352" r:id="rId54"/>
    <p:sldId id="296" r:id="rId55"/>
    <p:sldId id="320" r:id="rId56"/>
    <p:sldId id="317" r:id="rId57"/>
    <p:sldId id="302" r:id="rId58"/>
    <p:sldId id="307" r:id="rId59"/>
    <p:sldId id="308" r:id="rId60"/>
    <p:sldId id="309" r:id="rId61"/>
    <p:sldId id="310" r:id="rId62"/>
    <p:sldId id="311" r:id="rId63"/>
    <p:sldId id="282" r:id="rId64"/>
  </p:sldIdLst>
  <p:sldSz cx="12192000" cy="6858000"/>
  <p:notesSz cx="6858000" cy="9144000"/>
  <p:embeddedFontLst>
    <p:embeddedFont>
      <p:font typeface="Cambria Math" panose="02040503050406030204" pitchFamily="18" charset="0"/>
      <p:regular r:id="rId67"/>
    </p:embeddedFont>
    <p:embeddedFont>
      <p:font typeface="Poppins" pitchFamily="2" charset="77"/>
      <p:regular r:id="rId68"/>
      <p:bold r:id="rId69"/>
      <p:italic r:id="rId70"/>
      <p:boldItalic r:id="rId71"/>
    </p:embeddedFont>
    <p:embeddedFont>
      <p:font typeface="Poppins Medium" panose="00000600000000000000" pitchFamily="2" charset="77"/>
      <p:regular r:id="rId72"/>
      <p:italic r:id="rId73"/>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B49"/>
    <a:srgbClr val="80AF98"/>
    <a:srgbClr val="AF7550"/>
    <a:srgbClr val="B2BD29"/>
    <a:srgbClr val="E9E7E7"/>
    <a:srgbClr val="006BB7"/>
    <a:srgbClr val="92D050"/>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390" autoAdjust="0"/>
    <p:restoredTop sz="96122" autoAdjust="0"/>
  </p:normalViewPr>
  <p:slideViewPr>
    <p:cSldViewPr snapToGrid="0" showGuides="1">
      <p:cViewPr varScale="1">
        <p:scale>
          <a:sx n="116" d="100"/>
          <a:sy n="116" d="100"/>
        </p:scale>
        <p:origin x="392" y="192"/>
      </p:cViewPr>
      <p:guideLst>
        <p:guide orient="horz" pos="2160"/>
        <p:guide pos="3840"/>
      </p:guideLst>
    </p:cSldViewPr>
  </p:slideViewPr>
  <p:outlineViewPr>
    <p:cViewPr>
      <p:scale>
        <a:sx n="33" d="100"/>
        <a:sy n="33" d="100"/>
      </p:scale>
      <p:origin x="0" y="-6904"/>
    </p:cViewPr>
  </p:outlineViewPr>
  <p:notesTextViewPr>
    <p:cViewPr>
      <p:scale>
        <a:sx n="20" d="100"/>
        <a:sy n="20" d="100"/>
      </p:scale>
      <p:origin x="0" y="0"/>
    </p:cViewPr>
  </p:notesTextViewPr>
  <p:sorterViewPr>
    <p:cViewPr>
      <p:scale>
        <a:sx n="80" d="100"/>
        <a:sy n="80" d="100"/>
      </p:scale>
      <p:origin x="0" y="0"/>
    </p:cViewPr>
  </p:sorterViewPr>
  <p:notesViewPr>
    <p:cSldViewPr snapToGrid="0">
      <p:cViewPr varScale="1">
        <p:scale>
          <a:sx n="95" d="100"/>
          <a:sy n="95" d="100"/>
        </p:scale>
        <p:origin x="3720" y="184"/>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font" Target="fonts/font2.fntdata"/><Relationship Id="rId16" Type="http://schemas.openxmlformats.org/officeDocument/2006/relationships/slide" Target="slides/slide1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handoutMaster" Target="handoutMasters/handoutMaster1.xml"/><Relationship Id="rId74" Type="http://schemas.openxmlformats.org/officeDocument/2006/relationships/presProps" Target="presProps.xml"/><Relationship Id="rId5" Type="http://schemas.openxmlformats.org/officeDocument/2006/relationships/slideMaster" Target="slideMasters/slideMaster2.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font" Target="fonts/font3.fntdata"/><Relationship Id="rId77" Type="http://schemas.openxmlformats.org/officeDocument/2006/relationships/tableStyles" Target="tableStyles.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font" Target="fonts/font6.fntdata"/><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font" Target="fonts/font1.fntdata"/><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font" Target="fonts/font4.fntdata"/><Relationship Id="rId75"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notesMaster" Target="notesMasters/notesMaster1.xml"/><Relationship Id="rId73" Type="http://schemas.openxmlformats.org/officeDocument/2006/relationships/font" Target="fonts/font7.fntdata"/><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theme" Target="theme/theme1.xml"/><Relationship Id="rId7" Type="http://schemas.openxmlformats.org/officeDocument/2006/relationships/slide" Target="slides/slide2.xml"/><Relationship Id="rId71" Type="http://schemas.openxmlformats.org/officeDocument/2006/relationships/font" Target="fonts/font5.fntdata"/><Relationship Id="rId2" Type="http://schemas.openxmlformats.org/officeDocument/2006/relationships/customXml" Target="../customXml/item2.xml"/><Relationship Id="rId29" Type="http://schemas.openxmlformats.org/officeDocument/2006/relationships/slide" Target="slides/slide2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D6D0A9E-DD06-C7B0-946D-31F9B20149A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7087193-AB98-65AF-F701-EBFEDD042C9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0833D1A-776C-2B44-AB57-E14B633AE185}" type="datetimeFigureOut">
              <a:rPr lang="en-US" smtClean="0"/>
              <a:t>12/30/25</a:t>
            </a:fld>
            <a:endParaRPr lang="en-US"/>
          </a:p>
        </p:txBody>
      </p:sp>
      <p:sp>
        <p:nvSpPr>
          <p:cNvPr id="4" name="Footer Placeholder 3">
            <a:extLst>
              <a:ext uri="{FF2B5EF4-FFF2-40B4-BE49-F238E27FC236}">
                <a16:creationId xmlns:a16="http://schemas.microsoft.com/office/drawing/2014/main" id="{3EC31572-0E60-DFDC-759E-36E167E25E0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270B3F7-BC69-9660-AD95-517F1347298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B1FF382-66A3-E447-A138-6DDB2D92ECB1}" type="slidenum">
              <a:rPr lang="en-US" smtClean="0"/>
              <a:t>‹#›</a:t>
            </a:fld>
            <a:endParaRPr lang="en-US"/>
          </a:p>
        </p:txBody>
      </p:sp>
    </p:spTree>
    <p:extLst>
      <p:ext uri="{BB962C8B-B14F-4D97-AF65-F5344CB8AC3E}">
        <p14:creationId xmlns:p14="http://schemas.microsoft.com/office/powerpoint/2010/main" val="152291831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AFB3AD-FAF9-A04B-9767-E49F4F24F3E6}" type="datetimeFigureOut">
              <a:rPr lang="it-IT" smtClean="0"/>
              <a:t>30/12/25</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B8FE5C-85ED-194D-A826-552950995C66}" type="slidenum">
              <a:rPr lang="it-IT" smtClean="0"/>
              <a:t>‹#›</a:t>
            </a:fld>
            <a:endParaRPr lang="it-IT"/>
          </a:p>
        </p:txBody>
      </p:sp>
    </p:spTree>
    <p:extLst>
      <p:ext uri="{BB962C8B-B14F-4D97-AF65-F5344CB8AC3E}">
        <p14:creationId xmlns:p14="http://schemas.microsoft.com/office/powerpoint/2010/main" val="31316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B8FE5C-85ED-194D-A826-552950995C66}" type="slidenum">
              <a:rPr lang="it-IT" smtClean="0"/>
              <a:t>1</a:t>
            </a:fld>
            <a:endParaRPr lang="it-IT"/>
          </a:p>
        </p:txBody>
      </p:sp>
    </p:spTree>
    <p:extLst>
      <p:ext uri="{BB962C8B-B14F-4D97-AF65-F5344CB8AC3E}">
        <p14:creationId xmlns:p14="http://schemas.microsoft.com/office/powerpoint/2010/main" val="15514422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B8FE5C-85ED-194D-A826-552950995C66}" type="slidenum">
              <a:rPr lang="it-IT" smtClean="0"/>
              <a:t>2</a:t>
            </a:fld>
            <a:endParaRPr lang="it-IT"/>
          </a:p>
        </p:txBody>
      </p:sp>
    </p:spTree>
    <p:extLst>
      <p:ext uri="{BB962C8B-B14F-4D97-AF65-F5344CB8AC3E}">
        <p14:creationId xmlns:p14="http://schemas.microsoft.com/office/powerpoint/2010/main" val="41295700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2D847-AF6B-CA80-9E40-1A7C6B8E02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BCD7AB-CF56-AAE3-801B-9AFCFE3CC4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591CBF-DD73-0594-5E51-0B06E12C4E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7F7349-08C9-E07E-D038-3BDA6D6221B9}"/>
              </a:ext>
            </a:extLst>
          </p:cNvPr>
          <p:cNvSpPr>
            <a:spLocks noGrp="1"/>
          </p:cNvSpPr>
          <p:nvPr>
            <p:ph type="sldNum" sz="quarter" idx="5"/>
          </p:nvPr>
        </p:nvSpPr>
        <p:spPr/>
        <p:txBody>
          <a:bodyPr/>
          <a:lstStyle/>
          <a:p>
            <a:fld id="{35B8FE5C-85ED-194D-A826-552950995C66}" type="slidenum">
              <a:rPr lang="it-IT" smtClean="0"/>
              <a:t>16</a:t>
            </a:fld>
            <a:endParaRPr lang="it-IT"/>
          </a:p>
        </p:txBody>
      </p:sp>
    </p:spTree>
    <p:extLst>
      <p:ext uri="{BB962C8B-B14F-4D97-AF65-F5344CB8AC3E}">
        <p14:creationId xmlns:p14="http://schemas.microsoft.com/office/powerpoint/2010/main" val="16859679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9B770B2-34DD-8442-AC65-87A3EFFB3F5B}" type="slidenum">
              <a:rPr lang="en-US" smtClean="0"/>
              <a:t>20</a:t>
            </a:fld>
            <a:endParaRPr lang="en-US"/>
          </a:p>
        </p:txBody>
      </p:sp>
    </p:spTree>
    <p:extLst>
      <p:ext uri="{BB962C8B-B14F-4D97-AF65-F5344CB8AC3E}">
        <p14:creationId xmlns:p14="http://schemas.microsoft.com/office/powerpoint/2010/main" val="11673180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CE088-572D-B56A-C6CA-BA9DBE18D4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381F6-7AE1-F9F4-C190-7EAF88F14D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5934C1-F9DA-ABF8-A098-8E8E2F24F949}"/>
              </a:ext>
            </a:extLst>
          </p:cNvPr>
          <p:cNvSpPr>
            <a:spLocks noGrp="1"/>
          </p:cNvSpPr>
          <p:nvPr>
            <p:ph type="body" idx="1"/>
          </p:nvPr>
        </p:nvSpPr>
        <p:spPr/>
        <p:txBody>
          <a:bodyPr/>
          <a:lstStyle/>
          <a:p>
            <a:r>
              <a:rPr lang="en-US" dirty="0"/>
              <a:t>There  are 2 related studies one in Korea and another in Australia  in recent year used individual model for their prediction.</a:t>
            </a:r>
          </a:p>
          <a:p>
            <a:endParaRPr lang="en-US" dirty="0"/>
          </a:p>
          <a:p>
            <a:endParaRPr lang="en-US" dirty="0"/>
          </a:p>
          <a:p>
            <a:r>
              <a:rPr lang="en-US" dirty="0"/>
              <a:t>Also, there is another study that compared global and individual models for timeseries forecasting and the result was LGBM and RNN are out-performed the other models even compared with individual models.</a:t>
            </a:r>
          </a:p>
        </p:txBody>
      </p:sp>
      <p:sp>
        <p:nvSpPr>
          <p:cNvPr id="4" name="Slide Number Placeholder 3">
            <a:extLst>
              <a:ext uri="{FF2B5EF4-FFF2-40B4-BE49-F238E27FC236}">
                <a16:creationId xmlns:a16="http://schemas.microsoft.com/office/drawing/2014/main" id="{F8E5F734-5955-DA3D-FC9C-5AA806E5854D}"/>
              </a:ext>
            </a:extLst>
          </p:cNvPr>
          <p:cNvSpPr>
            <a:spLocks noGrp="1"/>
          </p:cNvSpPr>
          <p:nvPr>
            <p:ph type="sldNum" sz="quarter" idx="5"/>
          </p:nvPr>
        </p:nvSpPr>
        <p:spPr/>
        <p:txBody>
          <a:bodyPr/>
          <a:lstStyle/>
          <a:p>
            <a:fld id="{09B770B2-34DD-8442-AC65-87A3EFFB3F5B}" type="slidenum">
              <a:rPr lang="en-US" smtClean="0"/>
              <a:t>25</a:t>
            </a:fld>
            <a:endParaRPr lang="en-US"/>
          </a:p>
        </p:txBody>
      </p:sp>
    </p:spTree>
    <p:extLst>
      <p:ext uri="{BB962C8B-B14F-4D97-AF65-F5344CB8AC3E}">
        <p14:creationId xmlns:p14="http://schemas.microsoft.com/office/powerpoint/2010/main" val="10485654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EAA66-82FB-B08B-46B2-512956ABC7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686805-2BF1-47DE-3B7A-76E3E6A1F4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8E7D78-1D59-8457-06DB-EAEB5BEE85E5}"/>
              </a:ext>
            </a:extLst>
          </p:cNvPr>
          <p:cNvSpPr>
            <a:spLocks noGrp="1"/>
          </p:cNvSpPr>
          <p:nvPr>
            <p:ph type="body" idx="1"/>
          </p:nvPr>
        </p:nvSpPr>
        <p:spPr/>
        <p:txBody>
          <a:bodyPr/>
          <a:lstStyle/>
          <a:p>
            <a:r>
              <a:rPr lang="en-US" dirty="0"/>
              <a:t>There  are 2 related studies one in Korea and another in Australia  in recent year used individual model for their prediction.</a:t>
            </a:r>
          </a:p>
          <a:p>
            <a:endParaRPr lang="en-US" dirty="0"/>
          </a:p>
          <a:p>
            <a:endParaRPr lang="en-US" dirty="0"/>
          </a:p>
          <a:p>
            <a:r>
              <a:rPr lang="en-US" dirty="0"/>
              <a:t>Also, there is another study that compared global and individual models for timeseries forecasting and the result was LGBM and RNN are out-performed the other models even compared with individual models.</a:t>
            </a:r>
          </a:p>
        </p:txBody>
      </p:sp>
      <p:sp>
        <p:nvSpPr>
          <p:cNvPr id="4" name="Slide Number Placeholder 3">
            <a:extLst>
              <a:ext uri="{FF2B5EF4-FFF2-40B4-BE49-F238E27FC236}">
                <a16:creationId xmlns:a16="http://schemas.microsoft.com/office/drawing/2014/main" id="{71283DD8-4C41-080A-1F40-CBBD83F38D12}"/>
              </a:ext>
            </a:extLst>
          </p:cNvPr>
          <p:cNvSpPr>
            <a:spLocks noGrp="1"/>
          </p:cNvSpPr>
          <p:nvPr>
            <p:ph type="sldNum" sz="quarter" idx="5"/>
          </p:nvPr>
        </p:nvSpPr>
        <p:spPr/>
        <p:txBody>
          <a:bodyPr/>
          <a:lstStyle/>
          <a:p>
            <a:fld id="{09B770B2-34DD-8442-AC65-87A3EFFB3F5B}" type="slidenum">
              <a:rPr lang="en-US" smtClean="0"/>
              <a:t>26</a:t>
            </a:fld>
            <a:endParaRPr lang="en-US"/>
          </a:p>
        </p:txBody>
      </p:sp>
    </p:spTree>
    <p:extLst>
      <p:ext uri="{BB962C8B-B14F-4D97-AF65-F5344CB8AC3E}">
        <p14:creationId xmlns:p14="http://schemas.microsoft.com/office/powerpoint/2010/main" val="19523041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8A8D0-E8A2-839D-8BC9-93002255C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F8837C-94BA-BA4F-146E-CB6EDFE30F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EF0076-94F1-2897-E402-A0269A12283E}"/>
              </a:ext>
            </a:extLst>
          </p:cNvPr>
          <p:cNvSpPr>
            <a:spLocks noGrp="1"/>
          </p:cNvSpPr>
          <p:nvPr>
            <p:ph type="body" idx="1"/>
          </p:nvPr>
        </p:nvSpPr>
        <p:spPr/>
        <p:txBody>
          <a:bodyPr/>
          <a:lstStyle/>
          <a:p>
            <a:r>
              <a:rPr lang="en-US" dirty="0"/>
              <a:t>There  are 2 related studies one in Korea and another in Australia  in recent year used individual model for their prediction.</a:t>
            </a:r>
          </a:p>
          <a:p>
            <a:endParaRPr lang="en-US" dirty="0"/>
          </a:p>
          <a:p>
            <a:endParaRPr lang="en-US" dirty="0"/>
          </a:p>
          <a:p>
            <a:r>
              <a:rPr lang="en-US" dirty="0"/>
              <a:t>Also, there is another study that compared global and individual models for timeseries forecasting and the result was LGBM and RNN are out-performed the other models even compared with individual models.</a:t>
            </a:r>
          </a:p>
        </p:txBody>
      </p:sp>
      <p:sp>
        <p:nvSpPr>
          <p:cNvPr id="4" name="Slide Number Placeholder 3">
            <a:extLst>
              <a:ext uri="{FF2B5EF4-FFF2-40B4-BE49-F238E27FC236}">
                <a16:creationId xmlns:a16="http://schemas.microsoft.com/office/drawing/2014/main" id="{60FDB19E-64DD-B619-142D-AA488B6541D7}"/>
              </a:ext>
            </a:extLst>
          </p:cNvPr>
          <p:cNvSpPr>
            <a:spLocks noGrp="1"/>
          </p:cNvSpPr>
          <p:nvPr>
            <p:ph type="sldNum" sz="quarter" idx="5"/>
          </p:nvPr>
        </p:nvSpPr>
        <p:spPr/>
        <p:txBody>
          <a:bodyPr/>
          <a:lstStyle/>
          <a:p>
            <a:fld id="{09B770B2-34DD-8442-AC65-87A3EFFB3F5B}" type="slidenum">
              <a:rPr lang="en-US" smtClean="0"/>
              <a:t>27</a:t>
            </a:fld>
            <a:endParaRPr lang="en-US"/>
          </a:p>
        </p:txBody>
      </p:sp>
    </p:spTree>
    <p:extLst>
      <p:ext uri="{BB962C8B-B14F-4D97-AF65-F5344CB8AC3E}">
        <p14:creationId xmlns:p14="http://schemas.microsoft.com/office/powerpoint/2010/main" val="24346247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553B1-15B6-82C7-467C-FBE1B84821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4206A7-38B6-FEFD-8DD9-3C963898E7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6AA9D7-3DE3-4112-09A3-A46E20E937F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40A51DB-1545-E3A8-638E-E95B308507AE}"/>
              </a:ext>
            </a:extLst>
          </p:cNvPr>
          <p:cNvSpPr>
            <a:spLocks noGrp="1"/>
          </p:cNvSpPr>
          <p:nvPr>
            <p:ph type="sldNum" sz="quarter" idx="5"/>
          </p:nvPr>
        </p:nvSpPr>
        <p:spPr/>
        <p:txBody>
          <a:bodyPr/>
          <a:lstStyle/>
          <a:p>
            <a:fld id="{09B770B2-34DD-8442-AC65-87A3EFFB3F5B}" type="slidenum">
              <a:rPr lang="en-US" smtClean="0"/>
              <a:t>28</a:t>
            </a:fld>
            <a:endParaRPr lang="en-US"/>
          </a:p>
        </p:txBody>
      </p:sp>
    </p:spTree>
    <p:extLst>
      <p:ext uri="{BB962C8B-B14F-4D97-AF65-F5344CB8AC3E}">
        <p14:creationId xmlns:p14="http://schemas.microsoft.com/office/powerpoint/2010/main" val="21054048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D23C0-2295-3A85-AA50-AF5E9AB5ED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1D16B7-C373-13BE-48EB-EEE08218DD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E3DFEE-1C95-2C8D-4C12-6C0A9CE60C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3B170FC3-A097-B691-54E2-7E905D4B2A5D}"/>
              </a:ext>
            </a:extLst>
          </p:cNvPr>
          <p:cNvSpPr>
            <a:spLocks noGrp="1"/>
          </p:cNvSpPr>
          <p:nvPr>
            <p:ph type="sldNum" sz="quarter" idx="5"/>
          </p:nvPr>
        </p:nvSpPr>
        <p:spPr/>
        <p:txBody>
          <a:bodyPr/>
          <a:lstStyle/>
          <a:p>
            <a:fld id="{09B770B2-34DD-8442-AC65-87A3EFFB3F5B}" type="slidenum">
              <a:rPr lang="en-US" smtClean="0"/>
              <a:t>29</a:t>
            </a:fld>
            <a:endParaRPr lang="en-US"/>
          </a:p>
        </p:txBody>
      </p:sp>
    </p:spTree>
    <p:extLst>
      <p:ext uri="{BB962C8B-B14F-4D97-AF65-F5344CB8AC3E}">
        <p14:creationId xmlns:p14="http://schemas.microsoft.com/office/powerpoint/2010/main" val="33759851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7DE88-3246-D395-ECE5-118BFB763E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3CDC8-63F9-263D-E103-D8BE74D449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5BAA91-E91F-80F2-ECA9-A85D2E7360E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26B0B607-4CD9-64F0-B2AA-A8D8870579C7}"/>
              </a:ext>
            </a:extLst>
          </p:cNvPr>
          <p:cNvSpPr>
            <a:spLocks noGrp="1"/>
          </p:cNvSpPr>
          <p:nvPr>
            <p:ph type="sldNum" sz="quarter" idx="5"/>
          </p:nvPr>
        </p:nvSpPr>
        <p:spPr/>
        <p:txBody>
          <a:bodyPr/>
          <a:lstStyle/>
          <a:p>
            <a:fld id="{09B770B2-34DD-8442-AC65-87A3EFFB3F5B}" type="slidenum">
              <a:rPr lang="en-US" smtClean="0"/>
              <a:t>30</a:t>
            </a:fld>
            <a:endParaRPr lang="en-US"/>
          </a:p>
        </p:txBody>
      </p:sp>
    </p:spTree>
    <p:extLst>
      <p:ext uri="{BB962C8B-B14F-4D97-AF65-F5344CB8AC3E}">
        <p14:creationId xmlns:p14="http://schemas.microsoft.com/office/powerpoint/2010/main" val="33968262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269A0-5132-561A-1F87-30A4FD22DB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EB6153-8EFD-7D87-3A25-A3F268EFC6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77EDD6-08F2-B1CE-BA8A-0D968FB96E4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774CFBE2-E6E9-2472-F977-4E634B89C47E}"/>
              </a:ext>
            </a:extLst>
          </p:cNvPr>
          <p:cNvSpPr>
            <a:spLocks noGrp="1"/>
          </p:cNvSpPr>
          <p:nvPr>
            <p:ph type="sldNum" sz="quarter" idx="5"/>
          </p:nvPr>
        </p:nvSpPr>
        <p:spPr/>
        <p:txBody>
          <a:bodyPr/>
          <a:lstStyle/>
          <a:p>
            <a:fld id="{09B770B2-34DD-8442-AC65-87A3EFFB3F5B}" type="slidenum">
              <a:rPr lang="en-US" smtClean="0"/>
              <a:t>31</a:t>
            </a:fld>
            <a:endParaRPr lang="en-US"/>
          </a:p>
        </p:txBody>
      </p:sp>
    </p:spTree>
    <p:extLst>
      <p:ext uri="{BB962C8B-B14F-4D97-AF65-F5344CB8AC3E}">
        <p14:creationId xmlns:p14="http://schemas.microsoft.com/office/powerpoint/2010/main" val="11082321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6C895-B8B9-1748-6C9E-F0164ECA12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4FC54A-EC8E-A63A-BB05-6AFDD88E81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A6196C-5D16-D3E5-56A7-FC4B9735210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E46621D1-76A7-85BF-CCA2-F4579ABC6714}"/>
              </a:ext>
            </a:extLst>
          </p:cNvPr>
          <p:cNvSpPr>
            <a:spLocks noGrp="1"/>
          </p:cNvSpPr>
          <p:nvPr>
            <p:ph type="sldNum" sz="quarter" idx="5"/>
          </p:nvPr>
        </p:nvSpPr>
        <p:spPr/>
        <p:txBody>
          <a:bodyPr/>
          <a:lstStyle/>
          <a:p>
            <a:fld id="{09B770B2-34DD-8442-AC65-87A3EFFB3F5B}" type="slidenum">
              <a:rPr lang="en-US" smtClean="0"/>
              <a:t>32</a:t>
            </a:fld>
            <a:endParaRPr lang="en-US"/>
          </a:p>
        </p:txBody>
      </p:sp>
    </p:spTree>
    <p:extLst>
      <p:ext uri="{BB962C8B-B14F-4D97-AF65-F5344CB8AC3E}">
        <p14:creationId xmlns:p14="http://schemas.microsoft.com/office/powerpoint/2010/main" val="17729329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4DCAB-331E-90E6-0E5A-A5382E255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44F1DF-D855-5557-F8B4-D9345261C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F234F4-356B-3217-2246-37B1BCF58A6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247DAFFC-3E94-E9D8-E4A5-2A7F8F621F9A}"/>
              </a:ext>
            </a:extLst>
          </p:cNvPr>
          <p:cNvSpPr>
            <a:spLocks noGrp="1"/>
          </p:cNvSpPr>
          <p:nvPr>
            <p:ph type="sldNum" sz="quarter" idx="5"/>
          </p:nvPr>
        </p:nvSpPr>
        <p:spPr/>
        <p:txBody>
          <a:bodyPr/>
          <a:lstStyle/>
          <a:p>
            <a:fld id="{09B770B2-34DD-8442-AC65-87A3EFFB3F5B}" type="slidenum">
              <a:rPr lang="en-US" smtClean="0"/>
              <a:t>33</a:t>
            </a:fld>
            <a:endParaRPr lang="en-US"/>
          </a:p>
        </p:txBody>
      </p:sp>
    </p:spTree>
    <p:extLst>
      <p:ext uri="{BB962C8B-B14F-4D97-AF65-F5344CB8AC3E}">
        <p14:creationId xmlns:p14="http://schemas.microsoft.com/office/powerpoint/2010/main" val="14695247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36818-021E-C266-DF47-2D66975F2D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48C317-74F3-C22D-82FF-8890CDA53C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CAC855-5B6F-71E2-CA6F-FC630AEBD00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63213112-996C-03A7-0349-54A3E9EDB25A}"/>
              </a:ext>
            </a:extLst>
          </p:cNvPr>
          <p:cNvSpPr>
            <a:spLocks noGrp="1"/>
          </p:cNvSpPr>
          <p:nvPr>
            <p:ph type="sldNum" sz="quarter" idx="5"/>
          </p:nvPr>
        </p:nvSpPr>
        <p:spPr/>
        <p:txBody>
          <a:bodyPr/>
          <a:lstStyle/>
          <a:p>
            <a:fld id="{09B770B2-34DD-8442-AC65-87A3EFFB3F5B}" type="slidenum">
              <a:rPr lang="en-US" smtClean="0"/>
              <a:t>34</a:t>
            </a:fld>
            <a:endParaRPr lang="en-US"/>
          </a:p>
        </p:txBody>
      </p:sp>
    </p:spTree>
    <p:extLst>
      <p:ext uri="{BB962C8B-B14F-4D97-AF65-F5344CB8AC3E}">
        <p14:creationId xmlns:p14="http://schemas.microsoft.com/office/powerpoint/2010/main" val="10219318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7F5C4-E23E-E37B-BF71-B41169B42F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AA9678-4BD3-BD29-95A4-BDD280C61D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A79360-3861-2498-972C-A537C3193F1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880830ED-3C11-DE73-47DA-827B83E98360}"/>
              </a:ext>
            </a:extLst>
          </p:cNvPr>
          <p:cNvSpPr>
            <a:spLocks noGrp="1"/>
          </p:cNvSpPr>
          <p:nvPr>
            <p:ph type="sldNum" sz="quarter" idx="5"/>
          </p:nvPr>
        </p:nvSpPr>
        <p:spPr/>
        <p:txBody>
          <a:bodyPr/>
          <a:lstStyle/>
          <a:p>
            <a:fld id="{09B770B2-34DD-8442-AC65-87A3EFFB3F5B}" type="slidenum">
              <a:rPr lang="en-US" smtClean="0"/>
              <a:t>35</a:t>
            </a:fld>
            <a:endParaRPr lang="en-US"/>
          </a:p>
        </p:txBody>
      </p:sp>
    </p:spTree>
    <p:extLst>
      <p:ext uri="{BB962C8B-B14F-4D97-AF65-F5344CB8AC3E}">
        <p14:creationId xmlns:p14="http://schemas.microsoft.com/office/powerpoint/2010/main" val="801944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1F6D9-0AC2-54B6-EA19-602F1C0C9E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39D1F4-9841-5370-BE95-1D298B654F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7BE3F5-DEE7-D9A5-34AB-D3258C51FB3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A97870AC-B0A0-512C-9643-FC565E222958}"/>
              </a:ext>
            </a:extLst>
          </p:cNvPr>
          <p:cNvSpPr>
            <a:spLocks noGrp="1"/>
          </p:cNvSpPr>
          <p:nvPr>
            <p:ph type="sldNum" sz="quarter" idx="5"/>
          </p:nvPr>
        </p:nvSpPr>
        <p:spPr/>
        <p:txBody>
          <a:bodyPr/>
          <a:lstStyle/>
          <a:p>
            <a:fld id="{09B770B2-34DD-8442-AC65-87A3EFFB3F5B}" type="slidenum">
              <a:rPr lang="en-US" smtClean="0"/>
              <a:t>36</a:t>
            </a:fld>
            <a:endParaRPr lang="en-US"/>
          </a:p>
        </p:txBody>
      </p:sp>
    </p:spTree>
    <p:extLst>
      <p:ext uri="{BB962C8B-B14F-4D97-AF65-F5344CB8AC3E}">
        <p14:creationId xmlns:p14="http://schemas.microsoft.com/office/powerpoint/2010/main" val="35510402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4D35B-7740-7069-2DE1-4882AEAA60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695099-22FE-BAE6-44CB-7B9D5C079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E436DB-936E-8BF7-1EE0-C80C26FB645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AB99D17A-ECFD-448B-FFA6-AF1644D1AD91}"/>
              </a:ext>
            </a:extLst>
          </p:cNvPr>
          <p:cNvSpPr>
            <a:spLocks noGrp="1"/>
          </p:cNvSpPr>
          <p:nvPr>
            <p:ph type="sldNum" sz="quarter" idx="5"/>
          </p:nvPr>
        </p:nvSpPr>
        <p:spPr/>
        <p:txBody>
          <a:bodyPr/>
          <a:lstStyle/>
          <a:p>
            <a:fld id="{09B770B2-34DD-8442-AC65-87A3EFFB3F5B}" type="slidenum">
              <a:rPr lang="en-US" smtClean="0"/>
              <a:t>37</a:t>
            </a:fld>
            <a:endParaRPr lang="en-US"/>
          </a:p>
        </p:txBody>
      </p:sp>
    </p:spTree>
    <p:extLst>
      <p:ext uri="{BB962C8B-B14F-4D97-AF65-F5344CB8AC3E}">
        <p14:creationId xmlns:p14="http://schemas.microsoft.com/office/powerpoint/2010/main" val="18850247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2 related studies one in Korea and another in Australia  in recent year used individual model for their prediction.</a:t>
            </a:r>
          </a:p>
          <a:p>
            <a:endParaRPr lang="en-US" dirty="0"/>
          </a:p>
          <a:p>
            <a:endParaRPr lang="en-US" dirty="0"/>
          </a:p>
          <a:p>
            <a:r>
              <a:rPr lang="en-US" dirty="0"/>
              <a:t>Also, there is another study that compared global and individual models for timeseries forecasting and the result was LGBM and RNN are out-performed the other models even compared with individual models.</a:t>
            </a:r>
          </a:p>
        </p:txBody>
      </p:sp>
      <p:sp>
        <p:nvSpPr>
          <p:cNvPr id="4" name="Slide Number Placeholder 3"/>
          <p:cNvSpPr>
            <a:spLocks noGrp="1"/>
          </p:cNvSpPr>
          <p:nvPr>
            <p:ph type="sldNum" sz="quarter" idx="5"/>
          </p:nvPr>
        </p:nvSpPr>
        <p:spPr/>
        <p:txBody>
          <a:bodyPr/>
          <a:lstStyle/>
          <a:p>
            <a:fld id="{09B770B2-34DD-8442-AC65-87A3EFFB3F5B}" type="slidenum">
              <a:rPr lang="en-US" smtClean="0"/>
              <a:t>38</a:t>
            </a:fld>
            <a:endParaRPr lang="en-US"/>
          </a:p>
        </p:txBody>
      </p:sp>
    </p:spTree>
    <p:extLst>
      <p:ext uri="{BB962C8B-B14F-4D97-AF65-F5344CB8AC3E}">
        <p14:creationId xmlns:p14="http://schemas.microsoft.com/office/powerpoint/2010/main" val="27824590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F71F2-5A9D-375C-23C7-37C3E38A2F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4FC794-C6FD-A6A1-7C7C-211822C560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88B44C-443C-0B1D-35B4-23DDAEBCD47E}"/>
              </a:ext>
            </a:extLst>
          </p:cNvPr>
          <p:cNvSpPr>
            <a:spLocks noGrp="1"/>
          </p:cNvSpPr>
          <p:nvPr>
            <p:ph type="body" idx="1"/>
          </p:nvPr>
        </p:nvSpPr>
        <p:spPr/>
        <p:txBody>
          <a:bodyPr/>
          <a:lstStyle/>
          <a:p>
            <a:r>
              <a:rPr lang="en-US" dirty="0"/>
              <a:t>To insure avoiding overfitting we should use a separate and unseen data for evaluate the model.</a:t>
            </a:r>
          </a:p>
          <a:p>
            <a:r>
              <a:rPr lang="en-US" dirty="0"/>
              <a:t>Cross validation is a way to evaluate our model and to do that we train and test the data for few times on different subset of data.</a:t>
            </a:r>
          </a:p>
        </p:txBody>
      </p:sp>
      <p:sp>
        <p:nvSpPr>
          <p:cNvPr id="4" name="Slide Number Placeholder 3">
            <a:extLst>
              <a:ext uri="{FF2B5EF4-FFF2-40B4-BE49-F238E27FC236}">
                <a16:creationId xmlns:a16="http://schemas.microsoft.com/office/drawing/2014/main" id="{8685AE90-09E5-815B-BE13-13F1C7CF0EF2}"/>
              </a:ext>
            </a:extLst>
          </p:cNvPr>
          <p:cNvSpPr>
            <a:spLocks noGrp="1"/>
          </p:cNvSpPr>
          <p:nvPr>
            <p:ph type="sldNum" sz="quarter" idx="5"/>
          </p:nvPr>
        </p:nvSpPr>
        <p:spPr/>
        <p:txBody>
          <a:bodyPr/>
          <a:lstStyle/>
          <a:p>
            <a:fld id="{09B770B2-34DD-8442-AC65-87A3EFFB3F5B}" type="slidenum">
              <a:rPr lang="en-US" smtClean="0"/>
              <a:t>39</a:t>
            </a:fld>
            <a:endParaRPr lang="en-US"/>
          </a:p>
        </p:txBody>
      </p:sp>
    </p:spTree>
    <p:extLst>
      <p:ext uri="{BB962C8B-B14F-4D97-AF65-F5344CB8AC3E}">
        <p14:creationId xmlns:p14="http://schemas.microsoft.com/office/powerpoint/2010/main" val="17213575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CF47E-573A-F3D9-3669-8573724428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85B6AA-433A-CE65-8E86-5D46CF8B9A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B5AAAD-0E52-61AA-5F4D-E27D89DC69C0}"/>
              </a:ext>
            </a:extLst>
          </p:cNvPr>
          <p:cNvSpPr>
            <a:spLocks noGrp="1"/>
          </p:cNvSpPr>
          <p:nvPr>
            <p:ph type="body" idx="1"/>
          </p:nvPr>
        </p:nvSpPr>
        <p:spPr/>
        <p:txBody>
          <a:bodyPr/>
          <a:lstStyle/>
          <a:p>
            <a:r>
              <a:rPr lang="en-US" dirty="0"/>
              <a:t>Here is two common metrics for evaluating performance of regression and forecasting models.</a:t>
            </a:r>
          </a:p>
        </p:txBody>
      </p:sp>
      <p:sp>
        <p:nvSpPr>
          <p:cNvPr id="4" name="Slide Number Placeholder 3">
            <a:extLst>
              <a:ext uri="{FF2B5EF4-FFF2-40B4-BE49-F238E27FC236}">
                <a16:creationId xmlns:a16="http://schemas.microsoft.com/office/drawing/2014/main" id="{55FA9A0B-6C2D-BAEF-2188-6687894CD91F}"/>
              </a:ext>
            </a:extLst>
          </p:cNvPr>
          <p:cNvSpPr>
            <a:spLocks noGrp="1"/>
          </p:cNvSpPr>
          <p:nvPr>
            <p:ph type="sldNum" sz="quarter" idx="5"/>
          </p:nvPr>
        </p:nvSpPr>
        <p:spPr/>
        <p:txBody>
          <a:bodyPr/>
          <a:lstStyle/>
          <a:p>
            <a:fld id="{09B770B2-34DD-8442-AC65-87A3EFFB3F5B}" type="slidenum">
              <a:rPr lang="en-US" smtClean="0"/>
              <a:t>40</a:t>
            </a:fld>
            <a:endParaRPr lang="en-US"/>
          </a:p>
        </p:txBody>
      </p:sp>
    </p:spTree>
    <p:extLst>
      <p:ext uri="{BB962C8B-B14F-4D97-AF65-F5344CB8AC3E}">
        <p14:creationId xmlns:p14="http://schemas.microsoft.com/office/powerpoint/2010/main" val="22777668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2B6E9-BC13-F8D1-44A1-3E5E5EDDEF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FE2D4E-AE00-6EED-A107-508313AA19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176564-9917-1F31-F771-5954CD84E65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8D384A-A806-A98D-2841-14AF7F24896B}"/>
              </a:ext>
            </a:extLst>
          </p:cNvPr>
          <p:cNvSpPr>
            <a:spLocks noGrp="1"/>
          </p:cNvSpPr>
          <p:nvPr>
            <p:ph type="sldNum" sz="quarter" idx="5"/>
          </p:nvPr>
        </p:nvSpPr>
        <p:spPr/>
        <p:txBody>
          <a:bodyPr/>
          <a:lstStyle/>
          <a:p>
            <a:fld id="{09B770B2-34DD-8442-AC65-87A3EFFB3F5B}" type="slidenum">
              <a:rPr lang="en-US" smtClean="0"/>
              <a:t>42</a:t>
            </a:fld>
            <a:endParaRPr lang="en-US"/>
          </a:p>
        </p:txBody>
      </p:sp>
    </p:spTree>
    <p:extLst>
      <p:ext uri="{BB962C8B-B14F-4D97-AF65-F5344CB8AC3E}">
        <p14:creationId xmlns:p14="http://schemas.microsoft.com/office/powerpoint/2010/main" val="6446419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AFB5E4-DAF9-E944-F299-645A05DB53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FEEAB9-A27F-9846-E287-3286D53168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856B24-37AE-33A4-CDDA-703919C7688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55B7E56-45BB-3D8C-91DF-0816A8BA21C1}"/>
              </a:ext>
            </a:extLst>
          </p:cNvPr>
          <p:cNvSpPr>
            <a:spLocks noGrp="1"/>
          </p:cNvSpPr>
          <p:nvPr>
            <p:ph type="sldNum" sz="quarter" idx="5"/>
          </p:nvPr>
        </p:nvSpPr>
        <p:spPr/>
        <p:txBody>
          <a:bodyPr/>
          <a:lstStyle/>
          <a:p>
            <a:fld id="{09B770B2-34DD-8442-AC65-87A3EFFB3F5B}" type="slidenum">
              <a:rPr lang="en-US" smtClean="0"/>
              <a:t>52</a:t>
            </a:fld>
            <a:endParaRPr lang="en-US"/>
          </a:p>
        </p:txBody>
      </p:sp>
    </p:spTree>
    <p:extLst>
      <p:ext uri="{BB962C8B-B14F-4D97-AF65-F5344CB8AC3E}">
        <p14:creationId xmlns:p14="http://schemas.microsoft.com/office/powerpoint/2010/main" val="36959221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U _ Apertura">
    <p:spTree>
      <p:nvGrpSpPr>
        <p:cNvPr id="1" name=""/>
        <p:cNvGrpSpPr/>
        <p:nvPr/>
      </p:nvGrpSpPr>
      <p:grpSpPr>
        <a:xfrm>
          <a:off x="0" y="0"/>
          <a:ext cx="0" cy="0"/>
          <a:chOff x="0" y="0"/>
          <a:chExt cx="0" cy="0"/>
        </a:xfrm>
      </p:grpSpPr>
      <p:pic>
        <p:nvPicPr>
          <p:cNvPr id="5" name="Immagine 4">
            <a:extLst>
              <a:ext uri="{FF2B5EF4-FFF2-40B4-BE49-F238E27FC236}">
                <a16:creationId xmlns:a16="http://schemas.microsoft.com/office/drawing/2014/main" id="{55988862-B47E-48D4-9426-E775261B7CC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11070" cy="6858000"/>
          </a:xfrm>
          <a:prstGeom prst="rect">
            <a:avLst/>
          </a:prstGeom>
        </p:spPr>
      </p:pic>
      <p:pic>
        <p:nvPicPr>
          <p:cNvPr id="6" name="Immagine 5">
            <a:extLst>
              <a:ext uri="{FF2B5EF4-FFF2-40B4-BE49-F238E27FC236}">
                <a16:creationId xmlns:a16="http://schemas.microsoft.com/office/drawing/2014/main" id="{E7FA2C98-6DE1-4D78-AE6F-0BAAE6E1D858}"/>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19125" y="5410098"/>
            <a:ext cx="2166253" cy="952602"/>
          </a:xfrm>
          <a:prstGeom prst="rect">
            <a:avLst/>
          </a:prstGeom>
        </p:spPr>
      </p:pic>
      <p:cxnSp>
        <p:nvCxnSpPr>
          <p:cNvPr id="7" name="Connettore diritto 6">
            <a:extLst>
              <a:ext uri="{FF2B5EF4-FFF2-40B4-BE49-F238E27FC236}">
                <a16:creationId xmlns:a16="http://schemas.microsoft.com/office/drawing/2014/main" id="{27DE37F3-51F4-48BE-8599-73297EEF3BD3}"/>
              </a:ext>
            </a:extLst>
          </p:cNvPr>
          <p:cNvCxnSpPr/>
          <p:nvPr userDrawn="1"/>
        </p:nvCxnSpPr>
        <p:spPr>
          <a:xfrm>
            <a:off x="6705088" y="5410098"/>
            <a:ext cx="1552353" cy="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8" name="Segnaposto testo 6">
            <a:extLst>
              <a:ext uri="{FF2B5EF4-FFF2-40B4-BE49-F238E27FC236}">
                <a16:creationId xmlns:a16="http://schemas.microsoft.com/office/drawing/2014/main" id="{5BB8A5A3-9EC2-4C88-8FAC-05F96F00D7EF}"/>
              </a:ext>
            </a:extLst>
          </p:cNvPr>
          <p:cNvSpPr>
            <a:spLocks noGrp="1"/>
          </p:cNvSpPr>
          <p:nvPr>
            <p:ph type="body" sz="quarter" idx="11" hasCustomPrompt="1"/>
          </p:nvPr>
        </p:nvSpPr>
        <p:spPr>
          <a:xfrm>
            <a:off x="6602817" y="888227"/>
            <a:ext cx="5040000" cy="3024000"/>
          </a:xfrm>
          <a:prstGeom prst="rect">
            <a:avLst/>
          </a:prstGeom>
        </p:spPr>
        <p:txBody>
          <a:bodyPr anchor="ctr" anchorCtr="0">
            <a:normAutofit/>
          </a:bodyPr>
          <a:lstStyle>
            <a:lvl1pPr marL="0" indent="0">
              <a:buFontTx/>
              <a:buNone/>
              <a:defRPr sz="4800">
                <a:solidFill>
                  <a:schemeClr val="bg1"/>
                </a:solidFill>
                <a:latin typeface="+mj-lt"/>
              </a:defRPr>
            </a:lvl1pPr>
            <a:lvl2pPr>
              <a:defRPr sz="4800">
                <a:latin typeface="+mj-lt"/>
              </a:defRPr>
            </a:lvl2pPr>
            <a:lvl3pPr>
              <a:defRPr sz="4800">
                <a:latin typeface="+mj-lt"/>
              </a:defRPr>
            </a:lvl3pPr>
            <a:lvl4pPr>
              <a:defRPr sz="4800">
                <a:latin typeface="+mj-lt"/>
              </a:defRPr>
            </a:lvl4pPr>
            <a:lvl5pPr>
              <a:defRPr sz="4800">
                <a:latin typeface="+mj-lt"/>
              </a:defRPr>
            </a:lvl5pPr>
          </a:lstStyle>
          <a:p>
            <a:pPr lvl="0"/>
            <a:r>
              <a:rPr lang="it-IT" dirty="0"/>
              <a:t>Fare clic per modificare il testo</a:t>
            </a:r>
          </a:p>
        </p:txBody>
      </p:sp>
      <p:sp>
        <p:nvSpPr>
          <p:cNvPr id="9" name="Segnaposto testo 9">
            <a:extLst>
              <a:ext uri="{FF2B5EF4-FFF2-40B4-BE49-F238E27FC236}">
                <a16:creationId xmlns:a16="http://schemas.microsoft.com/office/drawing/2014/main" id="{95F7323E-8285-4667-83C4-2BED21A60E35}"/>
              </a:ext>
            </a:extLst>
          </p:cNvPr>
          <p:cNvSpPr>
            <a:spLocks noGrp="1"/>
          </p:cNvSpPr>
          <p:nvPr>
            <p:ph type="body" sz="quarter" idx="12" hasCustomPrompt="1"/>
          </p:nvPr>
        </p:nvSpPr>
        <p:spPr>
          <a:xfrm>
            <a:off x="6602413" y="4249738"/>
            <a:ext cx="5040312" cy="1008000"/>
          </a:xfrm>
          <a:prstGeom prst="rect">
            <a:avLst/>
          </a:prstGeom>
        </p:spPr>
        <p:txBody>
          <a:bodyPr anchor="ctr">
            <a:normAutofit/>
          </a:bodyPr>
          <a:lstStyle>
            <a:lvl1pPr marL="0" indent="0">
              <a:buFontTx/>
              <a:buNone/>
              <a:defRPr sz="2400">
                <a:solidFill>
                  <a:schemeClr val="bg1"/>
                </a:solidFill>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it-IT" dirty="0"/>
              <a:t>Fare clic per modificare il testo</a:t>
            </a:r>
          </a:p>
        </p:txBody>
      </p:sp>
    </p:spTree>
    <p:extLst>
      <p:ext uri="{BB962C8B-B14F-4D97-AF65-F5344CB8AC3E}">
        <p14:creationId xmlns:p14="http://schemas.microsoft.com/office/powerpoint/2010/main" val="25214282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LU Chiusura">
    <p:spTree>
      <p:nvGrpSpPr>
        <p:cNvPr id="1" name=""/>
        <p:cNvGrpSpPr/>
        <p:nvPr/>
      </p:nvGrpSpPr>
      <p:grpSpPr>
        <a:xfrm>
          <a:off x="0" y="0"/>
          <a:ext cx="0" cy="0"/>
          <a:chOff x="0" y="0"/>
          <a:chExt cx="0" cy="0"/>
        </a:xfrm>
      </p:grpSpPr>
      <p:pic>
        <p:nvPicPr>
          <p:cNvPr id="3" name="Immagine 2">
            <a:extLst>
              <a:ext uri="{FF2B5EF4-FFF2-40B4-BE49-F238E27FC236}">
                <a16:creationId xmlns:a16="http://schemas.microsoft.com/office/drawing/2014/main" id="{72F68884-7283-48EF-B315-53827BAF1A7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19125" y="5410098"/>
            <a:ext cx="2166253" cy="952602"/>
          </a:xfrm>
          <a:prstGeom prst="rect">
            <a:avLst/>
          </a:prstGeom>
        </p:spPr>
      </p:pic>
    </p:spTree>
    <p:extLst>
      <p:ext uri="{BB962C8B-B14F-4D97-AF65-F5344CB8AC3E}">
        <p14:creationId xmlns:p14="http://schemas.microsoft.com/office/powerpoint/2010/main" val="2539576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MMAGINE Apertura">
    <p:bg>
      <p:bgPr>
        <a:solidFill>
          <a:schemeClr val="bg1"/>
        </a:solidFill>
        <a:effectLst/>
      </p:bgPr>
    </p:bg>
    <p:spTree>
      <p:nvGrpSpPr>
        <p:cNvPr id="1" name=""/>
        <p:cNvGrpSpPr/>
        <p:nvPr/>
      </p:nvGrpSpPr>
      <p:grpSpPr>
        <a:xfrm>
          <a:off x="0" y="0"/>
          <a:ext cx="0" cy="0"/>
          <a:chOff x="0" y="0"/>
          <a:chExt cx="0" cy="0"/>
        </a:xfrm>
      </p:grpSpPr>
      <p:pic>
        <p:nvPicPr>
          <p:cNvPr id="2" name="Immagine 1">
            <a:extLst>
              <a:ext uri="{FF2B5EF4-FFF2-40B4-BE49-F238E27FC236}">
                <a16:creationId xmlns:a16="http://schemas.microsoft.com/office/drawing/2014/main" id="{DA394C85-E2AD-479A-B76F-DFA5BB41B2E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3139" y="2787188"/>
            <a:ext cx="2857722" cy="1255543"/>
          </a:xfrm>
          <a:prstGeom prst="rect">
            <a:avLst/>
          </a:prstGeom>
        </p:spPr>
      </p:pic>
      <p:sp>
        <p:nvSpPr>
          <p:cNvPr id="3" name="Segnaposto immagine 10">
            <a:extLst>
              <a:ext uri="{FF2B5EF4-FFF2-40B4-BE49-F238E27FC236}">
                <a16:creationId xmlns:a16="http://schemas.microsoft.com/office/drawing/2014/main" id="{9CCE0AB1-41FD-4EDC-AB39-9282210F5525}"/>
              </a:ext>
            </a:extLst>
          </p:cNvPr>
          <p:cNvSpPr>
            <a:spLocks noGrp="1"/>
          </p:cNvSpPr>
          <p:nvPr>
            <p:ph type="pic" sz="quarter" idx="11" hasCustomPrompt="1"/>
          </p:nvPr>
        </p:nvSpPr>
        <p:spPr>
          <a:xfrm>
            <a:off x="3051544" y="0"/>
            <a:ext cx="9140456" cy="6858000"/>
          </a:xfrm>
          <a:custGeom>
            <a:avLst/>
            <a:gdLst>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0456" h="6858000">
                <a:moveTo>
                  <a:pt x="0" y="0"/>
                </a:moveTo>
                <a:lnTo>
                  <a:pt x="9140456" y="0"/>
                </a:lnTo>
                <a:lnTo>
                  <a:pt x="9140456" y="6858000"/>
                </a:lnTo>
                <a:lnTo>
                  <a:pt x="0" y="6858000"/>
                </a:lnTo>
                <a:cubicBezTo>
                  <a:pt x="1265276" y="5858538"/>
                  <a:pt x="2647507" y="2509284"/>
                  <a:pt x="0" y="0"/>
                </a:cubicBezTo>
                <a:close/>
              </a:path>
            </a:pathLst>
          </a:custGeom>
          <a:solidFill>
            <a:schemeClr val="bg1">
              <a:lumMod val="95000"/>
            </a:schemeClr>
          </a:solidFill>
        </p:spPr>
        <p:txBody>
          <a:bodyPr/>
          <a:lstStyle>
            <a:lvl1pPr marL="0" indent="0">
              <a:buFontTx/>
              <a:buNone/>
              <a:defRPr>
                <a:latin typeface="Poppins" panose="00000500000000000000" pitchFamily="2" charset="0"/>
              </a:defRPr>
            </a:lvl1pPr>
          </a:lstStyle>
          <a:p>
            <a:r>
              <a:rPr lang="it-IT" dirty="0"/>
              <a:t>   </a:t>
            </a:r>
          </a:p>
        </p:txBody>
      </p:sp>
      <p:sp>
        <p:nvSpPr>
          <p:cNvPr id="5" name="Segnaposto testo 6">
            <a:extLst>
              <a:ext uri="{FF2B5EF4-FFF2-40B4-BE49-F238E27FC236}">
                <a16:creationId xmlns:a16="http://schemas.microsoft.com/office/drawing/2014/main" id="{049324E1-916B-44BE-A2CA-01572E502A9B}"/>
              </a:ext>
            </a:extLst>
          </p:cNvPr>
          <p:cNvSpPr>
            <a:spLocks noGrp="1"/>
          </p:cNvSpPr>
          <p:nvPr>
            <p:ph type="body" sz="quarter" idx="12" hasCustomPrompt="1"/>
          </p:nvPr>
        </p:nvSpPr>
        <p:spPr>
          <a:xfrm>
            <a:off x="6602817" y="888227"/>
            <a:ext cx="5040000" cy="3024000"/>
          </a:xfrm>
          <a:prstGeom prst="rect">
            <a:avLst/>
          </a:prstGeom>
        </p:spPr>
        <p:txBody>
          <a:bodyPr anchor="ctr" anchorCtr="0">
            <a:normAutofit/>
          </a:bodyPr>
          <a:lstStyle>
            <a:lvl1pPr marL="0" indent="0">
              <a:buFontTx/>
              <a:buNone/>
              <a:defRPr sz="4800">
                <a:solidFill>
                  <a:schemeClr val="bg1"/>
                </a:solidFill>
                <a:latin typeface="+mj-lt"/>
              </a:defRPr>
            </a:lvl1pPr>
            <a:lvl2pPr>
              <a:defRPr sz="4800">
                <a:latin typeface="+mj-lt"/>
              </a:defRPr>
            </a:lvl2pPr>
            <a:lvl3pPr>
              <a:defRPr sz="4800">
                <a:latin typeface="+mj-lt"/>
              </a:defRPr>
            </a:lvl3pPr>
            <a:lvl4pPr>
              <a:defRPr sz="4800">
                <a:latin typeface="+mj-lt"/>
              </a:defRPr>
            </a:lvl4pPr>
            <a:lvl5pPr>
              <a:defRPr sz="4800">
                <a:latin typeface="+mj-lt"/>
              </a:defRPr>
            </a:lvl5pPr>
          </a:lstStyle>
          <a:p>
            <a:pPr lvl="0"/>
            <a:r>
              <a:rPr lang="it-IT" dirty="0"/>
              <a:t>Fare clic per modificare il testo</a:t>
            </a:r>
          </a:p>
        </p:txBody>
      </p:sp>
      <p:sp>
        <p:nvSpPr>
          <p:cNvPr id="6" name="Segnaposto testo 9">
            <a:extLst>
              <a:ext uri="{FF2B5EF4-FFF2-40B4-BE49-F238E27FC236}">
                <a16:creationId xmlns:a16="http://schemas.microsoft.com/office/drawing/2014/main" id="{BC83BF07-630E-48B5-9C07-F0CEF6A2BF85}"/>
              </a:ext>
            </a:extLst>
          </p:cNvPr>
          <p:cNvSpPr>
            <a:spLocks noGrp="1"/>
          </p:cNvSpPr>
          <p:nvPr>
            <p:ph type="body" sz="quarter" idx="13" hasCustomPrompt="1"/>
          </p:nvPr>
        </p:nvSpPr>
        <p:spPr>
          <a:xfrm>
            <a:off x="6602413" y="4249738"/>
            <a:ext cx="5040312" cy="1008000"/>
          </a:xfrm>
          <a:prstGeom prst="rect">
            <a:avLst/>
          </a:prstGeom>
        </p:spPr>
        <p:txBody>
          <a:bodyPr anchor="ctr">
            <a:normAutofit/>
          </a:bodyPr>
          <a:lstStyle>
            <a:lvl1pPr marL="0" indent="0">
              <a:buFontTx/>
              <a:buNone/>
              <a:defRPr sz="2400">
                <a:solidFill>
                  <a:schemeClr val="bg1"/>
                </a:solidFill>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it-IT" dirty="0"/>
              <a:t>Fare clic per modificare il testo</a:t>
            </a:r>
          </a:p>
        </p:txBody>
      </p:sp>
      <p:cxnSp>
        <p:nvCxnSpPr>
          <p:cNvPr id="7" name="Connettore diritto 6">
            <a:extLst>
              <a:ext uri="{FF2B5EF4-FFF2-40B4-BE49-F238E27FC236}">
                <a16:creationId xmlns:a16="http://schemas.microsoft.com/office/drawing/2014/main" id="{98F9590B-AA34-4576-A95D-7E6FD9F1FF0F}"/>
              </a:ext>
            </a:extLst>
          </p:cNvPr>
          <p:cNvCxnSpPr/>
          <p:nvPr userDrawn="1"/>
        </p:nvCxnSpPr>
        <p:spPr>
          <a:xfrm>
            <a:off x="6705088" y="5410098"/>
            <a:ext cx="1552353" cy="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0063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MMAGINE Chiusura">
    <p:bg>
      <p:bgPr>
        <a:solidFill>
          <a:schemeClr val="bg1"/>
        </a:solidFill>
        <a:effectLst/>
      </p:bgPr>
    </p:bg>
    <p:spTree>
      <p:nvGrpSpPr>
        <p:cNvPr id="1" name=""/>
        <p:cNvGrpSpPr/>
        <p:nvPr/>
      </p:nvGrpSpPr>
      <p:grpSpPr>
        <a:xfrm>
          <a:off x="0" y="0"/>
          <a:ext cx="0" cy="0"/>
          <a:chOff x="0" y="0"/>
          <a:chExt cx="0" cy="0"/>
        </a:xfrm>
      </p:grpSpPr>
      <p:pic>
        <p:nvPicPr>
          <p:cNvPr id="2" name="Immagine 1">
            <a:extLst>
              <a:ext uri="{FF2B5EF4-FFF2-40B4-BE49-F238E27FC236}">
                <a16:creationId xmlns:a16="http://schemas.microsoft.com/office/drawing/2014/main" id="{C5F8C436-50BB-46D3-92D1-A32E72258D0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3139" y="2787188"/>
            <a:ext cx="2857722" cy="1255543"/>
          </a:xfrm>
          <a:prstGeom prst="rect">
            <a:avLst/>
          </a:prstGeom>
        </p:spPr>
      </p:pic>
    </p:spTree>
    <p:extLst>
      <p:ext uri="{BB962C8B-B14F-4D97-AF65-F5344CB8AC3E}">
        <p14:creationId xmlns:p14="http://schemas.microsoft.com/office/powerpoint/2010/main" val="27719325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contenuto">
    <p:spTree>
      <p:nvGrpSpPr>
        <p:cNvPr id="1" name=""/>
        <p:cNvGrpSpPr/>
        <p:nvPr/>
      </p:nvGrpSpPr>
      <p:grpSpPr>
        <a:xfrm>
          <a:off x="0" y="0"/>
          <a:ext cx="0" cy="0"/>
          <a:chOff x="0" y="0"/>
          <a:chExt cx="0" cy="0"/>
        </a:xfrm>
      </p:grpSpPr>
      <p:sp>
        <p:nvSpPr>
          <p:cNvPr id="4" name="Segnaposto titolo 1">
            <a:extLst>
              <a:ext uri="{FF2B5EF4-FFF2-40B4-BE49-F238E27FC236}">
                <a16:creationId xmlns:a16="http://schemas.microsoft.com/office/drawing/2014/main" id="{24993FE2-BDC7-854D-9E60-5881B6A9F399}"/>
              </a:ext>
            </a:extLst>
          </p:cNvPr>
          <p:cNvSpPr>
            <a:spLocks noGrp="1"/>
          </p:cNvSpPr>
          <p:nvPr>
            <p:ph type="title"/>
          </p:nvPr>
        </p:nvSpPr>
        <p:spPr>
          <a:xfrm>
            <a:off x="180000" y="180000"/>
            <a:ext cx="11880000" cy="648000"/>
          </a:xfrm>
          <a:prstGeom prst="rect">
            <a:avLst/>
          </a:prstGeom>
        </p:spPr>
        <p:txBody>
          <a:bodyPr vert="horz" lIns="91440" tIns="45720" rIns="91440" bIns="45720" rtlCol="0" anchor="ctr" anchorCtr="0">
            <a:normAutofit/>
          </a:bodyPr>
          <a:lstStyle/>
          <a:p>
            <a:r>
              <a:rPr lang="it-IT" dirty="0"/>
              <a:t>Fare clic per modificare il titolo</a:t>
            </a:r>
          </a:p>
        </p:txBody>
      </p:sp>
      <p:sp>
        <p:nvSpPr>
          <p:cNvPr id="6" name="Segnaposto testo 3">
            <a:extLst>
              <a:ext uri="{FF2B5EF4-FFF2-40B4-BE49-F238E27FC236}">
                <a16:creationId xmlns:a16="http://schemas.microsoft.com/office/drawing/2014/main" id="{03A3DA46-7DB4-F940-B006-60DA29DE6728}"/>
              </a:ext>
            </a:extLst>
          </p:cNvPr>
          <p:cNvSpPr>
            <a:spLocks noGrp="1"/>
          </p:cNvSpPr>
          <p:nvPr>
            <p:ph idx="1" hasCustomPrompt="1"/>
          </p:nvPr>
        </p:nvSpPr>
        <p:spPr>
          <a:xfrm>
            <a:off x="180000" y="984487"/>
            <a:ext cx="11880000" cy="5171513"/>
          </a:xfrm>
          <a:prstGeom prst="rect">
            <a:avLst/>
          </a:prstGeom>
        </p:spPr>
        <p:txBody>
          <a:bodyPr vert="horz" lIns="91440" tIns="45720" rIns="91440" bIns="45720" rtlCol="0" anchor="t">
            <a:normAutofit/>
          </a:bodyPr>
          <a:lstStyle/>
          <a:p>
            <a:pPr lvl="0"/>
            <a:r>
              <a:rPr lang="it-IT" dirty="0"/>
              <a:t>Fare clic per modificare il testo</a:t>
            </a:r>
          </a:p>
          <a:p>
            <a:pPr lvl="1"/>
            <a:r>
              <a:rPr lang="it-IT" dirty="0"/>
              <a:t>Secondo livello</a:t>
            </a:r>
          </a:p>
          <a:p>
            <a:pPr lvl="2"/>
            <a:r>
              <a:rPr lang="it-IT" dirty="0"/>
              <a:t>Terzo livello</a:t>
            </a:r>
          </a:p>
          <a:p>
            <a:pPr lvl="3"/>
            <a:r>
              <a:rPr lang="it-IT" dirty="0"/>
              <a:t>Quarto livello</a:t>
            </a:r>
          </a:p>
          <a:p>
            <a:pPr lvl="4"/>
            <a:r>
              <a:rPr lang="it-IT" dirty="0"/>
              <a:t>Quinto livello</a:t>
            </a:r>
          </a:p>
        </p:txBody>
      </p:sp>
    </p:spTree>
    <p:extLst>
      <p:ext uri="{BB962C8B-B14F-4D97-AF65-F5344CB8AC3E}">
        <p14:creationId xmlns:p14="http://schemas.microsoft.com/office/powerpoint/2010/main" val="2277971463"/>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4FB4A7-FF62-53E7-CC8F-E29751CD5132}"/>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435148515"/>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olo Titolo">
    <p:spTree>
      <p:nvGrpSpPr>
        <p:cNvPr id="1" name=""/>
        <p:cNvGrpSpPr/>
        <p:nvPr/>
      </p:nvGrpSpPr>
      <p:grpSpPr>
        <a:xfrm>
          <a:off x="0" y="0"/>
          <a:ext cx="0" cy="0"/>
          <a:chOff x="0" y="0"/>
          <a:chExt cx="0" cy="0"/>
        </a:xfrm>
      </p:grpSpPr>
      <p:sp>
        <p:nvSpPr>
          <p:cNvPr id="4" name="Segnaposto titolo 1">
            <a:extLst>
              <a:ext uri="{FF2B5EF4-FFF2-40B4-BE49-F238E27FC236}">
                <a16:creationId xmlns:a16="http://schemas.microsoft.com/office/drawing/2014/main" id="{2C61AA3E-D013-404E-8B75-86054DB2A686}"/>
              </a:ext>
            </a:extLst>
          </p:cNvPr>
          <p:cNvSpPr>
            <a:spLocks noGrp="1"/>
          </p:cNvSpPr>
          <p:nvPr>
            <p:ph type="title"/>
          </p:nvPr>
        </p:nvSpPr>
        <p:spPr>
          <a:xfrm>
            <a:off x="156000" y="2441500"/>
            <a:ext cx="11880000" cy="1975000"/>
          </a:xfrm>
          <a:prstGeom prst="rect">
            <a:avLst/>
          </a:prstGeom>
        </p:spPr>
        <p:txBody>
          <a:bodyPr vert="horz" lIns="91440" tIns="45720" rIns="91440" bIns="45720" rtlCol="0" anchor="ctr" anchorCtr="0">
            <a:normAutofit/>
          </a:bodyPr>
          <a:lstStyle>
            <a:lvl1pPr algn="ctr">
              <a:defRPr/>
            </a:lvl1pPr>
          </a:lstStyle>
          <a:p>
            <a:r>
              <a:rPr lang="it-IT" dirty="0"/>
              <a:t>Fare clic per modificare il titolo</a:t>
            </a:r>
          </a:p>
        </p:txBody>
      </p:sp>
    </p:spTree>
    <p:extLst>
      <p:ext uri="{BB962C8B-B14F-4D97-AF65-F5344CB8AC3E}">
        <p14:creationId xmlns:p14="http://schemas.microsoft.com/office/powerpoint/2010/main" val="420311766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uota">
    <p:spTree>
      <p:nvGrpSpPr>
        <p:cNvPr id="1" name=""/>
        <p:cNvGrpSpPr/>
        <p:nvPr/>
      </p:nvGrpSpPr>
      <p:grpSpPr>
        <a:xfrm>
          <a:off x="0" y="0"/>
          <a:ext cx="0" cy="0"/>
          <a:chOff x="0" y="0"/>
          <a:chExt cx="0" cy="0"/>
        </a:xfrm>
      </p:grpSpPr>
    </p:spTree>
    <p:extLst>
      <p:ext uri="{BB962C8B-B14F-4D97-AF65-F5344CB8AC3E}">
        <p14:creationId xmlns:p14="http://schemas.microsoft.com/office/powerpoint/2010/main" val="244964023"/>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5F729-938E-04F0-BCB2-18B82DCBFA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9607A96-EB02-AF7F-34E0-7862394563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4B780F-003D-862E-A374-B265E0000707}"/>
              </a:ext>
            </a:extLst>
          </p:cNvPr>
          <p:cNvSpPr>
            <a:spLocks noGrp="1"/>
          </p:cNvSpPr>
          <p:nvPr>
            <p:ph type="dt" sz="half" idx="10"/>
          </p:nvPr>
        </p:nvSpPr>
        <p:spPr/>
        <p:txBody>
          <a:bodyPr/>
          <a:lstStyle/>
          <a:p>
            <a:fld id="{0586965B-D52A-094D-B5E2-79AEB94E123E}" type="datetimeFigureOut">
              <a:rPr lang="en-US" smtClean="0"/>
              <a:t>12/30/25</a:t>
            </a:fld>
            <a:endParaRPr lang="en-US"/>
          </a:p>
        </p:txBody>
      </p:sp>
      <p:sp>
        <p:nvSpPr>
          <p:cNvPr id="5" name="Footer Placeholder 4">
            <a:extLst>
              <a:ext uri="{FF2B5EF4-FFF2-40B4-BE49-F238E27FC236}">
                <a16:creationId xmlns:a16="http://schemas.microsoft.com/office/drawing/2014/main" id="{1A41EE01-83FE-B654-9AB5-6911F6D4E6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794DBA-4284-1A57-D847-361E5BBFD55B}"/>
              </a:ext>
            </a:extLst>
          </p:cNvPr>
          <p:cNvSpPr>
            <a:spLocks noGrp="1"/>
          </p:cNvSpPr>
          <p:nvPr>
            <p:ph type="sldNum" sz="quarter" idx="12"/>
          </p:nvPr>
        </p:nvSpPr>
        <p:spPr/>
        <p:txBody>
          <a:bodyPr/>
          <a:lstStyle/>
          <a:p>
            <a:fld id="{12B54D11-4114-9746-AE57-51143CCC4D67}" type="slidenum">
              <a:rPr lang="en-US" smtClean="0"/>
              <a:t>‹#›</a:t>
            </a:fld>
            <a:endParaRPr lang="en-US"/>
          </a:p>
        </p:txBody>
      </p:sp>
    </p:spTree>
    <p:extLst>
      <p:ext uri="{BB962C8B-B14F-4D97-AF65-F5344CB8AC3E}">
        <p14:creationId xmlns:p14="http://schemas.microsoft.com/office/powerpoint/2010/main" val="29437751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BLU _ Apertura">
    <p:spTree>
      <p:nvGrpSpPr>
        <p:cNvPr id="1" name=""/>
        <p:cNvGrpSpPr/>
        <p:nvPr/>
      </p:nvGrpSpPr>
      <p:grpSpPr>
        <a:xfrm>
          <a:off x="0" y="0"/>
          <a:ext cx="0" cy="0"/>
          <a:chOff x="0" y="0"/>
          <a:chExt cx="0" cy="0"/>
        </a:xfrm>
      </p:grpSpPr>
      <p:pic>
        <p:nvPicPr>
          <p:cNvPr id="5" name="Immagine 4">
            <a:extLst>
              <a:ext uri="{FF2B5EF4-FFF2-40B4-BE49-F238E27FC236}">
                <a16:creationId xmlns:a16="http://schemas.microsoft.com/office/drawing/2014/main" id="{55988862-B47E-48D4-9426-E775261B7CC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11070" cy="6858000"/>
          </a:xfrm>
          <a:prstGeom prst="rect">
            <a:avLst/>
          </a:prstGeom>
        </p:spPr>
      </p:pic>
      <p:pic>
        <p:nvPicPr>
          <p:cNvPr id="6" name="Immagine 5">
            <a:extLst>
              <a:ext uri="{FF2B5EF4-FFF2-40B4-BE49-F238E27FC236}">
                <a16:creationId xmlns:a16="http://schemas.microsoft.com/office/drawing/2014/main" id="{E7FA2C98-6DE1-4D78-AE6F-0BAAE6E1D858}"/>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19125" y="5410098"/>
            <a:ext cx="2166253" cy="952602"/>
          </a:xfrm>
          <a:prstGeom prst="rect">
            <a:avLst/>
          </a:prstGeom>
        </p:spPr>
      </p:pic>
      <p:cxnSp>
        <p:nvCxnSpPr>
          <p:cNvPr id="7" name="Connettore diritto 6">
            <a:extLst>
              <a:ext uri="{FF2B5EF4-FFF2-40B4-BE49-F238E27FC236}">
                <a16:creationId xmlns:a16="http://schemas.microsoft.com/office/drawing/2014/main" id="{27DE37F3-51F4-48BE-8599-73297EEF3BD3}"/>
              </a:ext>
            </a:extLst>
          </p:cNvPr>
          <p:cNvCxnSpPr/>
          <p:nvPr userDrawn="1"/>
        </p:nvCxnSpPr>
        <p:spPr>
          <a:xfrm>
            <a:off x="6705088" y="5410098"/>
            <a:ext cx="1552353" cy="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8" name="Segnaposto testo 6">
            <a:extLst>
              <a:ext uri="{FF2B5EF4-FFF2-40B4-BE49-F238E27FC236}">
                <a16:creationId xmlns:a16="http://schemas.microsoft.com/office/drawing/2014/main" id="{5BB8A5A3-9EC2-4C88-8FAC-05F96F00D7EF}"/>
              </a:ext>
            </a:extLst>
          </p:cNvPr>
          <p:cNvSpPr>
            <a:spLocks noGrp="1"/>
          </p:cNvSpPr>
          <p:nvPr>
            <p:ph type="body" sz="quarter" idx="11" hasCustomPrompt="1"/>
          </p:nvPr>
        </p:nvSpPr>
        <p:spPr>
          <a:xfrm>
            <a:off x="6602817" y="888227"/>
            <a:ext cx="5040000" cy="3024000"/>
          </a:xfrm>
          <a:prstGeom prst="rect">
            <a:avLst/>
          </a:prstGeom>
        </p:spPr>
        <p:txBody>
          <a:bodyPr anchor="ctr" anchorCtr="0">
            <a:normAutofit/>
          </a:bodyPr>
          <a:lstStyle>
            <a:lvl1pPr marL="0" indent="0">
              <a:buFontTx/>
              <a:buNone/>
              <a:defRPr sz="4800">
                <a:solidFill>
                  <a:schemeClr val="bg1"/>
                </a:solidFill>
                <a:latin typeface="+mj-lt"/>
              </a:defRPr>
            </a:lvl1pPr>
            <a:lvl2pPr>
              <a:defRPr sz="4800">
                <a:latin typeface="+mj-lt"/>
              </a:defRPr>
            </a:lvl2pPr>
            <a:lvl3pPr>
              <a:defRPr sz="4800">
                <a:latin typeface="+mj-lt"/>
              </a:defRPr>
            </a:lvl3pPr>
            <a:lvl4pPr>
              <a:defRPr sz="4800">
                <a:latin typeface="+mj-lt"/>
              </a:defRPr>
            </a:lvl4pPr>
            <a:lvl5pPr>
              <a:defRPr sz="4800">
                <a:latin typeface="+mj-lt"/>
              </a:defRPr>
            </a:lvl5pPr>
          </a:lstStyle>
          <a:p>
            <a:pPr lvl="0"/>
            <a:r>
              <a:rPr lang="it-IT" dirty="0"/>
              <a:t>Fare clic per modificare il testo</a:t>
            </a:r>
          </a:p>
        </p:txBody>
      </p:sp>
      <p:sp>
        <p:nvSpPr>
          <p:cNvPr id="9" name="Segnaposto testo 9">
            <a:extLst>
              <a:ext uri="{FF2B5EF4-FFF2-40B4-BE49-F238E27FC236}">
                <a16:creationId xmlns:a16="http://schemas.microsoft.com/office/drawing/2014/main" id="{95F7323E-8285-4667-83C4-2BED21A60E35}"/>
              </a:ext>
            </a:extLst>
          </p:cNvPr>
          <p:cNvSpPr>
            <a:spLocks noGrp="1"/>
          </p:cNvSpPr>
          <p:nvPr>
            <p:ph type="body" sz="quarter" idx="12" hasCustomPrompt="1"/>
          </p:nvPr>
        </p:nvSpPr>
        <p:spPr>
          <a:xfrm>
            <a:off x="6602413" y="4249738"/>
            <a:ext cx="5040312" cy="1008000"/>
          </a:xfrm>
          <a:prstGeom prst="rect">
            <a:avLst/>
          </a:prstGeom>
        </p:spPr>
        <p:txBody>
          <a:bodyPr anchor="ctr">
            <a:normAutofit/>
          </a:bodyPr>
          <a:lstStyle>
            <a:lvl1pPr marL="0" indent="0">
              <a:buFontTx/>
              <a:buNone/>
              <a:defRPr sz="2400">
                <a:solidFill>
                  <a:schemeClr val="bg1"/>
                </a:solidFill>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it-IT" dirty="0"/>
              <a:t>Fare clic per modificare il testo</a:t>
            </a:r>
          </a:p>
        </p:txBody>
      </p:sp>
    </p:spTree>
    <p:extLst>
      <p:ext uri="{BB962C8B-B14F-4D97-AF65-F5344CB8AC3E}">
        <p14:creationId xmlns:p14="http://schemas.microsoft.com/office/powerpoint/2010/main" val="31038739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slideLayout" Target="../slideLayouts/slideLayout7.xml"/><Relationship Id="rId7" Type="http://schemas.openxmlformats.org/officeDocument/2006/relationships/theme" Target="../theme/theme2.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5" Type="http://schemas.openxmlformats.org/officeDocument/2006/relationships/slideLayout" Target="../slideLayouts/slideLayout9.xml"/><Relationship Id="rId4"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0359207"/>
      </p:ext>
    </p:extLst>
  </p:cSld>
  <p:clrMap bg1="lt1" tx1="dk1" bg2="lt2" tx2="dk2" accent1="accent1" accent2="accent2" accent3="accent3" accent4="accent4" accent5="accent5" accent6="accent6" hlink="hlink" folHlink="folHlink"/>
  <p:sldLayoutIdLst>
    <p:sldLayoutId id="2147483684" r:id="rId1"/>
    <p:sldLayoutId id="2147483685" r:id="rId2"/>
    <p:sldLayoutId id="2147483689" r:id="rId3"/>
    <p:sldLayoutId id="2147483688"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166" userDrawn="1">
          <p15:clr>
            <a:srgbClr val="F26B43"/>
          </p15:clr>
        </p15:guide>
        <p15:guide id="4" pos="7514" userDrawn="1">
          <p15:clr>
            <a:srgbClr val="F26B43"/>
          </p15:clr>
        </p15:guide>
        <p15:guide id="5" orient="horz" pos="164" userDrawn="1">
          <p15:clr>
            <a:srgbClr val="F26B43"/>
          </p15:clr>
        </p15:guide>
        <p15:guide id="6" orient="horz" pos="415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Rettangolo 2"/>
          <p:cNvSpPr/>
          <p:nvPr userDrawn="1"/>
        </p:nvSpPr>
        <p:spPr bwMode="auto">
          <a:xfrm>
            <a:off x="0" y="6308725"/>
            <a:ext cx="12192000" cy="549275"/>
          </a:xfrm>
          <a:prstGeom prst="rect">
            <a:avLst/>
          </a:prstGeom>
          <a:solidFill>
            <a:schemeClr val="tx1"/>
          </a:solidFill>
          <a:ln>
            <a:noFill/>
          </a:ln>
        </p:spPr>
        <p:txBody>
          <a:bodyPr vert="horz" wrap="square" lIns="91440" tIns="45720" rIns="91440" bIns="45720" numCol="1" rtlCol="0" anchor="t" anchorCtr="0" compatLnSpc="1">
            <a:prstTxWarp prst="textNoShape">
              <a:avLst/>
            </a:prstTxWarp>
          </a:bodyPr>
          <a:lstStyle/>
          <a:p>
            <a:pPr algn="ctr"/>
            <a:endParaRPr lang="it-IT"/>
          </a:p>
        </p:txBody>
      </p:sp>
      <p:pic>
        <p:nvPicPr>
          <p:cNvPr id="6" name="Immagine 5"/>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282311" y="6465212"/>
            <a:ext cx="951065" cy="269625"/>
          </a:xfrm>
          <a:prstGeom prst="rect">
            <a:avLst/>
          </a:prstGeom>
        </p:spPr>
      </p:pic>
      <p:sp>
        <p:nvSpPr>
          <p:cNvPr id="2" name="Segnaposto titolo 1">
            <a:extLst>
              <a:ext uri="{FF2B5EF4-FFF2-40B4-BE49-F238E27FC236}">
                <a16:creationId xmlns:a16="http://schemas.microsoft.com/office/drawing/2014/main" id="{FECFCC25-4FD9-414D-AE29-E50F7351E184}"/>
              </a:ext>
            </a:extLst>
          </p:cNvPr>
          <p:cNvSpPr>
            <a:spLocks noGrp="1"/>
          </p:cNvSpPr>
          <p:nvPr>
            <p:ph type="title"/>
          </p:nvPr>
        </p:nvSpPr>
        <p:spPr>
          <a:xfrm>
            <a:off x="180000" y="180000"/>
            <a:ext cx="11880000" cy="648000"/>
          </a:xfrm>
          <a:prstGeom prst="rect">
            <a:avLst/>
          </a:prstGeom>
        </p:spPr>
        <p:txBody>
          <a:bodyPr vert="horz" lIns="91440" tIns="45720" rIns="91440" bIns="45720" rtlCol="0" anchor="ctr" anchorCtr="0">
            <a:normAutofit/>
          </a:bodyPr>
          <a:lstStyle/>
          <a:p>
            <a:r>
              <a:rPr lang="it-IT" dirty="0"/>
              <a:t>Fare clic per modificare il titolo</a:t>
            </a:r>
          </a:p>
        </p:txBody>
      </p:sp>
      <p:sp>
        <p:nvSpPr>
          <p:cNvPr id="4" name="Segnaposto testo 3">
            <a:extLst>
              <a:ext uri="{FF2B5EF4-FFF2-40B4-BE49-F238E27FC236}">
                <a16:creationId xmlns:a16="http://schemas.microsoft.com/office/drawing/2014/main" id="{1FA7E6D1-1565-475C-8B80-AB85A60730A7}"/>
              </a:ext>
            </a:extLst>
          </p:cNvPr>
          <p:cNvSpPr>
            <a:spLocks noGrp="1"/>
          </p:cNvSpPr>
          <p:nvPr>
            <p:ph type="body" idx="1"/>
          </p:nvPr>
        </p:nvSpPr>
        <p:spPr>
          <a:xfrm>
            <a:off x="180000" y="984487"/>
            <a:ext cx="11880000" cy="5171513"/>
          </a:xfrm>
          <a:prstGeom prst="rect">
            <a:avLst/>
          </a:prstGeom>
        </p:spPr>
        <p:txBody>
          <a:bodyPr vert="horz" lIns="91440" tIns="45720" rIns="91440" bIns="45720" rtlCol="0" anchor="t">
            <a:normAutofit/>
          </a:bodyPr>
          <a:lstStyle/>
          <a:p>
            <a:pPr lvl="0"/>
            <a:r>
              <a:rPr lang="it-IT" dirty="0"/>
              <a:t>Fare clic per modificare il testo</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9" name="Segnaposto testo 3">
            <a:extLst>
              <a:ext uri="{FF2B5EF4-FFF2-40B4-BE49-F238E27FC236}">
                <a16:creationId xmlns:a16="http://schemas.microsoft.com/office/drawing/2014/main" id="{AFBBB134-F3B5-014C-81C1-EC3290A3567D}"/>
              </a:ext>
            </a:extLst>
          </p:cNvPr>
          <p:cNvSpPr txBox="1">
            <a:spLocks/>
          </p:cNvSpPr>
          <p:nvPr userDrawn="1"/>
        </p:nvSpPr>
        <p:spPr>
          <a:xfrm>
            <a:off x="3649451" y="6373047"/>
            <a:ext cx="8421867" cy="236542"/>
          </a:xfrm>
          <a:prstGeom prst="rect">
            <a:avLst/>
          </a:prstGeom>
        </p:spPr>
        <p:txBody>
          <a:bodyPr/>
          <a:lstStyle>
            <a:lvl1pPr marL="0" indent="0" algn="r" defTabSz="914400" rtl="0" eaLnBrk="1" latinLnBrk="0" hangingPunct="1">
              <a:lnSpc>
                <a:spcPct val="100000"/>
              </a:lnSpc>
              <a:spcBef>
                <a:spcPts val="1000"/>
              </a:spcBef>
              <a:buFont typeface="Arial" panose="020B0604020202020204" pitchFamily="34" charset="0"/>
              <a:buNone/>
              <a:defRPr sz="1050" kern="1200">
                <a:solidFill>
                  <a:schemeClr val="bg1"/>
                </a:solidFill>
                <a:latin typeface="+mj-lt"/>
                <a:ea typeface="+mn-ea"/>
                <a:cs typeface="+mn-cs"/>
              </a:defRPr>
            </a:lvl1pPr>
            <a:lvl2pPr marL="457200" indent="0" algn="r" defTabSz="914400" rtl="0" eaLnBrk="1" latinLnBrk="0" hangingPunct="1">
              <a:lnSpc>
                <a:spcPct val="90000"/>
              </a:lnSpc>
              <a:spcBef>
                <a:spcPts val="500"/>
              </a:spcBef>
              <a:buFont typeface="Arial" panose="020B0604020202020204" pitchFamily="34" charset="0"/>
              <a:buNone/>
              <a:defRPr sz="900" kern="1200">
                <a:solidFill>
                  <a:schemeClr val="accent2"/>
                </a:solidFill>
                <a:latin typeface="+mn-lt"/>
                <a:ea typeface="+mn-ea"/>
                <a:cs typeface="+mn-cs"/>
              </a:defRPr>
            </a:lvl2pPr>
            <a:lvl3pPr marL="914400" marR="0" indent="0" algn="r" defTabSz="914400" rtl="0" eaLnBrk="1" fontAlgn="auto" latinLnBrk="0" hangingPunct="1">
              <a:lnSpc>
                <a:spcPct val="90000"/>
              </a:lnSpc>
              <a:spcBef>
                <a:spcPts val="500"/>
              </a:spcBef>
              <a:spcAft>
                <a:spcPts val="0"/>
              </a:spcAft>
              <a:buClrTx/>
              <a:buSzTx/>
              <a:buFont typeface="Arial" panose="020B0604020202020204" pitchFamily="34" charset="0"/>
              <a:buNone/>
              <a:tabLst/>
              <a:defRPr sz="900" kern="1200" spc="300">
                <a:solidFill>
                  <a:schemeClr val="accent2"/>
                </a:solidFill>
                <a:latin typeface="+mn-lt"/>
                <a:ea typeface="+mn-ea"/>
                <a:cs typeface="+mn-cs"/>
              </a:defRPr>
            </a:lvl3pPr>
            <a:lvl4pPr marL="1371600" indent="0" algn="r" defTabSz="914400" rtl="0" eaLnBrk="1" latinLnBrk="0" hangingPunct="1">
              <a:lnSpc>
                <a:spcPct val="90000"/>
              </a:lnSpc>
              <a:spcBef>
                <a:spcPts val="500"/>
              </a:spcBef>
              <a:buFont typeface="Arial" panose="020B0604020202020204" pitchFamily="34" charset="0"/>
              <a:buNone/>
              <a:defRPr sz="900" kern="1200">
                <a:solidFill>
                  <a:schemeClr val="accent2"/>
                </a:solidFill>
                <a:latin typeface="+mn-lt"/>
                <a:ea typeface="+mn-ea"/>
                <a:cs typeface="+mn-cs"/>
              </a:defRPr>
            </a:lvl4pPr>
            <a:lvl5pPr marL="1828800" indent="0" algn="r" defTabSz="914400" rtl="0" eaLnBrk="1" latinLnBrk="0" hangingPunct="1">
              <a:lnSpc>
                <a:spcPct val="90000"/>
              </a:lnSpc>
              <a:spcBef>
                <a:spcPts val="500"/>
              </a:spcBef>
              <a:buFont typeface="Arial" panose="020B0604020202020204" pitchFamily="34" charset="0"/>
              <a:buNone/>
              <a:defRPr sz="900" kern="1200">
                <a:solidFill>
                  <a:schemeClr val="accent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dirty="0" err="1"/>
              <a:t>mohammad.sheikh@studenti.polito.it</a:t>
            </a:r>
            <a:endParaRPr lang="it-IT" dirty="0"/>
          </a:p>
        </p:txBody>
      </p:sp>
      <p:sp>
        <p:nvSpPr>
          <p:cNvPr id="10" name="Segnaposto testo 6">
            <a:extLst>
              <a:ext uri="{FF2B5EF4-FFF2-40B4-BE49-F238E27FC236}">
                <a16:creationId xmlns:a16="http://schemas.microsoft.com/office/drawing/2014/main" id="{3AEC9288-CBBA-2949-AD51-BD9C863E1BE8}"/>
              </a:ext>
            </a:extLst>
          </p:cNvPr>
          <p:cNvSpPr txBox="1">
            <a:spLocks/>
          </p:cNvSpPr>
          <p:nvPr userDrawn="1"/>
        </p:nvSpPr>
        <p:spPr>
          <a:xfrm>
            <a:off x="3649451" y="6583362"/>
            <a:ext cx="8451065" cy="215816"/>
          </a:xfrm>
          <a:prstGeom prst="rect">
            <a:avLst/>
          </a:prstGeom>
        </p:spPr>
        <p:txBody>
          <a:bodyPr/>
          <a:lstStyle>
            <a:lvl1pPr marL="0" indent="0" algn="r" defTabSz="914400" rtl="0" eaLnBrk="1" latinLnBrk="0" hangingPunct="1">
              <a:lnSpc>
                <a:spcPct val="100000"/>
              </a:lnSpc>
              <a:spcBef>
                <a:spcPts val="1000"/>
              </a:spcBef>
              <a:buFont typeface="Arial" panose="020B0604020202020204" pitchFamily="34" charset="0"/>
              <a:buNone/>
              <a:defRPr sz="800" kern="1200" spc="300">
                <a:solidFill>
                  <a:schemeClr val="bg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lumMod val="95000"/>
                  </a:srgbClr>
                </a:solidFill>
                <a:effectLst/>
                <a:uLnTx/>
                <a:uFillTx/>
                <a:latin typeface="Poppins"/>
                <a:ea typeface="+mn-ea"/>
                <a:cs typeface="+mn-cs"/>
              </a:rPr>
              <a:t>Predictive Analytics of Climate Stress Impact on the Italian Mediterranean Buffalo</a:t>
            </a:r>
          </a:p>
        </p:txBody>
      </p:sp>
    </p:spTree>
    <p:extLst>
      <p:ext uri="{BB962C8B-B14F-4D97-AF65-F5344CB8AC3E}">
        <p14:creationId xmlns:p14="http://schemas.microsoft.com/office/powerpoint/2010/main" val="3365820312"/>
      </p:ext>
    </p:extLst>
  </p:cSld>
  <p:clrMap bg1="lt1" tx1="dk1" bg2="lt2" tx2="dk2" accent1="accent1" accent2="accent2" accent3="accent3" accent4="accent4" accent5="accent5" accent6="accent6" hlink="hlink" folHlink="folHlink"/>
  <p:sldLayoutIdLst>
    <p:sldLayoutId id="2147483768" r:id="rId1"/>
    <p:sldLayoutId id="2147483778" r:id="rId2"/>
    <p:sldLayoutId id="2147483784" r:id="rId3"/>
    <p:sldLayoutId id="2147483783" r:id="rId4"/>
    <p:sldLayoutId id="2147483785" r:id="rId5"/>
    <p:sldLayoutId id="2147483786" r:id="rId6"/>
  </p:sldLayoutIdLst>
  <p:txStyles>
    <p:titleStyle>
      <a:lvl1pPr algn="l" defTabSz="914400" rtl="0" eaLnBrk="1" latinLnBrk="0" hangingPunct="1">
        <a:lnSpc>
          <a:spcPct val="90000"/>
        </a:lnSpc>
        <a:spcBef>
          <a:spcPct val="0"/>
        </a:spcBef>
        <a:buNone/>
        <a:defRPr sz="4000" kern="1200">
          <a:solidFill>
            <a:schemeClr val="tx1">
              <a:lumMod val="75000"/>
              <a:lumOff val="25000"/>
            </a:schemeClr>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166">
          <p15:clr>
            <a:srgbClr val="F26B43"/>
          </p15:clr>
        </p15:guide>
        <p15:guide id="4" pos="7514">
          <p15:clr>
            <a:srgbClr val="F26B43"/>
          </p15:clr>
        </p15:guide>
        <p15:guide id="5" orient="horz" pos="164">
          <p15:clr>
            <a:srgbClr val="F26B43"/>
          </p15:clr>
        </p15:guide>
        <p15:guide id="6" orient="horz" pos="4156">
          <p15:clr>
            <a:srgbClr val="F26B43"/>
          </p15:clr>
        </p15:guide>
        <p15:guide id="7" orient="horz" pos="3807">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mailto:mohammad.sheikh@studenti.polito.it" TargetMode="External"/><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hyperlink" Target="mailto:mohammad.sheikh@studenti.polito.it" TargetMode="Externa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hyperlink" Target="mailto:mohammad.sheikh@studenti.polito.it" TargetMode="Externa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hyperlink" Target="mailto:mohammad.sheikh@studenti.polito.it" TargetMode="Externa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mailto:mohammad.sheikh@studenti.polito.it" TargetMode="External"/><Relationship Id="rId1" Type="http://schemas.openxmlformats.org/officeDocument/2006/relationships/slideLayout" Target="../slideLayouts/slideLayout5.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9.xml"/><Relationship Id="rId6" Type="http://schemas.openxmlformats.org/officeDocument/2006/relationships/image" Target="../media/image26.gif"/><Relationship Id="rId5" Type="http://schemas.openxmlformats.org/officeDocument/2006/relationships/image" Target="../media/image25.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8" Type="http://schemas.openxmlformats.org/officeDocument/2006/relationships/image" Target="../media/image27.png"/><Relationship Id="rId13" Type="http://schemas.microsoft.com/office/2007/relationships/hdphoto" Target="../media/hdphoto3.wdp"/><Relationship Id="rId3" Type="http://schemas.openxmlformats.org/officeDocument/2006/relationships/image" Target="../media/image22.png"/><Relationship Id="rId7" Type="http://schemas.openxmlformats.org/officeDocument/2006/relationships/image" Target="../media/image26.gif"/><Relationship Id="rId12" Type="http://schemas.microsoft.com/office/2007/relationships/hdphoto" Target="../media/hdphoto2.wdp"/><Relationship Id="rId2" Type="http://schemas.openxmlformats.org/officeDocument/2006/relationships/notesSlide" Target="../notesSlides/notesSlide4.xml"/><Relationship Id="rId1" Type="http://schemas.openxmlformats.org/officeDocument/2006/relationships/slideLayout" Target="../slideLayouts/slideLayout9.xml"/><Relationship Id="rId6" Type="http://schemas.openxmlformats.org/officeDocument/2006/relationships/image" Target="../media/image25.png"/><Relationship Id="rId11" Type="http://schemas.openxmlformats.org/officeDocument/2006/relationships/image" Target="../media/image29.png"/><Relationship Id="rId5" Type="http://schemas.openxmlformats.org/officeDocument/2006/relationships/image" Target="../media/image24.png"/><Relationship Id="rId10" Type="http://schemas.openxmlformats.org/officeDocument/2006/relationships/image" Target="../media/image28.png"/><Relationship Id="rId4" Type="http://schemas.openxmlformats.org/officeDocument/2006/relationships/image" Target="../media/image23.png"/><Relationship Id="rId9" Type="http://schemas.microsoft.com/office/2007/relationships/hdphoto" Target="../media/hdphoto1.wdp"/><Relationship Id="rId14" Type="http://schemas.microsoft.com/office/2007/relationships/hdphoto" Target="../media/hdphoto4.wdp"/></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8.png"/><Relationship Id="rId2" Type="http://schemas.openxmlformats.org/officeDocument/2006/relationships/image" Target="../media/image22.png"/><Relationship Id="rId1" Type="http://schemas.openxmlformats.org/officeDocument/2006/relationships/slideLayout" Target="../slideLayouts/slideLayout9.xml"/><Relationship Id="rId6" Type="http://schemas.openxmlformats.org/officeDocument/2006/relationships/image" Target="../media/image26.gif"/><Relationship Id="rId5" Type="http://schemas.openxmlformats.org/officeDocument/2006/relationships/image" Target="../media/image25.png"/><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9.xml"/><Relationship Id="rId6" Type="http://schemas.openxmlformats.org/officeDocument/2006/relationships/image" Target="../media/image26.gif"/><Relationship Id="rId5" Type="http://schemas.openxmlformats.org/officeDocument/2006/relationships/image" Target="../media/image25.png"/><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9.xml"/><Relationship Id="rId6" Type="http://schemas.openxmlformats.org/officeDocument/2006/relationships/image" Target="../media/image26.gif"/><Relationship Id="rId5" Type="http://schemas.openxmlformats.org/officeDocument/2006/relationships/image" Target="../media/image25.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9.png"/><Relationship Id="rId2" Type="http://schemas.openxmlformats.org/officeDocument/2006/relationships/image" Target="../media/image22.png"/><Relationship Id="rId1" Type="http://schemas.openxmlformats.org/officeDocument/2006/relationships/slideLayout" Target="../slideLayouts/slideLayout9.xml"/><Relationship Id="rId6" Type="http://schemas.openxmlformats.org/officeDocument/2006/relationships/image" Target="../media/image26.gif"/><Relationship Id="rId5" Type="http://schemas.openxmlformats.org/officeDocument/2006/relationships/image" Target="../media/image25.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8" Type="http://schemas.openxmlformats.org/officeDocument/2006/relationships/image" Target="../media/image27.png"/><Relationship Id="rId13" Type="http://schemas.microsoft.com/office/2007/relationships/hdphoto" Target="../media/hdphoto3.wdp"/><Relationship Id="rId3" Type="http://schemas.openxmlformats.org/officeDocument/2006/relationships/image" Target="../media/image22.png"/><Relationship Id="rId7" Type="http://schemas.openxmlformats.org/officeDocument/2006/relationships/image" Target="../media/image26.gif"/><Relationship Id="rId12" Type="http://schemas.microsoft.com/office/2007/relationships/hdphoto" Target="../media/hdphoto2.wdp"/><Relationship Id="rId2" Type="http://schemas.openxmlformats.org/officeDocument/2006/relationships/notesSlide" Target="../notesSlides/notesSlide5.xml"/><Relationship Id="rId1" Type="http://schemas.openxmlformats.org/officeDocument/2006/relationships/slideLayout" Target="../slideLayouts/slideLayout9.xml"/><Relationship Id="rId6" Type="http://schemas.openxmlformats.org/officeDocument/2006/relationships/image" Target="../media/image25.png"/><Relationship Id="rId11" Type="http://schemas.openxmlformats.org/officeDocument/2006/relationships/image" Target="../media/image29.png"/><Relationship Id="rId5" Type="http://schemas.openxmlformats.org/officeDocument/2006/relationships/image" Target="../media/image24.png"/><Relationship Id="rId10" Type="http://schemas.openxmlformats.org/officeDocument/2006/relationships/image" Target="../media/image28.png"/><Relationship Id="rId4" Type="http://schemas.openxmlformats.org/officeDocument/2006/relationships/image" Target="../media/image23.png"/><Relationship Id="rId9" Type="http://schemas.microsoft.com/office/2007/relationships/hdphoto" Target="../media/hdphoto1.wdp"/><Relationship Id="rId14" Type="http://schemas.microsoft.com/office/2007/relationships/hdphoto" Target="../media/hdphoto4.wdp"/></Relationships>
</file>

<file path=ppt/slides/_rels/slide26.xml.rels><?xml version="1.0" encoding="UTF-8" standalone="yes"?>
<Relationships xmlns="http://schemas.openxmlformats.org/package/2006/relationships"><Relationship Id="rId8" Type="http://schemas.openxmlformats.org/officeDocument/2006/relationships/image" Target="../media/image27.png"/><Relationship Id="rId13" Type="http://schemas.microsoft.com/office/2007/relationships/hdphoto" Target="../media/hdphoto3.wdp"/><Relationship Id="rId3" Type="http://schemas.openxmlformats.org/officeDocument/2006/relationships/image" Target="../media/image22.png"/><Relationship Id="rId7" Type="http://schemas.openxmlformats.org/officeDocument/2006/relationships/image" Target="../media/image26.gif"/><Relationship Id="rId12" Type="http://schemas.microsoft.com/office/2007/relationships/hdphoto" Target="../media/hdphoto2.wdp"/><Relationship Id="rId2" Type="http://schemas.openxmlformats.org/officeDocument/2006/relationships/notesSlide" Target="../notesSlides/notesSlide6.xml"/><Relationship Id="rId1" Type="http://schemas.openxmlformats.org/officeDocument/2006/relationships/slideLayout" Target="../slideLayouts/slideLayout9.xml"/><Relationship Id="rId6" Type="http://schemas.openxmlformats.org/officeDocument/2006/relationships/image" Target="../media/image25.png"/><Relationship Id="rId11" Type="http://schemas.openxmlformats.org/officeDocument/2006/relationships/image" Target="../media/image29.png"/><Relationship Id="rId5" Type="http://schemas.openxmlformats.org/officeDocument/2006/relationships/image" Target="../media/image24.png"/><Relationship Id="rId10" Type="http://schemas.openxmlformats.org/officeDocument/2006/relationships/image" Target="../media/image28.png"/><Relationship Id="rId4" Type="http://schemas.openxmlformats.org/officeDocument/2006/relationships/image" Target="../media/image23.png"/><Relationship Id="rId9" Type="http://schemas.microsoft.com/office/2007/relationships/hdphoto" Target="../media/hdphoto1.wdp"/><Relationship Id="rId14" Type="http://schemas.microsoft.com/office/2007/relationships/hdphoto" Target="../media/hdphoto4.wdp"/></Relationships>
</file>

<file path=ppt/slides/_rels/slide27.xml.rels><?xml version="1.0" encoding="UTF-8" standalone="yes"?>
<Relationships xmlns="http://schemas.openxmlformats.org/package/2006/relationships"><Relationship Id="rId8" Type="http://schemas.openxmlformats.org/officeDocument/2006/relationships/image" Target="../media/image27.png"/><Relationship Id="rId13" Type="http://schemas.microsoft.com/office/2007/relationships/hdphoto" Target="../media/hdphoto3.wdp"/><Relationship Id="rId3" Type="http://schemas.openxmlformats.org/officeDocument/2006/relationships/image" Target="../media/image22.png"/><Relationship Id="rId7" Type="http://schemas.openxmlformats.org/officeDocument/2006/relationships/image" Target="../media/image26.gif"/><Relationship Id="rId12" Type="http://schemas.microsoft.com/office/2007/relationships/hdphoto" Target="../media/hdphoto2.wdp"/><Relationship Id="rId2" Type="http://schemas.openxmlformats.org/officeDocument/2006/relationships/notesSlide" Target="../notesSlides/notesSlide7.xml"/><Relationship Id="rId1" Type="http://schemas.openxmlformats.org/officeDocument/2006/relationships/slideLayout" Target="../slideLayouts/slideLayout9.xml"/><Relationship Id="rId6" Type="http://schemas.openxmlformats.org/officeDocument/2006/relationships/image" Target="../media/image25.png"/><Relationship Id="rId11" Type="http://schemas.openxmlformats.org/officeDocument/2006/relationships/image" Target="../media/image29.png"/><Relationship Id="rId5" Type="http://schemas.openxmlformats.org/officeDocument/2006/relationships/image" Target="../media/image24.png"/><Relationship Id="rId10" Type="http://schemas.openxmlformats.org/officeDocument/2006/relationships/image" Target="../media/image28.png"/><Relationship Id="rId4" Type="http://schemas.openxmlformats.org/officeDocument/2006/relationships/image" Target="../media/image23.png"/><Relationship Id="rId9" Type="http://schemas.microsoft.com/office/2007/relationships/hdphoto" Target="../media/hdphoto1.wdp"/><Relationship Id="rId14" Type="http://schemas.microsoft.com/office/2007/relationships/hdphoto" Target="../media/hdphoto4.wdp"/></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image" Target="../media/image26.gif"/><Relationship Id="rId5" Type="http://schemas.openxmlformats.org/officeDocument/2006/relationships/image" Target="../media/image25.png"/><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2.png"/><Relationship Id="rId7" Type="http://schemas.openxmlformats.org/officeDocument/2006/relationships/image" Target="../media/image26.gif"/><Relationship Id="rId2" Type="http://schemas.openxmlformats.org/officeDocument/2006/relationships/notesSlide" Target="../notesSlides/notesSlide9.xml"/><Relationship Id="rId1" Type="http://schemas.openxmlformats.org/officeDocument/2006/relationships/slideLayout" Target="../slideLayouts/slideLayout9.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2.png"/><Relationship Id="rId7" Type="http://schemas.openxmlformats.org/officeDocument/2006/relationships/image" Target="../media/image26.gif"/><Relationship Id="rId2" Type="http://schemas.openxmlformats.org/officeDocument/2006/relationships/notesSlide" Target="../notesSlides/notesSlide10.xml"/><Relationship Id="rId1" Type="http://schemas.openxmlformats.org/officeDocument/2006/relationships/slideLayout" Target="../slideLayouts/slideLayout9.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33.png"/><Relationship Id="rId4" Type="http://schemas.openxmlformats.org/officeDocument/2006/relationships/image" Target="../media/image23.png"/><Relationship Id="rId9" Type="http://schemas.openxmlformats.org/officeDocument/2006/relationships/image" Target="../media/image32.png"/></Relationships>
</file>

<file path=ppt/slides/_rels/slide31.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gif"/><Relationship Id="rId2" Type="http://schemas.openxmlformats.org/officeDocument/2006/relationships/notesSlide" Target="../notesSlides/notesSlide11.xml"/><Relationship Id="rId1" Type="http://schemas.openxmlformats.org/officeDocument/2006/relationships/slideLayout" Target="../slideLayouts/slideLayout9.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gif"/><Relationship Id="rId2" Type="http://schemas.openxmlformats.org/officeDocument/2006/relationships/notesSlide" Target="../notesSlides/notesSlide12.xml"/><Relationship Id="rId1" Type="http://schemas.openxmlformats.org/officeDocument/2006/relationships/slideLayout" Target="../slideLayouts/slideLayout9.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gif"/><Relationship Id="rId2" Type="http://schemas.openxmlformats.org/officeDocument/2006/relationships/notesSlide" Target="../notesSlides/notesSlide13.xml"/><Relationship Id="rId1" Type="http://schemas.openxmlformats.org/officeDocument/2006/relationships/slideLayout" Target="../slideLayouts/slideLayout9.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34.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gif"/><Relationship Id="rId2" Type="http://schemas.openxmlformats.org/officeDocument/2006/relationships/notesSlide" Target="../notesSlides/notesSlide14.xml"/><Relationship Id="rId1" Type="http://schemas.openxmlformats.org/officeDocument/2006/relationships/slideLayout" Target="../slideLayouts/slideLayout9.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gif"/><Relationship Id="rId2" Type="http://schemas.openxmlformats.org/officeDocument/2006/relationships/notesSlide" Target="../notesSlides/notesSlide15.xml"/><Relationship Id="rId1" Type="http://schemas.openxmlformats.org/officeDocument/2006/relationships/slideLayout" Target="../slideLayouts/slideLayout9.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36.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2.png"/><Relationship Id="rId7" Type="http://schemas.openxmlformats.org/officeDocument/2006/relationships/image" Target="../media/image26.gif"/><Relationship Id="rId2" Type="http://schemas.openxmlformats.org/officeDocument/2006/relationships/notesSlide" Target="../notesSlides/notesSlide16.xml"/><Relationship Id="rId1" Type="http://schemas.openxmlformats.org/officeDocument/2006/relationships/slideLayout" Target="../slideLayouts/slideLayout9.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33.png"/><Relationship Id="rId4" Type="http://schemas.openxmlformats.org/officeDocument/2006/relationships/image" Target="../media/image23.png"/><Relationship Id="rId9" Type="http://schemas.openxmlformats.org/officeDocument/2006/relationships/image" Target="../media/image32.png"/></Relationships>
</file>

<file path=ppt/slides/_rels/slide37.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2.png"/><Relationship Id="rId7" Type="http://schemas.openxmlformats.org/officeDocument/2006/relationships/image" Target="../media/image26.gif"/><Relationship Id="rId2" Type="http://schemas.openxmlformats.org/officeDocument/2006/relationships/notesSlide" Target="../notesSlides/notesSlide17.xml"/><Relationship Id="rId1" Type="http://schemas.openxmlformats.org/officeDocument/2006/relationships/slideLayout" Target="../slideLayouts/slideLayout9.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33.png"/><Relationship Id="rId4" Type="http://schemas.openxmlformats.org/officeDocument/2006/relationships/image" Target="../media/image23.png"/><Relationship Id="rId9" Type="http://schemas.openxmlformats.org/officeDocument/2006/relationships/image" Target="../media/image32.png"/></Relationships>
</file>

<file path=ppt/slides/_rels/slide38.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gif"/><Relationship Id="rId2" Type="http://schemas.openxmlformats.org/officeDocument/2006/relationships/notesSlide" Target="../notesSlides/notesSlide18.xml"/><Relationship Id="rId1" Type="http://schemas.openxmlformats.org/officeDocument/2006/relationships/slideLayout" Target="../slideLayouts/slideLayout9.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2.png"/><Relationship Id="rId7" Type="http://schemas.openxmlformats.org/officeDocument/2006/relationships/image" Target="../media/image26.gif"/><Relationship Id="rId2" Type="http://schemas.openxmlformats.org/officeDocument/2006/relationships/notesSlide" Target="../notesSlides/notesSlide19.xml"/><Relationship Id="rId1" Type="http://schemas.openxmlformats.org/officeDocument/2006/relationships/slideLayout" Target="../slideLayouts/slideLayout9.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hyperlink" Target="https://www.researchgate.net/figure/Classical-k-fold-cross-validation-vs-time-series-split-cross-validation_fig1_355889701"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2.png"/><Relationship Id="rId7" Type="http://schemas.openxmlformats.org/officeDocument/2006/relationships/image" Target="../media/image26.gif"/><Relationship Id="rId2" Type="http://schemas.openxmlformats.org/officeDocument/2006/relationships/notesSlide" Target="../notesSlides/notesSlide20.xml"/><Relationship Id="rId1" Type="http://schemas.openxmlformats.org/officeDocument/2006/relationships/slideLayout" Target="../slideLayouts/slideLayout9.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9.xml"/><Relationship Id="rId6" Type="http://schemas.openxmlformats.org/officeDocument/2006/relationships/image" Target="../media/image26.gif"/><Relationship Id="rId5" Type="http://schemas.openxmlformats.org/officeDocument/2006/relationships/image" Target="../media/image25.png"/><Relationship Id="rId4" Type="http://schemas.openxmlformats.org/officeDocument/2006/relationships/image" Target="../media/image24.png"/></Relationships>
</file>

<file path=ppt/slides/_rels/slide4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9.xml"/><Relationship Id="rId6" Type="http://schemas.openxmlformats.org/officeDocument/2006/relationships/image" Target="../media/image26.gif"/><Relationship Id="rId5" Type="http://schemas.openxmlformats.org/officeDocument/2006/relationships/image" Target="../media/image25.png"/><Relationship Id="rId4" Type="http://schemas.openxmlformats.org/officeDocument/2006/relationships/image" Target="../media/image24.png"/></Relationships>
</file>

<file path=ppt/slides/_rels/slide43.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37.png"/><Relationship Id="rId2" Type="http://schemas.openxmlformats.org/officeDocument/2006/relationships/image" Target="../media/image22.png"/><Relationship Id="rId1" Type="http://schemas.openxmlformats.org/officeDocument/2006/relationships/slideLayout" Target="../slideLayouts/slideLayout9.xml"/><Relationship Id="rId6" Type="http://schemas.openxmlformats.org/officeDocument/2006/relationships/image" Target="../media/image26.gif"/><Relationship Id="rId5" Type="http://schemas.openxmlformats.org/officeDocument/2006/relationships/image" Target="../media/image25.png"/><Relationship Id="rId4" Type="http://schemas.openxmlformats.org/officeDocument/2006/relationships/image" Target="../media/image24.png"/></Relationships>
</file>

<file path=ppt/slides/_rels/slide44.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37.png"/><Relationship Id="rId2" Type="http://schemas.openxmlformats.org/officeDocument/2006/relationships/image" Target="../media/image22.png"/><Relationship Id="rId1" Type="http://schemas.openxmlformats.org/officeDocument/2006/relationships/slideLayout" Target="../slideLayouts/slideLayout9.xml"/><Relationship Id="rId6" Type="http://schemas.openxmlformats.org/officeDocument/2006/relationships/image" Target="../media/image26.gif"/><Relationship Id="rId5" Type="http://schemas.openxmlformats.org/officeDocument/2006/relationships/image" Target="../media/image25.png"/><Relationship Id="rId4" Type="http://schemas.openxmlformats.org/officeDocument/2006/relationships/image" Target="../media/image24.png"/></Relationships>
</file>

<file path=ppt/slides/_rels/slide45.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37.png"/><Relationship Id="rId2" Type="http://schemas.openxmlformats.org/officeDocument/2006/relationships/image" Target="../media/image22.png"/><Relationship Id="rId1" Type="http://schemas.openxmlformats.org/officeDocument/2006/relationships/slideLayout" Target="../slideLayouts/slideLayout9.xml"/><Relationship Id="rId6" Type="http://schemas.openxmlformats.org/officeDocument/2006/relationships/image" Target="../media/image26.gif"/><Relationship Id="rId5" Type="http://schemas.openxmlformats.org/officeDocument/2006/relationships/image" Target="../media/image25.png"/><Relationship Id="rId4" Type="http://schemas.openxmlformats.org/officeDocument/2006/relationships/image" Target="../media/image24.png"/></Relationships>
</file>

<file path=ppt/slides/_rels/slide4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9.xml"/><Relationship Id="rId6" Type="http://schemas.openxmlformats.org/officeDocument/2006/relationships/image" Target="../media/image26.gif"/><Relationship Id="rId5" Type="http://schemas.openxmlformats.org/officeDocument/2006/relationships/image" Target="../media/image25.png"/><Relationship Id="rId4" Type="http://schemas.openxmlformats.org/officeDocument/2006/relationships/image" Target="../media/image24.png"/></Relationships>
</file>

<file path=ppt/slides/_rels/slide4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9.xml"/><Relationship Id="rId6" Type="http://schemas.openxmlformats.org/officeDocument/2006/relationships/image" Target="../media/image26.gif"/><Relationship Id="rId5" Type="http://schemas.openxmlformats.org/officeDocument/2006/relationships/image" Target="../media/image25.png"/><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9.xml"/><Relationship Id="rId6" Type="http://schemas.openxmlformats.org/officeDocument/2006/relationships/image" Target="../media/image26.gif"/><Relationship Id="rId5" Type="http://schemas.openxmlformats.org/officeDocument/2006/relationships/image" Target="../media/image25.png"/><Relationship Id="rId4" Type="http://schemas.openxmlformats.org/officeDocument/2006/relationships/image" Target="../media/image24.png"/></Relationships>
</file>

<file path=ppt/slides/_rels/slide4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9.xml"/><Relationship Id="rId6" Type="http://schemas.openxmlformats.org/officeDocument/2006/relationships/image" Target="../media/image26.gif"/><Relationship Id="rId5" Type="http://schemas.openxmlformats.org/officeDocument/2006/relationships/image" Target="../media/image25.png"/><Relationship Id="rId4" Type="http://schemas.openxmlformats.org/officeDocument/2006/relationships/image" Target="../media/image24.png"/></Relationships>
</file>

<file path=ppt/slides/_rels/slide50.xml.rels><?xml version="1.0" encoding="UTF-8" standalone="yes"?>
<Relationships xmlns="http://schemas.openxmlformats.org/package/2006/relationships"><Relationship Id="rId8" Type="http://schemas.openxmlformats.org/officeDocument/2006/relationships/hyperlink" Target="https://doi.org/10.1016/j.compag.2024.109698" TargetMode="External"/><Relationship Id="rId13" Type="http://schemas.openxmlformats.org/officeDocument/2006/relationships/image" Target="../media/image24.png"/><Relationship Id="rId3" Type="http://schemas.openxmlformats.org/officeDocument/2006/relationships/hyperlink" Target="http://doi.org/10.1017/S175173111000090X" TargetMode="External"/><Relationship Id="rId7" Type="http://schemas.openxmlformats.org/officeDocument/2006/relationships/hyperlink" Target="https://doi.org/10.1016/j.biosystemseng.2022.02.013" TargetMode="External"/><Relationship Id="rId12" Type="http://schemas.openxmlformats.org/officeDocument/2006/relationships/hyperlink" Target="https://doi-org.ezproxy.biblio.polito.it/10.1080/01621459.2018.1448825" TargetMode="External"/><Relationship Id="rId2" Type="http://schemas.openxmlformats.org/officeDocument/2006/relationships/image" Target="../media/image22.png"/><Relationship Id="rId16" Type="http://schemas.openxmlformats.org/officeDocument/2006/relationships/image" Target="../media/image23.png"/><Relationship Id="rId1" Type="http://schemas.openxmlformats.org/officeDocument/2006/relationships/slideLayout" Target="../slideLayouts/slideLayout9.xml"/><Relationship Id="rId6" Type="http://schemas.openxmlformats.org/officeDocument/2006/relationships/hyperlink" Target="https://otexts.com/fpp3/" TargetMode="External"/><Relationship Id="rId11" Type="http://schemas.openxmlformats.org/officeDocument/2006/relationships/hyperlink" Target="https://doi.org/10.1016/j.csda.2011.03.006" TargetMode="External"/><Relationship Id="rId5" Type="http://schemas.openxmlformats.org/officeDocument/2006/relationships/hyperlink" Target="https://www.sciencedirect.com/science/article/pii/S0022030225008239" TargetMode="External"/><Relationship Id="rId15" Type="http://schemas.openxmlformats.org/officeDocument/2006/relationships/image" Target="../media/image26.gif"/><Relationship Id="rId10" Type="http://schemas.openxmlformats.org/officeDocument/2006/relationships/hyperlink" Target="https://doi.org/10.1016/j.jafr.2024.101021" TargetMode="External"/><Relationship Id="rId4" Type="http://schemas.openxmlformats.org/officeDocument/2006/relationships/hyperlink" Target="http://doi.org/10.14202/vetworld.2016.235-244" TargetMode="External"/><Relationship Id="rId9" Type="http://schemas.openxmlformats.org/officeDocument/2006/relationships/hyperlink" Target="https://doi.org/10.1016/j.patcog.2021.108441" TargetMode="External"/><Relationship Id="rId14" Type="http://schemas.openxmlformats.org/officeDocument/2006/relationships/image" Target="../media/image25.png"/></Relationships>
</file>

<file path=ppt/slides/_rels/slide51.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hyperlink" Target="https://doi-org.ezproxy.biblio.polito.it/10.1080/01605682.2025.2566323" TargetMode="External"/><Relationship Id="rId7" Type="http://schemas.openxmlformats.org/officeDocument/2006/relationships/image" Target="../media/image26.gif"/><Relationship Id="rId2" Type="http://schemas.openxmlformats.org/officeDocument/2006/relationships/image" Target="../media/image22.png"/><Relationship Id="rId1" Type="http://schemas.openxmlformats.org/officeDocument/2006/relationships/slideLayout" Target="../slideLayouts/slideLayout9.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hyperlink" Target="https://doi.org/10.3390/electronics14173513" TargetMode="External"/></Relationships>
</file>

<file path=ppt/slides/_rels/slide5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9.xml"/><Relationship Id="rId6" Type="http://schemas.openxmlformats.org/officeDocument/2006/relationships/image" Target="../media/image26.gif"/><Relationship Id="rId5" Type="http://schemas.openxmlformats.org/officeDocument/2006/relationships/image" Target="../media/image25.png"/><Relationship Id="rId4" Type="http://schemas.openxmlformats.org/officeDocument/2006/relationships/image" Target="../media/image24.png"/></Relationships>
</file>

<file path=ppt/slides/_rels/slide5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testo 1">
            <a:extLst>
              <a:ext uri="{FF2B5EF4-FFF2-40B4-BE49-F238E27FC236}">
                <a16:creationId xmlns:a16="http://schemas.microsoft.com/office/drawing/2014/main" id="{58957977-25F6-6147-A328-F518E0A2B0CD}"/>
              </a:ext>
            </a:extLst>
          </p:cNvPr>
          <p:cNvSpPr>
            <a:spLocks noGrp="1"/>
          </p:cNvSpPr>
          <p:nvPr>
            <p:ph type="body" sz="quarter" idx="11"/>
          </p:nvPr>
        </p:nvSpPr>
        <p:spPr>
          <a:xfrm>
            <a:off x="279698" y="888227"/>
            <a:ext cx="11505901" cy="3024000"/>
          </a:xfrm>
        </p:spPr>
        <p:txBody>
          <a:bodyPr anchor="ctr">
            <a:normAutofit/>
          </a:bodyPr>
          <a:lstStyle/>
          <a:p>
            <a:r>
              <a:rPr lang="en-US" sz="4000" b="1" dirty="0"/>
              <a:t>Predictive Analytics of Climate Stress Impact on the Italian Mediterranean Buffalo</a:t>
            </a:r>
          </a:p>
          <a:p>
            <a:r>
              <a:rPr lang="en-US" sz="2400" b="1" dirty="0"/>
              <a:t>Physiological and Productive Responses</a:t>
            </a:r>
          </a:p>
        </p:txBody>
      </p:sp>
      <p:sp>
        <p:nvSpPr>
          <p:cNvPr id="3" name="Segnaposto testo 2">
            <a:extLst>
              <a:ext uri="{FF2B5EF4-FFF2-40B4-BE49-F238E27FC236}">
                <a16:creationId xmlns:a16="http://schemas.microsoft.com/office/drawing/2014/main" id="{5FFE42D3-F4C1-0542-A5D5-F64C362A9D37}"/>
              </a:ext>
            </a:extLst>
          </p:cNvPr>
          <p:cNvSpPr>
            <a:spLocks noGrp="1"/>
          </p:cNvSpPr>
          <p:nvPr>
            <p:ph type="body" sz="quarter" idx="12"/>
          </p:nvPr>
        </p:nvSpPr>
        <p:spPr>
          <a:xfrm>
            <a:off x="9275886" y="4781075"/>
            <a:ext cx="2763714" cy="722589"/>
          </a:xfrm>
        </p:spPr>
        <p:txBody>
          <a:bodyPr anchor="ctr">
            <a:normAutofit/>
          </a:bodyPr>
          <a:lstStyle/>
          <a:p>
            <a:pPr algn="ctr"/>
            <a:r>
              <a:rPr lang="it-IT" sz="2000" b="1" dirty="0"/>
              <a:t>Mohammad Sheikh</a:t>
            </a:r>
          </a:p>
        </p:txBody>
      </p:sp>
      <p:pic>
        <p:nvPicPr>
          <p:cNvPr id="9" name="Picture 8">
            <a:extLst>
              <a:ext uri="{FF2B5EF4-FFF2-40B4-BE49-F238E27FC236}">
                <a16:creationId xmlns:a16="http://schemas.microsoft.com/office/drawing/2014/main" id="{135687C7-54CD-67CF-6E2C-A748E4823F7C}"/>
              </a:ext>
            </a:extLst>
          </p:cNvPr>
          <p:cNvPicPr>
            <a:picLocks noChangeAspect="1"/>
          </p:cNvPicPr>
          <p:nvPr/>
        </p:nvPicPr>
        <p:blipFill rotWithShape="1">
          <a:blip r:embed="rId3"/>
          <a:srcRect l="55403"/>
          <a:stretch/>
        </p:blipFill>
        <p:spPr>
          <a:xfrm>
            <a:off x="5204629" y="5561039"/>
            <a:ext cx="1590839" cy="856124"/>
          </a:xfrm>
          <a:prstGeom prst="rect">
            <a:avLst/>
          </a:prstGeom>
        </p:spPr>
      </p:pic>
      <p:sp>
        <p:nvSpPr>
          <p:cNvPr id="11" name="TextBox 10">
            <a:extLst>
              <a:ext uri="{FF2B5EF4-FFF2-40B4-BE49-F238E27FC236}">
                <a16:creationId xmlns:a16="http://schemas.microsoft.com/office/drawing/2014/main" id="{3318D630-6F19-3CA6-B35B-CBADA07415D3}"/>
              </a:ext>
            </a:extLst>
          </p:cNvPr>
          <p:cNvSpPr txBox="1"/>
          <p:nvPr/>
        </p:nvSpPr>
        <p:spPr>
          <a:xfrm>
            <a:off x="6795468" y="5939576"/>
            <a:ext cx="6096000" cy="646331"/>
          </a:xfrm>
          <a:prstGeom prst="rect">
            <a:avLst/>
          </a:prstGeom>
          <a:noFill/>
        </p:spPr>
        <p:txBody>
          <a:bodyPr wrap="square">
            <a:spAutoFit/>
          </a:bodyPr>
          <a:lstStyle/>
          <a:p>
            <a:r>
              <a:rPr lang="en-GB" dirty="0" err="1">
                <a:solidFill>
                  <a:schemeClr val="accent1"/>
                </a:solidFill>
              </a:rPr>
              <a:t>Dipartimento</a:t>
            </a:r>
            <a:r>
              <a:rPr lang="en-GB" dirty="0">
                <a:solidFill>
                  <a:schemeClr val="accent1"/>
                </a:solidFill>
              </a:rPr>
              <a:t> di </a:t>
            </a:r>
            <a:r>
              <a:rPr lang="en-GB" dirty="0" err="1">
                <a:solidFill>
                  <a:schemeClr val="accent1"/>
                </a:solidFill>
              </a:rPr>
              <a:t>Automatica</a:t>
            </a:r>
            <a:r>
              <a:rPr lang="en-GB" dirty="0">
                <a:solidFill>
                  <a:schemeClr val="accent1"/>
                </a:solidFill>
              </a:rPr>
              <a:t> e Informatica</a:t>
            </a:r>
          </a:p>
          <a:p>
            <a:endParaRPr lang="en-GB" dirty="0">
              <a:solidFill>
                <a:schemeClr val="accent1"/>
              </a:solidFill>
            </a:endParaRPr>
          </a:p>
        </p:txBody>
      </p:sp>
      <p:sp>
        <p:nvSpPr>
          <p:cNvPr id="13" name="TextBox 12">
            <a:extLst>
              <a:ext uri="{FF2B5EF4-FFF2-40B4-BE49-F238E27FC236}">
                <a16:creationId xmlns:a16="http://schemas.microsoft.com/office/drawing/2014/main" id="{F209F753-137C-55E6-5518-E19AAA51D047}"/>
              </a:ext>
            </a:extLst>
          </p:cNvPr>
          <p:cNvSpPr txBox="1"/>
          <p:nvPr/>
        </p:nvSpPr>
        <p:spPr>
          <a:xfrm>
            <a:off x="6795468" y="5600441"/>
            <a:ext cx="6096000" cy="338554"/>
          </a:xfrm>
          <a:prstGeom prst="rect">
            <a:avLst/>
          </a:prstGeom>
          <a:noFill/>
        </p:spPr>
        <p:txBody>
          <a:bodyPr wrap="square">
            <a:spAutoFit/>
          </a:bodyPr>
          <a:lstStyle/>
          <a:p>
            <a:r>
              <a:rPr lang="en-GB" sz="1600" b="1" dirty="0">
                <a:solidFill>
                  <a:schemeClr val="accent1"/>
                </a:solidFill>
              </a:rPr>
              <a:t>Department of Control and Computer Engineering</a:t>
            </a:r>
          </a:p>
        </p:txBody>
      </p:sp>
      <p:cxnSp>
        <p:nvCxnSpPr>
          <p:cNvPr id="15" name="Straight Connector 14">
            <a:extLst>
              <a:ext uri="{FF2B5EF4-FFF2-40B4-BE49-F238E27FC236}">
                <a16:creationId xmlns:a16="http://schemas.microsoft.com/office/drawing/2014/main" id="{EF452FE7-E166-BF1B-2940-6137B6999FC1}"/>
              </a:ext>
            </a:extLst>
          </p:cNvPr>
          <p:cNvCxnSpPr>
            <a:cxnSpLocks/>
          </p:cNvCxnSpPr>
          <p:nvPr/>
        </p:nvCxnSpPr>
        <p:spPr>
          <a:xfrm>
            <a:off x="5287064" y="5406887"/>
            <a:ext cx="6752536" cy="0"/>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Segnaposto testo 2">
            <a:extLst>
              <a:ext uri="{FF2B5EF4-FFF2-40B4-BE49-F238E27FC236}">
                <a16:creationId xmlns:a16="http://schemas.microsoft.com/office/drawing/2014/main" id="{C6D7D03C-9B5A-1FDC-B092-BC0A1CE96270}"/>
              </a:ext>
            </a:extLst>
          </p:cNvPr>
          <p:cNvSpPr txBox="1">
            <a:spLocks/>
          </p:cNvSpPr>
          <p:nvPr/>
        </p:nvSpPr>
        <p:spPr>
          <a:xfrm>
            <a:off x="5195268" y="4163420"/>
            <a:ext cx="3200400" cy="1825681"/>
          </a:xfrm>
          <a:prstGeom prst="rect">
            <a:avLst/>
          </a:prstGeom>
        </p:spPr>
        <p:txBody>
          <a:bodyPr anchor="ctr">
            <a:normAutofit/>
          </a:bodyPr>
          <a:lstStyle>
            <a:lvl1pPr marL="0" indent="0" algn="l" defTabSz="914400" rtl="0" eaLnBrk="1" latinLnBrk="0" hangingPunct="1">
              <a:lnSpc>
                <a:spcPct val="90000"/>
              </a:lnSpc>
              <a:spcBef>
                <a:spcPts val="1000"/>
              </a:spcBef>
              <a:buFontTx/>
              <a:buNone/>
              <a:defRPr sz="2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sz="2000" b="1" dirty="0"/>
              <a:t>Prof. Luca Barbierato</a:t>
            </a:r>
          </a:p>
          <a:p>
            <a:r>
              <a:rPr lang="it-IT" sz="2000" b="1" dirty="0"/>
              <a:t>Prof. Matteo </a:t>
            </a:r>
            <a:r>
              <a:rPr lang="it-IT" sz="2000" b="1" dirty="0" err="1"/>
              <a:t>Santinello</a:t>
            </a:r>
            <a:r>
              <a:rPr lang="it-IT" sz="2000" b="1" dirty="0"/>
              <a:t>	</a:t>
            </a:r>
          </a:p>
        </p:txBody>
      </p:sp>
    </p:spTree>
    <p:extLst>
      <p:ext uri="{BB962C8B-B14F-4D97-AF65-F5344CB8AC3E}">
        <p14:creationId xmlns:p14="http://schemas.microsoft.com/office/powerpoint/2010/main" val="4137769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68B02-597A-AAFA-A259-E46F9582FB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89A213-DB91-F44F-C9BD-7747155879E4}"/>
              </a:ext>
            </a:extLst>
          </p:cNvPr>
          <p:cNvSpPr>
            <a:spLocks noGrp="1"/>
          </p:cNvSpPr>
          <p:nvPr>
            <p:ph type="title"/>
          </p:nvPr>
        </p:nvSpPr>
        <p:spPr/>
        <p:txBody>
          <a:bodyPr>
            <a:normAutofit fontScale="90000"/>
          </a:bodyPr>
          <a:lstStyle/>
          <a:p>
            <a:r>
              <a:rPr lang="en-US" dirty="0"/>
              <a:t>Jiang et al. (2021)</a:t>
            </a:r>
          </a:p>
        </p:txBody>
      </p:sp>
      <p:sp>
        <p:nvSpPr>
          <p:cNvPr id="3" name="Content Placeholder 2">
            <a:extLst>
              <a:ext uri="{FF2B5EF4-FFF2-40B4-BE49-F238E27FC236}">
                <a16:creationId xmlns:a16="http://schemas.microsoft.com/office/drawing/2014/main" id="{DA4827CC-C584-1554-BEB4-1672F41388DD}"/>
              </a:ext>
            </a:extLst>
          </p:cNvPr>
          <p:cNvSpPr>
            <a:spLocks noGrp="1"/>
          </p:cNvSpPr>
          <p:nvPr>
            <p:ph idx="1"/>
          </p:nvPr>
        </p:nvSpPr>
        <p:spPr/>
        <p:txBody>
          <a:bodyPr>
            <a:normAutofit fontScale="62500" lnSpcReduction="20000"/>
          </a:bodyPr>
          <a:lstStyle/>
          <a:p>
            <a:r>
              <a:rPr lang="en-US" dirty="0">
                <a:solidFill>
                  <a:srgbClr val="002B49"/>
                </a:solidFill>
              </a:rPr>
              <a:t>They introduced a </a:t>
            </a:r>
            <a:r>
              <a:rPr lang="en-US" b="1" dirty="0">
                <a:solidFill>
                  <a:srgbClr val="002B49"/>
                </a:solidFill>
              </a:rPr>
              <a:t>hybrid dual-radio mesh network</a:t>
            </a:r>
            <a:r>
              <a:rPr lang="en-US" dirty="0">
                <a:solidFill>
                  <a:srgbClr val="002B49"/>
                </a:solidFill>
              </a:rPr>
              <a:t> that integrates </a:t>
            </a:r>
            <a:r>
              <a:rPr lang="en-US" b="1" dirty="0">
                <a:solidFill>
                  <a:srgbClr val="002B49"/>
                </a:solidFill>
              </a:rPr>
              <a:t>sub-GHz LoRa</a:t>
            </a:r>
            <a:r>
              <a:rPr lang="en-US" dirty="0">
                <a:solidFill>
                  <a:srgbClr val="002B49"/>
                </a:solidFill>
              </a:rPr>
              <a:t> for long-range communication and </a:t>
            </a:r>
            <a:r>
              <a:rPr lang="en-US" b="1" dirty="0">
                <a:solidFill>
                  <a:srgbClr val="002B49"/>
                </a:solidFill>
              </a:rPr>
              <a:t>2.4 GHz ANT</a:t>
            </a:r>
            <a:r>
              <a:rPr lang="en-US" dirty="0">
                <a:solidFill>
                  <a:srgbClr val="002B49"/>
                </a:solidFill>
              </a:rPr>
              <a:t> for local mesh connectivity. The two technologies are coupled through an </a:t>
            </a:r>
            <a:r>
              <a:rPr lang="en-US" b="1" dirty="0">
                <a:solidFill>
                  <a:srgbClr val="002B49"/>
                </a:solidFill>
              </a:rPr>
              <a:t>encapsulation mechanism</a:t>
            </a:r>
            <a:r>
              <a:rPr lang="en-US" dirty="0">
                <a:solidFill>
                  <a:srgbClr val="002B49"/>
                </a:solidFill>
              </a:rPr>
              <a:t>, where short-range mesh frames are </a:t>
            </a:r>
            <a:r>
              <a:rPr lang="en-US" b="1" dirty="0" err="1">
                <a:solidFill>
                  <a:srgbClr val="002B49"/>
                </a:solidFill>
              </a:rPr>
              <a:t>tunnelled</a:t>
            </a:r>
            <a:r>
              <a:rPr lang="en-US" b="1" dirty="0">
                <a:solidFill>
                  <a:srgbClr val="002B49"/>
                </a:solidFill>
              </a:rPr>
              <a:t> inside LoRa packets</a:t>
            </a:r>
            <a:r>
              <a:rPr lang="en-US" dirty="0">
                <a:solidFill>
                  <a:srgbClr val="002B49"/>
                </a:solidFill>
              </a:rPr>
              <a:t>, enabling seamless forwarding between tiers.</a:t>
            </a:r>
          </a:p>
          <a:p>
            <a:r>
              <a:rPr lang="en-US" b="1" dirty="0">
                <a:solidFill>
                  <a:srgbClr val="002B49"/>
                </a:solidFill>
              </a:rPr>
              <a:t>Protocol Encapsulation: </a:t>
            </a:r>
            <a:r>
              <a:rPr lang="en-US" dirty="0">
                <a:solidFill>
                  <a:srgbClr val="002B49"/>
                </a:solidFill>
              </a:rPr>
              <a:t>ANT mesh packets are encapsulated as payloads within LoRa frames. This allows data to traverse the long-range LoRa backhaul </a:t>
            </a:r>
            <a:r>
              <a:rPr lang="en-US" b="1" dirty="0">
                <a:solidFill>
                  <a:srgbClr val="002B49"/>
                </a:solidFill>
              </a:rPr>
              <a:t>without modifying the ANT protocol stack</a:t>
            </a:r>
            <a:r>
              <a:rPr lang="en-US" dirty="0">
                <a:solidFill>
                  <a:srgbClr val="002B49"/>
                </a:solidFill>
              </a:rPr>
              <a:t>.</a:t>
            </a:r>
          </a:p>
          <a:p>
            <a:r>
              <a:rPr lang="en-US" b="1" dirty="0">
                <a:solidFill>
                  <a:srgbClr val="002B49"/>
                </a:solidFill>
              </a:rPr>
              <a:t>Dual-Radio Bridging: </a:t>
            </a:r>
            <a:r>
              <a:rPr lang="en-US" dirty="0">
                <a:solidFill>
                  <a:srgbClr val="002B49"/>
                </a:solidFill>
              </a:rPr>
              <a:t>Nodes equipped with both radios manage context switching between mesh (ANT) and LPWAN (LoRa) interfaces. The gateway decapsulates incoming LoRa packets and reinjects them into the local mesh layer.</a:t>
            </a:r>
          </a:p>
          <a:p>
            <a:r>
              <a:rPr lang="en-US" b="1" dirty="0">
                <a:solidFill>
                  <a:srgbClr val="002B49"/>
                </a:solidFill>
              </a:rPr>
              <a:t>TDMA-Based Coordination: </a:t>
            </a:r>
            <a:r>
              <a:rPr lang="en-US" dirty="0">
                <a:solidFill>
                  <a:srgbClr val="002B49"/>
                </a:solidFill>
              </a:rPr>
              <a:t>Time Division Multiple Access scheduling synchronizes short-range mesh communication and LoRa transmissions, preventing collisions and improving energy efficiency.</a:t>
            </a:r>
          </a:p>
          <a:p>
            <a:r>
              <a:rPr lang="en-US" b="1" dirty="0">
                <a:solidFill>
                  <a:srgbClr val="002B49"/>
                </a:solidFill>
              </a:rPr>
              <a:t>Hybrid Routing: </a:t>
            </a:r>
            <a:r>
              <a:rPr lang="en-US" dirty="0">
                <a:solidFill>
                  <a:srgbClr val="002B49"/>
                </a:solidFill>
              </a:rPr>
              <a:t>Local data aggregation occurs within the mesh before encapsulated forwarding over LoRa to reduce channel load.</a:t>
            </a:r>
          </a:p>
          <a:p>
            <a:r>
              <a:rPr lang="en-US" b="1" dirty="0">
                <a:solidFill>
                  <a:srgbClr val="002B49"/>
                </a:solidFill>
              </a:rPr>
              <a:t>Results: </a:t>
            </a:r>
            <a:r>
              <a:rPr lang="en-US" dirty="0">
                <a:solidFill>
                  <a:srgbClr val="002B49"/>
                </a:solidFill>
              </a:rPr>
              <a:t>Achieved </a:t>
            </a:r>
            <a:r>
              <a:rPr lang="en-US" b="1" dirty="0">
                <a:solidFill>
                  <a:srgbClr val="002B49"/>
                </a:solidFill>
              </a:rPr>
              <a:t>seamless protocol interoperability</a:t>
            </a:r>
            <a:r>
              <a:rPr lang="en-US" dirty="0">
                <a:solidFill>
                  <a:srgbClr val="002B49"/>
                </a:solidFill>
              </a:rPr>
              <a:t> without redesigning either the PHY or the MAC layer. Demonstrated </a:t>
            </a:r>
            <a:r>
              <a:rPr lang="en-US" b="1" dirty="0">
                <a:solidFill>
                  <a:srgbClr val="002B49"/>
                </a:solidFill>
              </a:rPr>
              <a:t>extended coverage (≈ 15 km)</a:t>
            </a:r>
            <a:r>
              <a:rPr lang="en-US" dirty="0">
                <a:solidFill>
                  <a:srgbClr val="002B49"/>
                </a:solidFill>
              </a:rPr>
              <a:t> and </a:t>
            </a:r>
            <a:r>
              <a:rPr lang="en-US" b="1" dirty="0">
                <a:solidFill>
                  <a:srgbClr val="002B49"/>
                </a:solidFill>
              </a:rPr>
              <a:t>stable multi-hop performance</a:t>
            </a:r>
            <a:r>
              <a:rPr lang="en-US" dirty="0">
                <a:solidFill>
                  <a:srgbClr val="002B49"/>
                </a:solidFill>
              </a:rPr>
              <a:t>. Improved energy use and throughput due to efficient encapsulation and coordinated scheduling</a:t>
            </a:r>
          </a:p>
          <a:p>
            <a:endParaRPr lang="en-US" dirty="0">
              <a:solidFill>
                <a:srgbClr val="002B49"/>
              </a:solidFill>
            </a:endParaRPr>
          </a:p>
        </p:txBody>
      </p:sp>
      <p:sp>
        <p:nvSpPr>
          <p:cNvPr id="4" name="TextBox 3">
            <a:extLst>
              <a:ext uri="{FF2B5EF4-FFF2-40B4-BE49-F238E27FC236}">
                <a16:creationId xmlns:a16="http://schemas.microsoft.com/office/drawing/2014/main" id="{EA0489DA-B069-BBA7-FA01-4077BDC8F00E}"/>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3">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3">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3">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3">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3">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3">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3">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sp>
        <p:nvSpPr>
          <p:cNvPr id="6" name="TextBox 5">
            <a:extLst>
              <a:ext uri="{FF2B5EF4-FFF2-40B4-BE49-F238E27FC236}">
                <a16:creationId xmlns:a16="http://schemas.microsoft.com/office/drawing/2014/main" id="{A2E57496-7311-BCCC-04E6-105D873FBDD9}"/>
              </a:ext>
            </a:extLst>
          </p:cNvPr>
          <p:cNvSpPr txBox="1"/>
          <p:nvPr/>
        </p:nvSpPr>
        <p:spPr>
          <a:xfrm>
            <a:off x="643982" y="5688736"/>
            <a:ext cx="11243217" cy="646331"/>
          </a:xfrm>
          <a:prstGeom prst="rect">
            <a:avLst/>
          </a:prstGeom>
          <a:noFill/>
        </p:spPr>
        <p:txBody>
          <a:bodyPr wrap="square">
            <a:spAutoFit/>
          </a:bodyPr>
          <a:lstStyle/>
          <a:p>
            <a:r>
              <a:rPr lang="en-US" b="0" i="0" dirty="0">
                <a:solidFill>
                  <a:srgbClr val="333333"/>
                </a:solidFill>
                <a:effectLst/>
                <a:latin typeface="HelveticaNeue Regular"/>
              </a:rPr>
              <a:t>X. Jiang </a:t>
            </a:r>
            <a:r>
              <a:rPr lang="en-US" b="0" i="1" dirty="0">
                <a:solidFill>
                  <a:srgbClr val="333333"/>
                </a:solidFill>
                <a:effectLst/>
                <a:latin typeface="HelveticaNeue Regular"/>
              </a:rPr>
              <a:t>et al</a:t>
            </a:r>
            <a:r>
              <a:rPr lang="en-US" b="0" i="0" dirty="0">
                <a:solidFill>
                  <a:srgbClr val="333333"/>
                </a:solidFill>
                <a:effectLst/>
                <a:latin typeface="HelveticaNeue Regular"/>
              </a:rPr>
              <a:t>., "Hybrid Low-Power Wide-Area Mesh Network for IoT Applications," in </a:t>
            </a:r>
            <a:r>
              <a:rPr lang="en-US" b="0" i="1" dirty="0">
                <a:solidFill>
                  <a:srgbClr val="333333"/>
                </a:solidFill>
                <a:effectLst/>
                <a:latin typeface="HelveticaNeue Regular"/>
              </a:rPr>
              <a:t>IEEE Internet of Things Journal</a:t>
            </a:r>
            <a:r>
              <a:rPr lang="en-US" b="0" i="0" dirty="0">
                <a:solidFill>
                  <a:srgbClr val="333333"/>
                </a:solidFill>
                <a:effectLst/>
                <a:latin typeface="HelveticaNeue Regular"/>
              </a:rPr>
              <a:t>, vol. 8, no. 2, pp. 901-915, 15 Jan.15, 2021, </a:t>
            </a:r>
            <a:r>
              <a:rPr lang="en-US" b="0" i="0" dirty="0" err="1">
                <a:solidFill>
                  <a:srgbClr val="333333"/>
                </a:solidFill>
                <a:effectLst/>
                <a:latin typeface="HelveticaNeue Regular"/>
              </a:rPr>
              <a:t>doi</a:t>
            </a:r>
            <a:r>
              <a:rPr lang="en-US" b="0" i="0" dirty="0">
                <a:solidFill>
                  <a:srgbClr val="333333"/>
                </a:solidFill>
                <a:effectLst/>
                <a:latin typeface="HelveticaNeue Regular"/>
              </a:rPr>
              <a:t>: 10.1109/JIOT.2020.3009228.</a:t>
            </a:r>
            <a:endParaRPr lang="en-US" dirty="0"/>
          </a:p>
        </p:txBody>
      </p:sp>
    </p:spTree>
    <p:extLst>
      <p:ext uri="{BB962C8B-B14F-4D97-AF65-F5344CB8AC3E}">
        <p14:creationId xmlns:p14="http://schemas.microsoft.com/office/powerpoint/2010/main" val="5556985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EF4D8-47C2-E7AD-5346-878C5F08CE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CEB7FB-5D26-B93D-8314-2ED8D868A7EA}"/>
              </a:ext>
            </a:extLst>
          </p:cNvPr>
          <p:cNvSpPr>
            <a:spLocks noGrp="1"/>
          </p:cNvSpPr>
          <p:nvPr>
            <p:ph type="title"/>
          </p:nvPr>
        </p:nvSpPr>
        <p:spPr/>
        <p:txBody>
          <a:bodyPr>
            <a:normAutofit fontScale="90000"/>
          </a:bodyPr>
          <a:lstStyle/>
          <a:p>
            <a:r>
              <a:rPr lang="en-US" dirty="0"/>
              <a:t>Milk predictions of buffalo</a:t>
            </a:r>
          </a:p>
        </p:txBody>
      </p:sp>
      <p:sp>
        <p:nvSpPr>
          <p:cNvPr id="3" name="Content Placeholder 2">
            <a:extLst>
              <a:ext uri="{FF2B5EF4-FFF2-40B4-BE49-F238E27FC236}">
                <a16:creationId xmlns:a16="http://schemas.microsoft.com/office/drawing/2014/main" id="{D9FF3D55-CD44-C28A-7E2F-8033248A7C6B}"/>
              </a:ext>
            </a:extLst>
          </p:cNvPr>
          <p:cNvSpPr>
            <a:spLocks noGrp="1"/>
          </p:cNvSpPr>
          <p:nvPr>
            <p:ph idx="1"/>
          </p:nvPr>
        </p:nvSpPr>
        <p:spPr/>
        <p:txBody>
          <a:bodyPr>
            <a:normAutofit fontScale="62500" lnSpcReduction="20000"/>
          </a:bodyPr>
          <a:lstStyle/>
          <a:p>
            <a:r>
              <a:rPr lang="en-US" dirty="0">
                <a:solidFill>
                  <a:srgbClr val="002B49"/>
                </a:solidFill>
              </a:rPr>
              <a:t>They introduced a </a:t>
            </a:r>
            <a:r>
              <a:rPr lang="en-US" b="1" dirty="0">
                <a:solidFill>
                  <a:srgbClr val="002B49"/>
                </a:solidFill>
              </a:rPr>
              <a:t>hybrid dual-radio mesh network</a:t>
            </a:r>
            <a:r>
              <a:rPr lang="en-US" dirty="0">
                <a:solidFill>
                  <a:srgbClr val="002B49"/>
                </a:solidFill>
              </a:rPr>
              <a:t> that integrates </a:t>
            </a:r>
            <a:r>
              <a:rPr lang="en-US" b="1" dirty="0">
                <a:solidFill>
                  <a:srgbClr val="002B49"/>
                </a:solidFill>
              </a:rPr>
              <a:t>sub-GHz LoRa</a:t>
            </a:r>
            <a:r>
              <a:rPr lang="en-US" dirty="0">
                <a:solidFill>
                  <a:srgbClr val="002B49"/>
                </a:solidFill>
              </a:rPr>
              <a:t> for long-range communication and </a:t>
            </a:r>
            <a:r>
              <a:rPr lang="en-US" b="1" dirty="0">
                <a:solidFill>
                  <a:srgbClr val="002B49"/>
                </a:solidFill>
              </a:rPr>
              <a:t>2.4 GHz ANT</a:t>
            </a:r>
            <a:r>
              <a:rPr lang="en-US" dirty="0">
                <a:solidFill>
                  <a:srgbClr val="002B49"/>
                </a:solidFill>
              </a:rPr>
              <a:t> for local mesh connectivity. The two technologies are coupled through an </a:t>
            </a:r>
            <a:r>
              <a:rPr lang="en-US" b="1" dirty="0">
                <a:solidFill>
                  <a:srgbClr val="002B49"/>
                </a:solidFill>
              </a:rPr>
              <a:t>encapsulation mechanism</a:t>
            </a:r>
            <a:r>
              <a:rPr lang="en-US" dirty="0">
                <a:solidFill>
                  <a:srgbClr val="002B49"/>
                </a:solidFill>
              </a:rPr>
              <a:t>, where short-range mesh frames are </a:t>
            </a:r>
            <a:r>
              <a:rPr lang="en-US" b="1" dirty="0" err="1">
                <a:solidFill>
                  <a:srgbClr val="002B49"/>
                </a:solidFill>
              </a:rPr>
              <a:t>tunnelled</a:t>
            </a:r>
            <a:r>
              <a:rPr lang="en-US" b="1" dirty="0">
                <a:solidFill>
                  <a:srgbClr val="002B49"/>
                </a:solidFill>
              </a:rPr>
              <a:t> inside LoRa packets</a:t>
            </a:r>
            <a:r>
              <a:rPr lang="en-US" dirty="0">
                <a:solidFill>
                  <a:srgbClr val="002B49"/>
                </a:solidFill>
              </a:rPr>
              <a:t>, enabling seamless forwarding between tiers.</a:t>
            </a:r>
          </a:p>
          <a:p>
            <a:r>
              <a:rPr lang="en-US" b="1" dirty="0">
                <a:solidFill>
                  <a:srgbClr val="002B49"/>
                </a:solidFill>
              </a:rPr>
              <a:t>Protocol Encapsulation: </a:t>
            </a:r>
            <a:r>
              <a:rPr lang="en-US" dirty="0">
                <a:solidFill>
                  <a:srgbClr val="002B49"/>
                </a:solidFill>
              </a:rPr>
              <a:t>ANT mesh packets are encapsulated as payloads within LoRa frames. This allows data to traverse the long-range LoRa backhaul </a:t>
            </a:r>
            <a:r>
              <a:rPr lang="en-US" b="1" dirty="0">
                <a:solidFill>
                  <a:srgbClr val="002B49"/>
                </a:solidFill>
              </a:rPr>
              <a:t>without modifying the ANT protocol stack</a:t>
            </a:r>
            <a:r>
              <a:rPr lang="en-US" dirty="0">
                <a:solidFill>
                  <a:srgbClr val="002B49"/>
                </a:solidFill>
              </a:rPr>
              <a:t>.</a:t>
            </a:r>
          </a:p>
          <a:p>
            <a:r>
              <a:rPr lang="en-US" b="1" dirty="0">
                <a:solidFill>
                  <a:srgbClr val="002B49"/>
                </a:solidFill>
              </a:rPr>
              <a:t>Dual-Radio Bridging: </a:t>
            </a:r>
            <a:r>
              <a:rPr lang="en-US" dirty="0">
                <a:solidFill>
                  <a:srgbClr val="002B49"/>
                </a:solidFill>
              </a:rPr>
              <a:t>Nodes equipped with both radios manage context switching between mesh (ANT) and LPWAN (LoRa) interfaces. The gateway decapsulates incoming LoRa packets and reinjects them into the local mesh layer.</a:t>
            </a:r>
          </a:p>
          <a:p>
            <a:r>
              <a:rPr lang="en-US" b="1" dirty="0">
                <a:solidFill>
                  <a:srgbClr val="002B49"/>
                </a:solidFill>
              </a:rPr>
              <a:t>TDMA-Based Coordination: </a:t>
            </a:r>
            <a:r>
              <a:rPr lang="en-US" dirty="0">
                <a:solidFill>
                  <a:srgbClr val="002B49"/>
                </a:solidFill>
              </a:rPr>
              <a:t>Time Division Multiple Access scheduling synchronizes short-range mesh communication and LoRa transmissions, preventing collisions and improving energy efficiency.</a:t>
            </a:r>
          </a:p>
          <a:p>
            <a:r>
              <a:rPr lang="en-US" b="1" dirty="0">
                <a:solidFill>
                  <a:srgbClr val="002B49"/>
                </a:solidFill>
              </a:rPr>
              <a:t>Hybrid Routing: </a:t>
            </a:r>
            <a:r>
              <a:rPr lang="en-US" dirty="0">
                <a:solidFill>
                  <a:srgbClr val="002B49"/>
                </a:solidFill>
              </a:rPr>
              <a:t>Local data aggregation occurs within the mesh before encapsulated forwarding over LoRa to reduce channel load.</a:t>
            </a:r>
          </a:p>
          <a:p>
            <a:r>
              <a:rPr lang="en-US" b="1" dirty="0">
                <a:solidFill>
                  <a:srgbClr val="002B49"/>
                </a:solidFill>
              </a:rPr>
              <a:t>Results: </a:t>
            </a:r>
            <a:r>
              <a:rPr lang="en-US" dirty="0">
                <a:solidFill>
                  <a:srgbClr val="002B49"/>
                </a:solidFill>
              </a:rPr>
              <a:t>Achieved </a:t>
            </a:r>
            <a:r>
              <a:rPr lang="en-US" b="1" dirty="0">
                <a:solidFill>
                  <a:srgbClr val="002B49"/>
                </a:solidFill>
              </a:rPr>
              <a:t>seamless protocol interoperability</a:t>
            </a:r>
            <a:r>
              <a:rPr lang="en-US" dirty="0">
                <a:solidFill>
                  <a:srgbClr val="002B49"/>
                </a:solidFill>
              </a:rPr>
              <a:t> without redesigning either the PHY or the MAC layer. Demonstrated </a:t>
            </a:r>
            <a:r>
              <a:rPr lang="en-US" b="1" dirty="0">
                <a:solidFill>
                  <a:srgbClr val="002B49"/>
                </a:solidFill>
              </a:rPr>
              <a:t>extended coverage (≈ 15 km)</a:t>
            </a:r>
            <a:r>
              <a:rPr lang="en-US" dirty="0">
                <a:solidFill>
                  <a:srgbClr val="002B49"/>
                </a:solidFill>
              </a:rPr>
              <a:t> and </a:t>
            </a:r>
            <a:r>
              <a:rPr lang="en-US" b="1" dirty="0">
                <a:solidFill>
                  <a:srgbClr val="002B49"/>
                </a:solidFill>
              </a:rPr>
              <a:t>stable multi-hop performance</a:t>
            </a:r>
            <a:r>
              <a:rPr lang="en-US" dirty="0">
                <a:solidFill>
                  <a:srgbClr val="002B49"/>
                </a:solidFill>
              </a:rPr>
              <a:t>. Improved energy use and throughput due to efficient encapsulation and coordinated scheduling</a:t>
            </a:r>
          </a:p>
          <a:p>
            <a:endParaRPr lang="en-US" dirty="0">
              <a:solidFill>
                <a:srgbClr val="002B49"/>
              </a:solidFill>
            </a:endParaRPr>
          </a:p>
        </p:txBody>
      </p:sp>
      <p:sp>
        <p:nvSpPr>
          <p:cNvPr id="6" name="TextBox 5">
            <a:extLst>
              <a:ext uri="{FF2B5EF4-FFF2-40B4-BE49-F238E27FC236}">
                <a16:creationId xmlns:a16="http://schemas.microsoft.com/office/drawing/2014/main" id="{295D543F-6FE5-D302-9103-34FC9C0AC3F4}"/>
              </a:ext>
            </a:extLst>
          </p:cNvPr>
          <p:cNvSpPr txBox="1"/>
          <p:nvPr/>
        </p:nvSpPr>
        <p:spPr>
          <a:xfrm>
            <a:off x="643982" y="5688736"/>
            <a:ext cx="11243217" cy="646331"/>
          </a:xfrm>
          <a:prstGeom prst="rect">
            <a:avLst/>
          </a:prstGeom>
          <a:noFill/>
        </p:spPr>
        <p:txBody>
          <a:bodyPr wrap="square">
            <a:spAutoFit/>
          </a:bodyPr>
          <a:lstStyle/>
          <a:p>
            <a:r>
              <a:rPr lang="en-US" b="0" i="0" dirty="0">
                <a:solidFill>
                  <a:srgbClr val="333333"/>
                </a:solidFill>
                <a:effectLst/>
                <a:latin typeface="HelveticaNeue Regular"/>
              </a:rPr>
              <a:t>X. Jiang </a:t>
            </a:r>
            <a:r>
              <a:rPr lang="en-US" b="0" i="1" dirty="0">
                <a:solidFill>
                  <a:srgbClr val="333333"/>
                </a:solidFill>
                <a:effectLst/>
                <a:latin typeface="HelveticaNeue Regular"/>
              </a:rPr>
              <a:t>et al</a:t>
            </a:r>
            <a:r>
              <a:rPr lang="en-US" b="0" i="0" dirty="0">
                <a:solidFill>
                  <a:srgbClr val="333333"/>
                </a:solidFill>
                <a:effectLst/>
                <a:latin typeface="HelveticaNeue Regular"/>
              </a:rPr>
              <a:t>., "Hybrid Low-Power Wide-Area Mesh Network for IoT Applications," in </a:t>
            </a:r>
            <a:r>
              <a:rPr lang="en-US" b="0" i="1" dirty="0">
                <a:solidFill>
                  <a:srgbClr val="333333"/>
                </a:solidFill>
                <a:effectLst/>
                <a:latin typeface="HelveticaNeue Regular"/>
              </a:rPr>
              <a:t>IEEE Internet of Things Journal</a:t>
            </a:r>
            <a:r>
              <a:rPr lang="en-US" b="0" i="0" dirty="0">
                <a:solidFill>
                  <a:srgbClr val="333333"/>
                </a:solidFill>
                <a:effectLst/>
                <a:latin typeface="HelveticaNeue Regular"/>
              </a:rPr>
              <a:t>, vol. 8, no. 2, pp. 901-915, 15 Jan.15, 2021, </a:t>
            </a:r>
            <a:r>
              <a:rPr lang="en-US" b="0" i="0" dirty="0" err="1">
                <a:solidFill>
                  <a:srgbClr val="333333"/>
                </a:solidFill>
                <a:effectLst/>
                <a:latin typeface="HelveticaNeue Regular"/>
              </a:rPr>
              <a:t>doi</a:t>
            </a:r>
            <a:r>
              <a:rPr lang="en-US" b="0" i="0" dirty="0">
                <a:solidFill>
                  <a:srgbClr val="333333"/>
                </a:solidFill>
                <a:effectLst/>
                <a:latin typeface="HelveticaNeue Regular"/>
              </a:rPr>
              <a:t>: 10.1109/JIOT.2020.3009228.</a:t>
            </a:r>
            <a:endParaRPr lang="en-US" dirty="0"/>
          </a:p>
        </p:txBody>
      </p:sp>
      <p:sp>
        <p:nvSpPr>
          <p:cNvPr id="8" name="TextBox 7">
            <a:extLst>
              <a:ext uri="{FF2B5EF4-FFF2-40B4-BE49-F238E27FC236}">
                <a16:creationId xmlns:a16="http://schemas.microsoft.com/office/drawing/2014/main" id="{1247E714-4806-8EB1-48BF-F3ED358A1C7F}"/>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spTree>
    <p:extLst>
      <p:ext uri="{BB962C8B-B14F-4D97-AF65-F5344CB8AC3E}">
        <p14:creationId xmlns:p14="http://schemas.microsoft.com/office/powerpoint/2010/main" val="34191142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94D45-BEB9-FC7F-F0D4-8616DF269C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FDA30D-499D-0E52-5C99-E1078DC8A42F}"/>
              </a:ext>
            </a:extLst>
          </p:cNvPr>
          <p:cNvSpPr>
            <a:spLocks noGrp="1"/>
          </p:cNvSpPr>
          <p:nvPr>
            <p:ph type="title"/>
          </p:nvPr>
        </p:nvSpPr>
        <p:spPr/>
        <p:txBody>
          <a:bodyPr>
            <a:normAutofit/>
          </a:bodyPr>
          <a:lstStyle/>
          <a:p>
            <a:r>
              <a:rPr lang="en-US" sz="3600" dirty="0"/>
              <a:t>Precision livestock farming (PLF) </a:t>
            </a:r>
          </a:p>
        </p:txBody>
      </p:sp>
      <p:sp>
        <p:nvSpPr>
          <p:cNvPr id="3" name="Content Placeholder 2">
            <a:extLst>
              <a:ext uri="{FF2B5EF4-FFF2-40B4-BE49-F238E27FC236}">
                <a16:creationId xmlns:a16="http://schemas.microsoft.com/office/drawing/2014/main" id="{25CF0225-F36B-FA6C-12AD-062BB3944B10}"/>
              </a:ext>
            </a:extLst>
          </p:cNvPr>
          <p:cNvSpPr>
            <a:spLocks noGrp="1"/>
          </p:cNvSpPr>
          <p:nvPr>
            <p:ph idx="1"/>
          </p:nvPr>
        </p:nvSpPr>
        <p:spPr>
          <a:xfrm>
            <a:off x="180000" y="1283183"/>
            <a:ext cx="11880000" cy="3950370"/>
          </a:xfrm>
        </p:spPr>
        <p:txBody>
          <a:bodyPr>
            <a:normAutofit/>
          </a:bodyPr>
          <a:lstStyle/>
          <a:p>
            <a:r>
              <a:rPr lang="en-US" sz="2000" b="1" dirty="0"/>
              <a:t>Why:</a:t>
            </a:r>
            <a:r>
              <a:rPr lang="en-US" sz="2000" dirty="0"/>
              <a:t> increasing demand for animal-derived foods requires enhancement in increasing efficiency of farms and production.</a:t>
            </a:r>
          </a:p>
          <a:p>
            <a:endParaRPr lang="en-US" sz="2000" dirty="0"/>
          </a:p>
          <a:p>
            <a:r>
              <a:rPr lang="en-US" sz="2000" b="1" dirty="0"/>
              <a:t>How:</a:t>
            </a:r>
            <a:r>
              <a:rPr lang="en-US" sz="2000" dirty="0"/>
              <a:t> PLF represents a valuable strategy to tackle challenges in this area. PLF, uses digital technologies like sensors, IoT, AI, and data analytics to monitor and manage individual animals.</a:t>
            </a:r>
          </a:p>
          <a:p>
            <a:endParaRPr lang="en-US" sz="2000" dirty="0"/>
          </a:p>
          <a:p>
            <a:r>
              <a:rPr lang="en-US" sz="2000" b="1" dirty="0"/>
              <a:t>Gap:</a:t>
            </a:r>
            <a:r>
              <a:rPr lang="en-US" sz="2000" dirty="0"/>
              <a:t> While PLF technologies have been extensively adopted for </a:t>
            </a:r>
            <a:r>
              <a:rPr lang="en-US" sz="2000" b="1" dirty="0"/>
              <a:t>pigs</a:t>
            </a:r>
            <a:r>
              <a:rPr lang="en-US" sz="2000" dirty="0"/>
              <a:t>, </a:t>
            </a:r>
            <a:r>
              <a:rPr lang="en-US" sz="2000" b="1" dirty="0"/>
              <a:t>poultry</a:t>
            </a:r>
            <a:r>
              <a:rPr lang="en-US" sz="2000" dirty="0"/>
              <a:t>, and </a:t>
            </a:r>
            <a:r>
              <a:rPr lang="en-US" sz="2000" b="1" dirty="0"/>
              <a:t>dairy</a:t>
            </a:r>
            <a:r>
              <a:rPr lang="en-US" sz="2000" dirty="0"/>
              <a:t> </a:t>
            </a:r>
            <a:r>
              <a:rPr lang="en-US" sz="2000" b="1" dirty="0"/>
              <a:t>cattle</a:t>
            </a:r>
            <a:r>
              <a:rPr lang="en-US" sz="2000" dirty="0"/>
              <a:t>, there is a scarcity of research regarding </a:t>
            </a:r>
            <a:r>
              <a:rPr lang="en-US" sz="2000" b="1" dirty="0"/>
              <a:t>buffalo-specific</a:t>
            </a:r>
            <a:r>
              <a:rPr lang="en-US" sz="2000" dirty="0"/>
              <a:t> PLF applications.</a:t>
            </a:r>
          </a:p>
        </p:txBody>
      </p:sp>
      <p:sp>
        <p:nvSpPr>
          <p:cNvPr id="6" name="TextBox 5">
            <a:extLst>
              <a:ext uri="{FF2B5EF4-FFF2-40B4-BE49-F238E27FC236}">
                <a16:creationId xmlns:a16="http://schemas.microsoft.com/office/drawing/2014/main" id="{76EE143D-FC50-A5E0-369E-6C65C2542318}"/>
              </a:ext>
            </a:extLst>
          </p:cNvPr>
          <p:cNvSpPr txBox="1"/>
          <p:nvPr/>
        </p:nvSpPr>
        <p:spPr>
          <a:xfrm>
            <a:off x="643982" y="5688736"/>
            <a:ext cx="11243217" cy="646331"/>
          </a:xfrm>
          <a:prstGeom prst="rect">
            <a:avLst/>
          </a:prstGeom>
          <a:noFill/>
        </p:spPr>
        <p:txBody>
          <a:bodyPr wrap="square">
            <a:spAutoFit/>
          </a:bodyPr>
          <a:lstStyle/>
          <a:p>
            <a:r>
              <a:rPr lang="en-US" dirty="0">
                <a:solidFill>
                  <a:srgbClr val="333333"/>
                </a:solidFill>
                <a:latin typeface="HelveticaNeue Regular"/>
              </a:rPr>
              <a:t>G. Neglia, M. </a:t>
            </a:r>
            <a:r>
              <a:rPr lang="en-US" dirty="0" err="1">
                <a:solidFill>
                  <a:srgbClr val="333333"/>
                </a:solidFill>
                <a:latin typeface="HelveticaNeue Regular"/>
              </a:rPr>
              <a:t>Santinello</a:t>
            </a:r>
            <a:r>
              <a:rPr lang="en-US" dirty="0">
                <a:solidFill>
                  <a:srgbClr val="333333"/>
                </a:solidFill>
                <a:latin typeface="HelveticaNeue Regular"/>
              </a:rPr>
              <a:t>, </a:t>
            </a:r>
            <a:r>
              <a:rPr lang="en-US" i="1" dirty="0">
                <a:solidFill>
                  <a:srgbClr val="333333"/>
                </a:solidFill>
                <a:latin typeface="HelveticaNeue Regular"/>
              </a:rPr>
              <a:t>et al</a:t>
            </a:r>
            <a:r>
              <a:rPr lang="en-US" dirty="0">
                <a:solidFill>
                  <a:srgbClr val="333333"/>
                </a:solidFill>
                <a:latin typeface="HelveticaNeue Regular"/>
              </a:rPr>
              <a:t> "Precision livestock farming in buffalo species: a sustainable approach for the future," in </a:t>
            </a:r>
            <a:r>
              <a:rPr lang="en-US" i="1" dirty="0">
                <a:solidFill>
                  <a:srgbClr val="333333"/>
                </a:solidFill>
                <a:latin typeface="HelveticaNeue Regular"/>
              </a:rPr>
              <a:t>Revista </a:t>
            </a:r>
            <a:r>
              <a:rPr lang="en-US" i="1" dirty="0" err="1">
                <a:solidFill>
                  <a:srgbClr val="333333"/>
                </a:solidFill>
                <a:latin typeface="HelveticaNeue Regular"/>
              </a:rPr>
              <a:t>Científica</a:t>
            </a:r>
            <a:r>
              <a:rPr lang="en-US" i="1" dirty="0">
                <a:solidFill>
                  <a:srgbClr val="333333"/>
                </a:solidFill>
                <a:latin typeface="HelveticaNeue Regular"/>
              </a:rPr>
              <a:t> de la </a:t>
            </a:r>
            <a:r>
              <a:rPr lang="en-US" i="1" dirty="0" err="1">
                <a:solidFill>
                  <a:srgbClr val="333333"/>
                </a:solidFill>
                <a:latin typeface="HelveticaNeue Regular"/>
              </a:rPr>
              <a:t>Facultad</a:t>
            </a:r>
            <a:r>
              <a:rPr lang="en-US" i="1" dirty="0">
                <a:solidFill>
                  <a:srgbClr val="333333"/>
                </a:solidFill>
                <a:latin typeface="HelveticaNeue Regular"/>
              </a:rPr>
              <a:t> de </a:t>
            </a:r>
            <a:r>
              <a:rPr lang="en-US" i="1" dirty="0" err="1">
                <a:solidFill>
                  <a:srgbClr val="333333"/>
                </a:solidFill>
                <a:latin typeface="HelveticaNeue Regular"/>
              </a:rPr>
              <a:t>Ciencias</a:t>
            </a:r>
            <a:r>
              <a:rPr lang="en-US" i="1" dirty="0">
                <a:solidFill>
                  <a:srgbClr val="333333"/>
                </a:solidFill>
                <a:latin typeface="HelveticaNeue Regular"/>
              </a:rPr>
              <a:t> </a:t>
            </a:r>
            <a:r>
              <a:rPr lang="en-US" i="1" dirty="0" err="1">
                <a:solidFill>
                  <a:srgbClr val="333333"/>
                </a:solidFill>
                <a:latin typeface="HelveticaNeue Regular"/>
              </a:rPr>
              <a:t>Veterinarias</a:t>
            </a:r>
            <a:r>
              <a:rPr lang="en-US" dirty="0">
                <a:solidFill>
                  <a:srgbClr val="333333"/>
                </a:solidFill>
                <a:latin typeface="HelveticaNeue Regular"/>
              </a:rPr>
              <a:t>, 2023, </a:t>
            </a:r>
            <a:r>
              <a:rPr lang="en-US" dirty="0" err="1">
                <a:solidFill>
                  <a:srgbClr val="333333"/>
                </a:solidFill>
                <a:latin typeface="HelveticaNeue Regular"/>
              </a:rPr>
              <a:t>doi</a:t>
            </a:r>
            <a:r>
              <a:rPr lang="en-US" dirty="0">
                <a:solidFill>
                  <a:srgbClr val="333333"/>
                </a:solidFill>
                <a:latin typeface="HelveticaNeue Regular"/>
              </a:rPr>
              <a:t>: 10.52973/rcfcv-wbc019.</a:t>
            </a:r>
          </a:p>
        </p:txBody>
      </p:sp>
      <p:sp>
        <p:nvSpPr>
          <p:cNvPr id="5" name="TextBox 4">
            <a:extLst>
              <a:ext uri="{FF2B5EF4-FFF2-40B4-BE49-F238E27FC236}">
                <a16:creationId xmlns:a16="http://schemas.microsoft.com/office/drawing/2014/main" id="{85E11351-0E75-5E5C-51C3-E442C2FECB08}"/>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spTree>
    <p:extLst>
      <p:ext uri="{BB962C8B-B14F-4D97-AF65-F5344CB8AC3E}">
        <p14:creationId xmlns:p14="http://schemas.microsoft.com/office/powerpoint/2010/main" val="11880100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D7803-8D70-03D5-16FC-E0C1D63A1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6FA75C-1BC1-EC81-9052-42CFA7D52DF8}"/>
              </a:ext>
            </a:extLst>
          </p:cNvPr>
          <p:cNvSpPr>
            <a:spLocks noGrp="1"/>
          </p:cNvSpPr>
          <p:nvPr>
            <p:ph type="title"/>
          </p:nvPr>
        </p:nvSpPr>
        <p:spPr/>
        <p:txBody>
          <a:bodyPr>
            <a:normAutofit/>
          </a:bodyPr>
          <a:lstStyle/>
          <a:p>
            <a:r>
              <a:rPr lang="en-US" sz="3600" dirty="0"/>
              <a:t>Heat Stress is affecting …</a:t>
            </a:r>
          </a:p>
        </p:txBody>
      </p:sp>
      <p:sp>
        <p:nvSpPr>
          <p:cNvPr id="6" name="TextBox 5">
            <a:extLst>
              <a:ext uri="{FF2B5EF4-FFF2-40B4-BE49-F238E27FC236}">
                <a16:creationId xmlns:a16="http://schemas.microsoft.com/office/drawing/2014/main" id="{CBE901FE-5020-0F30-AC32-DF5371B95D5E}"/>
              </a:ext>
            </a:extLst>
          </p:cNvPr>
          <p:cNvSpPr txBox="1"/>
          <p:nvPr/>
        </p:nvSpPr>
        <p:spPr>
          <a:xfrm>
            <a:off x="643982" y="5688736"/>
            <a:ext cx="11243217" cy="646331"/>
          </a:xfrm>
          <a:prstGeom prst="rect">
            <a:avLst/>
          </a:prstGeom>
          <a:noFill/>
        </p:spPr>
        <p:txBody>
          <a:bodyPr wrap="square">
            <a:spAutoFit/>
          </a:bodyPr>
          <a:lstStyle/>
          <a:p>
            <a:r>
              <a:rPr lang="en-US" b="0" i="0" dirty="0" err="1">
                <a:solidFill>
                  <a:srgbClr val="333333"/>
                </a:solidFill>
                <a:effectLst/>
                <a:latin typeface="HelveticaNeue Regular"/>
              </a:rPr>
              <a:t>Bernabucci</a:t>
            </a:r>
            <a:r>
              <a:rPr lang="en-US" b="0" i="0" dirty="0">
                <a:solidFill>
                  <a:srgbClr val="333333"/>
                </a:solidFill>
                <a:effectLst/>
                <a:latin typeface="HelveticaNeue Regular"/>
              </a:rPr>
              <a:t>, </a:t>
            </a:r>
            <a:r>
              <a:rPr lang="en-US" b="0" i="1" dirty="0">
                <a:solidFill>
                  <a:srgbClr val="333333"/>
                </a:solidFill>
                <a:effectLst/>
                <a:latin typeface="HelveticaNeue Regular"/>
              </a:rPr>
              <a:t>et al</a:t>
            </a:r>
            <a:r>
              <a:rPr lang="en-US" b="0" i="0" dirty="0">
                <a:solidFill>
                  <a:srgbClr val="333333"/>
                </a:solidFill>
                <a:effectLst/>
                <a:latin typeface="HelveticaNeue Regular"/>
              </a:rPr>
              <a:t>. “Metabolic and Hormonal Acclimation to Heat Stress in Domesticated Ruminants.” in  </a:t>
            </a:r>
            <a:r>
              <a:rPr lang="en-US" b="0" i="1" dirty="0">
                <a:solidFill>
                  <a:srgbClr val="333333"/>
                </a:solidFill>
                <a:effectLst/>
                <a:latin typeface="HelveticaNeue Regular"/>
              </a:rPr>
              <a:t>Animal</a:t>
            </a:r>
            <a:r>
              <a:rPr lang="en-US" b="0" i="0" dirty="0">
                <a:solidFill>
                  <a:srgbClr val="333333"/>
                </a:solidFill>
                <a:effectLst/>
                <a:latin typeface="HelveticaNeue Regular"/>
              </a:rPr>
              <a:t> 2010, 4, 1167–1183, </a:t>
            </a:r>
            <a:r>
              <a:rPr lang="en-US" b="0" i="0" dirty="0" err="1">
                <a:solidFill>
                  <a:srgbClr val="333333"/>
                </a:solidFill>
                <a:effectLst/>
                <a:latin typeface="HelveticaNeue Regular"/>
              </a:rPr>
              <a:t>doi</a:t>
            </a:r>
            <a:r>
              <a:rPr lang="en-US" b="0" i="0" dirty="0">
                <a:solidFill>
                  <a:srgbClr val="333333"/>
                </a:solidFill>
                <a:effectLst/>
                <a:latin typeface="HelveticaNeue Regular"/>
              </a:rPr>
              <a:t> : 10.1017/S175173111000090X</a:t>
            </a:r>
          </a:p>
        </p:txBody>
      </p:sp>
      <p:sp>
        <p:nvSpPr>
          <p:cNvPr id="8" name="TextBox 7">
            <a:extLst>
              <a:ext uri="{FF2B5EF4-FFF2-40B4-BE49-F238E27FC236}">
                <a16:creationId xmlns:a16="http://schemas.microsoft.com/office/drawing/2014/main" id="{0CF0DAC0-0FEC-1786-65FF-7008A5FAA2C2}"/>
              </a:ext>
            </a:extLst>
          </p:cNvPr>
          <p:cNvSpPr txBox="1"/>
          <p:nvPr/>
        </p:nvSpPr>
        <p:spPr>
          <a:xfrm>
            <a:off x="397238" y="1755465"/>
            <a:ext cx="4900475" cy="3347070"/>
          </a:xfrm>
          <a:prstGeom prst="rect">
            <a:avLst/>
          </a:prstGeom>
          <a:noFill/>
        </p:spPr>
        <p:txBody>
          <a:bodyPr wrap="square">
            <a:spAutoFit/>
          </a:bodyPr>
          <a:lstStyle/>
          <a:p>
            <a:pPr marL="571500" indent="-571500">
              <a:lnSpc>
                <a:spcPct val="150000"/>
              </a:lnSpc>
              <a:buFont typeface="System Font Regular"/>
              <a:buChar char="↓"/>
            </a:pPr>
            <a:r>
              <a:rPr lang="en-US" sz="3600" dirty="0">
                <a:solidFill>
                  <a:srgbClr val="002B49"/>
                </a:solidFill>
              </a:rPr>
              <a:t>milk</a:t>
            </a:r>
            <a:r>
              <a:rPr lang="en-US" sz="3600" dirty="0">
                <a:solidFill>
                  <a:srgbClr val="1B415D"/>
                </a:solidFill>
              </a:rPr>
              <a:t> </a:t>
            </a:r>
            <a:r>
              <a:rPr lang="en-US" sz="3600" dirty="0">
                <a:solidFill>
                  <a:srgbClr val="002B49"/>
                </a:solidFill>
              </a:rPr>
              <a:t>production</a:t>
            </a:r>
          </a:p>
          <a:p>
            <a:pPr marL="571500" indent="-571500">
              <a:lnSpc>
                <a:spcPct val="150000"/>
              </a:lnSpc>
              <a:buFont typeface="System Font Regular"/>
              <a:buChar char="↓"/>
            </a:pPr>
            <a:r>
              <a:rPr lang="en-US" sz="3600" dirty="0">
                <a:solidFill>
                  <a:srgbClr val="002B49"/>
                </a:solidFill>
              </a:rPr>
              <a:t>feed intake</a:t>
            </a:r>
          </a:p>
          <a:p>
            <a:pPr marL="571500" indent="-571500">
              <a:lnSpc>
                <a:spcPct val="150000"/>
              </a:lnSpc>
              <a:buFont typeface="System Font Regular"/>
              <a:buChar char="↓"/>
            </a:pPr>
            <a:r>
              <a:rPr lang="en-US" sz="3600" dirty="0">
                <a:solidFill>
                  <a:srgbClr val="002B49"/>
                </a:solidFill>
              </a:rPr>
              <a:t>performance.</a:t>
            </a:r>
          </a:p>
          <a:p>
            <a:pPr marL="571500" indent="-571500">
              <a:lnSpc>
                <a:spcPct val="150000"/>
              </a:lnSpc>
              <a:buFont typeface="System Font Regular"/>
              <a:buChar char="↓"/>
            </a:pPr>
            <a:endParaRPr lang="en-US" sz="3600" dirty="0">
              <a:solidFill>
                <a:srgbClr val="1B415D"/>
              </a:solidFill>
            </a:endParaRPr>
          </a:p>
        </p:txBody>
      </p:sp>
      <p:sp>
        <p:nvSpPr>
          <p:cNvPr id="9" name="TextBox 8">
            <a:extLst>
              <a:ext uri="{FF2B5EF4-FFF2-40B4-BE49-F238E27FC236}">
                <a16:creationId xmlns:a16="http://schemas.microsoft.com/office/drawing/2014/main" id="{2E859686-C0CE-317F-4316-24CCBC0A2DB3}"/>
              </a:ext>
            </a:extLst>
          </p:cNvPr>
          <p:cNvSpPr txBox="1"/>
          <p:nvPr/>
        </p:nvSpPr>
        <p:spPr>
          <a:xfrm>
            <a:off x="5499355" y="1339966"/>
            <a:ext cx="6881331" cy="4178067"/>
          </a:xfrm>
          <a:prstGeom prst="rect">
            <a:avLst/>
          </a:prstGeom>
          <a:noFill/>
        </p:spPr>
        <p:txBody>
          <a:bodyPr wrap="square">
            <a:spAutoFit/>
          </a:bodyPr>
          <a:lstStyle/>
          <a:p>
            <a:pPr marL="571500" indent="-571500">
              <a:lnSpc>
                <a:spcPct val="150000"/>
              </a:lnSpc>
              <a:buFont typeface="System Font Regular"/>
              <a:buChar char="↑"/>
            </a:pPr>
            <a:r>
              <a:rPr lang="en-US" sz="3600" dirty="0">
                <a:solidFill>
                  <a:srgbClr val="002B49"/>
                </a:solidFill>
              </a:rPr>
              <a:t>Diseases</a:t>
            </a:r>
          </a:p>
          <a:p>
            <a:pPr marL="571500" indent="-571500">
              <a:lnSpc>
                <a:spcPct val="150000"/>
              </a:lnSpc>
              <a:buFont typeface="System Font Regular"/>
              <a:buChar char="↑"/>
            </a:pPr>
            <a:r>
              <a:rPr lang="en-US" sz="3600" dirty="0">
                <a:solidFill>
                  <a:srgbClr val="002B49"/>
                </a:solidFill>
              </a:rPr>
              <a:t>Sweating</a:t>
            </a:r>
          </a:p>
          <a:p>
            <a:pPr marL="571500" indent="-571500">
              <a:lnSpc>
                <a:spcPct val="150000"/>
              </a:lnSpc>
              <a:buFont typeface="System Font Regular"/>
              <a:buChar char="↑"/>
            </a:pPr>
            <a:r>
              <a:rPr lang="en-US" sz="3600" dirty="0">
                <a:solidFill>
                  <a:srgbClr val="002B49"/>
                </a:solidFill>
              </a:rPr>
              <a:t>Blood flow to skin</a:t>
            </a:r>
          </a:p>
          <a:p>
            <a:pPr marL="571500" indent="-571500">
              <a:lnSpc>
                <a:spcPct val="150000"/>
              </a:lnSpc>
              <a:buFont typeface="System Font Regular"/>
              <a:buChar char="↑"/>
            </a:pPr>
            <a:r>
              <a:rPr lang="en-US" sz="3600" dirty="0">
                <a:solidFill>
                  <a:srgbClr val="002B49"/>
                </a:solidFill>
              </a:rPr>
              <a:t>heart and respiration rate   </a:t>
            </a:r>
          </a:p>
          <a:p>
            <a:pPr marL="571500" indent="-571500">
              <a:lnSpc>
                <a:spcPct val="150000"/>
              </a:lnSpc>
              <a:buFont typeface="System Font Regular"/>
              <a:buChar char="↑"/>
            </a:pPr>
            <a:endParaRPr lang="en-US" sz="3600" dirty="0">
              <a:solidFill>
                <a:srgbClr val="1B415D"/>
              </a:solidFill>
            </a:endParaRPr>
          </a:p>
        </p:txBody>
      </p:sp>
      <p:sp>
        <p:nvSpPr>
          <p:cNvPr id="12" name="TextBox 11">
            <a:extLst>
              <a:ext uri="{FF2B5EF4-FFF2-40B4-BE49-F238E27FC236}">
                <a16:creationId xmlns:a16="http://schemas.microsoft.com/office/drawing/2014/main" id="{150341E0-440C-F954-6BB1-006F58C24826}"/>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spTree>
    <p:extLst>
      <p:ext uri="{BB962C8B-B14F-4D97-AF65-F5344CB8AC3E}">
        <p14:creationId xmlns:p14="http://schemas.microsoft.com/office/powerpoint/2010/main" val="27262015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B4029-043B-EDC7-FE95-0C7228159B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90CDF2-450B-F5DE-0221-738DDB685BD0}"/>
              </a:ext>
            </a:extLst>
          </p:cNvPr>
          <p:cNvSpPr>
            <a:spLocks noGrp="1"/>
          </p:cNvSpPr>
          <p:nvPr>
            <p:ph type="title"/>
          </p:nvPr>
        </p:nvSpPr>
        <p:spPr/>
        <p:txBody>
          <a:bodyPr>
            <a:normAutofit/>
          </a:bodyPr>
          <a:lstStyle/>
          <a:p>
            <a:r>
              <a:rPr lang="en-US" sz="3600" dirty="0"/>
              <a:t>Temperature-Humidity Index (THI)</a:t>
            </a:r>
          </a:p>
        </p:txBody>
      </p:sp>
      <p:sp>
        <p:nvSpPr>
          <p:cNvPr id="6" name="TextBox 5">
            <a:extLst>
              <a:ext uri="{FF2B5EF4-FFF2-40B4-BE49-F238E27FC236}">
                <a16:creationId xmlns:a16="http://schemas.microsoft.com/office/drawing/2014/main" id="{80EB31C8-9029-95C4-C626-4B9D2B6D9897}"/>
              </a:ext>
            </a:extLst>
          </p:cNvPr>
          <p:cNvSpPr txBox="1"/>
          <p:nvPr/>
        </p:nvSpPr>
        <p:spPr>
          <a:xfrm>
            <a:off x="643982" y="5688736"/>
            <a:ext cx="11243217" cy="646331"/>
          </a:xfrm>
          <a:prstGeom prst="rect">
            <a:avLst/>
          </a:prstGeom>
          <a:noFill/>
        </p:spPr>
        <p:txBody>
          <a:bodyPr wrap="square">
            <a:spAutoFit/>
          </a:bodyPr>
          <a:lstStyle/>
          <a:p>
            <a:r>
              <a:rPr lang="en-US" b="0" i="0" dirty="0" err="1">
                <a:solidFill>
                  <a:srgbClr val="333333"/>
                </a:solidFill>
                <a:effectLst/>
                <a:latin typeface="HelveticaNeue Regular"/>
              </a:rPr>
              <a:t>Bohmanova</a:t>
            </a:r>
            <a:r>
              <a:rPr lang="en-US" b="0" i="0" dirty="0">
                <a:solidFill>
                  <a:srgbClr val="333333"/>
                </a:solidFill>
                <a:effectLst/>
                <a:latin typeface="HelveticaNeue Regular"/>
              </a:rPr>
              <a:t>, J, </a:t>
            </a:r>
            <a:r>
              <a:rPr lang="en-US" b="0" i="1" dirty="0">
                <a:solidFill>
                  <a:srgbClr val="333333"/>
                </a:solidFill>
                <a:effectLst/>
                <a:latin typeface="HelveticaNeue Regular"/>
              </a:rPr>
              <a:t>et al</a:t>
            </a:r>
            <a:r>
              <a:rPr lang="en-US" b="0" i="0" dirty="0">
                <a:solidFill>
                  <a:srgbClr val="333333"/>
                </a:solidFill>
                <a:effectLst/>
                <a:latin typeface="HelveticaNeue Regular"/>
              </a:rPr>
              <a:t>. “Temperature-humidity indices as indicators of milk production losses due to heat stress.” in </a:t>
            </a:r>
            <a:r>
              <a:rPr lang="en-US" b="0" i="1" dirty="0">
                <a:solidFill>
                  <a:srgbClr val="333333"/>
                </a:solidFill>
                <a:effectLst/>
                <a:latin typeface="HelveticaNeue Regular"/>
              </a:rPr>
              <a:t>Journal of Dairy Science</a:t>
            </a:r>
            <a:r>
              <a:rPr lang="en-US" b="0" i="0" dirty="0">
                <a:solidFill>
                  <a:srgbClr val="333333"/>
                </a:solidFill>
                <a:effectLst/>
                <a:latin typeface="HelveticaNeue Regular"/>
              </a:rPr>
              <a:t>, 90(4), 1947–1956. </a:t>
            </a:r>
            <a:r>
              <a:rPr lang="en-US" b="0" i="0" dirty="0" err="1">
                <a:solidFill>
                  <a:srgbClr val="333333"/>
                </a:solidFill>
                <a:effectLst/>
                <a:latin typeface="HelveticaNeue Regular"/>
              </a:rPr>
              <a:t>doi</a:t>
            </a:r>
            <a:r>
              <a:rPr lang="en-US" b="0" i="0" dirty="0">
                <a:solidFill>
                  <a:srgbClr val="333333"/>
                </a:solidFill>
                <a:effectLst/>
                <a:latin typeface="HelveticaNeue Regular"/>
              </a:rPr>
              <a:t>: 10.3168/jds.2006-513</a:t>
            </a:r>
          </a:p>
        </p:txBody>
      </p:sp>
      <p:sp>
        <p:nvSpPr>
          <p:cNvPr id="8" name="TextBox 7">
            <a:extLst>
              <a:ext uri="{FF2B5EF4-FFF2-40B4-BE49-F238E27FC236}">
                <a16:creationId xmlns:a16="http://schemas.microsoft.com/office/drawing/2014/main" id="{4FA44B63-7E31-4754-1BD8-C64D119E0FCC}"/>
              </a:ext>
            </a:extLst>
          </p:cNvPr>
          <p:cNvSpPr txBox="1"/>
          <p:nvPr/>
        </p:nvSpPr>
        <p:spPr>
          <a:xfrm>
            <a:off x="366242" y="1430001"/>
            <a:ext cx="10823534" cy="1900520"/>
          </a:xfrm>
          <a:prstGeom prst="rect">
            <a:avLst/>
          </a:prstGeom>
          <a:noFill/>
        </p:spPr>
        <p:txBody>
          <a:bodyPr wrap="square">
            <a:spAutoFit/>
          </a:bodyPr>
          <a:lstStyle/>
          <a:p>
            <a:pPr>
              <a:lnSpc>
                <a:spcPct val="150000"/>
              </a:lnSpc>
            </a:pPr>
            <a:r>
              <a:rPr lang="en-US" sz="2000" dirty="0"/>
              <a:t>A temperature-humidity index (THI) is a single value representing the combined effects of air temperature and humidity associated with the level of thermal stress.</a:t>
            </a:r>
            <a:endParaRPr lang="fa-IR" sz="2000" dirty="0"/>
          </a:p>
          <a:p>
            <a:pPr>
              <a:lnSpc>
                <a:spcPct val="150000"/>
              </a:lnSpc>
            </a:pPr>
            <a:endParaRPr lang="fa-IR" sz="2000" dirty="0">
              <a:solidFill>
                <a:srgbClr val="1B415D"/>
              </a:solidFill>
            </a:endParaRPr>
          </a:p>
          <a:p>
            <a:pPr>
              <a:lnSpc>
                <a:spcPct val="150000"/>
              </a:lnSpc>
            </a:pPr>
            <a:r>
              <a:rPr lang="en-US" sz="2000" dirty="0">
                <a:solidFill>
                  <a:srgbClr val="1B415D"/>
                </a:solidFill>
              </a:rPr>
              <a:t>Normally THI is Based on Temperature in Fahrenheit.</a:t>
            </a:r>
            <a:endParaRPr lang="en-US" sz="4000" dirty="0">
              <a:solidFill>
                <a:srgbClr val="1B415D"/>
              </a:solidFill>
            </a:endParaRPr>
          </a:p>
        </p:txBody>
      </p:sp>
      <p:sp>
        <p:nvSpPr>
          <p:cNvPr id="12" name="TextBox 11">
            <a:extLst>
              <a:ext uri="{FF2B5EF4-FFF2-40B4-BE49-F238E27FC236}">
                <a16:creationId xmlns:a16="http://schemas.microsoft.com/office/drawing/2014/main" id="{3A8FE1BB-B3D2-56C4-C718-032BE2068275}"/>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pic>
        <p:nvPicPr>
          <p:cNvPr id="4" name="Picture 3">
            <a:extLst>
              <a:ext uri="{FF2B5EF4-FFF2-40B4-BE49-F238E27FC236}">
                <a16:creationId xmlns:a16="http://schemas.microsoft.com/office/drawing/2014/main" id="{A5405956-FA28-257A-EC55-977FB66398CD}"/>
              </a:ext>
            </a:extLst>
          </p:cNvPr>
          <p:cNvPicPr>
            <a:picLocks noChangeAspect="1"/>
          </p:cNvPicPr>
          <p:nvPr/>
        </p:nvPicPr>
        <p:blipFill>
          <a:blip r:embed="rId3"/>
          <a:stretch>
            <a:fillRect/>
          </a:stretch>
        </p:blipFill>
        <p:spPr>
          <a:xfrm>
            <a:off x="366242" y="3429000"/>
            <a:ext cx="6838070" cy="874039"/>
          </a:xfrm>
          <a:prstGeom prst="rect">
            <a:avLst/>
          </a:prstGeom>
        </p:spPr>
      </p:pic>
      <p:pic>
        <p:nvPicPr>
          <p:cNvPr id="5" name="Picture 4">
            <a:extLst>
              <a:ext uri="{FF2B5EF4-FFF2-40B4-BE49-F238E27FC236}">
                <a16:creationId xmlns:a16="http://schemas.microsoft.com/office/drawing/2014/main" id="{009053BE-58BD-4338-8835-AA8AA69E041E}"/>
              </a:ext>
            </a:extLst>
          </p:cNvPr>
          <p:cNvPicPr>
            <a:picLocks noChangeAspect="1"/>
          </p:cNvPicPr>
          <p:nvPr/>
        </p:nvPicPr>
        <p:blipFill>
          <a:blip r:embed="rId4"/>
          <a:stretch>
            <a:fillRect/>
          </a:stretch>
        </p:blipFill>
        <p:spPr>
          <a:xfrm>
            <a:off x="366242" y="4127659"/>
            <a:ext cx="6838062" cy="874038"/>
          </a:xfrm>
          <a:prstGeom prst="rect">
            <a:avLst/>
          </a:prstGeom>
        </p:spPr>
      </p:pic>
      <p:pic>
        <p:nvPicPr>
          <p:cNvPr id="7" name="Picture 6">
            <a:extLst>
              <a:ext uri="{FF2B5EF4-FFF2-40B4-BE49-F238E27FC236}">
                <a16:creationId xmlns:a16="http://schemas.microsoft.com/office/drawing/2014/main" id="{E4A3C353-F92E-3367-4A60-73F1D244D002}"/>
              </a:ext>
            </a:extLst>
          </p:cNvPr>
          <p:cNvPicPr>
            <a:picLocks noChangeAspect="1"/>
          </p:cNvPicPr>
          <p:nvPr/>
        </p:nvPicPr>
        <p:blipFill>
          <a:blip r:embed="rId5"/>
          <a:srcRect b="57096"/>
          <a:stretch>
            <a:fillRect/>
          </a:stretch>
        </p:blipFill>
        <p:spPr>
          <a:xfrm>
            <a:off x="7711913" y="3480113"/>
            <a:ext cx="3835400" cy="370517"/>
          </a:xfrm>
          <a:prstGeom prst="rect">
            <a:avLst/>
          </a:prstGeom>
        </p:spPr>
      </p:pic>
      <p:pic>
        <p:nvPicPr>
          <p:cNvPr id="10" name="Picture 9">
            <a:extLst>
              <a:ext uri="{FF2B5EF4-FFF2-40B4-BE49-F238E27FC236}">
                <a16:creationId xmlns:a16="http://schemas.microsoft.com/office/drawing/2014/main" id="{C16777D1-3669-1F78-E8B3-FDE8F8AECD56}"/>
              </a:ext>
            </a:extLst>
          </p:cNvPr>
          <p:cNvPicPr>
            <a:picLocks noChangeAspect="1"/>
          </p:cNvPicPr>
          <p:nvPr/>
        </p:nvPicPr>
        <p:blipFill>
          <a:blip r:embed="rId6"/>
          <a:stretch>
            <a:fillRect/>
          </a:stretch>
        </p:blipFill>
        <p:spPr>
          <a:xfrm>
            <a:off x="7711913" y="4017560"/>
            <a:ext cx="3835400" cy="863600"/>
          </a:xfrm>
          <a:prstGeom prst="rect">
            <a:avLst/>
          </a:prstGeom>
        </p:spPr>
      </p:pic>
    </p:spTree>
    <p:extLst>
      <p:ext uri="{BB962C8B-B14F-4D97-AF65-F5344CB8AC3E}">
        <p14:creationId xmlns:p14="http://schemas.microsoft.com/office/powerpoint/2010/main" val="10865183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6D26E-3235-FAAE-C90C-7672FDC257DF}"/>
              </a:ext>
            </a:extLst>
          </p:cNvPr>
          <p:cNvSpPr>
            <a:spLocks noGrp="1"/>
          </p:cNvSpPr>
          <p:nvPr>
            <p:ph type="title"/>
          </p:nvPr>
        </p:nvSpPr>
        <p:spPr>
          <a:xfrm>
            <a:off x="188965" y="90864"/>
            <a:ext cx="12153249" cy="890444"/>
          </a:xfrm>
        </p:spPr>
        <p:txBody>
          <a:bodyPr>
            <a:normAutofit/>
          </a:bodyPr>
          <a:lstStyle/>
          <a:p>
            <a:r>
              <a:rPr lang="en-US" sz="3600" dirty="0"/>
              <a:t>THI refers to be an important KPI in milk production.</a:t>
            </a:r>
          </a:p>
        </p:txBody>
      </p:sp>
      <p:pic>
        <p:nvPicPr>
          <p:cNvPr id="3" name="Picture 2" descr="A chart showing different levels of stress&#10;&#10;AI-generated content may be incorrect.">
            <a:extLst>
              <a:ext uri="{FF2B5EF4-FFF2-40B4-BE49-F238E27FC236}">
                <a16:creationId xmlns:a16="http://schemas.microsoft.com/office/drawing/2014/main" id="{32FF6511-BCBC-B016-2A00-51334A583079}"/>
              </a:ext>
            </a:extLst>
          </p:cNvPr>
          <p:cNvPicPr>
            <a:picLocks noChangeAspect="1"/>
          </p:cNvPicPr>
          <p:nvPr/>
        </p:nvPicPr>
        <p:blipFill>
          <a:blip r:embed="rId2">
            <a:clrChange>
              <a:clrFrom>
                <a:srgbClr val="FDFDFD"/>
              </a:clrFrom>
              <a:clrTo>
                <a:srgbClr val="FDFDFD">
                  <a:alpha val="0"/>
                </a:srgbClr>
              </a:clrTo>
            </a:clrChange>
          </a:blip>
          <a:srcRect t="33723" b="32546"/>
          <a:stretch>
            <a:fillRect/>
          </a:stretch>
        </p:blipFill>
        <p:spPr>
          <a:xfrm>
            <a:off x="1186036" y="2336799"/>
            <a:ext cx="9867927" cy="1857829"/>
          </a:xfrm>
          <a:prstGeom prst="rect">
            <a:avLst/>
          </a:prstGeom>
        </p:spPr>
      </p:pic>
      <p:pic>
        <p:nvPicPr>
          <p:cNvPr id="4" name="Picture 3" descr="A chart showing different levels of stress&#10;&#10;AI-generated content may be incorrect.">
            <a:extLst>
              <a:ext uri="{FF2B5EF4-FFF2-40B4-BE49-F238E27FC236}">
                <a16:creationId xmlns:a16="http://schemas.microsoft.com/office/drawing/2014/main" id="{0B00387F-10B3-5590-8BE8-9BA588D72951}"/>
              </a:ext>
            </a:extLst>
          </p:cNvPr>
          <p:cNvPicPr>
            <a:picLocks noChangeAspect="1"/>
          </p:cNvPicPr>
          <p:nvPr/>
        </p:nvPicPr>
        <p:blipFill>
          <a:blip r:embed="rId2">
            <a:clrChange>
              <a:clrFrom>
                <a:srgbClr val="FDFDFD"/>
              </a:clrFrom>
              <a:clrTo>
                <a:srgbClr val="FDFDFD">
                  <a:alpha val="0"/>
                </a:srgbClr>
              </a:clrTo>
            </a:clrChange>
          </a:blip>
          <a:srcRect t="83662" b="5007"/>
          <a:stretch>
            <a:fillRect/>
          </a:stretch>
        </p:blipFill>
        <p:spPr>
          <a:xfrm>
            <a:off x="1138037" y="4020457"/>
            <a:ext cx="9867927" cy="624114"/>
          </a:xfrm>
          <a:prstGeom prst="rect">
            <a:avLst/>
          </a:prstGeom>
        </p:spPr>
      </p:pic>
      <p:sp>
        <p:nvSpPr>
          <p:cNvPr id="7" name="TextBox 6">
            <a:extLst>
              <a:ext uri="{FF2B5EF4-FFF2-40B4-BE49-F238E27FC236}">
                <a16:creationId xmlns:a16="http://schemas.microsoft.com/office/drawing/2014/main" id="{E38FC03A-7AC7-D37E-C2FB-22AB14315213}"/>
              </a:ext>
            </a:extLst>
          </p:cNvPr>
          <p:cNvSpPr txBox="1"/>
          <p:nvPr/>
        </p:nvSpPr>
        <p:spPr>
          <a:xfrm>
            <a:off x="643982" y="5688736"/>
            <a:ext cx="11243217" cy="646331"/>
          </a:xfrm>
          <a:prstGeom prst="rect">
            <a:avLst/>
          </a:prstGeom>
          <a:noFill/>
        </p:spPr>
        <p:txBody>
          <a:bodyPr wrap="square">
            <a:spAutoFit/>
          </a:bodyPr>
          <a:lstStyle/>
          <a:p>
            <a:r>
              <a:rPr lang="en-US" dirty="0">
                <a:solidFill>
                  <a:srgbClr val="333333"/>
                </a:solidFill>
                <a:latin typeface="HelveticaNeue Regular"/>
              </a:rPr>
              <a:t>S. Dash, </a:t>
            </a:r>
            <a:r>
              <a:rPr lang="en-US" i="1" dirty="0">
                <a:solidFill>
                  <a:srgbClr val="333333"/>
                </a:solidFill>
                <a:latin typeface="HelveticaNeue Regular"/>
              </a:rPr>
              <a:t>et al</a:t>
            </a:r>
            <a:r>
              <a:rPr lang="en-US" dirty="0">
                <a:solidFill>
                  <a:srgbClr val="333333"/>
                </a:solidFill>
                <a:latin typeface="HelveticaNeue Regular"/>
              </a:rPr>
              <a:t>, "Effect of heat stress on reproductive performances of dairy cattle and buffaloes: A review," in </a:t>
            </a:r>
            <a:r>
              <a:rPr lang="en-US" i="1" dirty="0">
                <a:solidFill>
                  <a:srgbClr val="333333"/>
                </a:solidFill>
                <a:latin typeface="HelveticaNeue Regular"/>
              </a:rPr>
              <a:t>Veterinary World</a:t>
            </a:r>
            <a:r>
              <a:rPr lang="en-US" dirty="0">
                <a:solidFill>
                  <a:srgbClr val="333333"/>
                </a:solidFill>
                <a:latin typeface="HelveticaNeue Regular"/>
              </a:rPr>
              <a:t>, vol. 9, no. 3, pp. 235–244, Mar. 2016, </a:t>
            </a:r>
            <a:r>
              <a:rPr lang="en-US" dirty="0" err="1">
                <a:solidFill>
                  <a:srgbClr val="333333"/>
                </a:solidFill>
                <a:latin typeface="HelveticaNeue Regular"/>
              </a:rPr>
              <a:t>doi</a:t>
            </a:r>
            <a:r>
              <a:rPr lang="en-US" dirty="0">
                <a:solidFill>
                  <a:srgbClr val="333333"/>
                </a:solidFill>
                <a:latin typeface="HelveticaNeue Regular"/>
              </a:rPr>
              <a:t>: 10.14202/vetworld.2016.235-244.</a:t>
            </a:r>
          </a:p>
        </p:txBody>
      </p:sp>
      <p:sp>
        <p:nvSpPr>
          <p:cNvPr id="8" name="TextBox 7">
            <a:extLst>
              <a:ext uri="{FF2B5EF4-FFF2-40B4-BE49-F238E27FC236}">
                <a16:creationId xmlns:a16="http://schemas.microsoft.com/office/drawing/2014/main" id="{6FA7E73B-1175-12EE-B7CF-42B7C70D0DE2}"/>
              </a:ext>
            </a:extLst>
          </p:cNvPr>
          <p:cNvSpPr txBox="1"/>
          <p:nvPr/>
        </p:nvSpPr>
        <p:spPr>
          <a:xfrm>
            <a:off x="643982" y="5042405"/>
            <a:ext cx="11243217" cy="646331"/>
          </a:xfrm>
          <a:prstGeom prst="rect">
            <a:avLst/>
          </a:prstGeom>
          <a:noFill/>
        </p:spPr>
        <p:txBody>
          <a:bodyPr wrap="square">
            <a:spAutoFit/>
          </a:bodyPr>
          <a:lstStyle/>
          <a:p>
            <a:r>
              <a:rPr lang="en-US" dirty="0">
                <a:solidFill>
                  <a:srgbClr val="333333"/>
                </a:solidFill>
                <a:latin typeface="HelveticaNeue Regular"/>
              </a:rPr>
              <a:t>V. L. de Araujo </a:t>
            </a:r>
            <a:r>
              <a:rPr lang="en-US" i="1" dirty="0">
                <a:solidFill>
                  <a:srgbClr val="333333"/>
                </a:solidFill>
                <a:latin typeface="HelveticaNeue Regular"/>
              </a:rPr>
              <a:t>et al</a:t>
            </a:r>
            <a:r>
              <a:rPr lang="en-US" dirty="0">
                <a:solidFill>
                  <a:srgbClr val="333333"/>
                </a:solidFill>
                <a:latin typeface="HelveticaNeue Regular"/>
              </a:rPr>
              <a:t>, "Responses of dairy buffalo to heat stress conditions and mitigation strategies: A review," in </a:t>
            </a:r>
            <a:r>
              <a:rPr lang="en-US" i="1" dirty="0">
                <a:solidFill>
                  <a:srgbClr val="333333"/>
                </a:solidFill>
                <a:latin typeface="HelveticaNeue Regular"/>
              </a:rPr>
              <a:t>Animals</a:t>
            </a:r>
            <a:r>
              <a:rPr lang="en-US" dirty="0">
                <a:solidFill>
                  <a:srgbClr val="333333"/>
                </a:solidFill>
                <a:latin typeface="HelveticaNeue Regular"/>
              </a:rPr>
              <a:t>, vol. 14, no. 5, Art. no. 731, Feb. 2024, </a:t>
            </a:r>
            <a:r>
              <a:rPr lang="en-US" dirty="0" err="1">
                <a:solidFill>
                  <a:srgbClr val="333333"/>
                </a:solidFill>
                <a:latin typeface="HelveticaNeue Regular"/>
              </a:rPr>
              <a:t>doi</a:t>
            </a:r>
            <a:r>
              <a:rPr lang="en-US" dirty="0">
                <a:solidFill>
                  <a:srgbClr val="333333"/>
                </a:solidFill>
                <a:latin typeface="HelveticaNeue Regular"/>
              </a:rPr>
              <a:t>: 1</a:t>
            </a:r>
            <a:r>
              <a:rPr lang="en-US" dirty="0"/>
              <a:t>0.3390/ani13071260</a:t>
            </a:r>
            <a:endParaRPr lang="en-US" dirty="0">
              <a:solidFill>
                <a:srgbClr val="333333"/>
              </a:solidFill>
              <a:latin typeface="HelveticaNeue Regular"/>
            </a:endParaRPr>
          </a:p>
        </p:txBody>
      </p:sp>
    </p:spTree>
    <p:extLst>
      <p:ext uri="{BB962C8B-B14F-4D97-AF65-F5344CB8AC3E}">
        <p14:creationId xmlns:p14="http://schemas.microsoft.com/office/powerpoint/2010/main" val="40864978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65222-19B4-6B09-8703-062C5FE5B01D}"/>
              </a:ext>
            </a:extLst>
          </p:cNvPr>
          <p:cNvSpPr>
            <a:spLocks noGrp="1"/>
          </p:cNvSpPr>
          <p:nvPr>
            <p:ph type="title"/>
          </p:nvPr>
        </p:nvSpPr>
        <p:spPr>
          <a:xfrm>
            <a:off x="180000" y="180000"/>
            <a:ext cx="11880000" cy="648000"/>
          </a:xfrm>
        </p:spPr>
        <p:txBody>
          <a:bodyPr>
            <a:normAutofit fontScale="90000"/>
          </a:bodyPr>
          <a:lstStyle/>
          <a:p>
            <a:r>
              <a:rPr lang="en-US" dirty="0"/>
              <a:t>Studies on Milk Prediction</a:t>
            </a:r>
          </a:p>
        </p:txBody>
      </p:sp>
      <p:sp>
        <p:nvSpPr>
          <p:cNvPr id="3" name="TextBox 2">
            <a:extLst>
              <a:ext uri="{FF2B5EF4-FFF2-40B4-BE49-F238E27FC236}">
                <a16:creationId xmlns:a16="http://schemas.microsoft.com/office/drawing/2014/main" id="{52F2B243-E716-63AA-5F62-ED627F0F9633}"/>
              </a:ext>
            </a:extLst>
          </p:cNvPr>
          <p:cNvSpPr txBox="1"/>
          <p:nvPr/>
        </p:nvSpPr>
        <p:spPr>
          <a:xfrm>
            <a:off x="551936" y="2488101"/>
            <a:ext cx="11272634" cy="2677656"/>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400" dirty="0">
                <a:solidFill>
                  <a:srgbClr val="1B415D"/>
                </a:solidFill>
                <a:sym typeface="Wingdings" pitchFamily="2" charset="2"/>
              </a:rPr>
              <a:t>Effect of HS on cow milk yield</a:t>
            </a:r>
            <a:r>
              <a:rPr lang="fa-IR" sz="2400" dirty="0">
                <a:solidFill>
                  <a:srgbClr val="1B415D"/>
                </a:solidFill>
                <a:sym typeface="Wingdings" pitchFamily="2" charset="2"/>
              </a:rPr>
              <a:t> </a:t>
            </a:r>
            <a:r>
              <a:rPr lang="en-US" sz="2400" dirty="0">
                <a:solidFill>
                  <a:srgbClr val="1B415D"/>
                </a:solidFill>
                <a:sym typeface="Wingdings" pitchFamily="2" charset="2"/>
              </a:rPr>
              <a:t>,by Hassan, 2025</a:t>
            </a:r>
          </a:p>
          <a:p>
            <a:pPr marL="342900" indent="-342900">
              <a:lnSpc>
                <a:spcPct val="150000"/>
              </a:lnSpc>
              <a:buFont typeface="Arial" panose="020B0604020202020204" pitchFamily="34" charset="0"/>
              <a:buChar char="•"/>
            </a:pPr>
            <a:r>
              <a:rPr lang="en-US" sz="2400" dirty="0">
                <a:solidFill>
                  <a:srgbClr val="1B415D"/>
                </a:solidFill>
                <a:sym typeface="Wingdings" pitchFamily="2" charset="2"/>
              </a:rPr>
              <a:t>individual models for predicting cow milk production in Korea, by Song,2025</a:t>
            </a:r>
          </a:p>
          <a:p>
            <a:pPr marL="342900" indent="-342900">
              <a:lnSpc>
                <a:spcPct val="150000"/>
              </a:lnSpc>
              <a:buFont typeface="Arial" panose="020B0604020202020204" pitchFamily="34" charset="0"/>
              <a:buChar char="•"/>
            </a:pPr>
            <a:r>
              <a:rPr lang="en-US" sz="2400" dirty="0">
                <a:solidFill>
                  <a:srgbClr val="1B415D"/>
                </a:solidFill>
                <a:sym typeface="Wingdings" pitchFamily="2" charset="2"/>
              </a:rPr>
              <a:t>predict the next month's daily cow milk yield in Australia by Ji,2022</a:t>
            </a:r>
          </a:p>
          <a:p>
            <a:pPr marL="342900" indent="-342900">
              <a:lnSpc>
                <a:spcPct val="150000"/>
              </a:lnSpc>
              <a:buFont typeface="Arial" panose="020B0604020202020204" pitchFamily="34" charset="0"/>
              <a:buChar char="•"/>
            </a:pPr>
            <a:r>
              <a:rPr lang="en-US" sz="2400" dirty="0">
                <a:solidFill>
                  <a:srgbClr val="1B415D"/>
                </a:solidFill>
                <a:sym typeface="Wingdings" pitchFamily="2" charset="2"/>
              </a:rPr>
              <a:t>predict SCC in the Italian Mediterranean Buffaloes by Bobbo, 2022</a:t>
            </a:r>
          </a:p>
          <a:p>
            <a:pPr marL="342900" indent="-342900">
              <a:buFont typeface="Arial" panose="020B0604020202020204" pitchFamily="34" charset="0"/>
              <a:buChar char="•"/>
            </a:pPr>
            <a:endParaRPr lang="en-US" sz="2400" dirty="0">
              <a:solidFill>
                <a:srgbClr val="1B415D"/>
              </a:solidFill>
              <a:sym typeface="Wingdings" pitchFamily="2" charset="2"/>
            </a:endParaRPr>
          </a:p>
        </p:txBody>
      </p:sp>
    </p:spTree>
    <p:extLst>
      <p:ext uri="{BB962C8B-B14F-4D97-AF65-F5344CB8AC3E}">
        <p14:creationId xmlns:p14="http://schemas.microsoft.com/office/powerpoint/2010/main" val="4030576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B8191-6858-AD0F-847A-A6918CE6ED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383EA6-C17E-EC7E-F616-5F56B9A52058}"/>
              </a:ext>
            </a:extLst>
          </p:cNvPr>
          <p:cNvSpPr>
            <a:spLocks noGrp="1"/>
          </p:cNvSpPr>
          <p:nvPr>
            <p:ph type="title"/>
          </p:nvPr>
        </p:nvSpPr>
        <p:spPr>
          <a:xfrm>
            <a:off x="180000" y="180000"/>
            <a:ext cx="11880000" cy="648000"/>
          </a:xfrm>
        </p:spPr>
        <p:txBody>
          <a:bodyPr>
            <a:normAutofit fontScale="90000"/>
          </a:bodyPr>
          <a:lstStyle/>
          <a:p>
            <a:r>
              <a:rPr lang="en-US" dirty="0"/>
              <a:t>Effect of HS on cow milk yield by Hassan, 2025</a:t>
            </a:r>
          </a:p>
        </p:txBody>
      </p:sp>
      <p:sp>
        <p:nvSpPr>
          <p:cNvPr id="3" name="TextBox 2">
            <a:extLst>
              <a:ext uri="{FF2B5EF4-FFF2-40B4-BE49-F238E27FC236}">
                <a16:creationId xmlns:a16="http://schemas.microsoft.com/office/drawing/2014/main" id="{64C3717F-B5CC-6962-F00B-8E13EDE1357B}"/>
              </a:ext>
            </a:extLst>
          </p:cNvPr>
          <p:cNvSpPr txBox="1"/>
          <p:nvPr/>
        </p:nvSpPr>
        <p:spPr>
          <a:xfrm>
            <a:off x="643982" y="5688736"/>
            <a:ext cx="11416018" cy="584775"/>
          </a:xfrm>
          <a:prstGeom prst="rect">
            <a:avLst/>
          </a:prstGeom>
          <a:noFill/>
        </p:spPr>
        <p:txBody>
          <a:bodyPr wrap="square">
            <a:spAutoFit/>
          </a:bodyPr>
          <a:lstStyle/>
          <a:p>
            <a:r>
              <a:rPr lang="en-US" sz="1600" dirty="0">
                <a:solidFill>
                  <a:srgbClr val="333333"/>
                </a:solidFill>
                <a:latin typeface="HelveticaNeue Regular"/>
              </a:rPr>
              <a:t>M. F. Hasan, </a:t>
            </a:r>
            <a:r>
              <a:rPr lang="en-US" sz="1600" i="1" dirty="0">
                <a:solidFill>
                  <a:srgbClr val="333333"/>
                </a:solidFill>
                <a:latin typeface="HelveticaNeue Regular"/>
              </a:rPr>
              <a:t>et al</a:t>
            </a:r>
            <a:r>
              <a:rPr lang="en-US" sz="1600" dirty="0">
                <a:solidFill>
                  <a:srgbClr val="333333"/>
                </a:solidFill>
                <a:latin typeface="HelveticaNeue Regular"/>
              </a:rPr>
              <a:t> "An effective way to incorporate temperature–humidity index to study effect of heat stress on milk yield by an </a:t>
            </a:r>
            <a:r>
              <a:rPr lang="en-US" sz="1600" dirty="0" err="1">
                <a:solidFill>
                  <a:srgbClr val="333333"/>
                </a:solidFill>
                <a:latin typeface="HelveticaNeue Regular"/>
              </a:rPr>
              <a:t>XGBoost</a:t>
            </a:r>
            <a:r>
              <a:rPr lang="en-US" sz="1600" dirty="0">
                <a:solidFill>
                  <a:srgbClr val="333333"/>
                </a:solidFill>
                <a:latin typeface="HelveticaNeue Regular"/>
              </a:rPr>
              <a:t> machine learning model," in </a:t>
            </a:r>
            <a:r>
              <a:rPr lang="en-US" sz="1600" i="1" dirty="0">
                <a:solidFill>
                  <a:srgbClr val="333333"/>
                </a:solidFill>
                <a:latin typeface="HelveticaNeue Regular"/>
              </a:rPr>
              <a:t>Journal of Dairy Science</a:t>
            </a:r>
            <a:r>
              <a:rPr lang="en-US" sz="1600" dirty="0">
                <a:solidFill>
                  <a:srgbClr val="333333"/>
                </a:solidFill>
                <a:latin typeface="HelveticaNeue Regular"/>
              </a:rPr>
              <a:t>, vol. 108, no. 12, 2025, </a:t>
            </a:r>
            <a:r>
              <a:rPr lang="en-US" sz="1600" dirty="0" err="1">
                <a:solidFill>
                  <a:srgbClr val="333333"/>
                </a:solidFill>
                <a:latin typeface="HelveticaNeue Regular"/>
              </a:rPr>
              <a:t>doi</a:t>
            </a:r>
            <a:r>
              <a:rPr lang="en-US" sz="1600" dirty="0">
                <a:solidFill>
                  <a:srgbClr val="333333"/>
                </a:solidFill>
                <a:latin typeface="HelveticaNeue Regular"/>
              </a:rPr>
              <a:t>: 10.3168/jds.2025-27193.</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F1D6CDFA-2457-7A5E-E76C-4C81913FAD2A}"/>
                  </a:ext>
                </a:extLst>
              </p:cNvPr>
              <p:cNvSpPr txBox="1">
                <a:spLocks/>
              </p:cNvSpPr>
              <p:nvPr/>
            </p:nvSpPr>
            <p:spPr>
              <a:xfrm>
                <a:off x="180000" y="1008528"/>
                <a:ext cx="11880000" cy="4680207"/>
              </a:xfrm>
              <a:prstGeom prst="rect">
                <a:avLst/>
              </a:prstGeom>
            </p:spPr>
            <p:txBody>
              <a:bodyPr>
                <a:normAutofit fontScale="77500" lnSpcReduction="20000"/>
              </a:bodyPr>
              <a:lst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Case Study:</a:t>
                </a:r>
                <a:r>
                  <a:rPr lang="en-US" sz="2000" dirty="0"/>
                  <a:t> </a:t>
                </a:r>
                <a:r>
                  <a:rPr lang="en-US" sz="2000" u="sng" dirty="0"/>
                  <a:t>10</a:t>
                </a:r>
                <a:r>
                  <a:rPr lang="en-US" sz="2000" dirty="0"/>
                  <a:t> commercial dairy farms in Australia involving </a:t>
                </a:r>
                <a:r>
                  <a:rPr lang="en-US" sz="2000" u="sng" dirty="0"/>
                  <a:t>3,369</a:t>
                </a:r>
                <a:r>
                  <a:rPr lang="en-US" sz="2000" dirty="0"/>
                  <a:t> lactating cows (primarily Holstein Friesian).</a:t>
                </a:r>
              </a:p>
              <a:p>
                <a:r>
                  <a:rPr lang="en-US" sz="2000" b="1" dirty="0"/>
                  <a:t>Data:</a:t>
                </a:r>
              </a:p>
              <a:p>
                <a:r>
                  <a:rPr lang="en-US" sz="2000" b="1" dirty="0"/>
                  <a:t>	Timeframe:</a:t>
                </a:r>
                <a:r>
                  <a:rPr lang="en-US" sz="2000" dirty="0"/>
                  <a:t> from early 2019 to mid-2023</a:t>
                </a:r>
                <a:endParaRPr lang="en-US" sz="2000" b="1" dirty="0"/>
              </a:p>
              <a:p>
                <a:r>
                  <a:rPr lang="en-US" sz="2000" b="1" dirty="0"/>
                  <a:t>	Milk Data:</a:t>
                </a:r>
                <a:r>
                  <a:rPr lang="en-US" sz="2000" dirty="0"/>
                  <a:t> Daily total yield, milking time, duration, etc.</a:t>
                </a:r>
              </a:p>
              <a:p>
                <a:r>
                  <a:rPr lang="en-US" sz="2000" dirty="0"/>
                  <a:t>	</a:t>
                </a:r>
                <a:r>
                  <a:rPr lang="en-US" sz="2000" b="1" dirty="0"/>
                  <a:t>Cow Info:</a:t>
                </a:r>
                <a:r>
                  <a:rPr lang="en-US" sz="2000" dirty="0"/>
                  <a:t> National ID, birth date, calving date, etc.</a:t>
                </a:r>
              </a:p>
              <a:p>
                <a:r>
                  <a:rPr lang="en-US" sz="2000" dirty="0"/>
                  <a:t>	</a:t>
                </a:r>
                <a:r>
                  <a:rPr lang="en-US" sz="2000" b="1" dirty="0"/>
                  <a:t>Weather Data:</a:t>
                </a:r>
                <a:r>
                  <a:rPr lang="en-US" sz="2000" dirty="0"/>
                  <a:t> a station </a:t>
                </a:r>
                <a:r>
                  <a:rPr lang="en-US" sz="2000" b="1" dirty="0"/>
                  <a:t>&lt;65 km</a:t>
                </a:r>
                <a:r>
                  <a:rPr lang="en-US" sz="2000" dirty="0"/>
                  <a:t> from the farm.</a:t>
                </a:r>
              </a:p>
              <a:p>
                <a:r>
                  <a:rPr lang="en-US" sz="2000" b="1" dirty="0"/>
                  <a:t>Novelty: </a:t>
                </a:r>
                <a:r>
                  <a:rPr lang="en-US" sz="2000" dirty="0"/>
                  <a:t>Replaced standard daily THI with </a:t>
                </a:r>
                <a:r>
                  <a:rPr lang="en-US" sz="2000" b="1" dirty="0"/>
                  <a:t>THI Composite</a:t>
                </a:r>
              </a:p>
              <a:p>
                <a:r>
                  <a:rPr lang="en-US" sz="2000" dirty="0"/>
                  <a:t>	</a:t>
                </a:r>
                <a:r>
                  <a:rPr lang="en-US" sz="2000" b="1" dirty="0"/>
                  <a:t>THI Composite</a:t>
                </a:r>
                <a:r>
                  <a:rPr lang="en-US" sz="2000" dirty="0"/>
                  <a:t> is average of 5-day window of THI=</a:t>
                </a:r>
              </a:p>
              <a:p>
                <a:endParaRPr lang="en-US" sz="2000" dirty="0"/>
              </a:p>
              <a:p>
                <a:r>
                  <a:rPr lang="en-US" sz="2000" b="1" dirty="0"/>
                  <a:t>Methodology:</a:t>
                </a:r>
                <a:r>
                  <a:rPr lang="en-US" sz="2000" dirty="0"/>
                  <a:t> Developed an </a:t>
                </a:r>
                <a:r>
                  <a:rPr lang="en-US" sz="2000" b="1" dirty="0" err="1"/>
                  <a:t>eXtreme</a:t>
                </a:r>
                <a:r>
                  <a:rPr lang="en-US" sz="2000" b="1" dirty="0"/>
                  <a:t> Gradient Boosting (</a:t>
                </a:r>
                <a:r>
                  <a:rPr lang="en-US" sz="2000" b="1" dirty="0" err="1"/>
                  <a:t>XGBoost</a:t>
                </a:r>
                <a:r>
                  <a:rPr lang="en-US" sz="2000" b="1" dirty="0"/>
                  <a:t>)</a:t>
                </a:r>
                <a:r>
                  <a:rPr lang="en-US" sz="2000" dirty="0"/>
                  <a:t> model to predict daily milk </a:t>
                </a:r>
              </a:p>
              <a:p>
                <a:r>
                  <a:rPr lang="en-US" sz="2000" b="1" dirty="0"/>
                  <a:t>Performance &amp; Metrics: </a:t>
                </a:r>
                <a:endParaRPr lang="en-US" sz="2000" i="1" dirty="0">
                  <a:latin typeface="Cambria Math" panose="02040503050406030204" pitchFamily="18" charset="0"/>
                </a:endParaRPr>
              </a:p>
              <a:p>
                <a:r>
                  <a:rPr lang="en-US" sz="2000" dirty="0"/>
                  <a:t>	</a:t>
                </a:r>
                <a14:m>
                  <m:oMath xmlns:m="http://schemas.openxmlformats.org/officeDocument/2006/math">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𝑅</m:t>
                        </m:r>
                      </m:e>
                      <m:sup>
                        <m:r>
                          <a:rPr lang="en-US" sz="2000" b="0" i="1" smtClean="0">
                            <a:latin typeface="Cambria Math" panose="02040503050406030204" pitchFamily="18" charset="0"/>
                          </a:rPr>
                          <m:t>2</m:t>
                        </m:r>
                      </m:sup>
                    </m:sSup>
                    <m:r>
                      <a:rPr lang="en-US" sz="2000" b="0" i="0" smtClean="0">
                        <a:latin typeface="Cambria Math" panose="02040503050406030204" pitchFamily="18" charset="0"/>
                      </a:rPr>
                      <m:t>= </m:t>
                    </m:r>
                  </m:oMath>
                </a14:m>
                <a:r>
                  <a:rPr lang="en-US" sz="2000" dirty="0"/>
                  <a:t>0.73 </a:t>
                </a:r>
              </a:p>
              <a:p>
                <a:r>
                  <a:rPr lang="en-US" sz="2000" dirty="0"/>
                  <a:t>	Lin’s Concordance Correlation Coefficient (LCCC) = 0.846.</a:t>
                </a:r>
              </a:p>
              <a:p>
                <a:r>
                  <a:rPr lang="en-US" sz="2000" dirty="0"/>
                  <a:t>	</a:t>
                </a:r>
                <a:r>
                  <a:rPr lang="en-US" sz="2000" b="1" dirty="0"/>
                  <a:t>THI composite</a:t>
                </a:r>
                <a:r>
                  <a:rPr lang="en-US" sz="2000" dirty="0"/>
                  <a:t> improved prediction accuracy by up to </a:t>
                </a:r>
                <a:r>
                  <a:rPr lang="en-US" sz="2000" b="1" dirty="0"/>
                  <a:t>21%</a:t>
                </a:r>
                <a:endParaRPr lang="en-US" sz="2000" dirty="0"/>
              </a:p>
            </p:txBody>
          </p:sp>
        </mc:Choice>
        <mc:Fallback xmlns="">
          <p:sp>
            <p:nvSpPr>
              <p:cNvPr id="4" name="Content Placeholder 2">
                <a:extLst>
                  <a:ext uri="{FF2B5EF4-FFF2-40B4-BE49-F238E27FC236}">
                    <a16:creationId xmlns:a16="http://schemas.microsoft.com/office/drawing/2014/main" id="{F1D6CDFA-2457-7A5E-E76C-4C81913FAD2A}"/>
                  </a:ext>
                </a:extLst>
              </p:cNvPr>
              <p:cNvSpPr txBox="1">
                <a:spLocks noRot="1" noChangeAspect="1" noMove="1" noResize="1" noEditPoints="1" noAdjustHandles="1" noChangeArrowheads="1" noChangeShapeType="1" noTextEdit="1"/>
              </p:cNvSpPr>
              <p:nvPr/>
            </p:nvSpPr>
            <p:spPr>
              <a:xfrm>
                <a:off x="180000" y="1008528"/>
                <a:ext cx="11880000" cy="4680207"/>
              </a:xfrm>
              <a:prstGeom prst="rect">
                <a:avLst/>
              </a:prstGeom>
              <a:blipFill>
                <a:blip r:embed="rId2"/>
                <a:stretch>
                  <a:fillRect l="-321" t="-1084"/>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5DE1CA6-5CD5-FE41-E0A6-724816D77EE8}"/>
              </a:ext>
            </a:extLst>
          </p:cNvPr>
          <p:cNvPicPr>
            <a:picLocks noChangeAspect="1"/>
          </p:cNvPicPr>
          <p:nvPr/>
        </p:nvPicPr>
        <p:blipFill>
          <a:blip r:embed="rId3"/>
          <a:stretch>
            <a:fillRect/>
          </a:stretch>
        </p:blipFill>
        <p:spPr>
          <a:xfrm>
            <a:off x="6323527" y="2995617"/>
            <a:ext cx="5723594" cy="691863"/>
          </a:xfrm>
          <a:prstGeom prst="rect">
            <a:avLst/>
          </a:prstGeom>
        </p:spPr>
      </p:pic>
    </p:spTree>
    <p:extLst>
      <p:ext uri="{BB962C8B-B14F-4D97-AF65-F5344CB8AC3E}">
        <p14:creationId xmlns:p14="http://schemas.microsoft.com/office/powerpoint/2010/main" val="604261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9831D-D18D-68DB-7E59-845DF911AC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2F2257-21B4-F396-C546-08F14F169CA2}"/>
              </a:ext>
            </a:extLst>
          </p:cNvPr>
          <p:cNvSpPr>
            <a:spLocks noGrp="1"/>
          </p:cNvSpPr>
          <p:nvPr>
            <p:ph type="title"/>
          </p:nvPr>
        </p:nvSpPr>
        <p:spPr>
          <a:xfrm>
            <a:off x="180000" y="180000"/>
            <a:ext cx="11880000" cy="1532686"/>
          </a:xfrm>
        </p:spPr>
        <p:txBody>
          <a:bodyPr>
            <a:normAutofit fontScale="90000"/>
          </a:bodyPr>
          <a:lstStyle/>
          <a:p>
            <a:r>
              <a:rPr lang="en-US" dirty="0"/>
              <a:t>individual models for predicting cow milk production in Korea, by Song,2025</a:t>
            </a:r>
            <a:br>
              <a:rPr lang="en-US" dirty="0"/>
            </a:br>
            <a:endParaRPr lang="en-US" dirty="0"/>
          </a:p>
        </p:txBody>
      </p:sp>
      <p:sp>
        <p:nvSpPr>
          <p:cNvPr id="3" name="TextBox 2">
            <a:extLst>
              <a:ext uri="{FF2B5EF4-FFF2-40B4-BE49-F238E27FC236}">
                <a16:creationId xmlns:a16="http://schemas.microsoft.com/office/drawing/2014/main" id="{AFAFDA7F-4C78-2347-EF66-63CC8EB7241E}"/>
              </a:ext>
            </a:extLst>
          </p:cNvPr>
          <p:cNvSpPr txBox="1"/>
          <p:nvPr/>
        </p:nvSpPr>
        <p:spPr>
          <a:xfrm>
            <a:off x="643982" y="5688736"/>
            <a:ext cx="11416018" cy="584775"/>
          </a:xfrm>
          <a:prstGeom prst="rect">
            <a:avLst/>
          </a:prstGeom>
          <a:noFill/>
        </p:spPr>
        <p:txBody>
          <a:bodyPr wrap="square">
            <a:spAutoFit/>
          </a:bodyPr>
          <a:lstStyle/>
          <a:p>
            <a:r>
              <a:rPr lang="en-US" sz="1600" dirty="0">
                <a:solidFill>
                  <a:srgbClr val="333333"/>
                </a:solidFill>
                <a:latin typeface="HelveticaNeue Regular"/>
              </a:rPr>
              <a:t>J.-W. Song, </a:t>
            </a:r>
            <a:r>
              <a:rPr lang="en-US" sz="1600" i="1" dirty="0">
                <a:solidFill>
                  <a:srgbClr val="333333"/>
                </a:solidFill>
                <a:latin typeface="HelveticaNeue Regular"/>
              </a:rPr>
              <a:t>et al</a:t>
            </a:r>
            <a:r>
              <a:rPr lang="en-US" sz="1600" dirty="0">
                <a:solidFill>
                  <a:srgbClr val="333333"/>
                </a:solidFill>
                <a:latin typeface="HelveticaNeue Regular"/>
              </a:rPr>
              <a:t> "Development of individual models for predicting cow milk production for real-time monitoring," in </a:t>
            </a:r>
            <a:r>
              <a:rPr lang="en-US" sz="1600" i="1" dirty="0">
                <a:solidFill>
                  <a:srgbClr val="333333"/>
                </a:solidFill>
                <a:latin typeface="HelveticaNeue Regular"/>
              </a:rPr>
              <a:t>Computers and Electronics in Agriculture</a:t>
            </a:r>
            <a:r>
              <a:rPr lang="en-US" sz="1600" dirty="0">
                <a:solidFill>
                  <a:srgbClr val="333333"/>
                </a:solidFill>
                <a:latin typeface="HelveticaNeue Regular"/>
              </a:rPr>
              <a:t>, vol. 228, Art. no. 109698, Jan. 2025, </a:t>
            </a:r>
            <a:r>
              <a:rPr lang="en-US" sz="1600" dirty="0" err="1">
                <a:solidFill>
                  <a:srgbClr val="333333"/>
                </a:solidFill>
                <a:latin typeface="HelveticaNeue Regular"/>
              </a:rPr>
              <a:t>doi</a:t>
            </a:r>
            <a:r>
              <a:rPr lang="en-US" sz="1600" dirty="0">
                <a:solidFill>
                  <a:srgbClr val="333333"/>
                </a:solidFill>
                <a:latin typeface="HelveticaNeue Regular"/>
              </a:rPr>
              <a:t>: 10.1016/j.compag.2024.109698.</a:t>
            </a:r>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A2765321-D535-CB60-B34E-7170E2DCC73C}"/>
                  </a:ext>
                </a:extLst>
              </p:cNvPr>
              <p:cNvSpPr txBox="1">
                <a:spLocks/>
              </p:cNvSpPr>
              <p:nvPr/>
            </p:nvSpPr>
            <p:spPr>
              <a:xfrm>
                <a:off x="180000" y="1366092"/>
                <a:ext cx="11880000" cy="4322643"/>
              </a:xfrm>
              <a:prstGeom prst="rect">
                <a:avLst/>
              </a:prstGeom>
            </p:spPr>
            <p:txBody>
              <a:bodyPr>
                <a:normAutofit fontScale="77500" lnSpcReduction="20000"/>
              </a:bodyPr>
              <a:lst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Case Study:</a:t>
                </a:r>
                <a:r>
                  <a:rPr lang="en-US" sz="2000" dirty="0"/>
                  <a:t> </a:t>
                </a:r>
                <a:r>
                  <a:rPr lang="en-US" sz="2000" u="sng" dirty="0"/>
                  <a:t>4</a:t>
                </a:r>
                <a:r>
                  <a:rPr lang="en-US" sz="2000" dirty="0"/>
                  <a:t> commercial dairy farms in South Korea involving </a:t>
                </a:r>
                <a:r>
                  <a:rPr lang="en-US" sz="2000" u="sng" dirty="0"/>
                  <a:t>727</a:t>
                </a:r>
                <a:r>
                  <a:rPr lang="en-US" sz="2000" dirty="0"/>
                  <a:t> cows</a:t>
                </a:r>
              </a:p>
              <a:p>
                <a:r>
                  <a:rPr lang="en-US" sz="2000" b="1" dirty="0"/>
                  <a:t>Data:</a:t>
                </a:r>
              </a:p>
              <a:p>
                <a:r>
                  <a:rPr lang="en-US" sz="2000" b="1" dirty="0"/>
                  <a:t>	Timeframe:</a:t>
                </a:r>
                <a:r>
                  <a:rPr lang="en-US" sz="2000" dirty="0"/>
                  <a:t> from Jan 2016 to Dec 2018 (3 years)</a:t>
                </a:r>
              </a:p>
              <a:p>
                <a:r>
                  <a:rPr lang="en-US" sz="2000" b="1" dirty="0"/>
                  <a:t>	Milk Data:</a:t>
                </a:r>
                <a:r>
                  <a:rPr lang="en-US" sz="2000" dirty="0"/>
                  <a:t> Daily production volume logged individually via RFID tags.</a:t>
                </a:r>
              </a:p>
              <a:p>
                <a:r>
                  <a:rPr lang="en-US" sz="2000" dirty="0"/>
                  <a:t>	</a:t>
                </a:r>
                <a:r>
                  <a:rPr lang="en-US" sz="2000" b="1" dirty="0"/>
                  <a:t>Cow Info:</a:t>
                </a:r>
                <a:r>
                  <a:rPr lang="en-US" sz="2000" dirty="0"/>
                  <a:t> Parity and Days in Milk (DIM).</a:t>
                </a:r>
              </a:p>
              <a:p>
                <a:r>
                  <a:rPr lang="en-US" sz="2000" dirty="0"/>
                  <a:t>	</a:t>
                </a:r>
                <a:r>
                  <a:rPr lang="en-US" sz="2000" b="1" dirty="0"/>
                  <a:t>Weather Data:</a:t>
                </a:r>
                <a:r>
                  <a:rPr lang="en-US" sz="2000" dirty="0"/>
                  <a:t> </a:t>
                </a:r>
                <a:r>
                  <a:rPr lang="en-US" sz="2000" u="sng" dirty="0"/>
                  <a:t>no weather data used.</a:t>
                </a:r>
              </a:p>
              <a:p>
                <a:r>
                  <a:rPr lang="en-US" sz="2000" b="1" dirty="0"/>
                  <a:t>Novelty: </a:t>
                </a:r>
              </a:p>
              <a:p>
                <a:r>
                  <a:rPr lang="en-US" sz="2000" dirty="0"/>
                  <a:t>	Developed </a:t>
                </a:r>
                <a:r>
                  <a:rPr lang="en-US" sz="2000" b="1" dirty="0"/>
                  <a:t>individual-based </a:t>
                </a:r>
                <a:r>
                  <a:rPr lang="en-US" sz="2000" dirty="0"/>
                  <a:t>models</a:t>
                </a:r>
                <a:r>
                  <a:rPr lang="en-US" sz="2000" b="1" dirty="0"/>
                  <a:t>.</a:t>
                </a:r>
              </a:p>
              <a:p>
                <a:r>
                  <a:rPr lang="en-US" sz="2000" b="1" dirty="0"/>
                  <a:t>	</a:t>
                </a:r>
                <a:r>
                  <a:rPr lang="en-US" sz="2000" dirty="0"/>
                  <a:t>Modified</a:t>
                </a:r>
                <a:r>
                  <a:rPr lang="en-US" sz="2000" b="1" dirty="0"/>
                  <a:t> </a:t>
                </a:r>
                <a:r>
                  <a:rPr lang="en-US" sz="2000" b="1" dirty="0" err="1"/>
                  <a:t>Wilmink</a:t>
                </a:r>
                <a:r>
                  <a:rPr lang="en-US" sz="2000" b="1" dirty="0"/>
                  <a:t> </a:t>
                </a:r>
                <a:r>
                  <a:rPr lang="en-US" sz="2000" dirty="0"/>
                  <a:t>Model used for prediction</a:t>
                </a:r>
              </a:p>
              <a:p>
                <a:r>
                  <a:rPr lang="en-US" sz="2000" b="1" dirty="0"/>
                  <a:t>Methodology:</a:t>
                </a:r>
                <a:r>
                  <a:rPr lang="en-US" sz="2000" dirty="0"/>
                  <a:t> Combined </a:t>
                </a:r>
                <a:r>
                  <a:rPr lang="en-US" sz="2000" b="1" dirty="0"/>
                  <a:t>Simple Exponential Smoothing</a:t>
                </a:r>
                <a:r>
                  <a:rPr lang="en-US" sz="2000" dirty="0"/>
                  <a:t> with </a:t>
                </a:r>
                <a:r>
                  <a:rPr lang="en-US" sz="2000" b="1" dirty="0"/>
                  <a:t>Modified </a:t>
                </a:r>
                <a:r>
                  <a:rPr lang="en-US" sz="2000" b="1" dirty="0" err="1"/>
                  <a:t>Wilmink</a:t>
                </a:r>
                <a:r>
                  <a:rPr lang="en-US" sz="2000" b="1" dirty="0"/>
                  <a:t> regression</a:t>
                </a:r>
                <a:r>
                  <a:rPr lang="en-US" sz="2000" dirty="0"/>
                  <a:t> to predict daily milk</a:t>
                </a:r>
              </a:p>
              <a:p>
                <a:r>
                  <a:rPr lang="en-US" sz="2000" b="1" dirty="0"/>
                  <a:t>Performance &amp; Metrics: </a:t>
                </a:r>
                <a:endParaRPr lang="en-US" sz="2000" i="1" dirty="0">
                  <a:latin typeface="Cambria Math" panose="02040503050406030204" pitchFamily="18" charset="0"/>
                </a:endParaRPr>
              </a:p>
              <a:p>
                <a:r>
                  <a:rPr lang="en-US" sz="2000" dirty="0"/>
                  <a:t>	</a:t>
                </a:r>
                <a14:m>
                  <m:oMath xmlns:m="http://schemas.openxmlformats.org/officeDocument/2006/math">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𝑅</m:t>
                        </m:r>
                      </m:e>
                      <m:sup>
                        <m:r>
                          <a:rPr lang="en-US" sz="2000" b="0" i="1" smtClean="0">
                            <a:latin typeface="Cambria Math" panose="02040503050406030204" pitchFamily="18" charset="0"/>
                          </a:rPr>
                          <m:t>2</m:t>
                        </m:r>
                      </m:sup>
                    </m:sSup>
                    <m:r>
                      <a:rPr lang="en-US" sz="2000" b="0" i="0" smtClean="0">
                        <a:latin typeface="Cambria Math" panose="02040503050406030204" pitchFamily="18" charset="0"/>
                      </a:rPr>
                      <m:t>= </m:t>
                    </m:r>
                  </m:oMath>
                </a14:m>
                <a:r>
                  <a:rPr lang="en-US" sz="2000" dirty="0"/>
                  <a:t>0.875 </a:t>
                </a:r>
              </a:p>
              <a:p>
                <a:r>
                  <a:rPr lang="en-US" sz="2000" dirty="0"/>
                  <a:t>	Root Mean Squared Error (RMSE) = 2.192</a:t>
                </a:r>
              </a:p>
            </p:txBody>
          </p:sp>
        </mc:Choice>
        <mc:Fallback>
          <p:sp>
            <p:nvSpPr>
              <p:cNvPr id="4" name="Content Placeholder 2">
                <a:extLst>
                  <a:ext uri="{FF2B5EF4-FFF2-40B4-BE49-F238E27FC236}">
                    <a16:creationId xmlns:a16="http://schemas.microsoft.com/office/drawing/2014/main" id="{A2765321-D535-CB60-B34E-7170E2DCC73C}"/>
                  </a:ext>
                </a:extLst>
              </p:cNvPr>
              <p:cNvSpPr txBox="1">
                <a:spLocks noRot="1" noChangeAspect="1" noMove="1" noResize="1" noEditPoints="1" noAdjustHandles="1" noChangeArrowheads="1" noChangeShapeType="1" noTextEdit="1"/>
              </p:cNvSpPr>
              <p:nvPr/>
            </p:nvSpPr>
            <p:spPr>
              <a:xfrm>
                <a:off x="180000" y="1366092"/>
                <a:ext cx="11880000" cy="4322643"/>
              </a:xfrm>
              <a:prstGeom prst="rect">
                <a:avLst/>
              </a:prstGeom>
              <a:blipFill>
                <a:blip r:embed="rId2"/>
                <a:stretch>
                  <a:fillRect l="-321" t="-880"/>
                </a:stretch>
              </a:blipFill>
            </p:spPr>
            <p:txBody>
              <a:bodyPr/>
              <a:lstStyle/>
              <a:p>
                <a:r>
                  <a:rPr lang="en-US">
                    <a:noFill/>
                  </a:rPr>
                  <a:t> </a:t>
                </a:r>
              </a:p>
            </p:txBody>
          </p:sp>
        </mc:Fallback>
      </mc:AlternateContent>
    </p:spTree>
    <p:extLst>
      <p:ext uri="{BB962C8B-B14F-4D97-AF65-F5344CB8AC3E}">
        <p14:creationId xmlns:p14="http://schemas.microsoft.com/office/powerpoint/2010/main" val="12193524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FBC5E-AA9F-E0B3-86DC-F1AAF9CB20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AED0AF-1052-2FCD-5190-540085366D4C}"/>
              </a:ext>
            </a:extLst>
          </p:cNvPr>
          <p:cNvSpPr>
            <a:spLocks noGrp="1"/>
          </p:cNvSpPr>
          <p:nvPr>
            <p:ph type="title"/>
          </p:nvPr>
        </p:nvSpPr>
        <p:spPr>
          <a:xfrm>
            <a:off x="180000" y="180000"/>
            <a:ext cx="11880000" cy="1663314"/>
          </a:xfrm>
        </p:spPr>
        <p:txBody>
          <a:bodyPr>
            <a:normAutofit fontScale="90000"/>
          </a:bodyPr>
          <a:lstStyle/>
          <a:p>
            <a:r>
              <a:rPr lang="en-US" dirty="0"/>
              <a:t>predict the next month's daily cow milk yield in Australia by Ji,2022</a:t>
            </a:r>
            <a:br>
              <a:rPr lang="en-US" dirty="0"/>
            </a:br>
            <a:endParaRPr lang="en-US" dirty="0"/>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A7B599FA-FADF-5AA8-1DDF-64F4877935AF}"/>
                  </a:ext>
                </a:extLst>
              </p:cNvPr>
              <p:cNvSpPr txBox="1">
                <a:spLocks/>
              </p:cNvSpPr>
              <p:nvPr/>
            </p:nvSpPr>
            <p:spPr>
              <a:xfrm>
                <a:off x="180000" y="1366092"/>
                <a:ext cx="11880000" cy="4527932"/>
              </a:xfrm>
              <a:prstGeom prst="rect">
                <a:avLst/>
              </a:prstGeom>
            </p:spPr>
            <p:txBody>
              <a:bodyPr>
                <a:normAutofit fontScale="85000" lnSpcReduction="10000"/>
              </a:bodyPr>
              <a:lst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Case Study:</a:t>
                </a:r>
                <a:r>
                  <a:rPr lang="en-US" sz="2000" dirty="0"/>
                  <a:t> </a:t>
                </a:r>
                <a:r>
                  <a:rPr lang="en-US" sz="2000" u="sng" dirty="0"/>
                  <a:t>1</a:t>
                </a:r>
                <a:r>
                  <a:rPr lang="en-US" sz="2000" dirty="0"/>
                  <a:t> commercial robotic dairy farm in Australia involving 80 lactating cows.</a:t>
                </a:r>
              </a:p>
              <a:p>
                <a:r>
                  <a:rPr lang="en-US" sz="2000" b="1" dirty="0"/>
                  <a:t>Data:</a:t>
                </a:r>
              </a:p>
              <a:p>
                <a:r>
                  <a:rPr lang="en-US" sz="2000" b="1" dirty="0"/>
                  <a:t>	Timeframe:</a:t>
                </a:r>
                <a:r>
                  <a:rPr lang="en-US" sz="2000" dirty="0"/>
                  <a:t> from 2013 to 2018 (5 years).   </a:t>
                </a:r>
              </a:p>
              <a:p>
                <a:r>
                  <a:rPr lang="en-US" sz="2000" b="1" dirty="0"/>
                  <a:t>	Milk Data:</a:t>
                </a:r>
                <a:r>
                  <a:rPr lang="en-US" sz="2000" dirty="0"/>
                  <a:t> Daily yield (DMY), composition (fat, protein), milking frequency, milk temperature.</a:t>
                </a:r>
              </a:p>
              <a:p>
                <a:r>
                  <a:rPr lang="en-US" sz="2000" dirty="0"/>
                  <a:t>	</a:t>
                </a:r>
                <a:r>
                  <a:rPr lang="en-US" sz="2000" b="1" dirty="0"/>
                  <a:t>Cow Info:</a:t>
                </a:r>
                <a:r>
                  <a:rPr lang="en-US" sz="2000" dirty="0"/>
                  <a:t> Cow ID, age, body mass, days in milk (DIM), dry matter intake (DMI).</a:t>
                </a:r>
              </a:p>
              <a:p>
                <a:r>
                  <a:rPr lang="en-US" sz="2000" dirty="0"/>
                  <a:t>	</a:t>
                </a:r>
                <a:r>
                  <a:rPr lang="en-US" sz="2000" b="1" dirty="0"/>
                  <a:t>Weather Data:</a:t>
                </a:r>
                <a:r>
                  <a:rPr lang="en-US" sz="2000" dirty="0"/>
                  <a:t> a station </a:t>
                </a:r>
                <a:r>
                  <a:rPr lang="en-US" sz="2000" b="1" dirty="0"/>
                  <a:t>~2 km</a:t>
                </a:r>
                <a:r>
                  <a:rPr lang="en-US" sz="2000" dirty="0"/>
                  <a:t> from the farm</a:t>
                </a:r>
              </a:p>
              <a:p>
                <a:r>
                  <a:rPr lang="en-US" sz="2000" b="1" dirty="0"/>
                  <a:t>Novelty: </a:t>
                </a:r>
              </a:p>
              <a:p>
                <a:r>
                  <a:rPr lang="en-US" sz="2000" dirty="0"/>
                  <a:t>	</a:t>
                </a:r>
                <a:r>
                  <a:rPr lang="en-US" sz="2000" b="1" dirty="0"/>
                  <a:t>individual cow</a:t>
                </a:r>
                <a:r>
                  <a:rPr lang="en-US" sz="2000" dirty="0"/>
                  <a:t> prediction over a </a:t>
                </a:r>
                <a:r>
                  <a:rPr lang="en-US" sz="2000" b="1" dirty="0"/>
                  <a:t>28-day</a:t>
                </a:r>
              </a:p>
              <a:p>
                <a:r>
                  <a:rPr lang="en-US" sz="2000" b="1" dirty="0"/>
                  <a:t>Methodology:</a:t>
                </a:r>
                <a:r>
                  <a:rPr lang="en-US" sz="2000" dirty="0"/>
                  <a:t> Developed </a:t>
                </a:r>
                <a:r>
                  <a:rPr lang="en-US" sz="2000" b="1" dirty="0" err="1"/>
                  <a:t>eXtreme</a:t>
                </a:r>
                <a:r>
                  <a:rPr lang="en-US" sz="2000" b="1" dirty="0"/>
                  <a:t> Gradient Boosting (</a:t>
                </a:r>
                <a:r>
                  <a:rPr lang="en-US" sz="2000" b="1" dirty="0" err="1"/>
                  <a:t>XGBoost</a:t>
                </a:r>
                <a:r>
                  <a:rPr lang="en-US" sz="2000" b="1" dirty="0"/>
                  <a:t>)</a:t>
                </a:r>
                <a:r>
                  <a:rPr lang="en-US" sz="2000" dirty="0"/>
                  <a:t> regression and classification models to predict future production</a:t>
                </a:r>
              </a:p>
              <a:p>
                <a:r>
                  <a:rPr lang="en-US" sz="2000" b="1" dirty="0"/>
                  <a:t>Performance &amp; Metrics: </a:t>
                </a:r>
              </a:p>
              <a:p>
                <a:r>
                  <a:rPr lang="en-US" sz="2000" i="1" dirty="0">
                    <a:latin typeface="Cambria Math" panose="02040503050406030204" pitchFamily="18" charset="0"/>
                  </a:rPr>
                  <a:t>	</a:t>
                </a:r>
                <a:r>
                  <a:rPr lang="en-US" sz="2000" dirty="0"/>
                  <a:t>mean accuracy for daily </a:t>
                </a:r>
                <a:r>
                  <a:rPr lang="en-US" sz="2000"/>
                  <a:t>milk yield = </a:t>
                </a:r>
                <a:r>
                  <a:rPr lang="en-US" sz="2000" dirty="0"/>
                  <a:t>91.92 %</a:t>
                </a:r>
              </a:p>
              <a:p>
                <a:r>
                  <a:rPr lang="en-US" sz="2000" dirty="0"/>
                  <a:t>	</a:t>
                </a:r>
                <a14:m>
                  <m:oMath xmlns:m="http://schemas.openxmlformats.org/officeDocument/2006/math">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𝑅</m:t>
                        </m:r>
                      </m:e>
                      <m:sup>
                        <m:r>
                          <a:rPr lang="en-US" sz="2000" b="0" i="1" smtClean="0">
                            <a:latin typeface="Cambria Math" panose="02040503050406030204" pitchFamily="18" charset="0"/>
                          </a:rPr>
                          <m:t>2</m:t>
                        </m:r>
                      </m:sup>
                    </m:sSup>
                    <m:r>
                      <a:rPr lang="en-US" sz="2000" b="0" i="0" smtClean="0">
                        <a:latin typeface="Cambria Math" panose="02040503050406030204" pitchFamily="18" charset="0"/>
                      </a:rPr>
                      <m:t>&gt;</m:t>
                    </m:r>
                    <m:r>
                      <a:rPr lang="en-US" sz="2000" b="0" i="0" smtClean="0">
                        <a:latin typeface="Cambria Math" panose="02040503050406030204" pitchFamily="18" charset="0"/>
                      </a:rPr>
                      <m:t> </m:t>
                    </m:r>
                  </m:oMath>
                </a14:m>
                <a:r>
                  <a:rPr lang="en-US" sz="2000" dirty="0"/>
                  <a:t>0.9 </a:t>
                </a:r>
              </a:p>
            </p:txBody>
          </p:sp>
        </mc:Choice>
        <mc:Fallback>
          <p:sp>
            <p:nvSpPr>
              <p:cNvPr id="4" name="Content Placeholder 2">
                <a:extLst>
                  <a:ext uri="{FF2B5EF4-FFF2-40B4-BE49-F238E27FC236}">
                    <a16:creationId xmlns:a16="http://schemas.microsoft.com/office/drawing/2014/main" id="{A7B599FA-FADF-5AA8-1DDF-64F4877935AF}"/>
                  </a:ext>
                </a:extLst>
              </p:cNvPr>
              <p:cNvSpPr txBox="1">
                <a:spLocks noRot="1" noChangeAspect="1" noMove="1" noResize="1" noEditPoints="1" noAdjustHandles="1" noChangeArrowheads="1" noChangeShapeType="1" noTextEdit="1"/>
              </p:cNvSpPr>
              <p:nvPr/>
            </p:nvSpPr>
            <p:spPr>
              <a:xfrm>
                <a:off x="180000" y="1366092"/>
                <a:ext cx="11880000" cy="4527932"/>
              </a:xfrm>
              <a:prstGeom prst="rect">
                <a:avLst/>
              </a:prstGeom>
              <a:blipFill>
                <a:blip r:embed="rId2"/>
                <a:stretch>
                  <a:fillRect l="-321" t="-559" b="-1676"/>
                </a:stretch>
              </a:blipFill>
            </p:spPr>
            <p:txBody>
              <a:bodyPr/>
              <a:lstStyle/>
              <a:p>
                <a:r>
                  <a:rPr lang="en-US">
                    <a:noFill/>
                  </a:rPr>
                  <a:t> </a:t>
                </a:r>
              </a:p>
            </p:txBody>
          </p:sp>
        </mc:Fallback>
      </mc:AlternateContent>
    </p:spTree>
    <p:extLst>
      <p:ext uri="{BB962C8B-B14F-4D97-AF65-F5344CB8AC3E}">
        <p14:creationId xmlns:p14="http://schemas.microsoft.com/office/powerpoint/2010/main" val="26516401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34AF6-26B6-1BE1-ADBC-B2D79A18B6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DF2FBE-F5D5-4C58-50BB-E84D3DFA97F5}"/>
              </a:ext>
            </a:extLst>
          </p:cNvPr>
          <p:cNvSpPr>
            <a:spLocks noGrp="1"/>
          </p:cNvSpPr>
          <p:nvPr>
            <p:ph type="title"/>
          </p:nvPr>
        </p:nvSpPr>
        <p:spPr>
          <a:xfrm>
            <a:off x="180000" y="179999"/>
            <a:ext cx="11880000" cy="1605257"/>
          </a:xfrm>
        </p:spPr>
        <p:txBody>
          <a:bodyPr>
            <a:normAutofit fontScale="90000"/>
          </a:bodyPr>
          <a:lstStyle/>
          <a:p>
            <a:r>
              <a:rPr lang="en-US" dirty="0"/>
              <a:t>predict SCC in the Italian Mediterranean Buffaloes by Bobbo, 2022</a:t>
            </a:r>
            <a:br>
              <a:rPr lang="en-US" dirty="0"/>
            </a:br>
            <a:endParaRPr lang="en-US" dirty="0"/>
          </a:p>
        </p:txBody>
      </p:sp>
    </p:spTree>
    <p:extLst>
      <p:ext uri="{BB962C8B-B14F-4D97-AF65-F5344CB8AC3E}">
        <p14:creationId xmlns:p14="http://schemas.microsoft.com/office/powerpoint/2010/main" val="905775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84BF0-D328-97B4-BD00-6BACE7EC52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5F1542-AF06-2670-2D78-9B5708F30D63}"/>
              </a:ext>
            </a:extLst>
          </p:cNvPr>
          <p:cNvSpPr>
            <a:spLocks noGrp="1"/>
          </p:cNvSpPr>
          <p:nvPr>
            <p:ph type="title"/>
          </p:nvPr>
        </p:nvSpPr>
        <p:spPr>
          <a:xfrm>
            <a:off x="180000" y="180000"/>
            <a:ext cx="11880000" cy="648000"/>
          </a:xfrm>
        </p:spPr>
        <p:txBody>
          <a:bodyPr>
            <a:normAutofit/>
          </a:bodyPr>
          <a:lstStyle/>
          <a:p>
            <a:r>
              <a:rPr lang="en-US" sz="3600" dirty="0"/>
              <a:t>Matteo’s work slide 1</a:t>
            </a:r>
          </a:p>
        </p:txBody>
      </p:sp>
    </p:spTree>
    <p:extLst>
      <p:ext uri="{BB962C8B-B14F-4D97-AF65-F5344CB8AC3E}">
        <p14:creationId xmlns:p14="http://schemas.microsoft.com/office/powerpoint/2010/main" val="19049547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7399C-66C7-BA31-F885-982E18A055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8D0F4F-5F00-B158-92F8-BE610A988DAA}"/>
              </a:ext>
            </a:extLst>
          </p:cNvPr>
          <p:cNvSpPr>
            <a:spLocks noGrp="1"/>
          </p:cNvSpPr>
          <p:nvPr>
            <p:ph type="title"/>
          </p:nvPr>
        </p:nvSpPr>
        <p:spPr>
          <a:xfrm>
            <a:off x="180000" y="180000"/>
            <a:ext cx="11880000" cy="648000"/>
          </a:xfrm>
        </p:spPr>
        <p:txBody>
          <a:bodyPr>
            <a:normAutofit/>
          </a:bodyPr>
          <a:lstStyle/>
          <a:p>
            <a:r>
              <a:rPr lang="en-US" sz="3600" dirty="0"/>
              <a:t>Matteo’s work slide 2</a:t>
            </a:r>
          </a:p>
        </p:txBody>
      </p:sp>
    </p:spTree>
    <p:extLst>
      <p:ext uri="{BB962C8B-B14F-4D97-AF65-F5344CB8AC3E}">
        <p14:creationId xmlns:p14="http://schemas.microsoft.com/office/powerpoint/2010/main" val="15637660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41745-22F4-A2F3-E043-5DC5817148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77AE21-8C95-9EAC-376F-D748AD286B7A}"/>
              </a:ext>
            </a:extLst>
          </p:cNvPr>
          <p:cNvSpPr>
            <a:spLocks noGrp="1"/>
          </p:cNvSpPr>
          <p:nvPr>
            <p:ph type="title"/>
          </p:nvPr>
        </p:nvSpPr>
        <p:spPr>
          <a:xfrm>
            <a:off x="180000" y="180000"/>
            <a:ext cx="11880000" cy="648000"/>
          </a:xfrm>
        </p:spPr>
        <p:txBody>
          <a:bodyPr>
            <a:normAutofit/>
          </a:bodyPr>
          <a:lstStyle/>
          <a:p>
            <a:r>
              <a:rPr lang="en-US" sz="3600" dirty="0"/>
              <a:t>Matteo’s work slide 3</a:t>
            </a:r>
          </a:p>
        </p:txBody>
      </p:sp>
    </p:spTree>
    <p:extLst>
      <p:ext uri="{BB962C8B-B14F-4D97-AF65-F5344CB8AC3E}">
        <p14:creationId xmlns:p14="http://schemas.microsoft.com/office/powerpoint/2010/main" val="37251986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02B49"/>
        </a:solidFill>
        <a:effectLst/>
      </p:bgPr>
    </p:bg>
    <p:spTree>
      <p:nvGrpSpPr>
        <p:cNvPr id="1" name="">
          <a:extLst>
            <a:ext uri="{FF2B5EF4-FFF2-40B4-BE49-F238E27FC236}">
              <a16:creationId xmlns:a16="http://schemas.microsoft.com/office/drawing/2014/main" id="{BFC0B032-353C-D9A9-694D-B1F13C39909B}"/>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05494884-6E58-B123-4AD0-B0341A24162C}"/>
              </a:ext>
            </a:extLst>
          </p:cNvPr>
          <p:cNvSpPr>
            <a:spLocks noGrp="1"/>
          </p:cNvSpPr>
          <p:nvPr>
            <p:ph type="body" sz="quarter" idx="11"/>
          </p:nvPr>
        </p:nvSpPr>
        <p:spPr>
          <a:xfrm>
            <a:off x="5548393" y="1917000"/>
            <a:ext cx="6300557" cy="3024000"/>
          </a:xfrm>
        </p:spPr>
        <p:txBody>
          <a:bodyPr anchor="ctr">
            <a:normAutofit/>
          </a:bodyPr>
          <a:lstStyle/>
          <a:p>
            <a:pPr algn="ctr"/>
            <a:r>
              <a:rPr lang="en-US" sz="4400" b="1" dirty="0"/>
              <a:t>Literature Review</a:t>
            </a:r>
          </a:p>
        </p:txBody>
      </p:sp>
      <p:sp>
        <p:nvSpPr>
          <p:cNvPr id="12" name="Rectangle 11">
            <a:extLst>
              <a:ext uri="{FF2B5EF4-FFF2-40B4-BE49-F238E27FC236}">
                <a16:creationId xmlns:a16="http://schemas.microsoft.com/office/drawing/2014/main" id="{5ED6A22C-3BA3-0274-0BA9-87B112011B1B}"/>
              </a:ext>
            </a:extLst>
          </p:cNvPr>
          <p:cNvSpPr/>
          <p:nvPr/>
        </p:nvSpPr>
        <p:spPr bwMode="auto">
          <a:xfrm>
            <a:off x="6574971" y="5036457"/>
            <a:ext cx="2220686" cy="653143"/>
          </a:xfrm>
          <a:prstGeom prst="rect">
            <a:avLst/>
          </a:prstGeom>
          <a:solidFill>
            <a:srgbClr val="002B49"/>
          </a:solidFill>
          <a:ln>
            <a:noFill/>
          </a:ln>
        </p:spPr>
        <p:txBody>
          <a:bodyPr vert="horz" wrap="square" lIns="91440" tIns="45720" rIns="91440" bIns="45720" numCol="1" rtlCol="0" anchor="t" anchorCtr="0" compatLnSpc="1">
            <a:prstTxWarp prst="textNoShape">
              <a:avLst/>
            </a:prstTxWarp>
          </a:bodyPr>
          <a:lstStyle/>
          <a:p>
            <a:pPr algn="ctr"/>
            <a:endParaRPr lang="en-US"/>
          </a:p>
        </p:txBody>
      </p:sp>
    </p:spTree>
    <p:extLst>
      <p:ext uri="{BB962C8B-B14F-4D97-AF65-F5344CB8AC3E}">
        <p14:creationId xmlns:p14="http://schemas.microsoft.com/office/powerpoint/2010/main" val="20279306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0A032-D838-B0BA-9BB4-7C5E3C077E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BB642-8C2A-361F-9CB0-0F3E10376E58}"/>
              </a:ext>
            </a:extLst>
          </p:cNvPr>
          <p:cNvSpPr>
            <a:spLocks noGrp="1"/>
          </p:cNvSpPr>
          <p:nvPr>
            <p:ph type="title"/>
          </p:nvPr>
        </p:nvSpPr>
        <p:spPr>
          <a:xfrm>
            <a:off x="180000" y="180000"/>
            <a:ext cx="11880000" cy="648000"/>
          </a:xfrm>
        </p:spPr>
        <p:txBody>
          <a:bodyPr>
            <a:normAutofit/>
          </a:bodyPr>
          <a:lstStyle/>
          <a:p>
            <a:r>
              <a:rPr lang="en-US" sz="3600" dirty="0"/>
              <a:t>Hierarchy in time series (HTS)</a:t>
            </a:r>
          </a:p>
        </p:txBody>
      </p:sp>
      <p:sp>
        <p:nvSpPr>
          <p:cNvPr id="4" name="TextBox 3">
            <a:extLst>
              <a:ext uri="{FF2B5EF4-FFF2-40B4-BE49-F238E27FC236}">
                <a16:creationId xmlns:a16="http://schemas.microsoft.com/office/drawing/2014/main" id="{FD9C2676-9125-A5D2-F9BA-FEC9B3B5F067}"/>
              </a:ext>
            </a:extLst>
          </p:cNvPr>
          <p:cNvSpPr txBox="1"/>
          <p:nvPr/>
        </p:nvSpPr>
        <p:spPr>
          <a:xfrm>
            <a:off x="551542" y="1151234"/>
            <a:ext cx="10740571" cy="4293483"/>
          </a:xfrm>
          <a:prstGeom prst="rect">
            <a:avLst/>
          </a:prstGeom>
          <a:noFill/>
        </p:spPr>
        <p:txBody>
          <a:bodyPr wrap="square">
            <a:spAutoFit/>
          </a:bodyPr>
          <a:lstStyle/>
          <a:p>
            <a:pPr marL="342900" indent="-342900">
              <a:lnSpc>
                <a:spcPct val="200000"/>
              </a:lnSpc>
              <a:buFont typeface="Arial" panose="020B0604020202020204" pitchFamily="34" charset="0"/>
              <a:buChar char="•"/>
            </a:pPr>
            <a:r>
              <a:rPr lang="en-US" sz="2800" dirty="0">
                <a:solidFill>
                  <a:srgbClr val="002B49"/>
                </a:solidFill>
                <a:sym typeface="Wingdings" pitchFamily="2" charset="2"/>
              </a:rPr>
              <a:t>Time series data can be naturally hierarchical.</a:t>
            </a:r>
          </a:p>
          <a:p>
            <a:pPr marL="342900" indent="-342900">
              <a:lnSpc>
                <a:spcPct val="200000"/>
              </a:lnSpc>
              <a:buFont typeface="Arial" panose="020B0604020202020204" pitchFamily="34" charset="0"/>
              <a:buChar char="•"/>
            </a:pPr>
            <a:r>
              <a:rPr lang="en-US" sz="2800" dirty="0">
                <a:solidFill>
                  <a:srgbClr val="002B49"/>
                </a:solidFill>
              </a:rPr>
              <a:t>Data can be aggregated or disaggregated based on:</a:t>
            </a:r>
          </a:p>
          <a:p>
            <a:pPr marL="800100" lvl="1" indent="-342900">
              <a:lnSpc>
                <a:spcPct val="200000"/>
              </a:lnSpc>
              <a:buFont typeface="Arial" panose="020B0604020202020204" pitchFamily="34" charset="0"/>
              <a:buChar char="•"/>
            </a:pPr>
            <a:r>
              <a:rPr lang="en-US" sz="2800" dirty="0">
                <a:solidFill>
                  <a:srgbClr val="002B49"/>
                </a:solidFill>
              </a:rPr>
              <a:t>Types</a:t>
            </a:r>
          </a:p>
          <a:p>
            <a:pPr marL="800100" lvl="1" indent="-342900">
              <a:lnSpc>
                <a:spcPct val="200000"/>
              </a:lnSpc>
              <a:buFont typeface="Arial" panose="020B0604020202020204" pitchFamily="34" charset="0"/>
              <a:buChar char="•"/>
            </a:pPr>
            <a:r>
              <a:rPr lang="en-US" sz="2800" dirty="0">
                <a:solidFill>
                  <a:srgbClr val="002B49"/>
                </a:solidFill>
              </a:rPr>
              <a:t>Features</a:t>
            </a:r>
          </a:p>
          <a:p>
            <a:pPr marL="800100" lvl="1" indent="-342900">
              <a:lnSpc>
                <a:spcPct val="200000"/>
              </a:lnSpc>
              <a:buFont typeface="Arial" panose="020B0604020202020204" pitchFamily="34" charset="0"/>
              <a:buChar char="•"/>
            </a:pPr>
            <a:r>
              <a:rPr lang="en-US" sz="2800" dirty="0">
                <a:solidFill>
                  <a:srgbClr val="002B49"/>
                </a:solidFill>
              </a:rPr>
              <a:t>geographic division. [4]</a:t>
            </a:r>
          </a:p>
        </p:txBody>
      </p:sp>
      <p:pic>
        <p:nvPicPr>
          <p:cNvPr id="5" name="Graphic 4">
            <a:extLst>
              <a:ext uri="{FF2B5EF4-FFF2-40B4-BE49-F238E27FC236}">
                <a16:creationId xmlns:a16="http://schemas.microsoft.com/office/drawing/2014/main" id="{EC80AD20-4F7C-D640-06DC-AD41E4BF787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958366" y="3612370"/>
            <a:ext cx="2121857" cy="2121857"/>
          </a:xfrm>
          <a:prstGeom prst="rect">
            <a:avLst/>
          </a:prstGeom>
        </p:spPr>
      </p:pic>
    </p:spTree>
    <p:extLst>
      <p:ext uri="{BB962C8B-B14F-4D97-AF65-F5344CB8AC3E}">
        <p14:creationId xmlns:p14="http://schemas.microsoft.com/office/powerpoint/2010/main" val="11221713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1D1F2-972C-75A7-96EB-0E9110FFE6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E44992-0371-24E0-6B2D-3686F78F1F42}"/>
              </a:ext>
            </a:extLst>
          </p:cNvPr>
          <p:cNvSpPr>
            <a:spLocks noGrp="1"/>
          </p:cNvSpPr>
          <p:nvPr>
            <p:ph type="title"/>
          </p:nvPr>
        </p:nvSpPr>
        <p:spPr>
          <a:xfrm>
            <a:off x="180000" y="180000"/>
            <a:ext cx="11880000" cy="648000"/>
          </a:xfrm>
        </p:spPr>
        <p:txBody>
          <a:bodyPr>
            <a:normAutofit/>
          </a:bodyPr>
          <a:lstStyle/>
          <a:p>
            <a:r>
              <a:rPr lang="en-US" sz="3600" dirty="0"/>
              <a:t>Hierarchy in time series (HTS)</a:t>
            </a:r>
          </a:p>
        </p:txBody>
      </p:sp>
      <p:pic>
        <p:nvPicPr>
          <p:cNvPr id="3" name="Picture 2">
            <a:extLst>
              <a:ext uri="{FF2B5EF4-FFF2-40B4-BE49-F238E27FC236}">
                <a16:creationId xmlns:a16="http://schemas.microsoft.com/office/drawing/2014/main" id="{5F15DD5C-9F9D-A1E0-B978-CF0799B69E3A}"/>
              </a:ext>
            </a:extLst>
          </p:cNvPr>
          <p:cNvPicPr>
            <a:picLocks noChangeAspect="1"/>
          </p:cNvPicPr>
          <p:nvPr/>
        </p:nvPicPr>
        <p:blipFill>
          <a:blip r:embed="rId2"/>
          <a:stretch>
            <a:fillRect/>
          </a:stretch>
        </p:blipFill>
        <p:spPr>
          <a:xfrm>
            <a:off x="6095998" y="2384609"/>
            <a:ext cx="4837058" cy="3229465"/>
          </a:xfrm>
          <a:prstGeom prst="rect">
            <a:avLst/>
          </a:prstGeom>
        </p:spPr>
      </p:pic>
      <p:sp>
        <p:nvSpPr>
          <p:cNvPr id="6" name="TextBox 5">
            <a:extLst>
              <a:ext uri="{FF2B5EF4-FFF2-40B4-BE49-F238E27FC236}">
                <a16:creationId xmlns:a16="http://schemas.microsoft.com/office/drawing/2014/main" id="{17843FB1-5D63-AAB3-5701-B6F998D94A18}"/>
              </a:ext>
            </a:extLst>
          </p:cNvPr>
          <p:cNvSpPr txBox="1"/>
          <p:nvPr/>
        </p:nvSpPr>
        <p:spPr>
          <a:xfrm>
            <a:off x="549314" y="901695"/>
            <a:ext cx="7201315" cy="5139869"/>
          </a:xfrm>
          <a:prstGeom prst="rect">
            <a:avLst/>
          </a:prstGeom>
          <a:noFill/>
        </p:spPr>
        <p:txBody>
          <a:bodyPr wrap="square" rtlCol="0">
            <a:spAutoFit/>
          </a:bodyPr>
          <a:lstStyle/>
          <a:p>
            <a:r>
              <a:rPr lang="en-US" sz="2800" dirty="0">
                <a:solidFill>
                  <a:srgbClr val="002B49"/>
                </a:solidFill>
              </a:rPr>
              <a:t>The value of parent is always equals to </a:t>
            </a:r>
          </a:p>
          <a:p>
            <a:r>
              <a:rPr lang="en-US" sz="2800" dirty="0">
                <a:solidFill>
                  <a:srgbClr val="002B49"/>
                </a:solidFill>
              </a:rPr>
              <a:t>the sum of the values of its children.</a:t>
            </a:r>
          </a:p>
          <a:p>
            <a:endParaRPr lang="en-US" sz="2800" dirty="0">
              <a:solidFill>
                <a:srgbClr val="002B49"/>
              </a:solidFill>
            </a:endParaRPr>
          </a:p>
          <a:p>
            <a:r>
              <a:rPr lang="en-US" sz="2800" dirty="0">
                <a:solidFill>
                  <a:srgbClr val="002B49"/>
                </a:solidFill>
              </a:rPr>
              <a:t>So, if        equals The value of j at time t, then, we have : </a:t>
            </a:r>
          </a:p>
          <a:p>
            <a:endParaRPr lang="en-US" sz="2800" dirty="0">
              <a:solidFill>
                <a:srgbClr val="002B49"/>
              </a:solidFill>
            </a:endParaRPr>
          </a:p>
          <a:p>
            <a:endParaRPr lang="en-US" sz="2800" dirty="0">
              <a:solidFill>
                <a:srgbClr val="002B49"/>
              </a:solidFill>
            </a:endParaRPr>
          </a:p>
          <a:p>
            <a:endParaRPr lang="en-US" sz="2800" dirty="0">
              <a:solidFill>
                <a:srgbClr val="002B49"/>
              </a:solidFill>
            </a:endParaRPr>
          </a:p>
          <a:p>
            <a:endParaRPr lang="en-US" sz="2800" dirty="0">
              <a:solidFill>
                <a:srgbClr val="002B49"/>
              </a:solidFill>
            </a:endParaRPr>
          </a:p>
          <a:p>
            <a:r>
              <a:rPr lang="en-US" sz="2800" dirty="0">
                <a:solidFill>
                  <a:srgbClr val="002B49"/>
                </a:solidFill>
              </a:rPr>
              <a:t>Finally, we can say our data is Coherent. [4]</a:t>
            </a:r>
          </a:p>
          <a:p>
            <a:endParaRPr lang="en-US" sz="2000" b="1" dirty="0">
              <a:solidFill>
                <a:srgbClr val="1B415D"/>
              </a:solidFill>
            </a:endParaRPr>
          </a:p>
        </p:txBody>
      </p:sp>
      <p:pic>
        <p:nvPicPr>
          <p:cNvPr id="7" name="Picture 6">
            <a:extLst>
              <a:ext uri="{FF2B5EF4-FFF2-40B4-BE49-F238E27FC236}">
                <a16:creationId xmlns:a16="http://schemas.microsoft.com/office/drawing/2014/main" id="{6EDD386E-D164-E5C4-AC28-889BE3D2A0B8}"/>
              </a:ext>
            </a:extLst>
          </p:cNvPr>
          <p:cNvPicPr>
            <a:picLocks noChangeAspect="1"/>
          </p:cNvPicPr>
          <p:nvPr/>
        </p:nvPicPr>
        <p:blipFill>
          <a:blip r:embed="rId3"/>
          <a:srcRect t="20575" b="28424"/>
          <a:stretch>
            <a:fillRect/>
          </a:stretch>
        </p:blipFill>
        <p:spPr>
          <a:xfrm>
            <a:off x="675170" y="3178334"/>
            <a:ext cx="2277848" cy="450276"/>
          </a:xfrm>
          <a:prstGeom prst="rect">
            <a:avLst/>
          </a:prstGeom>
        </p:spPr>
      </p:pic>
      <p:pic>
        <p:nvPicPr>
          <p:cNvPr id="8" name="Picture 7">
            <a:extLst>
              <a:ext uri="{FF2B5EF4-FFF2-40B4-BE49-F238E27FC236}">
                <a16:creationId xmlns:a16="http://schemas.microsoft.com/office/drawing/2014/main" id="{DA002513-E7A0-63C7-B6E7-799FB2FB0506}"/>
              </a:ext>
            </a:extLst>
          </p:cNvPr>
          <p:cNvPicPr>
            <a:picLocks noChangeAspect="1"/>
          </p:cNvPicPr>
          <p:nvPr/>
        </p:nvPicPr>
        <p:blipFill>
          <a:blip r:embed="rId4"/>
          <a:stretch>
            <a:fillRect/>
          </a:stretch>
        </p:blipFill>
        <p:spPr>
          <a:xfrm>
            <a:off x="1554320" y="2126406"/>
            <a:ext cx="519548" cy="450276"/>
          </a:xfrm>
          <a:prstGeom prst="rect">
            <a:avLst/>
          </a:prstGeom>
        </p:spPr>
      </p:pic>
      <p:pic>
        <p:nvPicPr>
          <p:cNvPr id="9" name="Picture 8">
            <a:extLst>
              <a:ext uri="{FF2B5EF4-FFF2-40B4-BE49-F238E27FC236}">
                <a16:creationId xmlns:a16="http://schemas.microsoft.com/office/drawing/2014/main" id="{DE81C42B-67BC-FB3D-EC17-3D9C80A7BAB4}"/>
              </a:ext>
            </a:extLst>
          </p:cNvPr>
          <p:cNvPicPr>
            <a:picLocks noChangeAspect="1"/>
          </p:cNvPicPr>
          <p:nvPr/>
        </p:nvPicPr>
        <p:blipFill>
          <a:blip r:embed="rId5"/>
          <a:stretch>
            <a:fillRect/>
          </a:stretch>
        </p:blipFill>
        <p:spPr>
          <a:xfrm>
            <a:off x="549314" y="3551902"/>
            <a:ext cx="4220303" cy="588075"/>
          </a:xfrm>
          <a:prstGeom prst="rect">
            <a:avLst/>
          </a:prstGeom>
        </p:spPr>
      </p:pic>
      <p:pic>
        <p:nvPicPr>
          <p:cNvPr id="10" name="Picture 9">
            <a:extLst>
              <a:ext uri="{FF2B5EF4-FFF2-40B4-BE49-F238E27FC236}">
                <a16:creationId xmlns:a16="http://schemas.microsoft.com/office/drawing/2014/main" id="{48A042C0-803E-87CA-645F-0C46BB54A6B7}"/>
              </a:ext>
            </a:extLst>
          </p:cNvPr>
          <p:cNvPicPr>
            <a:picLocks noChangeAspect="1"/>
          </p:cNvPicPr>
          <p:nvPr/>
        </p:nvPicPr>
        <p:blipFill>
          <a:blip r:embed="rId6"/>
          <a:stretch>
            <a:fillRect/>
          </a:stretch>
        </p:blipFill>
        <p:spPr>
          <a:xfrm>
            <a:off x="564816" y="4033687"/>
            <a:ext cx="2957932" cy="595087"/>
          </a:xfrm>
          <a:prstGeom prst="rect">
            <a:avLst/>
          </a:prstGeom>
        </p:spPr>
      </p:pic>
    </p:spTree>
    <p:extLst>
      <p:ext uri="{BB962C8B-B14F-4D97-AF65-F5344CB8AC3E}">
        <p14:creationId xmlns:p14="http://schemas.microsoft.com/office/powerpoint/2010/main" val="22261907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5F31A-9CB9-4DBA-F853-B6C101099A84}"/>
            </a:ext>
          </a:extLst>
        </p:cNvPr>
        <p:cNvGrpSpPr/>
        <p:nvPr/>
      </p:nvGrpSpPr>
      <p:grpSpPr>
        <a:xfrm>
          <a:off x="0" y="0"/>
          <a:ext cx="0" cy="0"/>
          <a:chOff x="0" y="0"/>
          <a:chExt cx="0" cy="0"/>
        </a:xfrm>
      </p:grpSpPr>
      <p:sp>
        <p:nvSpPr>
          <p:cNvPr id="17" name="TextBox 16">
            <a:extLst>
              <a:ext uri="{FF2B5EF4-FFF2-40B4-BE49-F238E27FC236}">
                <a16:creationId xmlns:a16="http://schemas.microsoft.com/office/drawing/2014/main" id="{EC72B149-A132-3974-0860-C3ED4540BDFF}"/>
              </a:ext>
            </a:extLst>
          </p:cNvPr>
          <p:cNvSpPr txBox="1"/>
          <p:nvPr/>
        </p:nvSpPr>
        <p:spPr>
          <a:xfrm>
            <a:off x="566684" y="2096970"/>
            <a:ext cx="11150035" cy="3371949"/>
          </a:xfrm>
          <a:prstGeom prst="rect">
            <a:avLst/>
          </a:prstGeom>
          <a:noFill/>
        </p:spPr>
        <p:txBody>
          <a:bodyPr wrap="square" rtlCol="0">
            <a:spAutoFit/>
          </a:bodyPr>
          <a:lstStyle/>
          <a:p>
            <a:pPr marL="342900" indent="-342900">
              <a:lnSpc>
                <a:spcPct val="150000"/>
              </a:lnSpc>
              <a:buFont typeface="Arial" panose="020B0604020202020204" pitchFamily="34" charset="0"/>
              <a:buChar char="•"/>
            </a:pPr>
            <a:r>
              <a:rPr lang="en-US" sz="2800" b="1" dirty="0">
                <a:solidFill>
                  <a:srgbClr val="1B415D"/>
                </a:solidFill>
              </a:rPr>
              <a:t>Tourism</a:t>
            </a:r>
            <a:endParaRPr lang="en-US" sz="2000" b="1" dirty="0">
              <a:solidFill>
                <a:srgbClr val="1B415D"/>
              </a:solidFill>
            </a:endParaRPr>
          </a:p>
          <a:p>
            <a:pPr marL="800100" lvl="1" indent="-342900">
              <a:lnSpc>
                <a:spcPct val="150000"/>
              </a:lnSpc>
              <a:buFont typeface="Arial" panose="020B0604020202020204" pitchFamily="34" charset="0"/>
              <a:buChar char="•"/>
            </a:pPr>
            <a:r>
              <a:rPr lang="en-US" sz="2000" b="1" dirty="0">
                <a:solidFill>
                  <a:srgbClr val="1B415D"/>
                </a:solidFill>
              </a:rPr>
              <a:t>Forecasting number of tourists going to visit a country divided by region, city, season. [4]</a:t>
            </a:r>
          </a:p>
          <a:p>
            <a:pPr marL="342900" indent="-342900">
              <a:lnSpc>
                <a:spcPct val="150000"/>
              </a:lnSpc>
              <a:buFont typeface="Arial" panose="020B0604020202020204" pitchFamily="34" charset="0"/>
              <a:buChar char="•"/>
            </a:pPr>
            <a:r>
              <a:rPr lang="en-US" sz="2800" b="1" dirty="0">
                <a:solidFill>
                  <a:srgbClr val="1B415D"/>
                </a:solidFill>
              </a:rPr>
              <a:t>supply chain</a:t>
            </a:r>
          </a:p>
          <a:p>
            <a:pPr marL="800100" lvl="1" indent="-342900">
              <a:lnSpc>
                <a:spcPct val="150000"/>
              </a:lnSpc>
              <a:buFont typeface="Arial" panose="020B0604020202020204" pitchFamily="34" charset="0"/>
              <a:buChar char="•"/>
            </a:pPr>
            <a:r>
              <a:rPr lang="en-US" sz="2000" b="1" dirty="0">
                <a:solidFill>
                  <a:srgbClr val="1B415D"/>
                </a:solidFill>
              </a:rPr>
              <a:t>Forecasting sales of products based on type, location. [11]</a:t>
            </a:r>
          </a:p>
          <a:p>
            <a:pPr marL="342900" indent="-342900">
              <a:lnSpc>
                <a:spcPct val="150000"/>
              </a:lnSpc>
              <a:buFont typeface="Arial" panose="020B0604020202020204" pitchFamily="34" charset="0"/>
              <a:buChar char="•"/>
            </a:pPr>
            <a:r>
              <a:rPr lang="en-US" sz="2800" b="1" dirty="0">
                <a:solidFill>
                  <a:srgbClr val="1B415D"/>
                </a:solidFill>
              </a:rPr>
              <a:t>Energy Consumption</a:t>
            </a:r>
          </a:p>
          <a:p>
            <a:pPr marL="342900" indent="-342900">
              <a:lnSpc>
                <a:spcPct val="150000"/>
              </a:lnSpc>
              <a:buFont typeface="Arial" panose="020B0604020202020204" pitchFamily="34" charset="0"/>
              <a:buChar char="•"/>
            </a:pPr>
            <a:r>
              <a:rPr lang="en-US" sz="2000" b="1" dirty="0">
                <a:solidFill>
                  <a:srgbClr val="1B415D"/>
                </a:solidFill>
              </a:rPr>
              <a:t>Forecasting energy consumption based on region, city, hour. [12] </a:t>
            </a:r>
            <a:endParaRPr lang="en-US" b="1" dirty="0">
              <a:solidFill>
                <a:srgbClr val="1B415D"/>
              </a:solidFill>
            </a:endParaRPr>
          </a:p>
        </p:txBody>
      </p:sp>
      <p:pic>
        <p:nvPicPr>
          <p:cNvPr id="5" name="Picture 4">
            <a:extLst>
              <a:ext uri="{FF2B5EF4-FFF2-40B4-BE49-F238E27FC236}">
                <a16:creationId xmlns:a16="http://schemas.microsoft.com/office/drawing/2014/main" id="{35EAC5C6-BF96-496C-66B3-A94B08C90FC0}"/>
              </a:ext>
            </a:extLst>
          </p:cNvPr>
          <p:cNvPicPr>
            <a:picLocks/>
          </p:cNvPicPr>
          <p:nvPr/>
        </p:nvPicPr>
        <p:blipFill>
          <a:blip r:embed="rId2"/>
          <a:stretch>
            <a:fillRect/>
          </a:stretch>
        </p:blipFill>
        <p:spPr>
          <a:xfrm>
            <a:off x="-68921" y="5929314"/>
            <a:ext cx="12308114" cy="1063680"/>
          </a:xfrm>
          <a:prstGeom prst="rect">
            <a:avLst/>
          </a:prstGeom>
        </p:spPr>
      </p:pic>
      <p:sp>
        <p:nvSpPr>
          <p:cNvPr id="9" name="TextBox 8">
            <a:extLst>
              <a:ext uri="{FF2B5EF4-FFF2-40B4-BE49-F238E27FC236}">
                <a16:creationId xmlns:a16="http://schemas.microsoft.com/office/drawing/2014/main" id="{D12224ED-CB1A-0D4E-D806-0BE4E430D503}"/>
              </a:ext>
            </a:extLst>
          </p:cNvPr>
          <p:cNvSpPr txBox="1"/>
          <p:nvPr/>
        </p:nvSpPr>
        <p:spPr>
          <a:xfrm>
            <a:off x="338601" y="1389610"/>
            <a:ext cx="6449657" cy="646331"/>
          </a:xfrm>
          <a:prstGeom prst="rect">
            <a:avLst/>
          </a:prstGeom>
          <a:noFill/>
        </p:spPr>
        <p:txBody>
          <a:bodyPr wrap="square" rtlCol="0">
            <a:spAutoFit/>
          </a:bodyPr>
          <a:lstStyle/>
          <a:p>
            <a:r>
              <a:rPr lang="en-US" sz="3600" b="1" dirty="0">
                <a:solidFill>
                  <a:srgbClr val="1B415D"/>
                </a:solidFill>
              </a:rPr>
              <a:t>Applications on HTS</a:t>
            </a:r>
          </a:p>
        </p:txBody>
      </p:sp>
      <p:pic>
        <p:nvPicPr>
          <p:cNvPr id="3074" name="Picture 2" descr="Predict PNG Transparent Images Free Download | Vector Files | Pngtree">
            <a:extLst>
              <a:ext uri="{FF2B5EF4-FFF2-40B4-BE49-F238E27FC236}">
                <a16:creationId xmlns:a16="http://schemas.microsoft.com/office/drawing/2014/main" id="{1C854987-14F2-CABA-7FFF-3F4AFDACC1F1}"/>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7325392B-5DDF-AD80-A435-6665D909E761}"/>
              </a:ext>
            </a:extLst>
          </p:cNvPr>
          <p:cNvPicPr>
            <a:picLocks/>
          </p:cNvPicPr>
          <p:nvPr/>
        </p:nvPicPr>
        <p:blipFill>
          <a:blip r:embed="rId2"/>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FCECFB49-413A-B632-BFBB-C6387641713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41BE8CE3-CE95-2846-6B3A-241A6B8A4346}"/>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0A5F73AF-941F-71EF-1C6B-C693AA256923}"/>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3BFE0D7D-1177-07ED-F9A3-70EF04F1D8F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B2A7D7E2-9861-30F0-0009-07A63C8DCFDF}"/>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Tree>
    <p:extLst>
      <p:ext uri="{BB962C8B-B14F-4D97-AF65-F5344CB8AC3E}">
        <p14:creationId xmlns:p14="http://schemas.microsoft.com/office/powerpoint/2010/main" val="14857076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6F100-D4CD-079E-5FD6-9329F303AE4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8845C89-F0E6-4BF1-747C-5EFE47E1FEFB}"/>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B7D05CD6-2800-5AE6-4114-FAD826AB232C}"/>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D1717339-1263-1A78-927E-C39627AA2437}"/>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DBF2226F-5970-030D-1131-8E380DB17B1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C07A5AAD-458B-FA8A-C2ED-C6E1D6F925E8}"/>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8C041789-6EC8-3CDE-55B6-F5F4CBF5FCBC}"/>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ABED5E50-1866-C635-C244-B827D47F9E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9B4C5F0B-6E44-5EA4-D84A-1D444C850555}"/>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24" name="Picture 23">
            <a:extLst>
              <a:ext uri="{FF2B5EF4-FFF2-40B4-BE49-F238E27FC236}">
                <a16:creationId xmlns:a16="http://schemas.microsoft.com/office/drawing/2014/main" id="{CB3C10EA-C9A6-751E-2FF8-26E4C04FE71B}"/>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3452704" y="4149228"/>
            <a:ext cx="851605" cy="686497"/>
          </a:xfrm>
          <a:prstGeom prst="rect">
            <a:avLst/>
          </a:prstGeom>
        </p:spPr>
      </p:pic>
      <p:pic>
        <p:nvPicPr>
          <p:cNvPr id="28" name="Picture 27">
            <a:extLst>
              <a:ext uri="{FF2B5EF4-FFF2-40B4-BE49-F238E27FC236}">
                <a16:creationId xmlns:a16="http://schemas.microsoft.com/office/drawing/2014/main" id="{936EA86C-AEC8-6F87-36D9-F59C08A1E049}"/>
              </a:ext>
            </a:extLst>
          </p:cNvPr>
          <p:cNvPicPr>
            <a:picLocks noChangeAspect="1"/>
          </p:cNvPicPr>
          <p:nvPr/>
        </p:nvPicPr>
        <p:blipFill>
          <a:blip r:embed="rId10"/>
          <a:srcRect l="22961" t="57864" r="62119" b="30040"/>
          <a:stretch>
            <a:fillRect/>
          </a:stretch>
        </p:blipFill>
        <p:spPr>
          <a:xfrm>
            <a:off x="3059750" y="5385988"/>
            <a:ext cx="829706" cy="366508"/>
          </a:xfrm>
          <a:prstGeom prst="rect">
            <a:avLst/>
          </a:prstGeom>
        </p:spPr>
      </p:pic>
      <p:pic>
        <p:nvPicPr>
          <p:cNvPr id="29" name="Picture 28">
            <a:extLst>
              <a:ext uri="{FF2B5EF4-FFF2-40B4-BE49-F238E27FC236}">
                <a16:creationId xmlns:a16="http://schemas.microsoft.com/office/drawing/2014/main" id="{8EFCD739-38EE-8DC0-7149-22E668C384A9}"/>
              </a:ext>
            </a:extLst>
          </p:cNvPr>
          <p:cNvPicPr>
            <a:picLocks noChangeAspect="1"/>
          </p:cNvPicPr>
          <p:nvPr/>
        </p:nvPicPr>
        <p:blipFill>
          <a:blip r:embed="rId11">
            <a:clrChange>
              <a:clrFrom>
                <a:srgbClr val="FEFEFC"/>
              </a:clrFrom>
              <a:clrTo>
                <a:srgbClr val="FEFEFC">
                  <a:alpha val="0"/>
                </a:srgbClr>
              </a:clrTo>
            </a:clrChange>
          </a:blip>
          <a:srcRect l="44569" t="30016" r="44627" b="57306"/>
          <a:stretch>
            <a:fillRect/>
          </a:stretch>
        </p:blipFill>
        <p:spPr>
          <a:xfrm>
            <a:off x="4158344" y="2626062"/>
            <a:ext cx="1098105" cy="702134"/>
          </a:xfrm>
          <a:prstGeom prst="rect">
            <a:avLst/>
          </a:prstGeom>
        </p:spPr>
      </p:pic>
      <p:pic>
        <p:nvPicPr>
          <p:cNvPr id="30" name="Picture 29">
            <a:extLst>
              <a:ext uri="{FF2B5EF4-FFF2-40B4-BE49-F238E27FC236}">
                <a16:creationId xmlns:a16="http://schemas.microsoft.com/office/drawing/2014/main" id="{1E0A7F1D-BE06-F9F5-D53A-7E5DDDFE4456}"/>
              </a:ext>
            </a:extLst>
          </p:cNvPr>
          <p:cNvPicPr>
            <a:picLocks noChangeAspect="1"/>
          </p:cNvPicPr>
          <p:nvPr/>
        </p:nvPicPr>
        <p:blipFill>
          <a:blip r:embed="rId8">
            <a:extLst>
              <a:ext uri="{BEBA8EAE-BF5A-486C-A8C5-ECC9F3942E4B}">
                <a14:imgProps xmlns:a14="http://schemas.microsoft.com/office/drawing/2010/main">
                  <a14:imgLayer r:embed="rId12">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5088181" y="4149227"/>
            <a:ext cx="851605" cy="686497"/>
          </a:xfrm>
          <a:prstGeom prst="rect">
            <a:avLst/>
          </a:prstGeom>
        </p:spPr>
      </p:pic>
      <p:cxnSp>
        <p:nvCxnSpPr>
          <p:cNvPr id="35" name="Straight Arrow Connector 34">
            <a:extLst>
              <a:ext uri="{FF2B5EF4-FFF2-40B4-BE49-F238E27FC236}">
                <a16:creationId xmlns:a16="http://schemas.microsoft.com/office/drawing/2014/main" id="{6E7DC95F-D6D9-4DAD-66B2-7E4367F1C769}"/>
              </a:ext>
            </a:extLst>
          </p:cNvPr>
          <p:cNvCxnSpPr>
            <a:cxnSpLocks/>
            <a:stCxn id="29" idx="2"/>
            <a:endCxn id="30" idx="0"/>
          </p:cNvCxnSpPr>
          <p:nvPr/>
        </p:nvCxnSpPr>
        <p:spPr>
          <a:xfrm>
            <a:off x="4707397" y="3328196"/>
            <a:ext cx="806587" cy="82103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7" name="Straight Arrow Connector 36">
            <a:extLst>
              <a:ext uri="{FF2B5EF4-FFF2-40B4-BE49-F238E27FC236}">
                <a16:creationId xmlns:a16="http://schemas.microsoft.com/office/drawing/2014/main" id="{018A27AE-1E1B-E2FA-32CC-32D2143CC0DD}"/>
              </a:ext>
            </a:extLst>
          </p:cNvPr>
          <p:cNvCxnSpPr>
            <a:cxnSpLocks/>
            <a:endCxn id="24" idx="0"/>
          </p:cNvCxnSpPr>
          <p:nvPr/>
        </p:nvCxnSpPr>
        <p:spPr>
          <a:xfrm flipH="1">
            <a:off x="3878507" y="3328196"/>
            <a:ext cx="795709" cy="821032"/>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40" name="Picture 39">
            <a:extLst>
              <a:ext uri="{FF2B5EF4-FFF2-40B4-BE49-F238E27FC236}">
                <a16:creationId xmlns:a16="http://schemas.microsoft.com/office/drawing/2014/main" id="{F748A5DB-FFFF-4D77-5AC8-01F866442B7D}"/>
              </a:ext>
            </a:extLst>
          </p:cNvPr>
          <p:cNvPicPr>
            <a:picLocks noChangeAspect="1"/>
          </p:cNvPicPr>
          <p:nvPr/>
        </p:nvPicPr>
        <p:blipFill>
          <a:blip r:embed="rId10"/>
          <a:srcRect l="22961" t="57864" r="62119" b="30040"/>
          <a:stretch>
            <a:fillRect/>
          </a:stretch>
        </p:blipFill>
        <p:spPr>
          <a:xfrm>
            <a:off x="3889456" y="5385988"/>
            <a:ext cx="829706" cy="366508"/>
          </a:xfrm>
          <a:prstGeom prst="rect">
            <a:avLst/>
          </a:prstGeom>
        </p:spPr>
      </p:pic>
      <p:pic>
        <p:nvPicPr>
          <p:cNvPr id="43" name="Picture 42">
            <a:extLst>
              <a:ext uri="{FF2B5EF4-FFF2-40B4-BE49-F238E27FC236}">
                <a16:creationId xmlns:a16="http://schemas.microsoft.com/office/drawing/2014/main" id="{D26A9D4B-C652-F74E-5D6D-C6281B93893E}"/>
              </a:ext>
            </a:extLst>
          </p:cNvPr>
          <p:cNvPicPr>
            <a:picLocks noChangeAspect="1"/>
          </p:cNvPicPr>
          <p:nvPr/>
        </p:nvPicPr>
        <p:blipFill>
          <a:blip r:embed="rId10"/>
          <a:srcRect l="22961" t="57864" r="62119" b="30040"/>
          <a:stretch>
            <a:fillRect/>
          </a:stretch>
        </p:blipFill>
        <p:spPr>
          <a:xfrm>
            <a:off x="4719162" y="5385987"/>
            <a:ext cx="829706" cy="366508"/>
          </a:xfrm>
          <a:prstGeom prst="rect">
            <a:avLst/>
          </a:prstGeom>
        </p:spPr>
      </p:pic>
      <p:pic>
        <p:nvPicPr>
          <p:cNvPr id="44" name="Picture 43">
            <a:extLst>
              <a:ext uri="{FF2B5EF4-FFF2-40B4-BE49-F238E27FC236}">
                <a16:creationId xmlns:a16="http://schemas.microsoft.com/office/drawing/2014/main" id="{20C6FB19-9DE6-64E5-F593-406A01D0C5A6}"/>
              </a:ext>
            </a:extLst>
          </p:cNvPr>
          <p:cNvPicPr>
            <a:picLocks noChangeAspect="1"/>
          </p:cNvPicPr>
          <p:nvPr/>
        </p:nvPicPr>
        <p:blipFill>
          <a:blip r:embed="rId10"/>
          <a:srcRect l="22961" t="57864" r="62119" b="30040"/>
          <a:stretch>
            <a:fillRect/>
          </a:stretch>
        </p:blipFill>
        <p:spPr>
          <a:xfrm>
            <a:off x="5548868" y="5385987"/>
            <a:ext cx="829706" cy="366508"/>
          </a:xfrm>
          <a:prstGeom prst="rect">
            <a:avLst/>
          </a:prstGeom>
        </p:spPr>
      </p:pic>
      <p:cxnSp>
        <p:nvCxnSpPr>
          <p:cNvPr id="45" name="Straight Arrow Connector 44">
            <a:extLst>
              <a:ext uri="{FF2B5EF4-FFF2-40B4-BE49-F238E27FC236}">
                <a16:creationId xmlns:a16="http://schemas.microsoft.com/office/drawing/2014/main" id="{846021B2-C7DF-BC41-4539-8C5925D93273}"/>
              </a:ext>
            </a:extLst>
          </p:cNvPr>
          <p:cNvCxnSpPr>
            <a:cxnSpLocks/>
            <a:endCxn id="28" idx="0"/>
          </p:cNvCxnSpPr>
          <p:nvPr/>
        </p:nvCxnSpPr>
        <p:spPr>
          <a:xfrm flipH="1">
            <a:off x="3474603" y="4873712"/>
            <a:ext cx="380856"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7" name="Straight Arrow Connector 46">
            <a:extLst>
              <a:ext uri="{FF2B5EF4-FFF2-40B4-BE49-F238E27FC236}">
                <a16:creationId xmlns:a16="http://schemas.microsoft.com/office/drawing/2014/main" id="{F823148D-4505-9C8A-E2A5-57136D39CA39}"/>
              </a:ext>
            </a:extLst>
          </p:cNvPr>
          <p:cNvCxnSpPr>
            <a:cxnSpLocks/>
          </p:cNvCxnSpPr>
          <p:nvPr/>
        </p:nvCxnSpPr>
        <p:spPr>
          <a:xfrm flipH="1">
            <a:off x="5134015" y="4866010"/>
            <a:ext cx="380856"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8" name="Straight Arrow Connector 47">
            <a:extLst>
              <a:ext uri="{FF2B5EF4-FFF2-40B4-BE49-F238E27FC236}">
                <a16:creationId xmlns:a16="http://schemas.microsoft.com/office/drawing/2014/main" id="{EC806F1C-D4F9-6712-DEA5-74574409D51B}"/>
              </a:ext>
            </a:extLst>
          </p:cNvPr>
          <p:cNvCxnSpPr>
            <a:cxnSpLocks/>
            <a:endCxn id="40" idx="0"/>
          </p:cNvCxnSpPr>
          <p:nvPr/>
        </p:nvCxnSpPr>
        <p:spPr>
          <a:xfrm>
            <a:off x="3889456" y="4873712"/>
            <a:ext cx="414853"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52" name="Straight Arrow Connector 51">
            <a:extLst>
              <a:ext uri="{FF2B5EF4-FFF2-40B4-BE49-F238E27FC236}">
                <a16:creationId xmlns:a16="http://schemas.microsoft.com/office/drawing/2014/main" id="{C17150B7-564B-F584-A23A-2CE5EC4BE26F}"/>
              </a:ext>
            </a:extLst>
          </p:cNvPr>
          <p:cNvCxnSpPr>
            <a:cxnSpLocks/>
          </p:cNvCxnSpPr>
          <p:nvPr/>
        </p:nvCxnSpPr>
        <p:spPr>
          <a:xfrm>
            <a:off x="5548868" y="4854717"/>
            <a:ext cx="414853"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53" name="Picture 52">
            <a:extLst>
              <a:ext uri="{FF2B5EF4-FFF2-40B4-BE49-F238E27FC236}">
                <a16:creationId xmlns:a16="http://schemas.microsoft.com/office/drawing/2014/main" id="{96F7F3A1-7F28-AF87-2DB7-1095787A8CD4}"/>
              </a:ext>
            </a:extLst>
          </p:cNvPr>
          <p:cNvPicPr>
            <a:picLocks noChangeAspect="1"/>
          </p:cNvPicPr>
          <p:nvPr/>
        </p:nvPicPr>
        <p:blipFill>
          <a:blip r:embed="rId8">
            <a:extLst>
              <a:ext uri="{BEBA8EAE-BF5A-486C-A8C5-ECC9F3942E4B}">
                <a14:imgProps xmlns:a14="http://schemas.microsoft.com/office/drawing/2010/main">
                  <a14:imgLayer r:embed="rId13">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7791626" y="4149229"/>
            <a:ext cx="851605" cy="686497"/>
          </a:xfrm>
          <a:prstGeom prst="rect">
            <a:avLst/>
          </a:prstGeom>
        </p:spPr>
      </p:pic>
      <p:pic>
        <p:nvPicPr>
          <p:cNvPr id="54" name="Picture 53">
            <a:extLst>
              <a:ext uri="{FF2B5EF4-FFF2-40B4-BE49-F238E27FC236}">
                <a16:creationId xmlns:a16="http://schemas.microsoft.com/office/drawing/2014/main" id="{20FB935A-F4F8-39F4-9F5B-213364400D28}"/>
              </a:ext>
            </a:extLst>
          </p:cNvPr>
          <p:cNvPicPr>
            <a:picLocks noChangeAspect="1"/>
          </p:cNvPicPr>
          <p:nvPr/>
        </p:nvPicPr>
        <p:blipFill>
          <a:blip r:embed="rId10"/>
          <a:srcRect l="22961" t="57864" r="62119" b="30040"/>
          <a:stretch>
            <a:fillRect/>
          </a:stretch>
        </p:blipFill>
        <p:spPr>
          <a:xfrm>
            <a:off x="7398672" y="5385989"/>
            <a:ext cx="829706" cy="366508"/>
          </a:xfrm>
          <a:prstGeom prst="rect">
            <a:avLst/>
          </a:prstGeom>
        </p:spPr>
      </p:pic>
      <p:pic>
        <p:nvPicPr>
          <p:cNvPr id="55" name="Picture 54">
            <a:extLst>
              <a:ext uri="{FF2B5EF4-FFF2-40B4-BE49-F238E27FC236}">
                <a16:creationId xmlns:a16="http://schemas.microsoft.com/office/drawing/2014/main" id="{E182088B-69AD-D953-81A2-D060BF590AF3}"/>
              </a:ext>
            </a:extLst>
          </p:cNvPr>
          <p:cNvPicPr>
            <a:picLocks noChangeAspect="1"/>
          </p:cNvPicPr>
          <p:nvPr/>
        </p:nvPicPr>
        <p:blipFill>
          <a:blip r:embed="rId11">
            <a:clrChange>
              <a:clrFrom>
                <a:srgbClr val="FEFEFC"/>
              </a:clrFrom>
              <a:clrTo>
                <a:srgbClr val="FEFEFC">
                  <a:alpha val="0"/>
                </a:srgbClr>
              </a:clrTo>
            </a:clrChange>
          </a:blip>
          <a:srcRect l="44569" t="30016" r="44627" b="57306"/>
          <a:stretch>
            <a:fillRect/>
          </a:stretch>
        </p:blipFill>
        <p:spPr>
          <a:xfrm>
            <a:off x="8497266" y="2626063"/>
            <a:ext cx="1098105" cy="702134"/>
          </a:xfrm>
          <a:prstGeom prst="rect">
            <a:avLst/>
          </a:prstGeom>
        </p:spPr>
      </p:pic>
      <p:pic>
        <p:nvPicPr>
          <p:cNvPr id="56" name="Picture 55">
            <a:extLst>
              <a:ext uri="{FF2B5EF4-FFF2-40B4-BE49-F238E27FC236}">
                <a16:creationId xmlns:a16="http://schemas.microsoft.com/office/drawing/2014/main" id="{43B4837B-7578-C2FE-BCB0-D2F024AFA6B9}"/>
              </a:ext>
            </a:extLst>
          </p:cNvPr>
          <p:cNvPicPr>
            <a:picLocks noChangeAspect="1"/>
          </p:cNvPicPr>
          <p:nvPr/>
        </p:nvPicPr>
        <p:blipFill>
          <a:blip r:embed="rId8">
            <a:extLst>
              <a:ext uri="{BEBA8EAE-BF5A-486C-A8C5-ECC9F3942E4B}">
                <a14:imgProps xmlns:a14="http://schemas.microsoft.com/office/drawing/2010/main">
                  <a14:imgLayer r:embed="rId14">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9427103" y="4149228"/>
            <a:ext cx="851605" cy="686497"/>
          </a:xfrm>
          <a:prstGeom prst="rect">
            <a:avLst/>
          </a:prstGeom>
        </p:spPr>
      </p:pic>
      <p:cxnSp>
        <p:nvCxnSpPr>
          <p:cNvPr id="57" name="Straight Arrow Connector 56">
            <a:extLst>
              <a:ext uri="{FF2B5EF4-FFF2-40B4-BE49-F238E27FC236}">
                <a16:creationId xmlns:a16="http://schemas.microsoft.com/office/drawing/2014/main" id="{3BCCEEC6-5F1A-6A5A-2BBB-06BA0338884D}"/>
              </a:ext>
            </a:extLst>
          </p:cNvPr>
          <p:cNvCxnSpPr>
            <a:cxnSpLocks/>
            <a:stCxn id="55" idx="2"/>
            <a:endCxn id="56" idx="0"/>
          </p:cNvCxnSpPr>
          <p:nvPr/>
        </p:nvCxnSpPr>
        <p:spPr>
          <a:xfrm>
            <a:off x="9046319" y="3328197"/>
            <a:ext cx="806587" cy="82103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58" name="Straight Arrow Connector 57">
            <a:extLst>
              <a:ext uri="{FF2B5EF4-FFF2-40B4-BE49-F238E27FC236}">
                <a16:creationId xmlns:a16="http://schemas.microsoft.com/office/drawing/2014/main" id="{1CBEA06F-0C9B-FD3E-0EE3-4F76572E640B}"/>
              </a:ext>
            </a:extLst>
          </p:cNvPr>
          <p:cNvCxnSpPr>
            <a:cxnSpLocks/>
            <a:endCxn id="53" idx="0"/>
          </p:cNvCxnSpPr>
          <p:nvPr/>
        </p:nvCxnSpPr>
        <p:spPr>
          <a:xfrm flipH="1">
            <a:off x="8217429" y="3328197"/>
            <a:ext cx="795709" cy="821032"/>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59" name="Picture 58">
            <a:extLst>
              <a:ext uri="{FF2B5EF4-FFF2-40B4-BE49-F238E27FC236}">
                <a16:creationId xmlns:a16="http://schemas.microsoft.com/office/drawing/2014/main" id="{3E07BD25-AC74-CAD6-1FC4-F260AAAF7D7C}"/>
              </a:ext>
            </a:extLst>
          </p:cNvPr>
          <p:cNvPicPr>
            <a:picLocks noChangeAspect="1"/>
          </p:cNvPicPr>
          <p:nvPr/>
        </p:nvPicPr>
        <p:blipFill>
          <a:blip r:embed="rId10"/>
          <a:srcRect l="22961" t="57864" r="62119" b="30040"/>
          <a:stretch>
            <a:fillRect/>
          </a:stretch>
        </p:blipFill>
        <p:spPr>
          <a:xfrm>
            <a:off x="8228378" y="5385989"/>
            <a:ext cx="829706" cy="366508"/>
          </a:xfrm>
          <a:prstGeom prst="rect">
            <a:avLst/>
          </a:prstGeom>
        </p:spPr>
      </p:pic>
      <p:pic>
        <p:nvPicPr>
          <p:cNvPr id="60" name="Picture 59">
            <a:extLst>
              <a:ext uri="{FF2B5EF4-FFF2-40B4-BE49-F238E27FC236}">
                <a16:creationId xmlns:a16="http://schemas.microsoft.com/office/drawing/2014/main" id="{86CDD36B-3057-E2C6-B857-5C2B8F53596C}"/>
              </a:ext>
            </a:extLst>
          </p:cNvPr>
          <p:cNvPicPr>
            <a:picLocks noChangeAspect="1"/>
          </p:cNvPicPr>
          <p:nvPr/>
        </p:nvPicPr>
        <p:blipFill>
          <a:blip r:embed="rId10"/>
          <a:srcRect l="22961" t="57864" r="62119" b="30040"/>
          <a:stretch>
            <a:fillRect/>
          </a:stretch>
        </p:blipFill>
        <p:spPr>
          <a:xfrm>
            <a:off x="9058084" y="5385988"/>
            <a:ext cx="829706" cy="366508"/>
          </a:xfrm>
          <a:prstGeom prst="rect">
            <a:avLst/>
          </a:prstGeom>
        </p:spPr>
      </p:pic>
      <p:pic>
        <p:nvPicPr>
          <p:cNvPr id="61" name="Picture 60">
            <a:extLst>
              <a:ext uri="{FF2B5EF4-FFF2-40B4-BE49-F238E27FC236}">
                <a16:creationId xmlns:a16="http://schemas.microsoft.com/office/drawing/2014/main" id="{F206C54D-6E29-1A9F-A9DF-59028DD0A33D}"/>
              </a:ext>
            </a:extLst>
          </p:cNvPr>
          <p:cNvPicPr>
            <a:picLocks noChangeAspect="1"/>
          </p:cNvPicPr>
          <p:nvPr/>
        </p:nvPicPr>
        <p:blipFill>
          <a:blip r:embed="rId10"/>
          <a:srcRect l="22961" t="57864" r="62119" b="30040"/>
          <a:stretch>
            <a:fillRect/>
          </a:stretch>
        </p:blipFill>
        <p:spPr>
          <a:xfrm>
            <a:off x="9887790" y="5385988"/>
            <a:ext cx="829706" cy="366508"/>
          </a:xfrm>
          <a:prstGeom prst="rect">
            <a:avLst/>
          </a:prstGeom>
        </p:spPr>
      </p:pic>
      <p:cxnSp>
        <p:nvCxnSpPr>
          <p:cNvPr id="62" name="Straight Arrow Connector 61">
            <a:extLst>
              <a:ext uri="{FF2B5EF4-FFF2-40B4-BE49-F238E27FC236}">
                <a16:creationId xmlns:a16="http://schemas.microsoft.com/office/drawing/2014/main" id="{B7FD4159-9A35-215F-8B0C-71A8024C6B87}"/>
              </a:ext>
            </a:extLst>
          </p:cNvPr>
          <p:cNvCxnSpPr>
            <a:cxnSpLocks/>
            <a:endCxn id="54" idx="0"/>
          </p:cNvCxnSpPr>
          <p:nvPr/>
        </p:nvCxnSpPr>
        <p:spPr>
          <a:xfrm flipH="1">
            <a:off x="7813525" y="4873713"/>
            <a:ext cx="380856"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3" name="Straight Arrow Connector 62">
            <a:extLst>
              <a:ext uri="{FF2B5EF4-FFF2-40B4-BE49-F238E27FC236}">
                <a16:creationId xmlns:a16="http://schemas.microsoft.com/office/drawing/2014/main" id="{92A0139F-4CBD-FC29-12CB-D74735AC7843}"/>
              </a:ext>
            </a:extLst>
          </p:cNvPr>
          <p:cNvCxnSpPr>
            <a:cxnSpLocks/>
          </p:cNvCxnSpPr>
          <p:nvPr/>
        </p:nvCxnSpPr>
        <p:spPr>
          <a:xfrm flipH="1">
            <a:off x="9472937" y="4866011"/>
            <a:ext cx="380856"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72" name="Straight Arrow Connector 3071">
            <a:extLst>
              <a:ext uri="{FF2B5EF4-FFF2-40B4-BE49-F238E27FC236}">
                <a16:creationId xmlns:a16="http://schemas.microsoft.com/office/drawing/2014/main" id="{6E5E459B-D177-6F7D-50F4-EC38D8AC225E}"/>
              </a:ext>
            </a:extLst>
          </p:cNvPr>
          <p:cNvCxnSpPr>
            <a:cxnSpLocks/>
            <a:endCxn id="59" idx="0"/>
          </p:cNvCxnSpPr>
          <p:nvPr/>
        </p:nvCxnSpPr>
        <p:spPr>
          <a:xfrm>
            <a:off x="8228378" y="4873713"/>
            <a:ext cx="414853"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73" name="Straight Arrow Connector 3072">
            <a:extLst>
              <a:ext uri="{FF2B5EF4-FFF2-40B4-BE49-F238E27FC236}">
                <a16:creationId xmlns:a16="http://schemas.microsoft.com/office/drawing/2014/main" id="{5C2CF40E-36AD-9EE6-1BEF-00A23CF683C6}"/>
              </a:ext>
            </a:extLst>
          </p:cNvPr>
          <p:cNvCxnSpPr>
            <a:cxnSpLocks/>
          </p:cNvCxnSpPr>
          <p:nvPr/>
        </p:nvCxnSpPr>
        <p:spPr>
          <a:xfrm>
            <a:off x="9887790" y="4854718"/>
            <a:ext cx="414853"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75" name="Straight Arrow Connector 3074">
            <a:extLst>
              <a:ext uri="{FF2B5EF4-FFF2-40B4-BE49-F238E27FC236}">
                <a16:creationId xmlns:a16="http://schemas.microsoft.com/office/drawing/2014/main" id="{FA28BCD3-4079-6A15-D580-A22C45AAEC6F}"/>
              </a:ext>
            </a:extLst>
          </p:cNvPr>
          <p:cNvCxnSpPr>
            <a:cxnSpLocks/>
          </p:cNvCxnSpPr>
          <p:nvPr/>
        </p:nvCxnSpPr>
        <p:spPr>
          <a:xfrm>
            <a:off x="2361760" y="3017400"/>
            <a:ext cx="69799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077" name="TextBox 3076">
            <a:extLst>
              <a:ext uri="{FF2B5EF4-FFF2-40B4-BE49-F238E27FC236}">
                <a16:creationId xmlns:a16="http://schemas.microsoft.com/office/drawing/2014/main" id="{ACB96581-1E21-8818-0070-EF35DDFADB5B}"/>
              </a:ext>
            </a:extLst>
          </p:cNvPr>
          <p:cNvSpPr txBox="1"/>
          <p:nvPr/>
        </p:nvSpPr>
        <p:spPr>
          <a:xfrm>
            <a:off x="1093399" y="2832734"/>
            <a:ext cx="1268361" cy="369332"/>
          </a:xfrm>
          <a:prstGeom prst="rect">
            <a:avLst/>
          </a:prstGeom>
          <a:noFill/>
        </p:spPr>
        <p:txBody>
          <a:bodyPr wrap="none" rtlCol="0">
            <a:spAutoFit/>
          </a:bodyPr>
          <a:lstStyle/>
          <a:p>
            <a:r>
              <a:rPr lang="en-US" dirty="0"/>
              <a:t>Farm Level</a:t>
            </a:r>
          </a:p>
        </p:txBody>
      </p:sp>
      <p:cxnSp>
        <p:nvCxnSpPr>
          <p:cNvPr id="3078" name="Straight Arrow Connector 3077">
            <a:extLst>
              <a:ext uri="{FF2B5EF4-FFF2-40B4-BE49-F238E27FC236}">
                <a16:creationId xmlns:a16="http://schemas.microsoft.com/office/drawing/2014/main" id="{61A4926A-0307-C629-5129-A5ABA02017B0}"/>
              </a:ext>
            </a:extLst>
          </p:cNvPr>
          <p:cNvCxnSpPr>
            <a:cxnSpLocks/>
          </p:cNvCxnSpPr>
          <p:nvPr/>
        </p:nvCxnSpPr>
        <p:spPr>
          <a:xfrm>
            <a:off x="2361760" y="4498467"/>
            <a:ext cx="69799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079" name="TextBox 3078">
            <a:extLst>
              <a:ext uri="{FF2B5EF4-FFF2-40B4-BE49-F238E27FC236}">
                <a16:creationId xmlns:a16="http://schemas.microsoft.com/office/drawing/2014/main" id="{5AE00EE5-6A54-AD83-09C7-4A4823993FD2}"/>
              </a:ext>
            </a:extLst>
          </p:cNvPr>
          <p:cNvSpPr txBox="1"/>
          <p:nvPr/>
        </p:nvSpPr>
        <p:spPr>
          <a:xfrm>
            <a:off x="926310" y="4314668"/>
            <a:ext cx="1449115" cy="369332"/>
          </a:xfrm>
          <a:prstGeom prst="rect">
            <a:avLst/>
          </a:prstGeom>
          <a:noFill/>
        </p:spPr>
        <p:txBody>
          <a:bodyPr wrap="none" rtlCol="0">
            <a:spAutoFit/>
          </a:bodyPr>
          <a:lstStyle/>
          <a:p>
            <a:r>
              <a:rPr lang="en-US" dirty="0"/>
              <a:t>Animal Level</a:t>
            </a:r>
          </a:p>
        </p:txBody>
      </p:sp>
      <p:cxnSp>
        <p:nvCxnSpPr>
          <p:cNvPr id="3080" name="Straight Arrow Connector 3079">
            <a:extLst>
              <a:ext uri="{FF2B5EF4-FFF2-40B4-BE49-F238E27FC236}">
                <a16:creationId xmlns:a16="http://schemas.microsoft.com/office/drawing/2014/main" id="{673B5A05-0865-37DF-9E88-683871C4355C}"/>
              </a:ext>
            </a:extLst>
          </p:cNvPr>
          <p:cNvCxnSpPr>
            <a:cxnSpLocks/>
          </p:cNvCxnSpPr>
          <p:nvPr/>
        </p:nvCxnSpPr>
        <p:spPr>
          <a:xfrm>
            <a:off x="2337895" y="5508916"/>
            <a:ext cx="69799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081" name="TextBox 3080">
            <a:extLst>
              <a:ext uri="{FF2B5EF4-FFF2-40B4-BE49-F238E27FC236}">
                <a16:creationId xmlns:a16="http://schemas.microsoft.com/office/drawing/2014/main" id="{5ABAF1D7-9F6A-D851-6CFE-8CE7BC4116EF}"/>
              </a:ext>
            </a:extLst>
          </p:cNvPr>
          <p:cNvSpPr txBox="1"/>
          <p:nvPr/>
        </p:nvSpPr>
        <p:spPr>
          <a:xfrm>
            <a:off x="1069534" y="5324250"/>
            <a:ext cx="1160574" cy="369332"/>
          </a:xfrm>
          <a:prstGeom prst="rect">
            <a:avLst/>
          </a:prstGeom>
          <a:noFill/>
        </p:spPr>
        <p:txBody>
          <a:bodyPr wrap="none" rtlCol="0">
            <a:spAutoFit/>
          </a:bodyPr>
          <a:lstStyle/>
          <a:p>
            <a:r>
              <a:rPr lang="en-US" dirty="0"/>
              <a:t>Milk Level</a:t>
            </a:r>
          </a:p>
        </p:txBody>
      </p:sp>
      <p:sp>
        <p:nvSpPr>
          <p:cNvPr id="3082" name="TextBox 3081">
            <a:extLst>
              <a:ext uri="{FF2B5EF4-FFF2-40B4-BE49-F238E27FC236}">
                <a16:creationId xmlns:a16="http://schemas.microsoft.com/office/drawing/2014/main" id="{BFFD96CD-71E1-FEA5-BEB1-898C4FE86E38}"/>
              </a:ext>
            </a:extLst>
          </p:cNvPr>
          <p:cNvSpPr txBox="1"/>
          <p:nvPr/>
        </p:nvSpPr>
        <p:spPr>
          <a:xfrm>
            <a:off x="6493565" y="1638689"/>
            <a:ext cx="802720" cy="369332"/>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TOTAL</a:t>
            </a:r>
          </a:p>
        </p:txBody>
      </p:sp>
      <p:cxnSp>
        <p:nvCxnSpPr>
          <p:cNvPr id="3083" name="Straight Arrow Connector 3082">
            <a:extLst>
              <a:ext uri="{FF2B5EF4-FFF2-40B4-BE49-F238E27FC236}">
                <a16:creationId xmlns:a16="http://schemas.microsoft.com/office/drawing/2014/main" id="{B7C40D95-E819-1DA9-A301-0137B3EEA652}"/>
              </a:ext>
            </a:extLst>
          </p:cNvPr>
          <p:cNvCxnSpPr>
            <a:cxnSpLocks/>
            <a:stCxn id="3082" idx="2"/>
            <a:endCxn id="29" idx="0"/>
          </p:cNvCxnSpPr>
          <p:nvPr/>
        </p:nvCxnSpPr>
        <p:spPr>
          <a:xfrm flipH="1">
            <a:off x="4707397" y="2008021"/>
            <a:ext cx="2187528" cy="61804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5" name="Straight Arrow Connector 3084">
            <a:extLst>
              <a:ext uri="{FF2B5EF4-FFF2-40B4-BE49-F238E27FC236}">
                <a16:creationId xmlns:a16="http://schemas.microsoft.com/office/drawing/2014/main" id="{B557A9DD-8406-3054-0CF7-E2ED49785126}"/>
              </a:ext>
            </a:extLst>
          </p:cNvPr>
          <p:cNvCxnSpPr>
            <a:cxnSpLocks/>
            <a:stCxn id="3082" idx="2"/>
            <a:endCxn id="55" idx="0"/>
          </p:cNvCxnSpPr>
          <p:nvPr/>
        </p:nvCxnSpPr>
        <p:spPr>
          <a:xfrm>
            <a:off x="6894925" y="2008021"/>
            <a:ext cx="2151394" cy="618042"/>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8" name="Straight Arrow Connector 3087">
            <a:extLst>
              <a:ext uri="{FF2B5EF4-FFF2-40B4-BE49-F238E27FC236}">
                <a16:creationId xmlns:a16="http://schemas.microsoft.com/office/drawing/2014/main" id="{4B2F97AF-7B7E-76BA-211C-D5C302DE181F}"/>
              </a:ext>
            </a:extLst>
          </p:cNvPr>
          <p:cNvCxnSpPr>
            <a:cxnSpLocks/>
          </p:cNvCxnSpPr>
          <p:nvPr/>
        </p:nvCxnSpPr>
        <p:spPr>
          <a:xfrm>
            <a:off x="2337895" y="1930469"/>
            <a:ext cx="69799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089" name="TextBox 3088">
            <a:extLst>
              <a:ext uri="{FF2B5EF4-FFF2-40B4-BE49-F238E27FC236}">
                <a16:creationId xmlns:a16="http://schemas.microsoft.com/office/drawing/2014/main" id="{8C4D994B-3C38-C98F-E642-A0A6DDF6506D}"/>
              </a:ext>
            </a:extLst>
          </p:cNvPr>
          <p:cNvSpPr txBox="1"/>
          <p:nvPr/>
        </p:nvSpPr>
        <p:spPr>
          <a:xfrm>
            <a:off x="1069534" y="1745803"/>
            <a:ext cx="875240" cy="369332"/>
          </a:xfrm>
          <a:prstGeom prst="rect">
            <a:avLst/>
          </a:prstGeom>
          <a:noFill/>
        </p:spPr>
        <p:txBody>
          <a:bodyPr wrap="none" rtlCol="0">
            <a:spAutoFit/>
          </a:bodyPr>
          <a:lstStyle/>
          <a:p>
            <a:r>
              <a:rPr lang="en-US" dirty="0"/>
              <a:t>Level 0</a:t>
            </a:r>
          </a:p>
        </p:txBody>
      </p:sp>
    </p:spTree>
    <p:extLst>
      <p:ext uri="{BB962C8B-B14F-4D97-AF65-F5344CB8AC3E}">
        <p14:creationId xmlns:p14="http://schemas.microsoft.com/office/powerpoint/2010/main" val="2404621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CA2C8-6759-840E-1A5D-B6C67C69052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699BE0F-89A0-EDFB-C688-BF9FBD83096A}"/>
              </a:ext>
            </a:extLst>
          </p:cNvPr>
          <p:cNvPicPr>
            <a:picLocks/>
          </p:cNvPicPr>
          <p:nvPr/>
        </p:nvPicPr>
        <p:blipFill>
          <a:blip r:embed="rId2"/>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3E07D802-06FB-AEE0-7C63-0B025D396A48}"/>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13074F0D-5545-42FC-8D1E-F7C7B85E3DAB}"/>
              </a:ext>
            </a:extLst>
          </p:cNvPr>
          <p:cNvPicPr>
            <a:picLocks/>
          </p:cNvPicPr>
          <p:nvPr/>
        </p:nvPicPr>
        <p:blipFill>
          <a:blip r:embed="rId2"/>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550361CB-0237-32F2-C7B7-EC2A80495F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7A6496D2-ECEF-49CD-DE6B-DE6E02773A23}"/>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8FE42638-AFF1-1842-6FE6-B0CBBF4C962B}"/>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8300147A-0D04-9463-0B7B-2BBD75CD4E6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A66FD157-8066-122E-44E1-1E8B81456BDC}"/>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graphicFrame>
        <p:nvGraphicFramePr>
          <p:cNvPr id="2" name="Table 1">
            <a:extLst>
              <a:ext uri="{FF2B5EF4-FFF2-40B4-BE49-F238E27FC236}">
                <a16:creationId xmlns:a16="http://schemas.microsoft.com/office/drawing/2014/main" id="{4B479C28-EC72-7986-2151-FD94273489F6}"/>
              </a:ext>
            </a:extLst>
          </p:cNvPr>
          <p:cNvGraphicFramePr>
            <a:graphicFrameLocks noGrp="1"/>
          </p:cNvGraphicFramePr>
          <p:nvPr/>
        </p:nvGraphicFramePr>
        <p:xfrm>
          <a:off x="1428800" y="1790540"/>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err="1"/>
                        <a:t>Animal_ID</a:t>
                      </a:r>
                      <a:endParaRPr lang="en-US" sz="1400" dirty="0"/>
                    </a:p>
                  </a:txBody>
                  <a:tcPr/>
                </a:tc>
                <a:tc>
                  <a:txBody>
                    <a:bodyPr/>
                    <a:lstStyle/>
                    <a:p>
                      <a:pPr algn="ctr"/>
                      <a:r>
                        <a:rPr lang="en-US" sz="1400" dirty="0" err="1"/>
                        <a:t>Farm_ID</a:t>
                      </a:r>
                      <a:endParaRPr lang="en-US" sz="1400" dirty="0"/>
                    </a:p>
                  </a:txBody>
                  <a:tcPr/>
                </a:tc>
                <a:tc>
                  <a:txBody>
                    <a:bodyPr/>
                    <a:lstStyle/>
                    <a:p>
                      <a:pPr algn="ctr"/>
                      <a:r>
                        <a:rPr lang="en-US" sz="1400" dirty="0"/>
                        <a:t>Date</a:t>
                      </a:r>
                    </a:p>
                  </a:txBody>
                  <a:tcPr/>
                </a:tc>
                <a:tc>
                  <a:txBody>
                    <a:bodyPr/>
                    <a:lstStyle/>
                    <a:p>
                      <a:pPr algn="ctr"/>
                      <a:r>
                        <a:rPr lang="en-US" sz="1400" dirty="0"/>
                        <a:t>Age</a:t>
                      </a:r>
                    </a:p>
                  </a:txBody>
                  <a:tcPr/>
                </a:tc>
                <a:tc>
                  <a:txBody>
                    <a:bodyPr/>
                    <a:lstStyle/>
                    <a:p>
                      <a:pPr algn="ctr"/>
                      <a:r>
                        <a:rPr lang="en-US" sz="1400" dirty="0"/>
                        <a:t>MILK</a:t>
                      </a:r>
                    </a:p>
                  </a:txBody>
                  <a:tcPr/>
                </a:tc>
                <a:tc>
                  <a:txBody>
                    <a:bodyPr/>
                    <a:lstStyle/>
                    <a:p>
                      <a:pPr algn="ctr"/>
                      <a:r>
                        <a:rPr lang="en-US" sz="1400" dirty="0"/>
                        <a:t>DIM</a:t>
                      </a:r>
                    </a:p>
                  </a:txBody>
                  <a:tcPr/>
                </a:tc>
                <a:tc>
                  <a:txBody>
                    <a:bodyPr/>
                    <a:lstStyle/>
                    <a:p>
                      <a:pPr algn="ctr"/>
                      <a:r>
                        <a:rPr lang="en-US" sz="1400" dirty="0"/>
                        <a:t>Protein</a:t>
                      </a:r>
                    </a:p>
                  </a:txBody>
                  <a:tcPr/>
                </a:tc>
                <a:tc>
                  <a:txBody>
                    <a:bodyPr/>
                    <a:lstStyle/>
                    <a:p>
                      <a:pPr algn="ctr"/>
                      <a:r>
                        <a:rPr lang="en-US" sz="1400" dirty="0"/>
                        <a:t>Fat</a:t>
                      </a:r>
                    </a:p>
                  </a:txBody>
                  <a:tcPr/>
                </a:tc>
                <a:tc>
                  <a:txBody>
                    <a:bodyPr/>
                    <a:lstStyle/>
                    <a:p>
                      <a:pPr algn="ctr"/>
                      <a:r>
                        <a:rPr lang="en-US" sz="1400" dirty="0"/>
                        <a:t>SCC</a:t>
                      </a:r>
                    </a:p>
                  </a:txBody>
                  <a:tcPr/>
                </a:tc>
                <a:extLst>
                  <a:ext uri="{0D108BD9-81ED-4DB2-BD59-A6C34878D82A}">
                    <a16:rowId xmlns:a16="http://schemas.microsoft.com/office/drawing/2014/main" val="4040833211"/>
                  </a:ext>
                </a:extLst>
              </a:tr>
            </a:tbl>
          </a:graphicData>
        </a:graphic>
      </p:graphicFrame>
      <p:graphicFrame>
        <p:nvGraphicFramePr>
          <p:cNvPr id="3" name="Table 2">
            <a:extLst>
              <a:ext uri="{FF2B5EF4-FFF2-40B4-BE49-F238E27FC236}">
                <a16:creationId xmlns:a16="http://schemas.microsoft.com/office/drawing/2014/main" id="{CC85836B-AA04-E8C7-C08A-F07EB4DBD77B}"/>
              </a:ext>
            </a:extLst>
          </p:cNvPr>
          <p:cNvGraphicFramePr>
            <a:graphicFrameLocks noGrp="1"/>
          </p:cNvGraphicFramePr>
          <p:nvPr/>
        </p:nvGraphicFramePr>
        <p:xfrm>
          <a:off x="1428799" y="2159330"/>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1001</a:t>
                      </a:r>
                    </a:p>
                  </a:txBody>
                  <a:tcPr/>
                </a:tc>
                <a:tc>
                  <a:txBody>
                    <a:bodyPr/>
                    <a:lstStyle/>
                    <a:p>
                      <a:pPr algn="ctr"/>
                      <a:r>
                        <a:rPr lang="en-US" sz="1400" dirty="0"/>
                        <a:t>102</a:t>
                      </a:r>
                    </a:p>
                  </a:txBody>
                  <a:tcPr/>
                </a:tc>
                <a:tc>
                  <a:txBody>
                    <a:bodyPr/>
                    <a:lstStyle/>
                    <a:p>
                      <a:pPr algn="ctr"/>
                      <a:r>
                        <a:rPr lang="en-US" sz="1400" dirty="0"/>
                        <a:t>25-01-01</a:t>
                      </a:r>
                    </a:p>
                  </a:txBody>
                  <a:tcPr/>
                </a:tc>
                <a:tc>
                  <a:txBody>
                    <a:bodyPr/>
                    <a:lstStyle/>
                    <a:p>
                      <a:pPr algn="ctr"/>
                      <a:r>
                        <a:rPr lang="en-US" sz="1400" dirty="0"/>
                        <a:t>4</a:t>
                      </a:r>
                    </a:p>
                  </a:txBody>
                  <a:tcPr/>
                </a:tc>
                <a:tc>
                  <a:txBody>
                    <a:bodyPr/>
                    <a:lstStyle/>
                    <a:p>
                      <a:pPr algn="ctr"/>
                      <a:r>
                        <a:rPr lang="en-US" sz="1400" dirty="0"/>
                        <a:t>20 Kg</a:t>
                      </a:r>
                    </a:p>
                  </a:txBody>
                  <a:tcPr/>
                </a:tc>
                <a:tc>
                  <a:txBody>
                    <a:bodyPr/>
                    <a:lstStyle/>
                    <a:p>
                      <a:pPr algn="ctr"/>
                      <a:r>
                        <a:rPr lang="en-US" sz="1400" dirty="0"/>
                        <a:t>154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4" name="Table 3">
            <a:extLst>
              <a:ext uri="{FF2B5EF4-FFF2-40B4-BE49-F238E27FC236}">
                <a16:creationId xmlns:a16="http://schemas.microsoft.com/office/drawing/2014/main" id="{6B0F1585-9803-4B11-74DF-1524C75D48FC}"/>
              </a:ext>
            </a:extLst>
          </p:cNvPr>
          <p:cNvGraphicFramePr>
            <a:graphicFrameLocks noGrp="1"/>
          </p:cNvGraphicFramePr>
          <p:nvPr/>
        </p:nvGraphicFramePr>
        <p:xfrm>
          <a:off x="1428799" y="2535057"/>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1004</a:t>
                      </a:r>
                    </a:p>
                  </a:txBody>
                  <a:tcPr/>
                </a:tc>
                <a:tc>
                  <a:txBody>
                    <a:bodyPr/>
                    <a:lstStyle/>
                    <a:p>
                      <a:pPr algn="ctr"/>
                      <a:r>
                        <a:rPr lang="en-US" sz="1400" dirty="0"/>
                        <a:t>103</a:t>
                      </a:r>
                    </a:p>
                  </a:txBody>
                  <a:tcPr/>
                </a:tc>
                <a:tc>
                  <a:txBody>
                    <a:bodyPr/>
                    <a:lstStyle/>
                    <a:p>
                      <a:pPr algn="ctr"/>
                      <a:r>
                        <a:rPr lang="en-US" sz="1400" dirty="0"/>
                        <a:t>25-01-01</a:t>
                      </a:r>
                    </a:p>
                  </a:txBody>
                  <a:tcPr/>
                </a:tc>
                <a:tc>
                  <a:txBody>
                    <a:bodyPr/>
                    <a:lstStyle/>
                    <a:p>
                      <a:pPr algn="ctr"/>
                      <a:r>
                        <a:rPr lang="en-US" sz="1400" dirty="0"/>
                        <a:t>6</a:t>
                      </a:r>
                    </a:p>
                  </a:txBody>
                  <a:tcPr/>
                </a:tc>
                <a:tc>
                  <a:txBody>
                    <a:bodyPr/>
                    <a:lstStyle/>
                    <a:p>
                      <a:pPr algn="ctr"/>
                      <a:r>
                        <a:rPr lang="en-US" sz="1400" dirty="0"/>
                        <a:t>35 Kg</a:t>
                      </a:r>
                    </a:p>
                  </a:txBody>
                  <a:tcPr/>
                </a:tc>
                <a:tc>
                  <a:txBody>
                    <a:bodyPr/>
                    <a:lstStyle/>
                    <a:p>
                      <a:pPr algn="ctr"/>
                      <a:r>
                        <a:rPr lang="en-US" sz="1400" dirty="0"/>
                        <a:t>114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7" name="Table 6">
            <a:extLst>
              <a:ext uri="{FF2B5EF4-FFF2-40B4-BE49-F238E27FC236}">
                <a16:creationId xmlns:a16="http://schemas.microsoft.com/office/drawing/2014/main" id="{B9C3C1DF-537E-02CA-4F5F-96751F713D5B}"/>
              </a:ext>
            </a:extLst>
          </p:cNvPr>
          <p:cNvGraphicFramePr>
            <a:graphicFrameLocks noGrp="1"/>
          </p:cNvGraphicFramePr>
          <p:nvPr/>
        </p:nvGraphicFramePr>
        <p:xfrm>
          <a:off x="1428802" y="2903456"/>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1003</a:t>
                      </a:r>
                    </a:p>
                  </a:txBody>
                  <a:tcPr/>
                </a:tc>
                <a:tc>
                  <a:txBody>
                    <a:bodyPr/>
                    <a:lstStyle/>
                    <a:p>
                      <a:pPr algn="ctr"/>
                      <a:r>
                        <a:rPr lang="en-US" sz="1400" dirty="0"/>
                        <a:t>102</a:t>
                      </a:r>
                    </a:p>
                  </a:txBody>
                  <a:tcPr/>
                </a:tc>
                <a:tc>
                  <a:txBody>
                    <a:bodyPr/>
                    <a:lstStyle/>
                    <a:p>
                      <a:pPr algn="ctr"/>
                      <a:r>
                        <a:rPr lang="en-US" sz="1400" dirty="0"/>
                        <a:t>25-01-01</a:t>
                      </a:r>
                    </a:p>
                  </a:txBody>
                  <a:tcPr/>
                </a:tc>
                <a:tc>
                  <a:txBody>
                    <a:bodyPr/>
                    <a:lstStyle/>
                    <a:p>
                      <a:pPr algn="ctr"/>
                      <a:r>
                        <a:rPr lang="en-US" sz="1400" dirty="0"/>
                        <a:t>5</a:t>
                      </a:r>
                    </a:p>
                  </a:txBody>
                  <a:tcPr/>
                </a:tc>
                <a:tc>
                  <a:txBody>
                    <a:bodyPr/>
                    <a:lstStyle/>
                    <a:p>
                      <a:pPr algn="ctr"/>
                      <a:r>
                        <a:rPr lang="en-US" sz="1400" dirty="0"/>
                        <a:t>15 Kg</a:t>
                      </a:r>
                    </a:p>
                  </a:txBody>
                  <a:tcPr/>
                </a:tc>
                <a:tc>
                  <a:txBody>
                    <a:bodyPr/>
                    <a:lstStyle/>
                    <a:p>
                      <a:pPr algn="ctr"/>
                      <a:r>
                        <a:rPr lang="en-US" sz="1400" dirty="0"/>
                        <a:t>204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8" name="Table 7">
            <a:extLst>
              <a:ext uri="{FF2B5EF4-FFF2-40B4-BE49-F238E27FC236}">
                <a16:creationId xmlns:a16="http://schemas.microsoft.com/office/drawing/2014/main" id="{0D3EC7D8-7CC0-E29C-6D70-6E93015DBDFE}"/>
              </a:ext>
            </a:extLst>
          </p:cNvPr>
          <p:cNvGraphicFramePr>
            <a:graphicFrameLocks noGrp="1"/>
          </p:cNvGraphicFramePr>
          <p:nvPr/>
        </p:nvGraphicFramePr>
        <p:xfrm>
          <a:off x="1428802" y="3272246"/>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1002</a:t>
                      </a:r>
                    </a:p>
                  </a:txBody>
                  <a:tcPr/>
                </a:tc>
                <a:tc>
                  <a:txBody>
                    <a:bodyPr/>
                    <a:lstStyle/>
                    <a:p>
                      <a:pPr algn="ctr"/>
                      <a:r>
                        <a:rPr lang="en-US" sz="1400" dirty="0"/>
                        <a:t>103</a:t>
                      </a:r>
                    </a:p>
                  </a:txBody>
                  <a:tcPr/>
                </a:tc>
                <a:tc>
                  <a:txBody>
                    <a:bodyPr/>
                    <a:lstStyle/>
                    <a:p>
                      <a:pPr algn="ctr"/>
                      <a:r>
                        <a:rPr lang="en-US" sz="1400" dirty="0"/>
                        <a:t>25-01-02</a:t>
                      </a:r>
                    </a:p>
                  </a:txBody>
                  <a:tcPr/>
                </a:tc>
                <a:tc>
                  <a:txBody>
                    <a:bodyPr/>
                    <a:lstStyle/>
                    <a:p>
                      <a:pPr algn="ctr"/>
                      <a:r>
                        <a:rPr lang="en-US" sz="1400" dirty="0"/>
                        <a:t>7</a:t>
                      </a:r>
                    </a:p>
                  </a:txBody>
                  <a:tcPr/>
                </a:tc>
                <a:tc>
                  <a:txBody>
                    <a:bodyPr/>
                    <a:lstStyle/>
                    <a:p>
                      <a:pPr algn="ctr"/>
                      <a:r>
                        <a:rPr lang="en-US" sz="1400" dirty="0"/>
                        <a:t>30 Kg</a:t>
                      </a:r>
                    </a:p>
                  </a:txBody>
                  <a:tcPr/>
                </a:tc>
                <a:tc>
                  <a:txBody>
                    <a:bodyPr/>
                    <a:lstStyle/>
                    <a:p>
                      <a:pPr algn="ctr"/>
                      <a:r>
                        <a:rPr lang="en-US" sz="1400" dirty="0"/>
                        <a:t>94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10" name="Table 9">
            <a:extLst>
              <a:ext uri="{FF2B5EF4-FFF2-40B4-BE49-F238E27FC236}">
                <a16:creationId xmlns:a16="http://schemas.microsoft.com/office/drawing/2014/main" id="{35DBCA64-ADF0-C2EB-B4C9-0508C4FE590C}"/>
              </a:ext>
            </a:extLst>
          </p:cNvPr>
          <p:cNvGraphicFramePr>
            <a:graphicFrameLocks noGrp="1"/>
          </p:cNvGraphicFramePr>
          <p:nvPr/>
        </p:nvGraphicFramePr>
        <p:xfrm>
          <a:off x="1428799" y="3628112"/>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1003</a:t>
                      </a:r>
                    </a:p>
                  </a:txBody>
                  <a:tcPr/>
                </a:tc>
                <a:tc>
                  <a:txBody>
                    <a:bodyPr/>
                    <a:lstStyle/>
                    <a:p>
                      <a:pPr algn="ctr"/>
                      <a:r>
                        <a:rPr lang="en-US" sz="1400" dirty="0"/>
                        <a:t>102</a:t>
                      </a:r>
                    </a:p>
                  </a:txBody>
                  <a:tcPr/>
                </a:tc>
                <a:tc>
                  <a:txBody>
                    <a:bodyPr/>
                    <a:lstStyle/>
                    <a:p>
                      <a:pPr algn="ctr"/>
                      <a:r>
                        <a:rPr lang="en-US" sz="1400" dirty="0"/>
                        <a:t>25-01-02</a:t>
                      </a:r>
                    </a:p>
                  </a:txBody>
                  <a:tcPr/>
                </a:tc>
                <a:tc>
                  <a:txBody>
                    <a:bodyPr/>
                    <a:lstStyle/>
                    <a:p>
                      <a:pPr algn="ctr"/>
                      <a:r>
                        <a:rPr lang="en-US" sz="1400" dirty="0"/>
                        <a:t>5</a:t>
                      </a:r>
                    </a:p>
                  </a:txBody>
                  <a:tcPr/>
                </a:tc>
                <a:tc>
                  <a:txBody>
                    <a:bodyPr/>
                    <a:lstStyle/>
                    <a:p>
                      <a:pPr algn="ctr"/>
                      <a:r>
                        <a:rPr lang="en-US" sz="1400" dirty="0"/>
                        <a:t>20 Kg</a:t>
                      </a:r>
                    </a:p>
                  </a:txBody>
                  <a:tcPr/>
                </a:tc>
                <a:tc>
                  <a:txBody>
                    <a:bodyPr/>
                    <a:lstStyle/>
                    <a:p>
                      <a:pPr algn="ctr"/>
                      <a:r>
                        <a:rPr lang="en-US" sz="1400" dirty="0"/>
                        <a:t>204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16" name="Table 15">
            <a:extLst>
              <a:ext uri="{FF2B5EF4-FFF2-40B4-BE49-F238E27FC236}">
                <a16:creationId xmlns:a16="http://schemas.microsoft.com/office/drawing/2014/main" id="{40F73878-1D80-6079-0559-F6608385FED7}"/>
              </a:ext>
            </a:extLst>
          </p:cNvPr>
          <p:cNvGraphicFramePr>
            <a:graphicFrameLocks noGrp="1"/>
          </p:cNvGraphicFramePr>
          <p:nvPr/>
        </p:nvGraphicFramePr>
        <p:xfrm>
          <a:off x="1428799" y="3991868"/>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1001</a:t>
                      </a:r>
                    </a:p>
                  </a:txBody>
                  <a:tcPr/>
                </a:tc>
                <a:tc>
                  <a:txBody>
                    <a:bodyPr/>
                    <a:lstStyle/>
                    <a:p>
                      <a:pPr algn="ctr"/>
                      <a:r>
                        <a:rPr lang="en-US" sz="1400" dirty="0"/>
                        <a:t>102</a:t>
                      </a:r>
                    </a:p>
                  </a:txBody>
                  <a:tcPr/>
                </a:tc>
                <a:tc>
                  <a:txBody>
                    <a:bodyPr/>
                    <a:lstStyle/>
                    <a:p>
                      <a:pPr algn="ctr"/>
                      <a:r>
                        <a:rPr lang="en-US" sz="1400" dirty="0"/>
                        <a:t>25-01-02</a:t>
                      </a:r>
                    </a:p>
                  </a:txBody>
                  <a:tcPr/>
                </a:tc>
                <a:tc>
                  <a:txBody>
                    <a:bodyPr/>
                    <a:lstStyle/>
                    <a:p>
                      <a:pPr algn="ctr"/>
                      <a:r>
                        <a:rPr lang="en-US" sz="1400" dirty="0"/>
                        <a:t>4</a:t>
                      </a:r>
                    </a:p>
                  </a:txBody>
                  <a:tcPr/>
                </a:tc>
                <a:tc>
                  <a:txBody>
                    <a:bodyPr/>
                    <a:lstStyle/>
                    <a:p>
                      <a:pPr algn="ctr"/>
                      <a:r>
                        <a:rPr lang="en-US" sz="1400" dirty="0"/>
                        <a:t>25 Kg</a:t>
                      </a:r>
                    </a:p>
                  </a:txBody>
                  <a:tcPr/>
                </a:tc>
                <a:tc>
                  <a:txBody>
                    <a:bodyPr/>
                    <a:lstStyle/>
                    <a:p>
                      <a:pPr algn="ctr"/>
                      <a:r>
                        <a:rPr lang="en-US" sz="1400" dirty="0"/>
                        <a:t>155</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17" name="Table 16">
            <a:extLst>
              <a:ext uri="{FF2B5EF4-FFF2-40B4-BE49-F238E27FC236}">
                <a16:creationId xmlns:a16="http://schemas.microsoft.com/office/drawing/2014/main" id="{C319D6AA-AB32-A4FF-7110-1E6424D3180C}"/>
              </a:ext>
            </a:extLst>
          </p:cNvPr>
          <p:cNvGraphicFramePr>
            <a:graphicFrameLocks noGrp="1"/>
          </p:cNvGraphicFramePr>
          <p:nvPr/>
        </p:nvGraphicFramePr>
        <p:xfrm>
          <a:off x="1428802" y="4361087"/>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1004</a:t>
                      </a:r>
                    </a:p>
                  </a:txBody>
                  <a:tcPr/>
                </a:tc>
                <a:tc>
                  <a:txBody>
                    <a:bodyPr/>
                    <a:lstStyle/>
                    <a:p>
                      <a:pPr algn="ctr"/>
                      <a:r>
                        <a:rPr lang="en-US" sz="1400" dirty="0"/>
                        <a:t>103</a:t>
                      </a:r>
                    </a:p>
                  </a:txBody>
                  <a:tcPr/>
                </a:tc>
                <a:tc>
                  <a:txBody>
                    <a:bodyPr/>
                    <a:lstStyle/>
                    <a:p>
                      <a:pPr algn="ctr"/>
                      <a:r>
                        <a:rPr lang="en-US" sz="1400" dirty="0"/>
                        <a:t>25-01-02</a:t>
                      </a:r>
                    </a:p>
                  </a:txBody>
                  <a:tcPr/>
                </a:tc>
                <a:tc>
                  <a:txBody>
                    <a:bodyPr/>
                    <a:lstStyle/>
                    <a:p>
                      <a:pPr algn="ctr"/>
                      <a:r>
                        <a:rPr lang="en-US" sz="1400" dirty="0"/>
                        <a:t>4</a:t>
                      </a:r>
                    </a:p>
                  </a:txBody>
                  <a:tcPr/>
                </a:tc>
                <a:tc>
                  <a:txBody>
                    <a:bodyPr/>
                    <a:lstStyle/>
                    <a:p>
                      <a:pPr algn="ctr"/>
                      <a:r>
                        <a:rPr lang="en-US" sz="1400" dirty="0"/>
                        <a:t>35 Kg</a:t>
                      </a:r>
                    </a:p>
                  </a:txBody>
                  <a:tcPr/>
                </a:tc>
                <a:tc>
                  <a:txBody>
                    <a:bodyPr/>
                    <a:lstStyle/>
                    <a:p>
                      <a:pPr algn="ctr"/>
                      <a:r>
                        <a:rPr lang="en-US" sz="1400" dirty="0"/>
                        <a:t>115</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18" name="Table 17">
            <a:extLst>
              <a:ext uri="{FF2B5EF4-FFF2-40B4-BE49-F238E27FC236}">
                <a16:creationId xmlns:a16="http://schemas.microsoft.com/office/drawing/2014/main" id="{61F9F7A0-69A5-FD0B-49A3-1E7744465B51}"/>
              </a:ext>
            </a:extLst>
          </p:cNvPr>
          <p:cNvGraphicFramePr>
            <a:graphicFrameLocks noGrp="1"/>
          </p:cNvGraphicFramePr>
          <p:nvPr/>
        </p:nvGraphicFramePr>
        <p:xfrm>
          <a:off x="1428802" y="4729877"/>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1002</a:t>
                      </a:r>
                    </a:p>
                  </a:txBody>
                  <a:tcPr/>
                </a:tc>
                <a:tc>
                  <a:txBody>
                    <a:bodyPr/>
                    <a:lstStyle/>
                    <a:p>
                      <a:pPr algn="ctr"/>
                      <a:r>
                        <a:rPr lang="en-US" sz="1400" dirty="0"/>
                        <a:t>103</a:t>
                      </a:r>
                    </a:p>
                  </a:txBody>
                  <a:tcPr/>
                </a:tc>
                <a:tc>
                  <a:txBody>
                    <a:bodyPr/>
                    <a:lstStyle/>
                    <a:p>
                      <a:pPr algn="ctr"/>
                      <a:r>
                        <a:rPr lang="en-US" sz="1400" dirty="0"/>
                        <a:t>25-01-01</a:t>
                      </a:r>
                    </a:p>
                  </a:txBody>
                  <a:tcPr/>
                </a:tc>
                <a:tc>
                  <a:txBody>
                    <a:bodyPr/>
                    <a:lstStyle/>
                    <a:p>
                      <a:pPr algn="ctr"/>
                      <a:r>
                        <a:rPr lang="en-US" sz="1400" dirty="0"/>
                        <a:t>7</a:t>
                      </a:r>
                    </a:p>
                  </a:txBody>
                  <a:tcPr/>
                </a:tc>
                <a:tc>
                  <a:txBody>
                    <a:bodyPr/>
                    <a:lstStyle/>
                    <a:p>
                      <a:pPr algn="ctr"/>
                      <a:r>
                        <a:rPr lang="en-US" sz="1400" dirty="0"/>
                        <a:t>15 Kg</a:t>
                      </a:r>
                    </a:p>
                  </a:txBody>
                  <a:tcPr/>
                </a:tc>
                <a:tc>
                  <a:txBody>
                    <a:bodyPr/>
                    <a:lstStyle/>
                    <a:p>
                      <a:pPr algn="ctr"/>
                      <a:r>
                        <a:rPr lang="en-US" sz="1400" dirty="0"/>
                        <a:t>93</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pic>
        <p:nvPicPr>
          <p:cNvPr id="6" name="Picture 5">
            <a:extLst>
              <a:ext uri="{FF2B5EF4-FFF2-40B4-BE49-F238E27FC236}">
                <a16:creationId xmlns:a16="http://schemas.microsoft.com/office/drawing/2014/main" id="{93D833F0-B023-B105-C01F-7F650B256180}"/>
              </a:ext>
            </a:extLst>
          </p:cNvPr>
          <p:cNvPicPr>
            <a:picLocks noChangeAspect="1"/>
          </p:cNvPicPr>
          <p:nvPr/>
        </p:nvPicPr>
        <p:blipFill>
          <a:blip r:embed="rId7"/>
          <a:srcRect l="22961" t="57864" r="62119" b="30040"/>
          <a:stretch>
            <a:fillRect/>
          </a:stretch>
        </p:blipFill>
        <p:spPr>
          <a:xfrm>
            <a:off x="3059750" y="5385988"/>
            <a:ext cx="829706" cy="366508"/>
          </a:xfrm>
          <a:prstGeom prst="rect">
            <a:avLst/>
          </a:prstGeom>
        </p:spPr>
      </p:pic>
    </p:spTree>
    <p:extLst>
      <p:ext uri="{BB962C8B-B14F-4D97-AF65-F5344CB8AC3E}">
        <p14:creationId xmlns:p14="http://schemas.microsoft.com/office/powerpoint/2010/main" val="40097828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6839-4FD6-9339-F7A0-688AAB43D30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1050279-66DA-A8F2-4351-0687F5B2EEE7}"/>
              </a:ext>
            </a:extLst>
          </p:cNvPr>
          <p:cNvPicPr>
            <a:picLocks/>
          </p:cNvPicPr>
          <p:nvPr/>
        </p:nvPicPr>
        <p:blipFill>
          <a:blip r:embed="rId2"/>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052B2569-CD86-EBE1-8FCC-58F9B6A68D4D}"/>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E62DEA33-04BF-5937-A37C-AC0607A6CA00}"/>
              </a:ext>
            </a:extLst>
          </p:cNvPr>
          <p:cNvPicPr>
            <a:picLocks/>
          </p:cNvPicPr>
          <p:nvPr/>
        </p:nvPicPr>
        <p:blipFill>
          <a:blip r:embed="rId2"/>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53AFF5D1-0426-5007-2C71-6F85F6BC4B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799B76B7-F67B-5110-FD72-43BF46B96ABD}"/>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6FE10AD0-B36D-2B79-4869-FD504A7C993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80DF00ED-48A1-668F-E8C8-0F635F44A19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E06024C7-398C-7873-1B71-07CF46CC428B}"/>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graphicFrame>
        <p:nvGraphicFramePr>
          <p:cNvPr id="2" name="Table 1">
            <a:extLst>
              <a:ext uri="{FF2B5EF4-FFF2-40B4-BE49-F238E27FC236}">
                <a16:creationId xmlns:a16="http://schemas.microsoft.com/office/drawing/2014/main" id="{A190711F-6D0E-2BC5-D513-FBDB27AA2E21}"/>
              </a:ext>
            </a:extLst>
          </p:cNvPr>
          <p:cNvGraphicFramePr>
            <a:graphicFrameLocks noGrp="1"/>
          </p:cNvGraphicFramePr>
          <p:nvPr/>
        </p:nvGraphicFramePr>
        <p:xfrm>
          <a:off x="1428800" y="1930276"/>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err="1"/>
                        <a:t>Animal_ID</a:t>
                      </a:r>
                      <a:endParaRPr lang="en-US" sz="1400" dirty="0"/>
                    </a:p>
                  </a:txBody>
                  <a:tcPr/>
                </a:tc>
                <a:tc>
                  <a:txBody>
                    <a:bodyPr/>
                    <a:lstStyle/>
                    <a:p>
                      <a:pPr algn="ctr"/>
                      <a:r>
                        <a:rPr lang="en-US" sz="1400" dirty="0" err="1"/>
                        <a:t>Farm_ID</a:t>
                      </a:r>
                      <a:endParaRPr lang="en-US" sz="1400" dirty="0"/>
                    </a:p>
                  </a:txBody>
                  <a:tcPr/>
                </a:tc>
                <a:tc>
                  <a:txBody>
                    <a:bodyPr/>
                    <a:lstStyle/>
                    <a:p>
                      <a:pPr algn="ctr"/>
                      <a:r>
                        <a:rPr lang="en-US" sz="1400" dirty="0"/>
                        <a:t>Date</a:t>
                      </a:r>
                    </a:p>
                  </a:txBody>
                  <a:tcPr/>
                </a:tc>
                <a:tc>
                  <a:txBody>
                    <a:bodyPr/>
                    <a:lstStyle/>
                    <a:p>
                      <a:pPr algn="ctr"/>
                      <a:r>
                        <a:rPr lang="en-US" sz="1400" dirty="0"/>
                        <a:t>Age</a:t>
                      </a:r>
                    </a:p>
                  </a:txBody>
                  <a:tcPr/>
                </a:tc>
                <a:tc>
                  <a:txBody>
                    <a:bodyPr/>
                    <a:lstStyle/>
                    <a:p>
                      <a:pPr algn="ctr"/>
                      <a:r>
                        <a:rPr lang="en-US" sz="1400" dirty="0"/>
                        <a:t>MILK</a:t>
                      </a:r>
                    </a:p>
                  </a:txBody>
                  <a:tcPr/>
                </a:tc>
                <a:tc>
                  <a:txBody>
                    <a:bodyPr/>
                    <a:lstStyle/>
                    <a:p>
                      <a:pPr algn="ctr"/>
                      <a:r>
                        <a:rPr lang="en-US" sz="1400" dirty="0"/>
                        <a:t>DIM</a:t>
                      </a:r>
                    </a:p>
                  </a:txBody>
                  <a:tcPr/>
                </a:tc>
                <a:tc>
                  <a:txBody>
                    <a:bodyPr/>
                    <a:lstStyle/>
                    <a:p>
                      <a:pPr algn="ctr"/>
                      <a:r>
                        <a:rPr lang="en-US" sz="1400" dirty="0"/>
                        <a:t>Protein</a:t>
                      </a:r>
                    </a:p>
                  </a:txBody>
                  <a:tcPr/>
                </a:tc>
                <a:tc>
                  <a:txBody>
                    <a:bodyPr/>
                    <a:lstStyle/>
                    <a:p>
                      <a:pPr algn="ctr"/>
                      <a:r>
                        <a:rPr lang="en-US" sz="1400" dirty="0"/>
                        <a:t>Fat</a:t>
                      </a:r>
                    </a:p>
                  </a:txBody>
                  <a:tcPr/>
                </a:tc>
                <a:tc>
                  <a:txBody>
                    <a:bodyPr/>
                    <a:lstStyle/>
                    <a:p>
                      <a:pPr algn="ctr"/>
                      <a:r>
                        <a:rPr lang="en-US" sz="1400" dirty="0"/>
                        <a:t>SCC</a:t>
                      </a:r>
                    </a:p>
                  </a:txBody>
                  <a:tcPr/>
                </a:tc>
                <a:extLst>
                  <a:ext uri="{0D108BD9-81ED-4DB2-BD59-A6C34878D82A}">
                    <a16:rowId xmlns:a16="http://schemas.microsoft.com/office/drawing/2014/main" val="4040833211"/>
                  </a:ext>
                </a:extLst>
              </a:tr>
            </a:tbl>
          </a:graphicData>
        </a:graphic>
      </p:graphicFrame>
      <p:graphicFrame>
        <p:nvGraphicFramePr>
          <p:cNvPr id="3" name="Table 2">
            <a:extLst>
              <a:ext uri="{FF2B5EF4-FFF2-40B4-BE49-F238E27FC236}">
                <a16:creationId xmlns:a16="http://schemas.microsoft.com/office/drawing/2014/main" id="{BB842D63-E953-9355-8E5E-EA2A76982E7D}"/>
              </a:ext>
            </a:extLst>
          </p:cNvPr>
          <p:cNvGraphicFramePr>
            <a:graphicFrameLocks noGrp="1"/>
          </p:cNvGraphicFramePr>
          <p:nvPr/>
        </p:nvGraphicFramePr>
        <p:xfrm>
          <a:off x="1428799" y="2299066"/>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1001</a:t>
                      </a:r>
                    </a:p>
                  </a:txBody>
                  <a:tcPr/>
                </a:tc>
                <a:tc>
                  <a:txBody>
                    <a:bodyPr/>
                    <a:lstStyle/>
                    <a:p>
                      <a:pPr algn="ctr"/>
                      <a:r>
                        <a:rPr lang="en-US" sz="1400" dirty="0"/>
                        <a:t>102</a:t>
                      </a:r>
                    </a:p>
                  </a:txBody>
                  <a:tcPr/>
                </a:tc>
                <a:tc>
                  <a:txBody>
                    <a:bodyPr/>
                    <a:lstStyle/>
                    <a:p>
                      <a:pPr algn="ctr"/>
                      <a:r>
                        <a:rPr lang="en-US" sz="1400" dirty="0"/>
                        <a:t>25-01-01</a:t>
                      </a:r>
                    </a:p>
                  </a:txBody>
                  <a:tcPr/>
                </a:tc>
                <a:tc>
                  <a:txBody>
                    <a:bodyPr/>
                    <a:lstStyle/>
                    <a:p>
                      <a:pPr algn="ctr"/>
                      <a:r>
                        <a:rPr lang="en-US" sz="1400" dirty="0"/>
                        <a:t>4</a:t>
                      </a:r>
                    </a:p>
                  </a:txBody>
                  <a:tcPr/>
                </a:tc>
                <a:tc>
                  <a:txBody>
                    <a:bodyPr/>
                    <a:lstStyle/>
                    <a:p>
                      <a:pPr algn="ctr"/>
                      <a:r>
                        <a:rPr lang="en-US" sz="1400" dirty="0"/>
                        <a:t>20 Kg</a:t>
                      </a:r>
                    </a:p>
                  </a:txBody>
                  <a:tcPr/>
                </a:tc>
                <a:tc>
                  <a:txBody>
                    <a:bodyPr/>
                    <a:lstStyle/>
                    <a:p>
                      <a:pPr algn="ctr"/>
                      <a:r>
                        <a:rPr lang="en-US" sz="1400" dirty="0"/>
                        <a:t>154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4" name="Table 3">
            <a:extLst>
              <a:ext uri="{FF2B5EF4-FFF2-40B4-BE49-F238E27FC236}">
                <a16:creationId xmlns:a16="http://schemas.microsoft.com/office/drawing/2014/main" id="{1256F301-6FCD-D325-CDAA-6D4433927061}"/>
              </a:ext>
            </a:extLst>
          </p:cNvPr>
          <p:cNvGraphicFramePr>
            <a:graphicFrameLocks noGrp="1"/>
          </p:cNvGraphicFramePr>
          <p:nvPr/>
        </p:nvGraphicFramePr>
        <p:xfrm>
          <a:off x="1428799" y="2674793"/>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1004</a:t>
                      </a:r>
                    </a:p>
                  </a:txBody>
                  <a:tcPr/>
                </a:tc>
                <a:tc>
                  <a:txBody>
                    <a:bodyPr/>
                    <a:lstStyle/>
                    <a:p>
                      <a:pPr algn="ctr"/>
                      <a:r>
                        <a:rPr lang="en-US" sz="1400" dirty="0"/>
                        <a:t>103</a:t>
                      </a:r>
                    </a:p>
                  </a:txBody>
                  <a:tcPr/>
                </a:tc>
                <a:tc>
                  <a:txBody>
                    <a:bodyPr/>
                    <a:lstStyle/>
                    <a:p>
                      <a:pPr algn="ctr"/>
                      <a:r>
                        <a:rPr lang="en-US" sz="1400" dirty="0"/>
                        <a:t>25-01-01</a:t>
                      </a:r>
                    </a:p>
                  </a:txBody>
                  <a:tcPr/>
                </a:tc>
                <a:tc>
                  <a:txBody>
                    <a:bodyPr/>
                    <a:lstStyle/>
                    <a:p>
                      <a:pPr algn="ctr"/>
                      <a:r>
                        <a:rPr lang="en-US" sz="1400" dirty="0"/>
                        <a:t>6</a:t>
                      </a:r>
                    </a:p>
                  </a:txBody>
                  <a:tcPr/>
                </a:tc>
                <a:tc>
                  <a:txBody>
                    <a:bodyPr/>
                    <a:lstStyle/>
                    <a:p>
                      <a:pPr algn="ctr"/>
                      <a:r>
                        <a:rPr lang="en-US" sz="1400" dirty="0"/>
                        <a:t>35 Kg</a:t>
                      </a:r>
                    </a:p>
                  </a:txBody>
                  <a:tcPr/>
                </a:tc>
                <a:tc>
                  <a:txBody>
                    <a:bodyPr/>
                    <a:lstStyle/>
                    <a:p>
                      <a:pPr algn="ctr"/>
                      <a:r>
                        <a:rPr lang="en-US" sz="1400" dirty="0"/>
                        <a:t>114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7" name="Table 6">
            <a:extLst>
              <a:ext uri="{FF2B5EF4-FFF2-40B4-BE49-F238E27FC236}">
                <a16:creationId xmlns:a16="http://schemas.microsoft.com/office/drawing/2014/main" id="{4578DD3B-3E1D-3EBB-13E6-E6F76E8582F9}"/>
              </a:ext>
            </a:extLst>
          </p:cNvPr>
          <p:cNvGraphicFramePr>
            <a:graphicFrameLocks noGrp="1"/>
          </p:cNvGraphicFramePr>
          <p:nvPr/>
        </p:nvGraphicFramePr>
        <p:xfrm>
          <a:off x="1428802" y="3043192"/>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1003</a:t>
                      </a:r>
                    </a:p>
                  </a:txBody>
                  <a:tcPr/>
                </a:tc>
                <a:tc>
                  <a:txBody>
                    <a:bodyPr/>
                    <a:lstStyle/>
                    <a:p>
                      <a:pPr algn="ctr"/>
                      <a:r>
                        <a:rPr lang="en-US" sz="1400" dirty="0"/>
                        <a:t>102</a:t>
                      </a:r>
                    </a:p>
                  </a:txBody>
                  <a:tcPr/>
                </a:tc>
                <a:tc>
                  <a:txBody>
                    <a:bodyPr/>
                    <a:lstStyle/>
                    <a:p>
                      <a:pPr algn="ctr"/>
                      <a:r>
                        <a:rPr lang="en-US" sz="1400" dirty="0"/>
                        <a:t>25-01-01</a:t>
                      </a:r>
                    </a:p>
                  </a:txBody>
                  <a:tcPr/>
                </a:tc>
                <a:tc>
                  <a:txBody>
                    <a:bodyPr/>
                    <a:lstStyle/>
                    <a:p>
                      <a:pPr algn="ctr"/>
                      <a:r>
                        <a:rPr lang="en-US" sz="1400" dirty="0"/>
                        <a:t>5</a:t>
                      </a:r>
                    </a:p>
                  </a:txBody>
                  <a:tcPr/>
                </a:tc>
                <a:tc>
                  <a:txBody>
                    <a:bodyPr/>
                    <a:lstStyle/>
                    <a:p>
                      <a:pPr algn="ctr"/>
                      <a:r>
                        <a:rPr lang="en-US" sz="1400" dirty="0"/>
                        <a:t>15 Kg</a:t>
                      </a:r>
                    </a:p>
                  </a:txBody>
                  <a:tcPr/>
                </a:tc>
                <a:tc>
                  <a:txBody>
                    <a:bodyPr/>
                    <a:lstStyle/>
                    <a:p>
                      <a:pPr algn="ctr"/>
                      <a:r>
                        <a:rPr lang="en-US" sz="1400" dirty="0"/>
                        <a:t>204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8" name="Table 7">
            <a:extLst>
              <a:ext uri="{FF2B5EF4-FFF2-40B4-BE49-F238E27FC236}">
                <a16:creationId xmlns:a16="http://schemas.microsoft.com/office/drawing/2014/main" id="{811EEF54-82C5-3399-3C70-180B5934A668}"/>
              </a:ext>
            </a:extLst>
          </p:cNvPr>
          <p:cNvGraphicFramePr>
            <a:graphicFrameLocks noGrp="1"/>
          </p:cNvGraphicFramePr>
          <p:nvPr/>
        </p:nvGraphicFramePr>
        <p:xfrm>
          <a:off x="1428802" y="3411982"/>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1002</a:t>
                      </a:r>
                    </a:p>
                  </a:txBody>
                  <a:tcPr/>
                </a:tc>
                <a:tc>
                  <a:txBody>
                    <a:bodyPr/>
                    <a:lstStyle/>
                    <a:p>
                      <a:pPr algn="ctr"/>
                      <a:r>
                        <a:rPr lang="en-US" sz="1400" dirty="0"/>
                        <a:t>103</a:t>
                      </a:r>
                    </a:p>
                  </a:txBody>
                  <a:tcPr/>
                </a:tc>
                <a:tc>
                  <a:txBody>
                    <a:bodyPr/>
                    <a:lstStyle/>
                    <a:p>
                      <a:pPr algn="ctr"/>
                      <a:r>
                        <a:rPr lang="en-US" sz="1400" dirty="0"/>
                        <a:t>25-01-02</a:t>
                      </a:r>
                    </a:p>
                  </a:txBody>
                  <a:tcPr/>
                </a:tc>
                <a:tc>
                  <a:txBody>
                    <a:bodyPr/>
                    <a:lstStyle/>
                    <a:p>
                      <a:pPr algn="ctr"/>
                      <a:r>
                        <a:rPr lang="en-US" sz="1400" dirty="0"/>
                        <a:t>7</a:t>
                      </a:r>
                    </a:p>
                  </a:txBody>
                  <a:tcPr/>
                </a:tc>
                <a:tc>
                  <a:txBody>
                    <a:bodyPr/>
                    <a:lstStyle/>
                    <a:p>
                      <a:pPr algn="ctr"/>
                      <a:r>
                        <a:rPr lang="en-US" sz="1400" dirty="0"/>
                        <a:t>30 Kg</a:t>
                      </a:r>
                    </a:p>
                  </a:txBody>
                  <a:tcPr/>
                </a:tc>
                <a:tc>
                  <a:txBody>
                    <a:bodyPr/>
                    <a:lstStyle/>
                    <a:p>
                      <a:pPr algn="ctr"/>
                      <a:r>
                        <a:rPr lang="en-US" sz="1400" dirty="0"/>
                        <a:t>94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10" name="Table 9">
            <a:extLst>
              <a:ext uri="{FF2B5EF4-FFF2-40B4-BE49-F238E27FC236}">
                <a16:creationId xmlns:a16="http://schemas.microsoft.com/office/drawing/2014/main" id="{71F225AF-041E-E9E8-0ED8-29B7FE06A21D}"/>
              </a:ext>
            </a:extLst>
          </p:cNvPr>
          <p:cNvGraphicFramePr>
            <a:graphicFrameLocks noGrp="1"/>
          </p:cNvGraphicFramePr>
          <p:nvPr/>
        </p:nvGraphicFramePr>
        <p:xfrm>
          <a:off x="1428799" y="3767848"/>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1003</a:t>
                      </a:r>
                    </a:p>
                  </a:txBody>
                  <a:tcPr/>
                </a:tc>
                <a:tc>
                  <a:txBody>
                    <a:bodyPr/>
                    <a:lstStyle/>
                    <a:p>
                      <a:pPr algn="ctr"/>
                      <a:r>
                        <a:rPr lang="en-US" sz="1400" dirty="0"/>
                        <a:t>102</a:t>
                      </a:r>
                    </a:p>
                  </a:txBody>
                  <a:tcPr/>
                </a:tc>
                <a:tc>
                  <a:txBody>
                    <a:bodyPr/>
                    <a:lstStyle/>
                    <a:p>
                      <a:pPr algn="ctr"/>
                      <a:r>
                        <a:rPr lang="en-US" sz="1400" dirty="0"/>
                        <a:t>25-01-02</a:t>
                      </a:r>
                    </a:p>
                  </a:txBody>
                  <a:tcPr/>
                </a:tc>
                <a:tc>
                  <a:txBody>
                    <a:bodyPr/>
                    <a:lstStyle/>
                    <a:p>
                      <a:pPr algn="ctr"/>
                      <a:r>
                        <a:rPr lang="en-US" sz="1400" dirty="0"/>
                        <a:t>5</a:t>
                      </a:r>
                    </a:p>
                  </a:txBody>
                  <a:tcPr/>
                </a:tc>
                <a:tc>
                  <a:txBody>
                    <a:bodyPr/>
                    <a:lstStyle/>
                    <a:p>
                      <a:pPr algn="ctr"/>
                      <a:r>
                        <a:rPr lang="en-US" sz="1400" dirty="0"/>
                        <a:t>20 Kg</a:t>
                      </a:r>
                    </a:p>
                  </a:txBody>
                  <a:tcPr/>
                </a:tc>
                <a:tc>
                  <a:txBody>
                    <a:bodyPr/>
                    <a:lstStyle/>
                    <a:p>
                      <a:pPr algn="ctr"/>
                      <a:r>
                        <a:rPr lang="en-US" sz="1400" dirty="0"/>
                        <a:t>204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16" name="Table 15">
            <a:extLst>
              <a:ext uri="{FF2B5EF4-FFF2-40B4-BE49-F238E27FC236}">
                <a16:creationId xmlns:a16="http://schemas.microsoft.com/office/drawing/2014/main" id="{E3A2E539-8C32-6138-95FC-4B5A50E21D23}"/>
              </a:ext>
            </a:extLst>
          </p:cNvPr>
          <p:cNvGraphicFramePr>
            <a:graphicFrameLocks noGrp="1"/>
          </p:cNvGraphicFramePr>
          <p:nvPr/>
        </p:nvGraphicFramePr>
        <p:xfrm>
          <a:off x="1428799" y="4131604"/>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1001</a:t>
                      </a:r>
                    </a:p>
                  </a:txBody>
                  <a:tcPr/>
                </a:tc>
                <a:tc>
                  <a:txBody>
                    <a:bodyPr/>
                    <a:lstStyle/>
                    <a:p>
                      <a:pPr algn="ctr"/>
                      <a:r>
                        <a:rPr lang="en-US" sz="1400" dirty="0"/>
                        <a:t>102</a:t>
                      </a:r>
                    </a:p>
                  </a:txBody>
                  <a:tcPr/>
                </a:tc>
                <a:tc>
                  <a:txBody>
                    <a:bodyPr/>
                    <a:lstStyle/>
                    <a:p>
                      <a:pPr algn="ctr"/>
                      <a:r>
                        <a:rPr lang="en-US" sz="1400" dirty="0"/>
                        <a:t>25-01-02</a:t>
                      </a:r>
                    </a:p>
                  </a:txBody>
                  <a:tcPr/>
                </a:tc>
                <a:tc>
                  <a:txBody>
                    <a:bodyPr/>
                    <a:lstStyle/>
                    <a:p>
                      <a:pPr algn="ctr"/>
                      <a:r>
                        <a:rPr lang="en-US" sz="1400" dirty="0"/>
                        <a:t>4</a:t>
                      </a:r>
                    </a:p>
                  </a:txBody>
                  <a:tcPr/>
                </a:tc>
                <a:tc>
                  <a:txBody>
                    <a:bodyPr/>
                    <a:lstStyle/>
                    <a:p>
                      <a:pPr algn="ctr"/>
                      <a:r>
                        <a:rPr lang="en-US" sz="1400" dirty="0"/>
                        <a:t>25 Kg</a:t>
                      </a:r>
                    </a:p>
                  </a:txBody>
                  <a:tcPr/>
                </a:tc>
                <a:tc>
                  <a:txBody>
                    <a:bodyPr/>
                    <a:lstStyle/>
                    <a:p>
                      <a:pPr algn="ctr"/>
                      <a:r>
                        <a:rPr lang="en-US" sz="1400" dirty="0"/>
                        <a:t>155</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17" name="Table 16">
            <a:extLst>
              <a:ext uri="{FF2B5EF4-FFF2-40B4-BE49-F238E27FC236}">
                <a16:creationId xmlns:a16="http://schemas.microsoft.com/office/drawing/2014/main" id="{F582B2D0-E0F6-A306-9A8B-AF040CF4D0A5}"/>
              </a:ext>
            </a:extLst>
          </p:cNvPr>
          <p:cNvGraphicFramePr>
            <a:graphicFrameLocks noGrp="1"/>
          </p:cNvGraphicFramePr>
          <p:nvPr/>
        </p:nvGraphicFramePr>
        <p:xfrm>
          <a:off x="1428802" y="4500823"/>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1004</a:t>
                      </a:r>
                    </a:p>
                  </a:txBody>
                  <a:tcPr/>
                </a:tc>
                <a:tc>
                  <a:txBody>
                    <a:bodyPr/>
                    <a:lstStyle/>
                    <a:p>
                      <a:pPr algn="ctr"/>
                      <a:r>
                        <a:rPr lang="en-US" sz="1400" dirty="0"/>
                        <a:t>103</a:t>
                      </a:r>
                    </a:p>
                  </a:txBody>
                  <a:tcPr/>
                </a:tc>
                <a:tc>
                  <a:txBody>
                    <a:bodyPr/>
                    <a:lstStyle/>
                    <a:p>
                      <a:pPr algn="ctr"/>
                      <a:r>
                        <a:rPr lang="en-US" sz="1400" dirty="0"/>
                        <a:t>25-01-02</a:t>
                      </a:r>
                    </a:p>
                  </a:txBody>
                  <a:tcPr/>
                </a:tc>
                <a:tc>
                  <a:txBody>
                    <a:bodyPr/>
                    <a:lstStyle/>
                    <a:p>
                      <a:pPr algn="ctr"/>
                      <a:r>
                        <a:rPr lang="en-US" sz="1400" dirty="0"/>
                        <a:t>4</a:t>
                      </a:r>
                    </a:p>
                  </a:txBody>
                  <a:tcPr/>
                </a:tc>
                <a:tc>
                  <a:txBody>
                    <a:bodyPr/>
                    <a:lstStyle/>
                    <a:p>
                      <a:pPr algn="ctr"/>
                      <a:r>
                        <a:rPr lang="en-US" sz="1400" dirty="0"/>
                        <a:t>35 Kg</a:t>
                      </a:r>
                    </a:p>
                  </a:txBody>
                  <a:tcPr/>
                </a:tc>
                <a:tc>
                  <a:txBody>
                    <a:bodyPr/>
                    <a:lstStyle/>
                    <a:p>
                      <a:pPr algn="ctr"/>
                      <a:r>
                        <a:rPr lang="en-US" sz="1400" dirty="0"/>
                        <a:t>115</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18" name="Table 17">
            <a:extLst>
              <a:ext uri="{FF2B5EF4-FFF2-40B4-BE49-F238E27FC236}">
                <a16:creationId xmlns:a16="http://schemas.microsoft.com/office/drawing/2014/main" id="{4A89309E-0F07-513C-731D-F169011A8EBF}"/>
              </a:ext>
            </a:extLst>
          </p:cNvPr>
          <p:cNvGraphicFramePr>
            <a:graphicFrameLocks noGrp="1"/>
          </p:cNvGraphicFramePr>
          <p:nvPr/>
        </p:nvGraphicFramePr>
        <p:xfrm>
          <a:off x="1428802" y="4869613"/>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1002</a:t>
                      </a:r>
                    </a:p>
                  </a:txBody>
                  <a:tcPr/>
                </a:tc>
                <a:tc>
                  <a:txBody>
                    <a:bodyPr/>
                    <a:lstStyle/>
                    <a:p>
                      <a:pPr algn="ctr"/>
                      <a:r>
                        <a:rPr lang="en-US" sz="1400" dirty="0"/>
                        <a:t>103</a:t>
                      </a:r>
                    </a:p>
                  </a:txBody>
                  <a:tcPr/>
                </a:tc>
                <a:tc>
                  <a:txBody>
                    <a:bodyPr/>
                    <a:lstStyle/>
                    <a:p>
                      <a:pPr algn="ctr"/>
                      <a:r>
                        <a:rPr lang="en-US" sz="1400" dirty="0"/>
                        <a:t>25-01-01</a:t>
                      </a:r>
                    </a:p>
                  </a:txBody>
                  <a:tcPr/>
                </a:tc>
                <a:tc>
                  <a:txBody>
                    <a:bodyPr/>
                    <a:lstStyle/>
                    <a:p>
                      <a:pPr algn="ctr"/>
                      <a:r>
                        <a:rPr lang="en-US" sz="1400" dirty="0"/>
                        <a:t>7</a:t>
                      </a:r>
                    </a:p>
                  </a:txBody>
                  <a:tcPr/>
                </a:tc>
                <a:tc>
                  <a:txBody>
                    <a:bodyPr/>
                    <a:lstStyle/>
                    <a:p>
                      <a:pPr algn="ctr"/>
                      <a:r>
                        <a:rPr lang="en-US" sz="1400" dirty="0"/>
                        <a:t>15 Kg</a:t>
                      </a:r>
                    </a:p>
                  </a:txBody>
                  <a:tcPr/>
                </a:tc>
                <a:tc>
                  <a:txBody>
                    <a:bodyPr/>
                    <a:lstStyle/>
                    <a:p>
                      <a:pPr algn="ctr"/>
                      <a:r>
                        <a:rPr lang="en-US" sz="1400" dirty="0"/>
                        <a:t>93</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pic>
        <p:nvPicPr>
          <p:cNvPr id="6" name="Picture 5">
            <a:extLst>
              <a:ext uri="{FF2B5EF4-FFF2-40B4-BE49-F238E27FC236}">
                <a16:creationId xmlns:a16="http://schemas.microsoft.com/office/drawing/2014/main" id="{A523E2F8-5221-52E9-BFEA-F7499CB9EBF9}"/>
              </a:ext>
            </a:extLst>
          </p:cNvPr>
          <p:cNvPicPr>
            <a:picLocks noChangeAspect="1"/>
          </p:cNvPicPr>
          <p:nvPr/>
        </p:nvPicPr>
        <p:blipFill>
          <a:blip r:embed="rId7">
            <a:extLst>
              <a:ext uri="{BEBA8EAE-BF5A-486C-A8C5-ECC9F3942E4B}">
                <a14:imgProps xmlns:a14="http://schemas.microsoft.com/office/drawing/2010/main">
                  <a14:imgLayer r:embed="rId8">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178526" y="1497230"/>
            <a:ext cx="851605" cy="686497"/>
          </a:xfrm>
          <a:prstGeom prst="rect">
            <a:avLst/>
          </a:prstGeom>
        </p:spPr>
      </p:pic>
    </p:spTree>
    <p:extLst>
      <p:ext uri="{BB962C8B-B14F-4D97-AF65-F5344CB8AC3E}">
        <p14:creationId xmlns:p14="http://schemas.microsoft.com/office/powerpoint/2010/main" val="41419067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6B3E0-F09F-7ABE-1CA5-431F07BCA7C6}"/>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571722C8-01CC-69C6-633A-6F143271F5AE}"/>
              </a:ext>
            </a:extLst>
          </p:cNvPr>
          <p:cNvGraphicFramePr>
            <a:graphicFrameLocks noGrp="1"/>
          </p:cNvGraphicFramePr>
          <p:nvPr/>
        </p:nvGraphicFramePr>
        <p:xfrm>
          <a:off x="1417938" y="3736948"/>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1003</a:t>
                      </a:r>
                    </a:p>
                  </a:txBody>
                  <a:tcPr/>
                </a:tc>
                <a:tc>
                  <a:txBody>
                    <a:bodyPr/>
                    <a:lstStyle/>
                    <a:p>
                      <a:pPr algn="ctr"/>
                      <a:r>
                        <a:rPr lang="en-US" sz="1400" dirty="0"/>
                        <a:t>102</a:t>
                      </a:r>
                    </a:p>
                  </a:txBody>
                  <a:tcPr/>
                </a:tc>
                <a:tc>
                  <a:txBody>
                    <a:bodyPr/>
                    <a:lstStyle/>
                    <a:p>
                      <a:pPr algn="ctr"/>
                      <a:r>
                        <a:rPr lang="en-US" sz="1400" dirty="0"/>
                        <a:t>25-01-02</a:t>
                      </a:r>
                    </a:p>
                  </a:txBody>
                  <a:tcPr/>
                </a:tc>
                <a:tc>
                  <a:txBody>
                    <a:bodyPr/>
                    <a:lstStyle/>
                    <a:p>
                      <a:pPr algn="ctr"/>
                      <a:r>
                        <a:rPr lang="en-US" sz="1400" dirty="0"/>
                        <a:t>5</a:t>
                      </a:r>
                    </a:p>
                  </a:txBody>
                  <a:tcPr/>
                </a:tc>
                <a:tc>
                  <a:txBody>
                    <a:bodyPr/>
                    <a:lstStyle/>
                    <a:p>
                      <a:pPr algn="ctr"/>
                      <a:r>
                        <a:rPr lang="en-US" sz="1400" dirty="0"/>
                        <a:t>20 Kg</a:t>
                      </a:r>
                    </a:p>
                  </a:txBody>
                  <a:tcPr/>
                </a:tc>
                <a:tc>
                  <a:txBody>
                    <a:bodyPr/>
                    <a:lstStyle/>
                    <a:p>
                      <a:pPr algn="ctr"/>
                      <a:r>
                        <a:rPr lang="en-US" sz="1400" dirty="0"/>
                        <a:t>204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pic>
        <p:nvPicPr>
          <p:cNvPr id="5" name="Picture 4">
            <a:extLst>
              <a:ext uri="{FF2B5EF4-FFF2-40B4-BE49-F238E27FC236}">
                <a16:creationId xmlns:a16="http://schemas.microsoft.com/office/drawing/2014/main" id="{31D8B228-2369-3231-E840-F7B9E56BA45B}"/>
              </a:ext>
            </a:extLst>
          </p:cNvPr>
          <p:cNvPicPr>
            <a:picLocks/>
          </p:cNvPicPr>
          <p:nvPr/>
        </p:nvPicPr>
        <p:blipFill>
          <a:blip r:embed="rId2"/>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ED891685-A93F-6192-3789-C5A62D8C059A}"/>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14CE43E4-9B9E-FC1B-46C5-9CF171C13BBC}"/>
              </a:ext>
            </a:extLst>
          </p:cNvPr>
          <p:cNvPicPr>
            <a:picLocks/>
          </p:cNvPicPr>
          <p:nvPr/>
        </p:nvPicPr>
        <p:blipFill>
          <a:blip r:embed="rId2"/>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26560006-C828-DACA-5C17-B6FA34E6862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2D041334-0D81-E56E-95F6-BAE85A76D7BB}"/>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A2F5B088-7F21-D152-BED0-2FF1B8FF2DD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6A10CFBA-C706-5D08-FBA4-6D6AF274C53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8EF350FA-97CF-7F2B-CD57-B93F03BF2CCA}"/>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graphicFrame>
        <p:nvGraphicFramePr>
          <p:cNvPr id="2" name="Table 1">
            <a:extLst>
              <a:ext uri="{FF2B5EF4-FFF2-40B4-BE49-F238E27FC236}">
                <a16:creationId xmlns:a16="http://schemas.microsoft.com/office/drawing/2014/main" id="{D0584D7A-E53A-C410-B8C2-3653F685DF88}"/>
              </a:ext>
            </a:extLst>
          </p:cNvPr>
          <p:cNvGraphicFramePr>
            <a:graphicFrameLocks noGrp="1"/>
          </p:cNvGraphicFramePr>
          <p:nvPr/>
        </p:nvGraphicFramePr>
        <p:xfrm>
          <a:off x="1428800" y="1768038"/>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err="1"/>
                        <a:t>Animal_ID</a:t>
                      </a:r>
                      <a:endParaRPr lang="en-US" sz="1400" dirty="0"/>
                    </a:p>
                  </a:txBody>
                  <a:tcPr/>
                </a:tc>
                <a:tc>
                  <a:txBody>
                    <a:bodyPr/>
                    <a:lstStyle/>
                    <a:p>
                      <a:pPr algn="ctr"/>
                      <a:r>
                        <a:rPr lang="en-US" sz="1400" dirty="0" err="1"/>
                        <a:t>Farm_ID</a:t>
                      </a:r>
                      <a:endParaRPr lang="en-US" sz="1400" dirty="0"/>
                    </a:p>
                  </a:txBody>
                  <a:tcPr/>
                </a:tc>
                <a:tc>
                  <a:txBody>
                    <a:bodyPr/>
                    <a:lstStyle/>
                    <a:p>
                      <a:pPr algn="ctr"/>
                      <a:r>
                        <a:rPr lang="en-US" sz="1400" dirty="0"/>
                        <a:t>Date</a:t>
                      </a:r>
                    </a:p>
                  </a:txBody>
                  <a:tcPr/>
                </a:tc>
                <a:tc>
                  <a:txBody>
                    <a:bodyPr/>
                    <a:lstStyle/>
                    <a:p>
                      <a:pPr algn="ctr"/>
                      <a:r>
                        <a:rPr lang="en-US" sz="1400" dirty="0"/>
                        <a:t>Age</a:t>
                      </a:r>
                    </a:p>
                  </a:txBody>
                  <a:tcPr/>
                </a:tc>
                <a:tc>
                  <a:txBody>
                    <a:bodyPr/>
                    <a:lstStyle/>
                    <a:p>
                      <a:pPr algn="ctr"/>
                      <a:r>
                        <a:rPr lang="en-US" sz="1400" dirty="0"/>
                        <a:t>MILK</a:t>
                      </a:r>
                    </a:p>
                  </a:txBody>
                  <a:tcPr/>
                </a:tc>
                <a:tc>
                  <a:txBody>
                    <a:bodyPr/>
                    <a:lstStyle/>
                    <a:p>
                      <a:pPr algn="ctr"/>
                      <a:r>
                        <a:rPr lang="en-US" sz="1400" dirty="0"/>
                        <a:t>DIM</a:t>
                      </a:r>
                    </a:p>
                  </a:txBody>
                  <a:tcPr/>
                </a:tc>
                <a:tc>
                  <a:txBody>
                    <a:bodyPr/>
                    <a:lstStyle/>
                    <a:p>
                      <a:pPr algn="ctr"/>
                      <a:r>
                        <a:rPr lang="en-US" sz="1400" dirty="0"/>
                        <a:t>Protein</a:t>
                      </a:r>
                    </a:p>
                  </a:txBody>
                  <a:tcPr/>
                </a:tc>
                <a:tc>
                  <a:txBody>
                    <a:bodyPr/>
                    <a:lstStyle/>
                    <a:p>
                      <a:pPr algn="ctr"/>
                      <a:r>
                        <a:rPr lang="en-US" sz="1400" dirty="0"/>
                        <a:t>Fat</a:t>
                      </a:r>
                    </a:p>
                  </a:txBody>
                  <a:tcPr/>
                </a:tc>
                <a:tc>
                  <a:txBody>
                    <a:bodyPr/>
                    <a:lstStyle/>
                    <a:p>
                      <a:pPr algn="ctr"/>
                      <a:r>
                        <a:rPr lang="en-US" sz="1400" dirty="0"/>
                        <a:t>SCC</a:t>
                      </a:r>
                    </a:p>
                  </a:txBody>
                  <a:tcPr/>
                </a:tc>
                <a:extLst>
                  <a:ext uri="{0D108BD9-81ED-4DB2-BD59-A6C34878D82A}">
                    <a16:rowId xmlns:a16="http://schemas.microsoft.com/office/drawing/2014/main" val="4040833211"/>
                  </a:ext>
                </a:extLst>
              </a:tr>
            </a:tbl>
          </a:graphicData>
        </a:graphic>
      </p:graphicFrame>
      <p:graphicFrame>
        <p:nvGraphicFramePr>
          <p:cNvPr id="3" name="Table 2">
            <a:extLst>
              <a:ext uri="{FF2B5EF4-FFF2-40B4-BE49-F238E27FC236}">
                <a16:creationId xmlns:a16="http://schemas.microsoft.com/office/drawing/2014/main" id="{0E73EB17-9AD2-B8E4-0E0D-3126C5123910}"/>
              </a:ext>
            </a:extLst>
          </p:cNvPr>
          <p:cNvGraphicFramePr>
            <a:graphicFrameLocks noGrp="1"/>
          </p:cNvGraphicFramePr>
          <p:nvPr/>
        </p:nvGraphicFramePr>
        <p:xfrm>
          <a:off x="1428799" y="2136828"/>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1001</a:t>
                      </a:r>
                    </a:p>
                  </a:txBody>
                  <a:tcPr/>
                </a:tc>
                <a:tc>
                  <a:txBody>
                    <a:bodyPr/>
                    <a:lstStyle/>
                    <a:p>
                      <a:pPr algn="ctr"/>
                      <a:r>
                        <a:rPr lang="en-US" sz="1400" dirty="0"/>
                        <a:t>102</a:t>
                      </a:r>
                    </a:p>
                  </a:txBody>
                  <a:tcPr/>
                </a:tc>
                <a:tc>
                  <a:txBody>
                    <a:bodyPr/>
                    <a:lstStyle/>
                    <a:p>
                      <a:pPr algn="ctr"/>
                      <a:r>
                        <a:rPr lang="en-US" sz="1400" dirty="0"/>
                        <a:t>25-01-01</a:t>
                      </a:r>
                    </a:p>
                  </a:txBody>
                  <a:tcPr/>
                </a:tc>
                <a:tc>
                  <a:txBody>
                    <a:bodyPr/>
                    <a:lstStyle/>
                    <a:p>
                      <a:pPr algn="ctr"/>
                      <a:r>
                        <a:rPr lang="en-US" sz="1400" dirty="0"/>
                        <a:t>4</a:t>
                      </a:r>
                    </a:p>
                  </a:txBody>
                  <a:tcPr/>
                </a:tc>
                <a:tc>
                  <a:txBody>
                    <a:bodyPr/>
                    <a:lstStyle/>
                    <a:p>
                      <a:pPr algn="ctr"/>
                      <a:r>
                        <a:rPr lang="en-US" sz="1400" dirty="0"/>
                        <a:t>20 Kg</a:t>
                      </a:r>
                    </a:p>
                  </a:txBody>
                  <a:tcPr/>
                </a:tc>
                <a:tc>
                  <a:txBody>
                    <a:bodyPr/>
                    <a:lstStyle/>
                    <a:p>
                      <a:pPr algn="ctr"/>
                      <a:r>
                        <a:rPr lang="en-US" sz="1400" dirty="0"/>
                        <a:t>154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4" name="Table 3">
            <a:extLst>
              <a:ext uri="{FF2B5EF4-FFF2-40B4-BE49-F238E27FC236}">
                <a16:creationId xmlns:a16="http://schemas.microsoft.com/office/drawing/2014/main" id="{81984DF2-C5DB-ACA6-95D0-BBF147BC9C0C}"/>
              </a:ext>
            </a:extLst>
          </p:cNvPr>
          <p:cNvGraphicFramePr>
            <a:graphicFrameLocks noGrp="1"/>
          </p:cNvGraphicFramePr>
          <p:nvPr/>
        </p:nvGraphicFramePr>
        <p:xfrm>
          <a:off x="1428799" y="4919299"/>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1004</a:t>
                      </a:r>
                    </a:p>
                  </a:txBody>
                  <a:tcPr/>
                </a:tc>
                <a:tc>
                  <a:txBody>
                    <a:bodyPr/>
                    <a:lstStyle/>
                    <a:p>
                      <a:pPr algn="ctr"/>
                      <a:r>
                        <a:rPr lang="en-US" sz="1400" dirty="0"/>
                        <a:t>103</a:t>
                      </a:r>
                    </a:p>
                  </a:txBody>
                  <a:tcPr/>
                </a:tc>
                <a:tc>
                  <a:txBody>
                    <a:bodyPr/>
                    <a:lstStyle/>
                    <a:p>
                      <a:pPr algn="ctr"/>
                      <a:r>
                        <a:rPr lang="en-US" sz="1400" dirty="0"/>
                        <a:t>25-01-01</a:t>
                      </a:r>
                    </a:p>
                  </a:txBody>
                  <a:tcPr/>
                </a:tc>
                <a:tc>
                  <a:txBody>
                    <a:bodyPr/>
                    <a:lstStyle/>
                    <a:p>
                      <a:pPr algn="ctr"/>
                      <a:r>
                        <a:rPr lang="en-US" sz="1400" dirty="0"/>
                        <a:t>6</a:t>
                      </a:r>
                    </a:p>
                  </a:txBody>
                  <a:tcPr/>
                </a:tc>
                <a:tc>
                  <a:txBody>
                    <a:bodyPr/>
                    <a:lstStyle/>
                    <a:p>
                      <a:pPr algn="ctr"/>
                      <a:r>
                        <a:rPr lang="en-US" sz="1400" dirty="0"/>
                        <a:t>35 Kg</a:t>
                      </a:r>
                    </a:p>
                  </a:txBody>
                  <a:tcPr/>
                </a:tc>
                <a:tc>
                  <a:txBody>
                    <a:bodyPr/>
                    <a:lstStyle/>
                    <a:p>
                      <a:pPr algn="ctr"/>
                      <a:r>
                        <a:rPr lang="en-US" sz="1400" dirty="0"/>
                        <a:t>114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7" name="Table 6">
            <a:extLst>
              <a:ext uri="{FF2B5EF4-FFF2-40B4-BE49-F238E27FC236}">
                <a16:creationId xmlns:a16="http://schemas.microsoft.com/office/drawing/2014/main" id="{05501705-38B1-6E70-7A31-7CDF16197FB0}"/>
              </a:ext>
            </a:extLst>
          </p:cNvPr>
          <p:cNvGraphicFramePr>
            <a:graphicFrameLocks noGrp="1"/>
          </p:cNvGraphicFramePr>
          <p:nvPr/>
        </p:nvGraphicFramePr>
        <p:xfrm>
          <a:off x="1417937" y="4100695"/>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1003</a:t>
                      </a:r>
                    </a:p>
                  </a:txBody>
                  <a:tcPr/>
                </a:tc>
                <a:tc>
                  <a:txBody>
                    <a:bodyPr/>
                    <a:lstStyle/>
                    <a:p>
                      <a:pPr algn="ctr"/>
                      <a:r>
                        <a:rPr lang="en-US" sz="1400" dirty="0"/>
                        <a:t>102</a:t>
                      </a:r>
                    </a:p>
                  </a:txBody>
                  <a:tcPr/>
                </a:tc>
                <a:tc>
                  <a:txBody>
                    <a:bodyPr/>
                    <a:lstStyle/>
                    <a:p>
                      <a:pPr algn="ctr"/>
                      <a:r>
                        <a:rPr lang="en-US" sz="1400" dirty="0"/>
                        <a:t>25-01-01</a:t>
                      </a:r>
                    </a:p>
                  </a:txBody>
                  <a:tcPr/>
                </a:tc>
                <a:tc>
                  <a:txBody>
                    <a:bodyPr/>
                    <a:lstStyle/>
                    <a:p>
                      <a:pPr algn="ctr"/>
                      <a:r>
                        <a:rPr lang="en-US" sz="1400" dirty="0"/>
                        <a:t>5</a:t>
                      </a:r>
                    </a:p>
                  </a:txBody>
                  <a:tcPr/>
                </a:tc>
                <a:tc>
                  <a:txBody>
                    <a:bodyPr/>
                    <a:lstStyle/>
                    <a:p>
                      <a:pPr algn="ctr"/>
                      <a:r>
                        <a:rPr lang="en-US" sz="1400" dirty="0"/>
                        <a:t>15 Kg</a:t>
                      </a:r>
                    </a:p>
                  </a:txBody>
                  <a:tcPr/>
                </a:tc>
                <a:tc>
                  <a:txBody>
                    <a:bodyPr/>
                    <a:lstStyle/>
                    <a:p>
                      <a:pPr algn="ctr"/>
                      <a:r>
                        <a:rPr lang="en-US" sz="1400" dirty="0"/>
                        <a:t>204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8" name="Table 7">
            <a:extLst>
              <a:ext uri="{FF2B5EF4-FFF2-40B4-BE49-F238E27FC236}">
                <a16:creationId xmlns:a16="http://schemas.microsoft.com/office/drawing/2014/main" id="{1A096C84-E28D-F837-9340-FFBD9B499598}"/>
              </a:ext>
            </a:extLst>
          </p:cNvPr>
          <p:cNvGraphicFramePr>
            <a:graphicFrameLocks noGrp="1"/>
          </p:cNvGraphicFramePr>
          <p:nvPr/>
        </p:nvGraphicFramePr>
        <p:xfrm>
          <a:off x="1428799" y="2937354"/>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1002</a:t>
                      </a:r>
                    </a:p>
                  </a:txBody>
                  <a:tcPr/>
                </a:tc>
                <a:tc>
                  <a:txBody>
                    <a:bodyPr/>
                    <a:lstStyle/>
                    <a:p>
                      <a:pPr algn="ctr"/>
                      <a:r>
                        <a:rPr lang="en-US" sz="1400" dirty="0"/>
                        <a:t>103</a:t>
                      </a:r>
                    </a:p>
                  </a:txBody>
                  <a:tcPr/>
                </a:tc>
                <a:tc>
                  <a:txBody>
                    <a:bodyPr/>
                    <a:lstStyle/>
                    <a:p>
                      <a:pPr algn="ctr"/>
                      <a:r>
                        <a:rPr lang="en-US" sz="1400" dirty="0"/>
                        <a:t>25-01-02</a:t>
                      </a:r>
                    </a:p>
                  </a:txBody>
                  <a:tcPr/>
                </a:tc>
                <a:tc>
                  <a:txBody>
                    <a:bodyPr/>
                    <a:lstStyle/>
                    <a:p>
                      <a:pPr algn="ctr"/>
                      <a:r>
                        <a:rPr lang="en-US" sz="1400" dirty="0"/>
                        <a:t>7</a:t>
                      </a:r>
                    </a:p>
                  </a:txBody>
                  <a:tcPr/>
                </a:tc>
                <a:tc>
                  <a:txBody>
                    <a:bodyPr/>
                    <a:lstStyle/>
                    <a:p>
                      <a:pPr algn="ctr"/>
                      <a:r>
                        <a:rPr lang="en-US" sz="1400" dirty="0"/>
                        <a:t>30 Kg</a:t>
                      </a:r>
                    </a:p>
                  </a:txBody>
                  <a:tcPr/>
                </a:tc>
                <a:tc>
                  <a:txBody>
                    <a:bodyPr/>
                    <a:lstStyle/>
                    <a:p>
                      <a:pPr algn="ctr"/>
                      <a:r>
                        <a:rPr lang="en-US" sz="1400" dirty="0"/>
                        <a:t>94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16" name="Table 15">
            <a:extLst>
              <a:ext uri="{FF2B5EF4-FFF2-40B4-BE49-F238E27FC236}">
                <a16:creationId xmlns:a16="http://schemas.microsoft.com/office/drawing/2014/main" id="{634D7B07-2699-9ED8-A681-1C0C12274942}"/>
              </a:ext>
            </a:extLst>
          </p:cNvPr>
          <p:cNvGraphicFramePr>
            <a:graphicFrameLocks noGrp="1"/>
          </p:cNvGraphicFramePr>
          <p:nvPr/>
        </p:nvGraphicFramePr>
        <p:xfrm>
          <a:off x="1428799" y="2508053"/>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1001</a:t>
                      </a:r>
                    </a:p>
                  </a:txBody>
                  <a:tcPr/>
                </a:tc>
                <a:tc>
                  <a:txBody>
                    <a:bodyPr/>
                    <a:lstStyle/>
                    <a:p>
                      <a:pPr algn="ctr"/>
                      <a:r>
                        <a:rPr lang="en-US" sz="1400" dirty="0"/>
                        <a:t>102</a:t>
                      </a:r>
                    </a:p>
                  </a:txBody>
                  <a:tcPr/>
                </a:tc>
                <a:tc>
                  <a:txBody>
                    <a:bodyPr/>
                    <a:lstStyle/>
                    <a:p>
                      <a:pPr algn="ctr"/>
                      <a:r>
                        <a:rPr lang="en-US" sz="1400" dirty="0"/>
                        <a:t>25-01-02</a:t>
                      </a:r>
                    </a:p>
                  </a:txBody>
                  <a:tcPr/>
                </a:tc>
                <a:tc>
                  <a:txBody>
                    <a:bodyPr/>
                    <a:lstStyle/>
                    <a:p>
                      <a:pPr algn="ctr"/>
                      <a:r>
                        <a:rPr lang="en-US" sz="1400" dirty="0"/>
                        <a:t>4</a:t>
                      </a:r>
                    </a:p>
                  </a:txBody>
                  <a:tcPr/>
                </a:tc>
                <a:tc>
                  <a:txBody>
                    <a:bodyPr/>
                    <a:lstStyle/>
                    <a:p>
                      <a:pPr algn="ctr"/>
                      <a:r>
                        <a:rPr lang="en-US" sz="1400" dirty="0"/>
                        <a:t>25 Kg</a:t>
                      </a:r>
                    </a:p>
                  </a:txBody>
                  <a:tcPr/>
                </a:tc>
                <a:tc>
                  <a:txBody>
                    <a:bodyPr/>
                    <a:lstStyle/>
                    <a:p>
                      <a:pPr algn="ctr"/>
                      <a:r>
                        <a:rPr lang="en-US" sz="1400" dirty="0"/>
                        <a:t>155</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17" name="Table 16">
            <a:extLst>
              <a:ext uri="{FF2B5EF4-FFF2-40B4-BE49-F238E27FC236}">
                <a16:creationId xmlns:a16="http://schemas.microsoft.com/office/drawing/2014/main" id="{7921A330-4B46-5C12-3B34-E9189EF11268}"/>
              </a:ext>
            </a:extLst>
          </p:cNvPr>
          <p:cNvGraphicFramePr>
            <a:graphicFrameLocks noGrp="1"/>
          </p:cNvGraphicFramePr>
          <p:nvPr/>
        </p:nvGraphicFramePr>
        <p:xfrm>
          <a:off x="1428799" y="4523758"/>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1004</a:t>
                      </a:r>
                    </a:p>
                  </a:txBody>
                  <a:tcPr/>
                </a:tc>
                <a:tc>
                  <a:txBody>
                    <a:bodyPr/>
                    <a:lstStyle/>
                    <a:p>
                      <a:pPr algn="ctr"/>
                      <a:r>
                        <a:rPr lang="en-US" sz="1400" dirty="0"/>
                        <a:t>103</a:t>
                      </a:r>
                    </a:p>
                  </a:txBody>
                  <a:tcPr/>
                </a:tc>
                <a:tc>
                  <a:txBody>
                    <a:bodyPr/>
                    <a:lstStyle/>
                    <a:p>
                      <a:pPr algn="ctr"/>
                      <a:r>
                        <a:rPr lang="en-US" sz="1400" dirty="0"/>
                        <a:t>25-01-02</a:t>
                      </a:r>
                    </a:p>
                  </a:txBody>
                  <a:tcPr/>
                </a:tc>
                <a:tc>
                  <a:txBody>
                    <a:bodyPr/>
                    <a:lstStyle/>
                    <a:p>
                      <a:pPr algn="ctr"/>
                      <a:r>
                        <a:rPr lang="en-US" sz="1400" dirty="0"/>
                        <a:t>4</a:t>
                      </a:r>
                    </a:p>
                  </a:txBody>
                  <a:tcPr/>
                </a:tc>
                <a:tc>
                  <a:txBody>
                    <a:bodyPr/>
                    <a:lstStyle/>
                    <a:p>
                      <a:pPr algn="ctr"/>
                      <a:r>
                        <a:rPr lang="en-US" sz="1400" dirty="0"/>
                        <a:t>35 Kg</a:t>
                      </a:r>
                    </a:p>
                  </a:txBody>
                  <a:tcPr/>
                </a:tc>
                <a:tc>
                  <a:txBody>
                    <a:bodyPr/>
                    <a:lstStyle/>
                    <a:p>
                      <a:pPr algn="ctr"/>
                      <a:r>
                        <a:rPr lang="en-US" sz="1400" dirty="0"/>
                        <a:t>115</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18" name="Table 17">
            <a:extLst>
              <a:ext uri="{FF2B5EF4-FFF2-40B4-BE49-F238E27FC236}">
                <a16:creationId xmlns:a16="http://schemas.microsoft.com/office/drawing/2014/main" id="{258F445C-FA1A-E418-294C-D772457CE42B}"/>
              </a:ext>
            </a:extLst>
          </p:cNvPr>
          <p:cNvGraphicFramePr>
            <a:graphicFrameLocks noGrp="1"/>
          </p:cNvGraphicFramePr>
          <p:nvPr/>
        </p:nvGraphicFramePr>
        <p:xfrm>
          <a:off x="1429089" y="3306235"/>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1002</a:t>
                      </a:r>
                    </a:p>
                  </a:txBody>
                  <a:tcPr/>
                </a:tc>
                <a:tc>
                  <a:txBody>
                    <a:bodyPr/>
                    <a:lstStyle/>
                    <a:p>
                      <a:pPr algn="ctr"/>
                      <a:r>
                        <a:rPr lang="en-US" sz="1400" dirty="0"/>
                        <a:t>103</a:t>
                      </a:r>
                    </a:p>
                  </a:txBody>
                  <a:tcPr/>
                </a:tc>
                <a:tc>
                  <a:txBody>
                    <a:bodyPr/>
                    <a:lstStyle/>
                    <a:p>
                      <a:pPr algn="ctr"/>
                      <a:r>
                        <a:rPr lang="en-US" sz="1400" dirty="0"/>
                        <a:t>25-01-01</a:t>
                      </a:r>
                    </a:p>
                  </a:txBody>
                  <a:tcPr/>
                </a:tc>
                <a:tc>
                  <a:txBody>
                    <a:bodyPr/>
                    <a:lstStyle/>
                    <a:p>
                      <a:pPr algn="ctr"/>
                      <a:r>
                        <a:rPr lang="en-US" sz="1400" dirty="0"/>
                        <a:t>7</a:t>
                      </a:r>
                    </a:p>
                  </a:txBody>
                  <a:tcPr/>
                </a:tc>
                <a:tc>
                  <a:txBody>
                    <a:bodyPr/>
                    <a:lstStyle/>
                    <a:p>
                      <a:pPr algn="ctr"/>
                      <a:r>
                        <a:rPr lang="en-US" sz="1400" dirty="0"/>
                        <a:t>15 Kg</a:t>
                      </a:r>
                    </a:p>
                  </a:txBody>
                  <a:tcPr/>
                </a:tc>
                <a:tc>
                  <a:txBody>
                    <a:bodyPr/>
                    <a:lstStyle/>
                    <a:p>
                      <a:pPr algn="ctr"/>
                      <a:r>
                        <a:rPr lang="en-US" sz="1400" dirty="0"/>
                        <a:t>93</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sp>
        <p:nvSpPr>
          <p:cNvPr id="6" name="Left Brace 5">
            <a:extLst>
              <a:ext uri="{FF2B5EF4-FFF2-40B4-BE49-F238E27FC236}">
                <a16:creationId xmlns:a16="http://schemas.microsoft.com/office/drawing/2014/main" id="{810D13B9-FCD3-0FD0-109F-FE6A89DE3402}"/>
              </a:ext>
            </a:extLst>
          </p:cNvPr>
          <p:cNvSpPr/>
          <p:nvPr/>
        </p:nvSpPr>
        <p:spPr>
          <a:xfrm>
            <a:off x="1148576" y="2186334"/>
            <a:ext cx="192544" cy="6144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F9634308-D1A9-023C-94EA-062FF678E747}"/>
              </a:ext>
            </a:extLst>
          </p:cNvPr>
          <p:cNvSpPr txBox="1"/>
          <p:nvPr/>
        </p:nvSpPr>
        <p:spPr>
          <a:xfrm>
            <a:off x="178526" y="2154454"/>
            <a:ext cx="902421" cy="646331"/>
          </a:xfrm>
          <a:prstGeom prst="rect">
            <a:avLst/>
          </a:prstGeom>
          <a:noFill/>
        </p:spPr>
        <p:txBody>
          <a:bodyPr wrap="square" rtlCol="0">
            <a:spAutoFit/>
          </a:bodyPr>
          <a:lstStyle/>
          <a:p>
            <a:pPr algn="ctr"/>
            <a:r>
              <a:rPr lang="en-US" dirty="0"/>
              <a:t>Animal 1001</a:t>
            </a:r>
          </a:p>
        </p:txBody>
      </p:sp>
      <p:sp>
        <p:nvSpPr>
          <p:cNvPr id="19" name="Left Brace 18">
            <a:extLst>
              <a:ext uri="{FF2B5EF4-FFF2-40B4-BE49-F238E27FC236}">
                <a16:creationId xmlns:a16="http://schemas.microsoft.com/office/drawing/2014/main" id="{7A104237-5511-E377-1119-F9D77B3872D6}"/>
              </a:ext>
            </a:extLst>
          </p:cNvPr>
          <p:cNvSpPr/>
          <p:nvPr/>
        </p:nvSpPr>
        <p:spPr>
          <a:xfrm>
            <a:off x="1140956" y="3009294"/>
            <a:ext cx="192544" cy="6144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93C5D4F3-BDB7-5A65-1877-E114A0BA107E}"/>
              </a:ext>
            </a:extLst>
          </p:cNvPr>
          <p:cNvSpPr txBox="1"/>
          <p:nvPr/>
        </p:nvSpPr>
        <p:spPr>
          <a:xfrm>
            <a:off x="132806" y="2977414"/>
            <a:ext cx="902421" cy="646331"/>
          </a:xfrm>
          <a:prstGeom prst="rect">
            <a:avLst/>
          </a:prstGeom>
          <a:noFill/>
        </p:spPr>
        <p:txBody>
          <a:bodyPr wrap="square" rtlCol="0">
            <a:spAutoFit/>
          </a:bodyPr>
          <a:lstStyle/>
          <a:p>
            <a:pPr algn="ctr"/>
            <a:r>
              <a:rPr lang="en-US" dirty="0"/>
              <a:t>Animal 1002</a:t>
            </a:r>
          </a:p>
        </p:txBody>
      </p:sp>
      <p:sp>
        <p:nvSpPr>
          <p:cNvPr id="22" name="Left Brace 21">
            <a:extLst>
              <a:ext uri="{FF2B5EF4-FFF2-40B4-BE49-F238E27FC236}">
                <a16:creationId xmlns:a16="http://schemas.microsoft.com/office/drawing/2014/main" id="{65124001-DEC5-6471-462F-9F1B2C1B34F1}"/>
              </a:ext>
            </a:extLst>
          </p:cNvPr>
          <p:cNvSpPr/>
          <p:nvPr/>
        </p:nvSpPr>
        <p:spPr>
          <a:xfrm>
            <a:off x="1156196" y="3809394"/>
            <a:ext cx="192544" cy="6144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107CBD04-07FB-3074-0C3E-4D7A90AFADDE}"/>
              </a:ext>
            </a:extLst>
          </p:cNvPr>
          <p:cNvSpPr txBox="1"/>
          <p:nvPr/>
        </p:nvSpPr>
        <p:spPr>
          <a:xfrm>
            <a:off x="231866" y="3777514"/>
            <a:ext cx="902421" cy="646331"/>
          </a:xfrm>
          <a:prstGeom prst="rect">
            <a:avLst/>
          </a:prstGeom>
          <a:noFill/>
        </p:spPr>
        <p:txBody>
          <a:bodyPr wrap="square" rtlCol="0">
            <a:spAutoFit/>
          </a:bodyPr>
          <a:lstStyle/>
          <a:p>
            <a:pPr algn="ctr"/>
            <a:r>
              <a:rPr lang="en-US" dirty="0"/>
              <a:t>Animal 1003</a:t>
            </a:r>
          </a:p>
        </p:txBody>
      </p:sp>
      <p:sp>
        <p:nvSpPr>
          <p:cNvPr id="24" name="Left Brace 23">
            <a:extLst>
              <a:ext uri="{FF2B5EF4-FFF2-40B4-BE49-F238E27FC236}">
                <a16:creationId xmlns:a16="http://schemas.microsoft.com/office/drawing/2014/main" id="{DCF38F57-A137-EBD1-CA0A-88608C79E40C}"/>
              </a:ext>
            </a:extLst>
          </p:cNvPr>
          <p:cNvSpPr/>
          <p:nvPr/>
        </p:nvSpPr>
        <p:spPr>
          <a:xfrm>
            <a:off x="1156196" y="4632354"/>
            <a:ext cx="192544" cy="6144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C4BF563A-723B-31A9-CA8F-2B124BA364A7}"/>
              </a:ext>
            </a:extLst>
          </p:cNvPr>
          <p:cNvSpPr txBox="1"/>
          <p:nvPr/>
        </p:nvSpPr>
        <p:spPr>
          <a:xfrm>
            <a:off x="186146" y="4600474"/>
            <a:ext cx="902421" cy="646331"/>
          </a:xfrm>
          <a:prstGeom prst="rect">
            <a:avLst/>
          </a:prstGeom>
          <a:noFill/>
        </p:spPr>
        <p:txBody>
          <a:bodyPr wrap="square" rtlCol="0">
            <a:spAutoFit/>
          </a:bodyPr>
          <a:lstStyle/>
          <a:p>
            <a:pPr algn="ctr"/>
            <a:r>
              <a:rPr lang="en-US" dirty="0"/>
              <a:t>Animal 1004</a:t>
            </a:r>
          </a:p>
        </p:txBody>
      </p:sp>
      <p:pic>
        <p:nvPicPr>
          <p:cNvPr id="26" name="Picture 25">
            <a:extLst>
              <a:ext uri="{FF2B5EF4-FFF2-40B4-BE49-F238E27FC236}">
                <a16:creationId xmlns:a16="http://schemas.microsoft.com/office/drawing/2014/main" id="{0B8D50E7-92CF-7164-FEA8-D4932F984754}"/>
              </a:ext>
            </a:extLst>
          </p:cNvPr>
          <p:cNvPicPr>
            <a:picLocks noChangeAspect="1"/>
          </p:cNvPicPr>
          <p:nvPr/>
        </p:nvPicPr>
        <p:blipFill>
          <a:blip r:embed="rId7">
            <a:extLst>
              <a:ext uri="{BEBA8EAE-BF5A-486C-A8C5-ECC9F3942E4B}">
                <a14:imgProps xmlns:a14="http://schemas.microsoft.com/office/drawing/2010/main">
                  <a14:imgLayer r:embed="rId8">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178526" y="1497230"/>
            <a:ext cx="851605" cy="686497"/>
          </a:xfrm>
          <a:prstGeom prst="rect">
            <a:avLst/>
          </a:prstGeom>
        </p:spPr>
      </p:pic>
    </p:spTree>
    <p:extLst>
      <p:ext uri="{BB962C8B-B14F-4D97-AF65-F5344CB8AC3E}">
        <p14:creationId xmlns:p14="http://schemas.microsoft.com/office/powerpoint/2010/main" val="27060919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27969-29D0-518A-BFC8-ABAEB6AC1017}"/>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AD8BA056-6324-2CDC-74C3-39A5437E35B9}"/>
              </a:ext>
            </a:extLst>
          </p:cNvPr>
          <p:cNvGraphicFramePr>
            <a:graphicFrameLocks noGrp="1"/>
          </p:cNvGraphicFramePr>
          <p:nvPr/>
        </p:nvGraphicFramePr>
        <p:xfrm>
          <a:off x="1428799" y="2458749"/>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1003</a:t>
                      </a:r>
                    </a:p>
                  </a:txBody>
                  <a:tcPr/>
                </a:tc>
                <a:tc>
                  <a:txBody>
                    <a:bodyPr/>
                    <a:lstStyle/>
                    <a:p>
                      <a:pPr algn="ctr"/>
                      <a:r>
                        <a:rPr lang="en-US" sz="1400" dirty="0"/>
                        <a:t>102</a:t>
                      </a:r>
                    </a:p>
                  </a:txBody>
                  <a:tcPr/>
                </a:tc>
                <a:tc>
                  <a:txBody>
                    <a:bodyPr/>
                    <a:lstStyle/>
                    <a:p>
                      <a:pPr algn="ctr"/>
                      <a:r>
                        <a:rPr lang="en-US" sz="1400" dirty="0"/>
                        <a:t>25-01-02</a:t>
                      </a:r>
                    </a:p>
                  </a:txBody>
                  <a:tcPr/>
                </a:tc>
                <a:tc>
                  <a:txBody>
                    <a:bodyPr/>
                    <a:lstStyle/>
                    <a:p>
                      <a:pPr algn="ctr"/>
                      <a:r>
                        <a:rPr lang="en-US" sz="1400" dirty="0"/>
                        <a:t>5</a:t>
                      </a:r>
                    </a:p>
                  </a:txBody>
                  <a:tcPr/>
                </a:tc>
                <a:tc>
                  <a:txBody>
                    <a:bodyPr/>
                    <a:lstStyle/>
                    <a:p>
                      <a:pPr algn="ctr"/>
                      <a:r>
                        <a:rPr lang="en-US" sz="1400" dirty="0"/>
                        <a:t>20 Kg</a:t>
                      </a:r>
                    </a:p>
                  </a:txBody>
                  <a:tcPr/>
                </a:tc>
                <a:tc>
                  <a:txBody>
                    <a:bodyPr/>
                    <a:lstStyle/>
                    <a:p>
                      <a:pPr algn="ctr"/>
                      <a:r>
                        <a:rPr lang="en-US" sz="1400" dirty="0"/>
                        <a:t>204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pic>
        <p:nvPicPr>
          <p:cNvPr id="5" name="Picture 4">
            <a:extLst>
              <a:ext uri="{FF2B5EF4-FFF2-40B4-BE49-F238E27FC236}">
                <a16:creationId xmlns:a16="http://schemas.microsoft.com/office/drawing/2014/main" id="{1ADA5592-C966-405B-154C-7EDF8DA1822A}"/>
              </a:ext>
            </a:extLst>
          </p:cNvPr>
          <p:cNvPicPr>
            <a:picLocks/>
          </p:cNvPicPr>
          <p:nvPr/>
        </p:nvPicPr>
        <p:blipFill>
          <a:blip r:embed="rId2"/>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1D1E5B87-0588-7A82-8075-299F6DBAEB8D}"/>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DF2C79FC-260C-ADDC-ADF0-F696202ABD0E}"/>
              </a:ext>
            </a:extLst>
          </p:cNvPr>
          <p:cNvPicPr>
            <a:picLocks/>
          </p:cNvPicPr>
          <p:nvPr/>
        </p:nvPicPr>
        <p:blipFill>
          <a:blip r:embed="rId2"/>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0C51BF47-C1F9-E41B-CF94-FD6E99A9B6C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3D5C287B-F66F-41DA-302B-511E6646B4BB}"/>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6B8549BE-F81B-7FF8-22E3-69C2FE4E03E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908B9AFA-6465-FB54-2446-B752E9D7459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4E7B7B1B-D07D-CF38-25B0-8A844FD14CDA}"/>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graphicFrame>
        <p:nvGraphicFramePr>
          <p:cNvPr id="2" name="Table 1">
            <a:extLst>
              <a:ext uri="{FF2B5EF4-FFF2-40B4-BE49-F238E27FC236}">
                <a16:creationId xmlns:a16="http://schemas.microsoft.com/office/drawing/2014/main" id="{2C5E88DB-85D5-318B-13AD-428E10A3B29D}"/>
              </a:ext>
            </a:extLst>
          </p:cNvPr>
          <p:cNvGraphicFramePr>
            <a:graphicFrameLocks noGrp="1"/>
          </p:cNvGraphicFramePr>
          <p:nvPr/>
        </p:nvGraphicFramePr>
        <p:xfrm>
          <a:off x="1428800" y="1325592"/>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err="1"/>
                        <a:t>Animal_ID</a:t>
                      </a:r>
                      <a:endParaRPr lang="en-US" sz="1400" dirty="0"/>
                    </a:p>
                  </a:txBody>
                  <a:tcPr/>
                </a:tc>
                <a:tc>
                  <a:txBody>
                    <a:bodyPr/>
                    <a:lstStyle/>
                    <a:p>
                      <a:pPr algn="ctr"/>
                      <a:r>
                        <a:rPr lang="en-US" sz="1400" dirty="0" err="1"/>
                        <a:t>Farm_ID</a:t>
                      </a:r>
                      <a:endParaRPr lang="en-US" sz="1400" dirty="0"/>
                    </a:p>
                  </a:txBody>
                  <a:tcPr/>
                </a:tc>
                <a:tc>
                  <a:txBody>
                    <a:bodyPr/>
                    <a:lstStyle/>
                    <a:p>
                      <a:pPr algn="ctr"/>
                      <a:r>
                        <a:rPr lang="en-US" sz="1400" dirty="0"/>
                        <a:t>Date</a:t>
                      </a:r>
                    </a:p>
                  </a:txBody>
                  <a:tcPr/>
                </a:tc>
                <a:tc>
                  <a:txBody>
                    <a:bodyPr/>
                    <a:lstStyle/>
                    <a:p>
                      <a:pPr algn="ctr"/>
                      <a:r>
                        <a:rPr lang="en-US" sz="1400" dirty="0"/>
                        <a:t>Age</a:t>
                      </a:r>
                    </a:p>
                  </a:txBody>
                  <a:tcPr/>
                </a:tc>
                <a:tc>
                  <a:txBody>
                    <a:bodyPr/>
                    <a:lstStyle/>
                    <a:p>
                      <a:pPr algn="ctr"/>
                      <a:r>
                        <a:rPr lang="en-US" sz="1400" dirty="0"/>
                        <a:t>MILK</a:t>
                      </a:r>
                    </a:p>
                  </a:txBody>
                  <a:tcPr/>
                </a:tc>
                <a:tc>
                  <a:txBody>
                    <a:bodyPr/>
                    <a:lstStyle/>
                    <a:p>
                      <a:pPr algn="ctr"/>
                      <a:r>
                        <a:rPr lang="en-US" sz="1400" dirty="0"/>
                        <a:t>DIM</a:t>
                      </a:r>
                    </a:p>
                  </a:txBody>
                  <a:tcPr/>
                </a:tc>
                <a:tc>
                  <a:txBody>
                    <a:bodyPr/>
                    <a:lstStyle/>
                    <a:p>
                      <a:pPr algn="ctr"/>
                      <a:r>
                        <a:rPr lang="en-US" sz="1400" dirty="0"/>
                        <a:t>Protein</a:t>
                      </a:r>
                    </a:p>
                  </a:txBody>
                  <a:tcPr/>
                </a:tc>
                <a:tc>
                  <a:txBody>
                    <a:bodyPr/>
                    <a:lstStyle/>
                    <a:p>
                      <a:pPr algn="ctr"/>
                      <a:r>
                        <a:rPr lang="en-US" sz="1400" dirty="0"/>
                        <a:t>Fat</a:t>
                      </a:r>
                    </a:p>
                  </a:txBody>
                  <a:tcPr/>
                </a:tc>
                <a:tc>
                  <a:txBody>
                    <a:bodyPr/>
                    <a:lstStyle/>
                    <a:p>
                      <a:pPr algn="ctr"/>
                      <a:r>
                        <a:rPr lang="en-US" sz="1400" dirty="0"/>
                        <a:t>SCC</a:t>
                      </a:r>
                    </a:p>
                  </a:txBody>
                  <a:tcPr/>
                </a:tc>
                <a:extLst>
                  <a:ext uri="{0D108BD9-81ED-4DB2-BD59-A6C34878D82A}">
                    <a16:rowId xmlns:a16="http://schemas.microsoft.com/office/drawing/2014/main" val="4040833211"/>
                  </a:ext>
                </a:extLst>
              </a:tr>
            </a:tbl>
          </a:graphicData>
        </a:graphic>
      </p:graphicFrame>
      <p:graphicFrame>
        <p:nvGraphicFramePr>
          <p:cNvPr id="3" name="Table 2">
            <a:extLst>
              <a:ext uri="{FF2B5EF4-FFF2-40B4-BE49-F238E27FC236}">
                <a16:creationId xmlns:a16="http://schemas.microsoft.com/office/drawing/2014/main" id="{7E285EF7-A2C2-91DE-82C0-44F251870241}"/>
              </a:ext>
            </a:extLst>
          </p:cNvPr>
          <p:cNvGraphicFramePr>
            <a:graphicFrameLocks noGrp="1"/>
          </p:cNvGraphicFramePr>
          <p:nvPr/>
        </p:nvGraphicFramePr>
        <p:xfrm>
          <a:off x="1428799" y="1694382"/>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1001</a:t>
                      </a:r>
                    </a:p>
                  </a:txBody>
                  <a:tcPr/>
                </a:tc>
                <a:tc>
                  <a:txBody>
                    <a:bodyPr/>
                    <a:lstStyle/>
                    <a:p>
                      <a:pPr algn="ctr"/>
                      <a:r>
                        <a:rPr lang="en-US" sz="1400" dirty="0"/>
                        <a:t>102</a:t>
                      </a:r>
                    </a:p>
                  </a:txBody>
                  <a:tcPr/>
                </a:tc>
                <a:tc>
                  <a:txBody>
                    <a:bodyPr/>
                    <a:lstStyle/>
                    <a:p>
                      <a:pPr algn="ctr"/>
                      <a:r>
                        <a:rPr lang="en-US" sz="1400" dirty="0"/>
                        <a:t>25-01-01</a:t>
                      </a:r>
                    </a:p>
                  </a:txBody>
                  <a:tcPr/>
                </a:tc>
                <a:tc>
                  <a:txBody>
                    <a:bodyPr/>
                    <a:lstStyle/>
                    <a:p>
                      <a:pPr algn="ctr"/>
                      <a:r>
                        <a:rPr lang="en-US" sz="1400" dirty="0"/>
                        <a:t>4</a:t>
                      </a:r>
                    </a:p>
                  </a:txBody>
                  <a:tcPr/>
                </a:tc>
                <a:tc>
                  <a:txBody>
                    <a:bodyPr/>
                    <a:lstStyle/>
                    <a:p>
                      <a:pPr algn="ctr"/>
                      <a:r>
                        <a:rPr lang="en-US" sz="1400" dirty="0"/>
                        <a:t>20 Kg</a:t>
                      </a:r>
                    </a:p>
                  </a:txBody>
                  <a:tcPr/>
                </a:tc>
                <a:tc>
                  <a:txBody>
                    <a:bodyPr/>
                    <a:lstStyle/>
                    <a:p>
                      <a:pPr algn="ctr"/>
                      <a:r>
                        <a:rPr lang="en-US" sz="1400" dirty="0"/>
                        <a:t>154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4" name="Table 3">
            <a:extLst>
              <a:ext uri="{FF2B5EF4-FFF2-40B4-BE49-F238E27FC236}">
                <a16:creationId xmlns:a16="http://schemas.microsoft.com/office/drawing/2014/main" id="{1A55A298-4F52-FED4-5EDE-DAB18122D968}"/>
              </a:ext>
            </a:extLst>
          </p:cNvPr>
          <p:cNvGraphicFramePr>
            <a:graphicFrameLocks noGrp="1"/>
          </p:cNvGraphicFramePr>
          <p:nvPr/>
        </p:nvGraphicFramePr>
        <p:xfrm>
          <a:off x="1428799" y="4476853"/>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1004</a:t>
                      </a:r>
                    </a:p>
                  </a:txBody>
                  <a:tcPr/>
                </a:tc>
                <a:tc>
                  <a:txBody>
                    <a:bodyPr/>
                    <a:lstStyle/>
                    <a:p>
                      <a:pPr algn="ctr"/>
                      <a:r>
                        <a:rPr lang="en-US" sz="1400" dirty="0"/>
                        <a:t>103</a:t>
                      </a:r>
                    </a:p>
                  </a:txBody>
                  <a:tcPr/>
                </a:tc>
                <a:tc>
                  <a:txBody>
                    <a:bodyPr/>
                    <a:lstStyle/>
                    <a:p>
                      <a:pPr algn="ctr"/>
                      <a:r>
                        <a:rPr lang="en-US" sz="1400" dirty="0"/>
                        <a:t>25-01-01</a:t>
                      </a:r>
                    </a:p>
                  </a:txBody>
                  <a:tcPr/>
                </a:tc>
                <a:tc>
                  <a:txBody>
                    <a:bodyPr/>
                    <a:lstStyle/>
                    <a:p>
                      <a:pPr algn="ctr"/>
                      <a:r>
                        <a:rPr lang="en-US" sz="1400" dirty="0"/>
                        <a:t>6</a:t>
                      </a:r>
                    </a:p>
                  </a:txBody>
                  <a:tcPr/>
                </a:tc>
                <a:tc>
                  <a:txBody>
                    <a:bodyPr/>
                    <a:lstStyle/>
                    <a:p>
                      <a:pPr algn="ctr"/>
                      <a:r>
                        <a:rPr lang="en-US" sz="1400" dirty="0"/>
                        <a:t>35 Kg</a:t>
                      </a:r>
                    </a:p>
                  </a:txBody>
                  <a:tcPr/>
                </a:tc>
                <a:tc>
                  <a:txBody>
                    <a:bodyPr/>
                    <a:lstStyle/>
                    <a:p>
                      <a:pPr algn="ctr"/>
                      <a:r>
                        <a:rPr lang="en-US" sz="1400" dirty="0"/>
                        <a:t>114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7" name="Table 6">
            <a:extLst>
              <a:ext uri="{FF2B5EF4-FFF2-40B4-BE49-F238E27FC236}">
                <a16:creationId xmlns:a16="http://schemas.microsoft.com/office/drawing/2014/main" id="{FF43A6E7-7DF9-764B-5A50-3D265D5E7669}"/>
              </a:ext>
            </a:extLst>
          </p:cNvPr>
          <p:cNvGraphicFramePr>
            <a:graphicFrameLocks noGrp="1"/>
          </p:cNvGraphicFramePr>
          <p:nvPr/>
        </p:nvGraphicFramePr>
        <p:xfrm>
          <a:off x="1428798" y="2822496"/>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1003</a:t>
                      </a:r>
                    </a:p>
                  </a:txBody>
                  <a:tcPr/>
                </a:tc>
                <a:tc>
                  <a:txBody>
                    <a:bodyPr/>
                    <a:lstStyle/>
                    <a:p>
                      <a:pPr algn="ctr"/>
                      <a:r>
                        <a:rPr lang="en-US" sz="1400" dirty="0"/>
                        <a:t>102</a:t>
                      </a:r>
                    </a:p>
                  </a:txBody>
                  <a:tcPr/>
                </a:tc>
                <a:tc>
                  <a:txBody>
                    <a:bodyPr/>
                    <a:lstStyle/>
                    <a:p>
                      <a:pPr algn="ctr"/>
                      <a:r>
                        <a:rPr lang="en-US" sz="1400" dirty="0"/>
                        <a:t>25-01-01</a:t>
                      </a:r>
                    </a:p>
                  </a:txBody>
                  <a:tcPr/>
                </a:tc>
                <a:tc>
                  <a:txBody>
                    <a:bodyPr/>
                    <a:lstStyle/>
                    <a:p>
                      <a:pPr algn="ctr"/>
                      <a:r>
                        <a:rPr lang="en-US" sz="1400" dirty="0"/>
                        <a:t>5</a:t>
                      </a:r>
                    </a:p>
                  </a:txBody>
                  <a:tcPr/>
                </a:tc>
                <a:tc>
                  <a:txBody>
                    <a:bodyPr/>
                    <a:lstStyle/>
                    <a:p>
                      <a:pPr algn="ctr"/>
                      <a:r>
                        <a:rPr lang="en-US" sz="1400" dirty="0"/>
                        <a:t>15 Kg</a:t>
                      </a:r>
                    </a:p>
                  </a:txBody>
                  <a:tcPr/>
                </a:tc>
                <a:tc>
                  <a:txBody>
                    <a:bodyPr/>
                    <a:lstStyle/>
                    <a:p>
                      <a:pPr algn="ctr"/>
                      <a:r>
                        <a:rPr lang="en-US" sz="1400" dirty="0"/>
                        <a:t>204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8" name="Table 7">
            <a:extLst>
              <a:ext uri="{FF2B5EF4-FFF2-40B4-BE49-F238E27FC236}">
                <a16:creationId xmlns:a16="http://schemas.microsoft.com/office/drawing/2014/main" id="{5259FFBE-CF69-96EF-A160-0262A61730ED}"/>
              </a:ext>
            </a:extLst>
          </p:cNvPr>
          <p:cNvGraphicFramePr>
            <a:graphicFrameLocks noGrp="1"/>
          </p:cNvGraphicFramePr>
          <p:nvPr/>
        </p:nvGraphicFramePr>
        <p:xfrm>
          <a:off x="1428798" y="3300930"/>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1002</a:t>
                      </a:r>
                    </a:p>
                  </a:txBody>
                  <a:tcPr/>
                </a:tc>
                <a:tc>
                  <a:txBody>
                    <a:bodyPr/>
                    <a:lstStyle/>
                    <a:p>
                      <a:pPr algn="ctr"/>
                      <a:r>
                        <a:rPr lang="en-US" sz="1400" dirty="0"/>
                        <a:t>103</a:t>
                      </a:r>
                    </a:p>
                  </a:txBody>
                  <a:tcPr/>
                </a:tc>
                <a:tc>
                  <a:txBody>
                    <a:bodyPr/>
                    <a:lstStyle/>
                    <a:p>
                      <a:pPr algn="ctr"/>
                      <a:r>
                        <a:rPr lang="en-US" sz="1400" dirty="0"/>
                        <a:t>25-01-02</a:t>
                      </a:r>
                    </a:p>
                  </a:txBody>
                  <a:tcPr/>
                </a:tc>
                <a:tc>
                  <a:txBody>
                    <a:bodyPr/>
                    <a:lstStyle/>
                    <a:p>
                      <a:pPr algn="ctr"/>
                      <a:r>
                        <a:rPr lang="en-US" sz="1400" dirty="0"/>
                        <a:t>7</a:t>
                      </a:r>
                    </a:p>
                  </a:txBody>
                  <a:tcPr/>
                </a:tc>
                <a:tc>
                  <a:txBody>
                    <a:bodyPr/>
                    <a:lstStyle/>
                    <a:p>
                      <a:pPr algn="ctr"/>
                      <a:r>
                        <a:rPr lang="en-US" sz="1400" dirty="0"/>
                        <a:t>30 Kg</a:t>
                      </a:r>
                    </a:p>
                  </a:txBody>
                  <a:tcPr/>
                </a:tc>
                <a:tc>
                  <a:txBody>
                    <a:bodyPr/>
                    <a:lstStyle/>
                    <a:p>
                      <a:pPr algn="ctr"/>
                      <a:r>
                        <a:rPr lang="en-US" sz="1400" dirty="0"/>
                        <a:t>94</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16" name="Table 15">
            <a:extLst>
              <a:ext uri="{FF2B5EF4-FFF2-40B4-BE49-F238E27FC236}">
                <a16:creationId xmlns:a16="http://schemas.microsoft.com/office/drawing/2014/main" id="{71E3ADB7-C34D-9CAE-B768-D886D16B34B0}"/>
              </a:ext>
            </a:extLst>
          </p:cNvPr>
          <p:cNvGraphicFramePr>
            <a:graphicFrameLocks noGrp="1"/>
          </p:cNvGraphicFramePr>
          <p:nvPr/>
        </p:nvGraphicFramePr>
        <p:xfrm>
          <a:off x="1428799" y="2065607"/>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1001</a:t>
                      </a:r>
                    </a:p>
                  </a:txBody>
                  <a:tcPr/>
                </a:tc>
                <a:tc>
                  <a:txBody>
                    <a:bodyPr/>
                    <a:lstStyle/>
                    <a:p>
                      <a:pPr algn="ctr"/>
                      <a:r>
                        <a:rPr lang="en-US" sz="1400" dirty="0"/>
                        <a:t>102</a:t>
                      </a:r>
                    </a:p>
                  </a:txBody>
                  <a:tcPr/>
                </a:tc>
                <a:tc>
                  <a:txBody>
                    <a:bodyPr/>
                    <a:lstStyle/>
                    <a:p>
                      <a:pPr algn="ctr"/>
                      <a:r>
                        <a:rPr lang="en-US" sz="1400" dirty="0"/>
                        <a:t>25-01-02</a:t>
                      </a:r>
                    </a:p>
                  </a:txBody>
                  <a:tcPr/>
                </a:tc>
                <a:tc>
                  <a:txBody>
                    <a:bodyPr/>
                    <a:lstStyle/>
                    <a:p>
                      <a:pPr algn="ctr"/>
                      <a:r>
                        <a:rPr lang="en-US" sz="1400" dirty="0"/>
                        <a:t>4</a:t>
                      </a:r>
                    </a:p>
                  </a:txBody>
                  <a:tcPr/>
                </a:tc>
                <a:tc>
                  <a:txBody>
                    <a:bodyPr/>
                    <a:lstStyle/>
                    <a:p>
                      <a:pPr algn="ctr"/>
                      <a:r>
                        <a:rPr lang="en-US" sz="1400" dirty="0"/>
                        <a:t>25 Kg</a:t>
                      </a:r>
                    </a:p>
                  </a:txBody>
                  <a:tcPr/>
                </a:tc>
                <a:tc>
                  <a:txBody>
                    <a:bodyPr/>
                    <a:lstStyle/>
                    <a:p>
                      <a:pPr algn="ctr"/>
                      <a:r>
                        <a:rPr lang="en-US" sz="1400" dirty="0"/>
                        <a:t>155</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17" name="Table 16">
            <a:extLst>
              <a:ext uri="{FF2B5EF4-FFF2-40B4-BE49-F238E27FC236}">
                <a16:creationId xmlns:a16="http://schemas.microsoft.com/office/drawing/2014/main" id="{8A608E57-C253-EBF5-6785-72194219CC9F}"/>
              </a:ext>
            </a:extLst>
          </p:cNvPr>
          <p:cNvGraphicFramePr>
            <a:graphicFrameLocks noGrp="1"/>
          </p:cNvGraphicFramePr>
          <p:nvPr/>
        </p:nvGraphicFramePr>
        <p:xfrm>
          <a:off x="1428799" y="4081312"/>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1004</a:t>
                      </a:r>
                    </a:p>
                  </a:txBody>
                  <a:tcPr/>
                </a:tc>
                <a:tc>
                  <a:txBody>
                    <a:bodyPr/>
                    <a:lstStyle/>
                    <a:p>
                      <a:pPr algn="ctr"/>
                      <a:r>
                        <a:rPr lang="en-US" sz="1400" dirty="0"/>
                        <a:t>103</a:t>
                      </a:r>
                    </a:p>
                  </a:txBody>
                  <a:tcPr/>
                </a:tc>
                <a:tc>
                  <a:txBody>
                    <a:bodyPr/>
                    <a:lstStyle/>
                    <a:p>
                      <a:pPr algn="ctr"/>
                      <a:r>
                        <a:rPr lang="en-US" sz="1400" dirty="0"/>
                        <a:t>25-01-02</a:t>
                      </a:r>
                    </a:p>
                  </a:txBody>
                  <a:tcPr/>
                </a:tc>
                <a:tc>
                  <a:txBody>
                    <a:bodyPr/>
                    <a:lstStyle/>
                    <a:p>
                      <a:pPr algn="ctr"/>
                      <a:r>
                        <a:rPr lang="en-US" sz="1400" dirty="0"/>
                        <a:t>4</a:t>
                      </a:r>
                    </a:p>
                  </a:txBody>
                  <a:tcPr/>
                </a:tc>
                <a:tc>
                  <a:txBody>
                    <a:bodyPr/>
                    <a:lstStyle/>
                    <a:p>
                      <a:pPr algn="ctr"/>
                      <a:r>
                        <a:rPr lang="en-US" sz="1400" dirty="0"/>
                        <a:t>35 Kg</a:t>
                      </a:r>
                    </a:p>
                  </a:txBody>
                  <a:tcPr/>
                </a:tc>
                <a:tc>
                  <a:txBody>
                    <a:bodyPr/>
                    <a:lstStyle/>
                    <a:p>
                      <a:pPr algn="ctr"/>
                      <a:r>
                        <a:rPr lang="en-US" sz="1400" dirty="0"/>
                        <a:t>115</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graphicFrame>
        <p:nvGraphicFramePr>
          <p:cNvPr id="18" name="Table 17">
            <a:extLst>
              <a:ext uri="{FF2B5EF4-FFF2-40B4-BE49-F238E27FC236}">
                <a16:creationId xmlns:a16="http://schemas.microsoft.com/office/drawing/2014/main" id="{30C83294-A122-B0DA-C9BC-1A662DF9DEF6}"/>
              </a:ext>
            </a:extLst>
          </p:cNvPr>
          <p:cNvGraphicFramePr>
            <a:graphicFrameLocks noGrp="1"/>
          </p:cNvGraphicFramePr>
          <p:nvPr/>
        </p:nvGraphicFramePr>
        <p:xfrm>
          <a:off x="1429088" y="3669811"/>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400" dirty="0"/>
                        <a:t>1002</a:t>
                      </a:r>
                    </a:p>
                  </a:txBody>
                  <a:tcPr/>
                </a:tc>
                <a:tc>
                  <a:txBody>
                    <a:bodyPr/>
                    <a:lstStyle/>
                    <a:p>
                      <a:pPr algn="ctr"/>
                      <a:r>
                        <a:rPr lang="en-US" sz="1400" dirty="0"/>
                        <a:t>103</a:t>
                      </a:r>
                    </a:p>
                  </a:txBody>
                  <a:tcPr/>
                </a:tc>
                <a:tc>
                  <a:txBody>
                    <a:bodyPr/>
                    <a:lstStyle/>
                    <a:p>
                      <a:pPr algn="ctr"/>
                      <a:r>
                        <a:rPr lang="en-US" sz="1400" dirty="0"/>
                        <a:t>25-01-01</a:t>
                      </a:r>
                    </a:p>
                  </a:txBody>
                  <a:tcPr/>
                </a:tc>
                <a:tc>
                  <a:txBody>
                    <a:bodyPr/>
                    <a:lstStyle/>
                    <a:p>
                      <a:pPr algn="ctr"/>
                      <a:r>
                        <a:rPr lang="en-US" sz="1400" dirty="0"/>
                        <a:t>7</a:t>
                      </a:r>
                    </a:p>
                  </a:txBody>
                  <a:tcPr/>
                </a:tc>
                <a:tc>
                  <a:txBody>
                    <a:bodyPr/>
                    <a:lstStyle/>
                    <a:p>
                      <a:pPr algn="ctr"/>
                      <a:r>
                        <a:rPr lang="en-US" sz="1400" dirty="0"/>
                        <a:t>15 Kg</a:t>
                      </a:r>
                    </a:p>
                  </a:txBody>
                  <a:tcPr/>
                </a:tc>
                <a:tc>
                  <a:txBody>
                    <a:bodyPr/>
                    <a:lstStyle/>
                    <a:p>
                      <a:pPr algn="ctr"/>
                      <a:r>
                        <a:rPr lang="en-US" sz="1400" dirty="0"/>
                        <a:t>93</a:t>
                      </a:r>
                    </a:p>
                  </a:txBody>
                  <a:tcPr/>
                </a:tc>
                <a:tc>
                  <a:txBody>
                    <a:bodyPr/>
                    <a:lstStyle/>
                    <a:p>
                      <a:pPr algn="ctr"/>
                      <a:r>
                        <a:rPr lang="en-US" sz="1400" dirty="0"/>
                        <a:t>10%</a:t>
                      </a:r>
                    </a:p>
                  </a:txBody>
                  <a:tcPr/>
                </a:tc>
                <a:tc>
                  <a:txBody>
                    <a:bodyPr/>
                    <a:lstStyle/>
                    <a:p>
                      <a:pPr algn="ctr"/>
                      <a:r>
                        <a:rPr lang="en-US" sz="1400" dirty="0"/>
                        <a:t>12%</a:t>
                      </a:r>
                    </a:p>
                  </a:txBody>
                  <a:tcPr/>
                </a:tc>
                <a:tc>
                  <a:txBody>
                    <a:bodyPr/>
                    <a:lstStyle/>
                    <a:p>
                      <a:pPr algn="ctr"/>
                      <a:r>
                        <a:rPr lang="en-US" sz="1400" dirty="0"/>
                        <a:t>200K/mm</a:t>
                      </a:r>
                    </a:p>
                  </a:txBody>
                  <a:tcPr/>
                </a:tc>
                <a:extLst>
                  <a:ext uri="{0D108BD9-81ED-4DB2-BD59-A6C34878D82A}">
                    <a16:rowId xmlns:a16="http://schemas.microsoft.com/office/drawing/2014/main" val="4040833211"/>
                  </a:ext>
                </a:extLst>
              </a:tr>
            </a:tbl>
          </a:graphicData>
        </a:graphic>
      </p:graphicFrame>
      <p:sp>
        <p:nvSpPr>
          <p:cNvPr id="6" name="Left Brace 5">
            <a:extLst>
              <a:ext uri="{FF2B5EF4-FFF2-40B4-BE49-F238E27FC236}">
                <a16:creationId xmlns:a16="http://schemas.microsoft.com/office/drawing/2014/main" id="{521FF41A-ED90-172D-A94B-1243C193E53E}"/>
              </a:ext>
            </a:extLst>
          </p:cNvPr>
          <p:cNvSpPr/>
          <p:nvPr/>
        </p:nvSpPr>
        <p:spPr>
          <a:xfrm>
            <a:off x="1148576" y="1694382"/>
            <a:ext cx="144965" cy="149895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2BEB5CFE-ACD8-C656-AE8F-201CB5AFEDC9}"/>
              </a:ext>
            </a:extLst>
          </p:cNvPr>
          <p:cNvSpPr txBox="1"/>
          <p:nvPr/>
        </p:nvSpPr>
        <p:spPr>
          <a:xfrm>
            <a:off x="310801" y="2003470"/>
            <a:ext cx="770146" cy="646331"/>
          </a:xfrm>
          <a:prstGeom prst="rect">
            <a:avLst/>
          </a:prstGeom>
          <a:noFill/>
        </p:spPr>
        <p:txBody>
          <a:bodyPr wrap="square" rtlCol="0">
            <a:spAutoFit/>
          </a:bodyPr>
          <a:lstStyle/>
          <a:p>
            <a:pPr algn="ctr"/>
            <a:r>
              <a:rPr lang="en-US" dirty="0"/>
              <a:t>Farm 102</a:t>
            </a:r>
          </a:p>
        </p:txBody>
      </p:sp>
      <p:sp>
        <p:nvSpPr>
          <p:cNvPr id="19" name="Left Brace 18">
            <a:extLst>
              <a:ext uri="{FF2B5EF4-FFF2-40B4-BE49-F238E27FC236}">
                <a16:creationId xmlns:a16="http://schemas.microsoft.com/office/drawing/2014/main" id="{8BC27AA1-BFC9-99CB-9407-DBC5BE9E95F1}"/>
              </a:ext>
            </a:extLst>
          </p:cNvPr>
          <p:cNvSpPr/>
          <p:nvPr/>
        </p:nvSpPr>
        <p:spPr>
          <a:xfrm>
            <a:off x="1148576" y="3376539"/>
            <a:ext cx="144965" cy="149895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9B71F911-0755-FCD3-928B-A3B124819055}"/>
              </a:ext>
            </a:extLst>
          </p:cNvPr>
          <p:cNvSpPr txBox="1"/>
          <p:nvPr/>
        </p:nvSpPr>
        <p:spPr>
          <a:xfrm>
            <a:off x="310801" y="3685627"/>
            <a:ext cx="770146" cy="646331"/>
          </a:xfrm>
          <a:prstGeom prst="rect">
            <a:avLst/>
          </a:prstGeom>
          <a:noFill/>
        </p:spPr>
        <p:txBody>
          <a:bodyPr wrap="square" rtlCol="0">
            <a:spAutoFit/>
          </a:bodyPr>
          <a:lstStyle/>
          <a:p>
            <a:pPr algn="ctr"/>
            <a:r>
              <a:rPr lang="en-US" dirty="0"/>
              <a:t>Farm 103</a:t>
            </a:r>
          </a:p>
        </p:txBody>
      </p:sp>
      <p:pic>
        <p:nvPicPr>
          <p:cNvPr id="22" name="Picture 21">
            <a:extLst>
              <a:ext uri="{FF2B5EF4-FFF2-40B4-BE49-F238E27FC236}">
                <a16:creationId xmlns:a16="http://schemas.microsoft.com/office/drawing/2014/main" id="{F291432E-49B1-7077-2739-36EC49FAA761}"/>
              </a:ext>
            </a:extLst>
          </p:cNvPr>
          <p:cNvPicPr>
            <a:picLocks noChangeAspect="1"/>
          </p:cNvPicPr>
          <p:nvPr/>
        </p:nvPicPr>
        <p:blipFill>
          <a:blip r:embed="rId7">
            <a:clrChange>
              <a:clrFrom>
                <a:srgbClr val="FEFEFC"/>
              </a:clrFrom>
              <a:clrTo>
                <a:srgbClr val="FEFEFC">
                  <a:alpha val="0"/>
                </a:srgbClr>
              </a:clrTo>
            </a:clrChange>
          </a:blip>
          <a:srcRect l="44569" t="30016" r="44627" b="57306"/>
          <a:stretch>
            <a:fillRect/>
          </a:stretch>
        </p:blipFill>
        <p:spPr>
          <a:xfrm>
            <a:off x="50470" y="1282539"/>
            <a:ext cx="1098105" cy="702134"/>
          </a:xfrm>
          <a:prstGeom prst="rect">
            <a:avLst/>
          </a:prstGeom>
        </p:spPr>
      </p:pic>
    </p:spTree>
    <p:extLst>
      <p:ext uri="{BB962C8B-B14F-4D97-AF65-F5344CB8AC3E}">
        <p14:creationId xmlns:p14="http://schemas.microsoft.com/office/powerpoint/2010/main" val="25714349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43736-AE64-408B-BB1A-53803F22CDC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9837152-0B00-7829-F232-D19050DE5552}"/>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85513C30-8368-4B05-5053-4E08560688B2}"/>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EF68DC70-D9A8-E799-0A30-562278509356}"/>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5EC14B0A-DBFE-AE64-FE87-CD04473B182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A9A06F9D-62B4-7C05-4E24-A5EAD5756D2E}"/>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0098CA71-7A5D-791C-F777-2AD1AEB17E0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F989F71E-73DB-1007-C201-6C5F77D8334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D1563CEB-E966-F7B5-30EC-A8007F4FC62E}"/>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0A77BE81-CF58-6053-8A18-5BF114378C71}"/>
              </a:ext>
            </a:extLst>
          </p:cNvPr>
          <p:cNvSpPr txBox="1"/>
          <p:nvPr/>
        </p:nvSpPr>
        <p:spPr>
          <a:xfrm>
            <a:off x="178526" y="1339396"/>
            <a:ext cx="9854704" cy="646331"/>
          </a:xfrm>
          <a:prstGeom prst="rect">
            <a:avLst/>
          </a:prstGeom>
          <a:noFill/>
        </p:spPr>
        <p:txBody>
          <a:bodyPr wrap="square" rtlCol="0">
            <a:spAutoFit/>
          </a:bodyPr>
          <a:lstStyle/>
          <a:p>
            <a:r>
              <a:rPr lang="en-US" sz="3600" b="1" dirty="0">
                <a:solidFill>
                  <a:srgbClr val="1B415D"/>
                </a:solidFill>
              </a:rPr>
              <a:t>Approaches of Implementation </a:t>
            </a:r>
            <a:r>
              <a:rPr lang="en-US" b="1" dirty="0">
                <a:solidFill>
                  <a:srgbClr val="1B415D"/>
                </a:solidFill>
              </a:rPr>
              <a:t>[9]</a:t>
            </a:r>
            <a:r>
              <a:rPr lang="en-US" sz="3600" b="1" dirty="0">
                <a:solidFill>
                  <a:srgbClr val="1B415D"/>
                </a:solidFill>
              </a:rPr>
              <a:t> : Top Down</a:t>
            </a:r>
          </a:p>
        </p:txBody>
      </p:sp>
      <p:pic>
        <p:nvPicPr>
          <p:cNvPr id="51" name="Picture 50">
            <a:extLst>
              <a:ext uri="{FF2B5EF4-FFF2-40B4-BE49-F238E27FC236}">
                <a16:creationId xmlns:a16="http://schemas.microsoft.com/office/drawing/2014/main" id="{A2AF90CA-B8A3-1774-12D6-48F04B5E35AC}"/>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3216267" y="4331676"/>
            <a:ext cx="945088" cy="608375"/>
          </a:xfrm>
          <a:prstGeom prst="rect">
            <a:avLst/>
          </a:prstGeom>
        </p:spPr>
      </p:pic>
      <p:pic>
        <p:nvPicPr>
          <p:cNvPr id="52" name="Picture 51">
            <a:extLst>
              <a:ext uri="{FF2B5EF4-FFF2-40B4-BE49-F238E27FC236}">
                <a16:creationId xmlns:a16="http://schemas.microsoft.com/office/drawing/2014/main" id="{78C703F7-7D94-A87F-9ABD-BC9B364809AF}"/>
              </a:ext>
            </a:extLst>
          </p:cNvPr>
          <p:cNvPicPr>
            <a:picLocks noChangeAspect="1"/>
          </p:cNvPicPr>
          <p:nvPr/>
        </p:nvPicPr>
        <p:blipFill>
          <a:blip r:embed="rId10"/>
          <a:srcRect l="22961" t="57864" r="62119" b="30040"/>
          <a:stretch>
            <a:fillRect/>
          </a:stretch>
        </p:blipFill>
        <p:spPr>
          <a:xfrm>
            <a:off x="2780177" y="5427696"/>
            <a:ext cx="920785" cy="324800"/>
          </a:xfrm>
          <a:prstGeom prst="rect">
            <a:avLst/>
          </a:prstGeom>
        </p:spPr>
      </p:pic>
      <p:pic>
        <p:nvPicPr>
          <p:cNvPr id="53" name="Picture 52">
            <a:extLst>
              <a:ext uri="{FF2B5EF4-FFF2-40B4-BE49-F238E27FC236}">
                <a16:creationId xmlns:a16="http://schemas.microsoft.com/office/drawing/2014/main" id="{E7D74209-1147-82C8-0903-A6F642AB5AD3}"/>
              </a:ext>
            </a:extLst>
          </p:cNvPr>
          <p:cNvPicPr>
            <a:picLocks noChangeAspect="1"/>
          </p:cNvPicPr>
          <p:nvPr/>
        </p:nvPicPr>
        <p:blipFill>
          <a:blip r:embed="rId11">
            <a:clrChange>
              <a:clrFrom>
                <a:srgbClr val="FEFEFC"/>
              </a:clrFrom>
              <a:clrTo>
                <a:srgbClr val="FEFEFC">
                  <a:alpha val="0"/>
                </a:srgbClr>
              </a:clrTo>
            </a:clrChange>
          </a:blip>
          <a:srcRect l="44569" t="30016" r="44627" b="57306"/>
          <a:stretch>
            <a:fillRect/>
          </a:stretch>
        </p:blipFill>
        <p:spPr>
          <a:xfrm>
            <a:off x="3999367" y="2981843"/>
            <a:ext cx="1218647" cy="622233"/>
          </a:xfrm>
          <a:prstGeom prst="rect">
            <a:avLst/>
          </a:prstGeom>
        </p:spPr>
      </p:pic>
      <p:pic>
        <p:nvPicPr>
          <p:cNvPr id="54" name="Picture 53">
            <a:extLst>
              <a:ext uri="{FF2B5EF4-FFF2-40B4-BE49-F238E27FC236}">
                <a16:creationId xmlns:a16="http://schemas.microsoft.com/office/drawing/2014/main" id="{731BD3E7-802E-8C96-D336-666C87D700F8}"/>
              </a:ext>
            </a:extLst>
          </p:cNvPr>
          <p:cNvPicPr>
            <a:picLocks noChangeAspect="1"/>
          </p:cNvPicPr>
          <p:nvPr/>
        </p:nvPicPr>
        <p:blipFill>
          <a:blip r:embed="rId8">
            <a:extLst>
              <a:ext uri="{BEBA8EAE-BF5A-486C-A8C5-ECC9F3942E4B}">
                <a14:imgProps xmlns:a14="http://schemas.microsoft.com/office/drawing/2010/main">
                  <a14:imgLayer r:embed="rId12">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5031274" y="4331675"/>
            <a:ext cx="945088" cy="608375"/>
          </a:xfrm>
          <a:prstGeom prst="rect">
            <a:avLst/>
          </a:prstGeom>
        </p:spPr>
      </p:pic>
      <p:cxnSp>
        <p:nvCxnSpPr>
          <p:cNvPr id="55" name="Straight Arrow Connector 54">
            <a:extLst>
              <a:ext uri="{FF2B5EF4-FFF2-40B4-BE49-F238E27FC236}">
                <a16:creationId xmlns:a16="http://schemas.microsoft.com/office/drawing/2014/main" id="{92704778-56CA-CD67-4876-CE39CEA24E6B}"/>
              </a:ext>
            </a:extLst>
          </p:cNvPr>
          <p:cNvCxnSpPr>
            <a:cxnSpLocks/>
            <a:stCxn id="53" idx="2"/>
            <a:endCxn id="54" idx="0"/>
          </p:cNvCxnSpPr>
          <p:nvPr/>
        </p:nvCxnSpPr>
        <p:spPr>
          <a:xfrm>
            <a:off x="4608690" y="3604076"/>
            <a:ext cx="895128" cy="72760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56" name="Straight Arrow Connector 55">
            <a:extLst>
              <a:ext uri="{FF2B5EF4-FFF2-40B4-BE49-F238E27FC236}">
                <a16:creationId xmlns:a16="http://schemas.microsoft.com/office/drawing/2014/main" id="{CF7A83C4-87B4-B83E-85D0-37853901A969}"/>
              </a:ext>
            </a:extLst>
          </p:cNvPr>
          <p:cNvCxnSpPr>
            <a:cxnSpLocks/>
            <a:endCxn id="51" idx="0"/>
          </p:cNvCxnSpPr>
          <p:nvPr/>
        </p:nvCxnSpPr>
        <p:spPr>
          <a:xfrm flipH="1">
            <a:off x="3688811" y="3604076"/>
            <a:ext cx="883056" cy="72760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57" name="Picture 56">
            <a:extLst>
              <a:ext uri="{FF2B5EF4-FFF2-40B4-BE49-F238E27FC236}">
                <a16:creationId xmlns:a16="http://schemas.microsoft.com/office/drawing/2014/main" id="{128434F8-08C7-874F-CE6D-A4B87BCA7EFC}"/>
              </a:ext>
            </a:extLst>
          </p:cNvPr>
          <p:cNvPicPr>
            <a:picLocks noChangeAspect="1"/>
          </p:cNvPicPr>
          <p:nvPr/>
        </p:nvPicPr>
        <p:blipFill>
          <a:blip r:embed="rId10"/>
          <a:srcRect l="22961" t="57864" r="62119" b="30040"/>
          <a:stretch>
            <a:fillRect/>
          </a:stretch>
        </p:blipFill>
        <p:spPr>
          <a:xfrm>
            <a:off x="3700962" y="5427696"/>
            <a:ext cx="920785" cy="324800"/>
          </a:xfrm>
          <a:prstGeom prst="rect">
            <a:avLst/>
          </a:prstGeom>
        </p:spPr>
      </p:pic>
      <p:pic>
        <p:nvPicPr>
          <p:cNvPr id="58" name="Picture 57">
            <a:extLst>
              <a:ext uri="{FF2B5EF4-FFF2-40B4-BE49-F238E27FC236}">
                <a16:creationId xmlns:a16="http://schemas.microsoft.com/office/drawing/2014/main" id="{8007E261-1F9D-1EA6-8984-00CD66E01D2B}"/>
              </a:ext>
            </a:extLst>
          </p:cNvPr>
          <p:cNvPicPr>
            <a:picLocks noChangeAspect="1"/>
          </p:cNvPicPr>
          <p:nvPr/>
        </p:nvPicPr>
        <p:blipFill>
          <a:blip r:embed="rId10"/>
          <a:srcRect l="22961" t="57864" r="62119" b="30040"/>
          <a:stretch>
            <a:fillRect/>
          </a:stretch>
        </p:blipFill>
        <p:spPr>
          <a:xfrm>
            <a:off x="4621747" y="5427695"/>
            <a:ext cx="920785" cy="324800"/>
          </a:xfrm>
          <a:prstGeom prst="rect">
            <a:avLst/>
          </a:prstGeom>
        </p:spPr>
      </p:pic>
      <p:pic>
        <p:nvPicPr>
          <p:cNvPr id="59" name="Picture 58">
            <a:extLst>
              <a:ext uri="{FF2B5EF4-FFF2-40B4-BE49-F238E27FC236}">
                <a16:creationId xmlns:a16="http://schemas.microsoft.com/office/drawing/2014/main" id="{0FDBD862-59EF-8A92-B4AE-EC1B80959C94}"/>
              </a:ext>
            </a:extLst>
          </p:cNvPr>
          <p:cNvPicPr>
            <a:picLocks noChangeAspect="1"/>
          </p:cNvPicPr>
          <p:nvPr/>
        </p:nvPicPr>
        <p:blipFill>
          <a:blip r:embed="rId10"/>
          <a:srcRect l="22961" t="57864" r="62119" b="30040"/>
          <a:stretch>
            <a:fillRect/>
          </a:stretch>
        </p:blipFill>
        <p:spPr>
          <a:xfrm>
            <a:off x="5542532" y="5427695"/>
            <a:ext cx="920785" cy="324800"/>
          </a:xfrm>
          <a:prstGeom prst="rect">
            <a:avLst/>
          </a:prstGeom>
        </p:spPr>
      </p:pic>
      <p:cxnSp>
        <p:nvCxnSpPr>
          <p:cNvPr id="60" name="Straight Arrow Connector 59">
            <a:extLst>
              <a:ext uri="{FF2B5EF4-FFF2-40B4-BE49-F238E27FC236}">
                <a16:creationId xmlns:a16="http://schemas.microsoft.com/office/drawing/2014/main" id="{1425DA29-3901-6561-2EF7-2F92FF850C91}"/>
              </a:ext>
            </a:extLst>
          </p:cNvPr>
          <p:cNvCxnSpPr>
            <a:cxnSpLocks/>
            <a:endCxn id="52" idx="0"/>
          </p:cNvCxnSpPr>
          <p:nvPr/>
        </p:nvCxnSpPr>
        <p:spPr>
          <a:xfrm flipH="1">
            <a:off x="3240570" y="4973716"/>
            <a:ext cx="422664"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1" name="Straight Arrow Connector 60">
            <a:extLst>
              <a:ext uri="{FF2B5EF4-FFF2-40B4-BE49-F238E27FC236}">
                <a16:creationId xmlns:a16="http://schemas.microsoft.com/office/drawing/2014/main" id="{082FE7A9-00A0-D452-D40A-D24E5E615C08}"/>
              </a:ext>
            </a:extLst>
          </p:cNvPr>
          <p:cNvCxnSpPr>
            <a:cxnSpLocks/>
          </p:cNvCxnSpPr>
          <p:nvPr/>
        </p:nvCxnSpPr>
        <p:spPr>
          <a:xfrm flipH="1">
            <a:off x="5082139" y="4966890"/>
            <a:ext cx="422664"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2" name="Straight Arrow Connector 61">
            <a:extLst>
              <a:ext uri="{FF2B5EF4-FFF2-40B4-BE49-F238E27FC236}">
                <a16:creationId xmlns:a16="http://schemas.microsoft.com/office/drawing/2014/main" id="{3F6093A8-5FF2-700A-9D52-3E347281923A}"/>
              </a:ext>
            </a:extLst>
          </p:cNvPr>
          <p:cNvCxnSpPr>
            <a:cxnSpLocks/>
            <a:endCxn id="57" idx="0"/>
          </p:cNvCxnSpPr>
          <p:nvPr/>
        </p:nvCxnSpPr>
        <p:spPr>
          <a:xfrm>
            <a:off x="3700962" y="4973716"/>
            <a:ext cx="460392"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3" name="Straight Arrow Connector 62">
            <a:extLst>
              <a:ext uri="{FF2B5EF4-FFF2-40B4-BE49-F238E27FC236}">
                <a16:creationId xmlns:a16="http://schemas.microsoft.com/office/drawing/2014/main" id="{40AC8D58-CFBC-9779-FE75-C0C914D9691B}"/>
              </a:ext>
            </a:extLst>
          </p:cNvPr>
          <p:cNvCxnSpPr>
            <a:cxnSpLocks/>
          </p:cNvCxnSpPr>
          <p:nvPr/>
        </p:nvCxnSpPr>
        <p:spPr>
          <a:xfrm>
            <a:off x="5542532" y="4956882"/>
            <a:ext cx="460392"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3072" name="Picture 3071">
            <a:extLst>
              <a:ext uri="{FF2B5EF4-FFF2-40B4-BE49-F238E27FC236}">
                <a16:creationId xmlns:a16="http://schemas.microsoft.com/office/drawing/2014/main" id="{5E591B66-23BF-FB72-BF0B-92F2E7651464}"/>
              </a:ext>
            </a:extLst>
          </p:cNvPr>
          <p:cNvPicPr>
            <a:picLocks noChangeAspect="1"/>
          </p:cNvPicPr>
          <p:nvPr/>
        </p:nvPicPr>
        <p:blipFill>
          <a:blip r:embed="rId8">
            <a:extLst>
              <a:ext uri="{BEBA8EAE-BF5A-486C-A8C5-ECC9F3942E4B}">
                <a14:imgProps xmlns:a14="http://schemas.microsoft.com/office/drawing/2010/main">
                  <a14:imgLayer r:embed="rId13">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8031483" y="4331677"/>
            <a:ext cx="945088" cy="608375"/>
          </a:xfrm>
          <a:prstGeom prst="rect">
            <a:avLst/>
          </a:prstGeom>
        </p:spPr>
      </p:pic>
      <p:pic>
        <p:nvPicPr>
          <p:cNvPr id="3073" name="Picture 3072">
            <a:extLst>
              <a:ext uri="{FF2B5EF4-FFF2-40B4-BE49-F238E27FC236}">
                <a16:creationId xmlns:a16="http://schemas.microsoft.com/office/drawing/2014/main" id="{65AED1A4-4990-250E-4745-7ED81777A9E5}"/>
              </a:ext>
            </a:extLst>
          </p:cNvPr>
          <p:cNvPicPr>
            <a:picLocks noChangeAspect="1"/>
          </p:cNvPicPr>
          <p:nvPr/>
        </p:nvPicPr>
        <p:blipFill>
          <a:blip r:embed="rId10"/>
          <a:srcRect l="22961" t="57864" r="62119" b="30040"/>
          <a:stretch>
            <a:fillRect/>
          </a:stretch>
        </p:blipFill>
        <p:spPr>
          <a:xfrm>
            <a:off x="7595393" y="5427697"/>
            <a:ext cx="920785" cy="324800"/>
          </a:xfrm>
          <a:prstGeom prst="rect">
            <a:avLst/>
          </a:prstGeom>
        </p:spPr>
      </p:pic>
      <p:pic>
        <p:nvPicPr>
          <p:cNvPr id="3075" name="Picture 3074">
            <a:extLst>
              <a:ext uri="{FF2B5EF4-FFF2-40B4-BE49-F238E27FC236}">
                <a16:creationId xmlns:a16="http://schemas.microsoft.com/office/drawing/2014/main" id="{FA114540-F6D5-7B0E-CF37-0D24CE23A44F}"/>
              </a:ext>
            </a:extLst>
          </p:cNvPr>
          <p:cNvPicPr>
            <a:picLocks noChangeAspect="1"/>
          </p:cNvPicPr>
          <p:nvPr/>
        </p:nvPicPr>
        <p:blipFill>
          <a:blip r:embed="rId11">
            <a:clrChange>
              <a:clrFrom>
                <a:srgbClr val="FEFEFC"/>
              </a:clrFrom>
              <a:clrTo>
                <a:srgbClr val="FEFEFC">
                  <a:alpha val="0"/>
                </a:srgbClr>
              </a:clrTo>
            </a:clrChange>
          </a:blip>
          <a:srcRect l="44569" t="30016" r="44627" b="57306"/>
          <a:stretch>
            <a:fillRect/>
          </a:stretch>
        </p:blipFill>
        <p:spPr>
          <a:xfrm>
            <a:off x="8814583" y="2981844"/>
            <a:ext cx="1218647" cy="622233"/>
          </a:xfrm>
          <a:prstGeom prst="rect">
            <a:avLst/>
          </a:prstGeom>
        </p:spPr>
      </p:pic>
      <p:pic>
        <p:nvPicPr>
          <p:cNvPr id="3076" name="Picture 3075">
            <a:extLst>
              <a:ext uri="{FF2B5EF4-FFF2-40B4-BE49-F238E27FC236}">
                <a16:creationId xmlns:a16="http://schemas.microsoft.com/office/drawing/2014/main" id="{BA7FEBFE-8562-E8E9-E527-A4899AA2A5F8}"/>
              </a:ext>
            </a:extLst>
          </p:cNvPr>
          <p:cNvPicPr>
            <a:picLocks noChangeAspect="1"/>
          </p:cNvPicPr>
          <p:nvPr/>
        </p:nvPicPr>
        <p:blipFill>
          <a:blip r:embed="rId8">
            <a:extLst>
              <a:ext uri="{BEBA8EAE-BF5A-486C-A8C5-ECC9F3942E4B}">
                <a14:imgProps xmlns:a14="http://schemas.microsoft.com/office/drawing/2010/main">
                  <a14:imgLayer r:embed="rId14">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9846490" y="4331676"/>
            <a:ext cx="945088" cy="608375"/>
          </a:xfrm>
          <a:prstGeom prst="rect">
            <a:avLst/>
          </a:prstGeom>
        </p:spPr>
      </p:pic>
      <p:cxnSp>
        <p:nvCxnSpPr>
          <p:cNvPr id="3077" name="Straight Arrow Connector 3076">
            <a:extLst>
              <a:ext uri="{FF2B5EF4-FFF2-40B4-BE49-F238E27FC236}">
                <a16:creationId xmlns:a16="http://schemas.microsoft.com/office/drawing/2014/main" id="{E474FEBF-8BFC-FEC4-B36A-9EDB6362922B}"/>
              </a:ext>
            </a:extLst>
          </p:cNvPr>
          <p:cNvCxnSpPr>
            <a:cxnSpLocks/>
            <a:stCxn id="3075" idx="2"/>
            <a:endCxn id="3076" idx="0"/>
          </p:cNvCxnSpPr>
          <p:nvPr/>
        </p:nvCxnSpPr>
        <p:spPr>
          <a:xfrm>
            <a:off x="9423907" y="3604077"/>
            <a:ext cx="895128" cy="72760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78" name="Straight Arrow Connector 3077">
            <a:extLst>
              <a:ext uri="{FF2B5EF4-FFF2-40B4-BE49-F238E27FC236}">
                <a16:creationId xmlns:a16="http://schemas.microsoft.com/office/drawing/2014/main" id="{B303F1C0-A75D-B020-9690-838E56EFA24C}"/>
              </a:ext>
            </a:extLst>
          </p:cNvPr>
          <p:cNvCxnSpPr>
            <a:cxnSpLocks/>
            <a:endCxn id="3072" idx="0"/>
          </p:cNvCxnSpPr>
          <p:nvPr/>
        </p:nvCxnSpPr>
        <p:spPr>
          <a:xfrm flipH="1">
            <a:off x="8504027" y="3604077"/>
            <a:ext cx="883056" cy="72760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3079" name="Picture 3078">
            <a:extLst>
              <a:ext uri="{FF2B5EF4-FFF2-40B4-BE49-F238E27FC236}">
                <a16:creationId xmlns:a16="http://schemas.microsoft.com/office/drawing/2014/main" id="{3CD49717-5742-7B33-9A5B-EBB076EA2EF0}"/>
              </a:ext>
            </a:extLst>
          </p:cNvPr>
          <p:cNvPicPr>
            <a:picLocks noChangeAspect="1"/>
          </p:cNvPicPr>
          <p:nvPr/>
        </p:nvPicPr>
        <p:blipFill>
          <a:blip r:embed="rId10"/>
          <a:srcRect l="22961" t="57864" r="62119" b="30040"/>
          <a:stretch>
            <a:fillRect/>
          </a:stretch>
        </p:blipFill>
        <p:spPr>
          <a:xfrm>
            <a:off x="8516178" y="5427697"/>
            <a:ext cx="920785" cy="324800"/>
          </a:xfrm>
          <a:prstGeom prst="rect">
            <a:avLst/>
          </a:prstGeom>
        </p:spPr>
      </p:pic>
      <p:pic>
        <p:nvPicPr>
          <p:cNvPr id="3080" name="Picture 3079">
            <a:extLst>
              <a:ext uri="{FF2B5EF4-FFF2-40B4-BE49-F238E27FC236}">
                <a16:creationId xmlns:a16="http://schemas.microsoft.com/office/drawing/2014/main" id="{4EF31FC0-A868-16EF-1544-E47436394BA0}"/>
              </a:ext>
            </a:extLst>
          </p:cNvPr>
          <p:cNvPicPr>
            <a:picLocks noChangeAspect="1"/>
          </p:cNvPicPr>
          <p:nvPr/>
        </p:nvPicPr>
        <p:blipFill>
          <a:blip r:embed="rId10"/>
          <a:srcRect l="22961" t="57864" r="62119" b="30040"/>
          <a:stretch>
            <a:fillRect/>
          </a:stretch>
        </p:blipFill>
        <p:spPr>
          <a:xfrm>
            <a:off x="9436963" y="5427696"/>
            <a:ext cx="920785" cy="324800"/>
          </a:xfrm>
          <a:prstGeom prst="rect">
            <a:avLst/>
          </a:prstGeom>
        </p:spPr>
      </p:pic>
      <p:pic>
        <p:nvPicPr>
          <p:cNvPr id="3081" name="Picture 3080">
            <a:extLst>
              <a:ext uri="{FF2B5EF4-FFF2-40B4-BE49-F238E27FC236}">
                <a16:creationId xmlns:a16="http://schemas.microsoft.com/office/drawing/2014/main" id="{EEE71F8C-623F-EC04-603B-A06D67FD9309}"/>
              </a:ext>
            </a:extLst>
          </p:cNvPr>
          <p:cNvPicPr>
            <a:picLocks noChangeAspect="1"/>
          </p:cNvPicPr>
          <p:nvPr/>
        </p:nvPicPr>
        <p:blipFill>
          <a:blip r:embed="rId10"/>
          <a:srcRect l="22961" t="57864" r="62119" b="30040"/>
          <a:stretch>
            <a:fillRect/>
          </a:stretch>
        </p:blipFill>
        <p:spPr>
          <a:xfrm>
            <a:off x="10357748" y="5427696"/>
            <a:ext cx="920785" cy="324800"/>
          </a:xfrm>
          <a:prstGeom prst="rect">
            <a:avLst/>
          </a:prstGeom>
        </p:spPr>
      </p:pic>
      <p:cxnSp>
        <p:nvCxnSpPr>
          <p:cNvPr id="3082" name="Straight Arrow Connector 3081">
            <a:extLst>
              <a:ext uri="{FF2B5EF4-FFF2-40B4-BE49-F238E27FC236}">
                <a16:creationId xmlns:a16="http://schemas.microsoft.com/office/drawing/2014/main" id="{9B9DC83D-57DA-5AC2-7852-A90A9BE83708}"/>
              </a:ext>
            </a:extLst>
          </p:cNvPr>
          <p:cNvCxnSpPr>
            <a:cxnSpLocks/>
            <a:endCxn id="3073" idx="0"/>
          </p:cNvCxnSpPr>
          <p:nvPr/>
        </p:nvCxnSpPr>
        <p:spPr>
          <a:xfrm flipH="1">
            <a:off x="8055786" y="4973717"/>
            <a:ext cx="422664"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3" name="Straight Arrow Connector 3082">
            <a:extLst>
              <a:ext uri="{FF2B5EF4-FFF2-40B4-BE49-F238E27FC236}">
                <a16:creationId xmlns:a16="http://schemas.microsoft.com/office/drawing/2014/main" id="{BA414EAC-B93B-79F3-6361-6BDAF2A6FF53}"/>
              </a:ext>
            </a:extLst>
          </p:cNvPr>
          <p:cNvCxnSpPr>
            <a:cxnSpLocks/>
          </p:cNvCxnSpPr>
          <p:nvPr/>
        </p:nvCxnSpPr>
        <p:spPr>
          <a:xfrm flipH="1">
            <a:off x="9897356" y="4966891"/>
            <a:ext cx="422664"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4" name="Straight Arrow Connector 3083">
            <a:extLst>
              <a:ext uri="{FF2B5EF4-FFF2-40B4-BE49-F238E27FC236}">
                <a16:creationId xmlns:a16="http://schemas.microsoft.com/office/drawing/2014/main" id="{482F1909-A3BE-79B6-B2F0-9B10B7C66003}"/>
              </a:ext>
            </a:extLst>
          </p:cNvPr>
          <p:cNvCxnSpPr>
            <a:cxnSpLocks/>
            <a:endCxn id="3079" idx="0"/>
          </p:cNvCxnSpPr>
          <p:nvPr/>
        </p:nvCxnSpPr>
        <p:spPr>
          <a:xfrm>
            <a:off x="8516178" y="4973717"/>
            <a:ext cx="460392"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5" name="Straight Arrow Connector 3084">
            <a:extLst>
              <a:ext uri="{FF2B5EF4-FFF2-40B4-BE49-F238E27FC236}">
                <a16:creationId xmlns:a16="http://schemas.microsoft.com/office/drawing/2014/main" id="{A66634B2-AD6A-D3B8-8FDB-B2E693D601E6}"/>
              </a:ext>
            </a:extLst>
          </p:cNvPr>
          <p:cNvCxnSpPr>
            <a:cxnSpLocks/>
          </p:cNvCxnSpPr>
          <p:nvPr/>
        </p:nvCxnSpPr>
        <p:spPr>
          <a:xfrm>
            <a:off x="10357748" y="4956883"/>
            <a:ext cx="460392"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092" name="TextBox 3091">
            <a:extLst>
              <a:ext uri="{FF2B5EF4-FFF2-40B4-BE49-F238E27FC236}">
                <a16:creationId xmlns:a16="http://schemas.microsoft.com/office/drawing/2014/main" id="{5EC21389-014F-5396-80EF-4D4F38160338}"/>
              </a:ext>
            </a:extLst>
          </p:cNvPr>
          <p:cNvSpPr txBox="1"/>
          <p:nvPr/>
        </p:nvSpPr>
        <p:spPr>
          <a:xfrm>
            <a:off x="6590931" y="2106831"/>
            <a:ext cx="890837" cy="327303"/>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TOTAL</a:t>
            </a:r>
          </a:p>
        </p:txBody>
      </p:sp>
      <p:cxnSp>
        <p:nvCxnSpPr>
          <p:cNvPr id="3093" name="Straight Arrow Connector 3092">
            <a:extLst>
              <a:ext uri="{FF2B5EF4-FFF2-40B4-BE49-F238E27FC236}">
                <a16:creationId xmlns:a16="http://schemas.microsoft.com/office/drawing/2014/main" id="{E843DCBF-AEF3-574B-3F48-94A034794D9E}"/>
              </a:ext>
            </a:extLst>
          </p:cNvPr>
          <p:cNvCxnSpPr>
            <a:cxnSpLocks/>
            <a:stCxn id="3092" idx="2"/>
            <a:endCxn id="53" idx="0"/>
          </p:cNvCxnSpPr>
          <p:nvPr/>
        </p:nvCxnSpPr>
        <p:spPr>
          <a:xfrm flipH="1">
            <a:off x="4608690" y="2434134"/>
            <a:ext cx="2427658" cy="54770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94" name="Straight Arrow Connector 3093">
            <a:extLst>
              <a:ext uri="{FF2B5EF4-FFF2-40B4-BE49-F238E27FC236}">
                <a16:creationId xmlns:a16="http://schemas.microsoft.com/office/drawing/2014/main" id="{184EE433-7CC1-E6AB-4550-A4CC7FCE7B0A}"/>
              </a:ext>
            </a:extLst>
          </p:cNvPr>
          <p:cNvCxnSpPr>
            <a:cxnSpLocks/>
            <a:stCxn id="3092" idx="2"/>
            <a:endCxn id="3075" idx="0"/>
          </p:cNvCxnSpPr>
          <p:nvPr/>
        </p:nvCxnSpPr>
        <p:spPr>
          <a:xfrm>
            <a:off x="7036349" y="2434134"/>
            <a:ext cx="2387558" cy="54771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95" name="Straight Arrow Connector 3094">
            <a:extLst>
              <a:ext uri="{FF2B5EF4-FFF2-40B4-BE49-F238E27FC236}">
                <a16:creationId xmlns:a16="http://schemas.microsoft.com/office/drawing/2014/main" id="{CF6B3656-4850-4478-7636-604E95ABAD6A}"/>
              </a:ext>
            </a:extLst>
          </p:cNvPr>
          <p:cNvCxnSpPr>
            <a:cxnSpLocks/>
          </p:cNvCxnSpPr>
          <p:nvPr/>
        </p:nvCxnSpPr>
        <p:spPr>
          <a:xfrm>
            <a:off x="1474501" y="2365407"/>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099" name="TextBox 3098">
            <a:extLst>
              <a:ext uri="{FF2B5EF4-FFF2-40B4-BE49-F238E27FC236}">
                <a16:creationId xmlns:a16="http://schemas.microsoft.com/office/drawing/2014/main" id="{6D37D692-42F0-9D68-E281-722641A748E3}"/>
              </a:ext>
            </a:extLst>
          </p:cNvPr>
          <p:cNvSpPr txBox="1"/>
          <p:nvPr/>
        </p:nvSpPr>
        <p:spPr>
          <a:xfrm>
            <a:off x="1819380" y="1912149"/>
            <a:ext cx="1536703" cy="523220"/>
          </a:xfrm>
          <a:prstGeom prst="rect">
            <a:avLst/>
          </a:prstGeom>
          <a:noFill/>
        </p:spPr>
        <p:txBody>
          <a:bodyPr wrap="none" rtlCol="0">
            <a:spAutoFit/>
          </a:bodyPr>
          <a:lstStyle/>
          <a:p>
            <a:r>
              <a:rPr lang="en-US" sz="2800" dirty="0">
                <a:solidFill>
                  <a:srgbClr val="1B415D"/>
                </a:solidFill>
              </a:rPr>
              <a:t>Forecast</a:t>
            </a:r>
          </a:p>
        </p:txBody>
      </p:sp>
      <p:sp>
        <p:nvSpPr>
          <p:cNvPr id="3102" name="TextBox 3101">
            <a:extLst>
              <a:ext uri="{FF2B5EF4-FFF2-40B4-BE49-F238E27FC236}">
                <a16:creationId xmlns:a16="http://schemas.microsoft.com/office/drawing/2014/main" id="{5E5792D3-F603-0AE2-51C6-5FE61E2E8BBD}"/>
              </a:ext>
            </a:extLst>
          </p:cNvPr>
          <p:cNvSpPr txBox="1"/>
          <p:nvPr/>
        </p:nvSpPr>
        <p:spPr>
          <a:xfrm>
            <a:off x="5682861" y="2696587"/>
            <a:ext cx="587002" cy="369332"/>
          </a:xfrm>
          <a:prstGeom prst="rect">
            <a:avLst/>
          </a:prstGeom>
          <a:noFill/>
        </p:spPr>
        <p:txBody>
          <a:bodyPr wrap="square" rtlCol="0">
            <a:spAutoFit/>
          </a:bodyPr>
          <a:lstStyle/>
          <a:p>
            <a:r>
              <a:rPr lang="en-US" b="1" dirty="0">
                <a:solidFill>
                  <a:srgbClr val="1B415D"/>
                </a:solidFill>
              </a:rPr>
              <a:t>2/3</a:t>
            </a:r>
          </a:p>
        </p:txBody>
      </p:sp>
      <p:sp>
        <p:nvSpPr>
          <p:cNvPr id="3103" name="TextBox 3102">
            <a:extLst>
              <a:ext uri="{FF2B5EF4-FFF2-40B4-BE49-F238E27FC236}">
                <a16:creationId xmlns:a16="http://schemas.microsoft.com/office/drawing/2014/main" id="{E8B723EA-3C1C-7C31-ABC2-9867A093B0E0}"/>
              </a:ext>
            </a:extLst>
          </p:cNvPr>
          <p:cNvSpPr txBox="1"/>
          <p:nvPr/>
        </p:nvSpPr>
        <p:spPr>
          <a:xfrm>
            <a:off x="7853119" y="2707988"/>
            <a:ext cx="587002" cy="369332"/>
          </a:xfrm>
          <a:prstGeom prst="rect">
            <a:avLst/>
          </a:prstGeom>
          <a:noFill/>
        </p:spPr>
        <p:txBody>
          <a:bodyPr wrap="square" rtlCol="0">
            <a:spAutoFit/>
          </a:bodyPr>
          <a:lstStyle/>
          <a:p>
            <a:r>
              <a:rPr lang="en-US" b="1" dirty="0">
                <a:solidFill>
                  <a:srgbClr val="1B415D"/>
                </a:solidFill>
              </a:rPr>
              <a:t>1/3</a:t>
            </a:r>
          </a:p>
        </p:txBody>
      </p:sp>
      <p:sp>
        <p:nvSpPr>
          <p:cNvPr id="3104" name="TextBox 3103">
            <a:extLst>
              <a:ext uri="{FF2B5EF4-FFF2-40B4-BE49-F238E27FC236}">
                <a16:creationId xmlns:a16="http://schemas.microsoft.com/office/drawing/2014/main" id="{8183FF61-090A-896D-A8F5-43759D41AE22}"/>
              </a:ext>
            </a:extLst>
          </p:cNvPr>
          <p:cNvSpPr txBox="1"/>
          <p:nvPr/>
        </p:nvSpPr>
        <p:spPr>
          <a:xfrm>
            <a:off x="3671863" y="3723301"/>
            <a:ext cx="587002" cy="369332"/>
          </a:xfrm>
          <a:prstGeom prst="rect">
            <a:avLst/>
          </a:prstGeom>
          <a:noFill/>
        </p:spPr>
        <p:txBody>
          <a:bodyPr wrap="square" rtlCol="0">
            <a:spAutoFit/>
          </a:bodyPr>
          <a:lstStyle/>
          <a:p>
            <a:r>
              <a:rPr lang="en-US" b="1" dirty="0">
                <a:solidFill>
                  <a:srgbClr val="1B415D"/>
                </a:solidFill>
              </a:rPr>
              <a:t>3/8</a:t>
            </a:r>
          </a:p>
        </p:txBody>
      </p:sp>
      <p:sp>
        <p:nvSpPr>
          <p:cNvPr id="3105" name="TextBox 3104">
            <a:extLst>
              <a:ext uri="{FF2B5EF4-FFF2-40B4-BE49-F238E27FC236}">
                <a16:creationId xmlns:a16="http://schemas.microsoft.com/office/drawing/2014/main" id="{B0ED0EE2-3C89-23B8-4952-ADB5153D879E}"/>
              </a:ext>
            </a:extLst>
          </p:cNvPr>
          <p:cNvSpPr txBox="1"/>
          <p:nvPr/>
        </p:nvSpPr>
        <p:spPr>
          <a:xfrm>
            <a:off x="5082139" y="3752799"/>
            <a:ext cx="587002" cy="369332"/>
          </a:xfrm>
          <a:prstGeom prst="rect">
            <a:avLst/>
          </a:prstGeom>
          <a:noFill/>
        </p:spPr>
        <p:txBody>
          <a:bodyPr wrap="square" rtlCol="0">
            <a:spAutoFit/>
          </a:bodyPr>
          <a:lstStyle/>
          <a:p>
            <a:r>
              <a:rPr lang="en-US" b="1" dirty="0">
                <a:solidFill>
                  <a:srgbClr val="1B415D"/>
                </a:solidFill>
              </a:rPr>
              <a:t>5/8</a:t>
            </a:r>
          </a:p>
        </p:txBody>
      </p:sp>
      <p:sp>
        <p:nvSpPr>
          <p:cNvPr id="3106" name="TextBox 3105">
            <a:extLst>
              <a:ext uri="{FF2B5EF4-FFF2-40B4-BE49-F238E27FC236}">
                <a16:creationId xmlns:a16="http://schemas.microsoft.com/office/drawing/2014/main" id="{EF0F453C-5E81-6CF5-D8B2-1879D6556057}"/>
              </a:ext>
            </a:extLst>
          </p:cNvPr>
          <p:cNvSpPr txBox="1"/>
          <p:nvPr/>
        </p:nvSpPr>
        <p:spPr>
          <a:xfrm>
            <a:off x="8524992" y="3694781"/>
            <a:ext cx="587002" cy="369332"/>
          </a:xfrm>
          <a:prstGeom prst="rect">
            <a:avLst/>
          </a:prstGeom>
          <a:noFill/>
        </p:spPr>
        <p:txBody>
          <a:bodyPr wrap="square" rtlCol="0">
            <a:spAutoFit/>
          </a:bodyPr>
          <a:lstStyle/>
          <a:p>
            <a:r>
              <a:rPr lang="en-US" b="1" dirty="0">
                <a:solidFill>
                  <a:srgbClr val="1B415D"/>
                </a:solidFill>
              </a:rPr>
              <a:t>2/5</a:t>
            </a:r>
          </a:p>
        </p:txBody>
      </p:sp>
      <p:sp>
        <p:nvSpPr>
          <p:cNvPr id="3107" name="TextBox 3106">
            <a:extLst>
              <a:ext uri="{FF2B5EF4-FFF2-40B4-BE49-F238E27FC236}">
                <a16:creationId xmlns:a16="http://schemas.microsoft.com/office/drawing/2014/main" id="{C8C0332E-9CC6-B1FA-8138-D501B8A66E32}"/>
              </a:ext>
            </a:extLst>
          </p:cNvPr>
          <p:cNvSpPr txBox="1"/>
          <p:nvPr/>
        </p:nvSpPr>
        <p:spPr>
          <a:xfrm>
            <a:off x="9871471" y="3718522"/>
            <a:ext cx="587002" cy="369332"/>
          </a:xfrm>
          <a:prstGeom prst="rect">
            <a:avLst/>
          </a:prstGeom>
          <a:noFill/>
        </p:spPr>
        <p:txBody>
          <a:bodyPr wrap="square" rtlCol="0">
            <a:spAutoFit/>
          </a:bodyPr>
          <a:lstStyle/>
          <a:p>
            <a:r>
              <a:rPr lang="en-US" b="1" dirty="0">
                <a:solidFill>
                  <a:srgbClr val="1B415D"/>
                </a:solidFill>
              </a:rPr>
              <a:t>3/5</a:t>
            </a:r>
          </a:p>
        </p:txBody>
      </p:sp>
      <p:sp>
        <p:nvSpPr>
          <p:cNvPr id="3108" name="TextBox 3107">
            <a:extLst>
              <a:ext uri="{FF2B5EF4-FFF2-40B4-BE49-F238E27FC236}">
                <a16:creationId xmlns:a16="http://schemas.microsoft.com/office/drawing/2014/main" id="{EA8A8EA4-7E83-C038-E3D2-0A5C1511B47C}"/>
              </a:ext>
            </a:extLst>
          </p:cNvPr>
          <p:cNvSpPr txBox="1"/>
          <p:nvPr/>
        </p:nvSpPr>
        <p:spPr>
          <a:xfrm>
            <a:off x="3071619" y="4973716"/>
            <a:ext cx="587002" cy="307777"/>
          </a:xfrm>
          <a:prstGeom prst="rect">
            <a:avLst/>
          </a:prstGeom>
          <a:noFill/>
        </p:spPr>
        <p:txBody>
          <a:bodyPr wrap="square" rtlCol="0">
            <a:spAutoFit/>
          </a:bodyPr>
          <a:lstStyle/>
          <a:p>
            <a:r>
              <a:rPr lang="en-US" sz="1400" b="1" dirty="0">
                <a:solidFill>
                  <a:srgbClr val="1B415D"/>
                </a:solidFill>
              </a:rPr>
              <a:t>1/3</a:t>
            </a:r>
          </a:p>
        </p:txBody>
      </p:sp>
      <p:sp>
        <p:nvSpPr>
          <p:cNvPr id="3109" name="TextBox 3108">
            <a:extLst>
              <a:ext uri="{FF2B5EF4-FFF2-40B4-BE49-F238E27FC236}">
                <a16:creationId xmlns:a16="http://schemas.microsoft.com/office/drawing/2014/main" id="{25158AA5-3BA6-E5FE-9D9C-00749B4BCA88}"/>
              </a:ext>
            </a:extLst>
          </p:cNvPr>
          <p:cNvSpPr txBox="1"/>
          <p:nvPr/>
        </p:nvSpPr>
        <p:spPr>
          <a:xfrm>
            <a:off x="3883583" y="5006195"/>
            <a:ext cx="587002" cy="307777"/>
          </a:xfrm>
          <a:prstGeom prst="rect">
            <a:avLst/>
          </a:prstGeom>
          <a:noFill/>
        </p:spPr>
        <p:txBody>
          <a:bodyPr wrap="square" rtlCol="0">
            <a:spAutoFit/>
          </a:bodyPr>
          <a:lstStyle/>
          <a:p>
            <a:r>
              <a:rPr lang="en-US" sz="1400" b="1" dirty="0">
                <a:solidFill>
                  <a:srgbClr val="1B415D"/>
                </a:solidFill>
              </a:rPr>
              <a:t>2/3</a:t>
            </a:r>
          </a:p>
        </p:txBody>
      </p:sp>
      <p:sp>
        <p:nvSpPr>
          <p:cNvPr id="3110" name="TextBox 3109">
            <a:extLst>
              <a:ext uri="{FF2B5EF4-FFF2-40B4-BE49-F238E27FC236}">
                <a16:creationId xmlns:a16="http://schemas.microsoft.com/office/drawing/2014/main" id="{1AE5E6D6-EF87-AF66-EA9C-644EA8028750}"/>
              </a:ext>
            </a:extLst>
          </p:cNvPr>
          <p:cNvSpPr txBox="1"/>
          <p:nvPr/>
        </p:nvSpPr>
        <p:spPr>
          <a:xfrm>
            <a:off x="4857942" y="4976215"/>
            <a:ext cx="587002" cy="307777"/>
          </a:xfrm>
          <a:prstGeom prst="rect">
            <a:avLst/>
          </a:prstGeom>
          <a:noFill/>
        </p:spPr>
        <p:txBody>
          <a:bodyPr wrap="square" rtlCol="0">
            <a:spAutoFit/>
          </a:bodyPr>
          <a:lstStyle/>
          <a:p>
            <a:r>
              <a:rPr lang="en-US" sz="1400" b="1" dirty="0">
                <a:solidFill>
                  <a:srgbClr val="1B415D"/>
                </a:solidFill>
              </a:rPr>
              <a:t>2/5</a:t>
            </a:r>
          </a:p>
        </p:txBody>
      </p:sp>
      <p:sp>
        <p:nvSpPr>
          <p:cNvPr id="3111" name="TextBox 3110">
            <a:extLst>
              <a:ext uri="{FF2B5EF4-FFF2-40B4-BE49-F238E27FC236}">
                <a16:creationId xmlns:a16="http://schemas.microsoft.com/office/drawing/2014/main" id="{0CE07C6C-A82F-585A-A4DB-5A413397E244}"/>
              </a:ext>
            </a:extLst>
          </p:cNvPr>
          <p:cNvSpPr txBox="1"/>
          <p:nvPr/>
        </p:nvSpPr>
        <p:spPr>
          <a:xfrm>
            <a:off x="5774839" y="4948734"/>
            <a:ext cx="587002" cy="307777"/>
          </a:xfrm>
          <a:prstGeom prst="rect">
            <a:avLst/>
          </a:prstGeom>
          <a:noFill/>
        </p:spPr>
        <p:txBody>
          <a:bodyPr wrap="square" rtlCol="0">
            <a:spAutoFit/>
          </a:bodyPr>
          <a:lstStyle/>
          <a:p>
            <a:r>
              <a:rPr lang="en-US" sz="1400" b="1" dirty="0">
                <a:solidFill>
                  <a:srgbClr val="1B415D"/>
                </a:solidFill>
              </a:rPr>
              <a:t>3/5</a:t>
            </a:r>
          </a:p>
        </p:txBody>
      </p:sp>
      <p:sp>
        <p:nvSpPr>
          <p:cNvPr id="3112" name="TextBox 3111">
            <a:extLst>
              <a:ext uri="{FF2B5EF4-FFF2-40B4-BE49-F238E27FC236}">
                <a16:creationId xmlns:a16="http://schemas.microsoft.com/office/drawing/2014/main" id="{E7B7D0C8-DC2C-F1D9-FA1E-146926B9365B}"/>
              </a:ext>
            </a:extLst>
          </p:cNvPr>
          <p:cNvSpPr txBox="1"/>
          <p:nvPr/>
        </p:nvSpPr>
        <p:spPr>
          <a:xfrm>
            <a:off x="7875955" y="4951233"/>
            <a:ext cx="587002" cy="307777"/>
          </a:xfrm>
          <a:prstGeom prst="rect">
            <a:avLst/>
          </a:prstGeom>
          <a:noFill/>
        </p:spPr>
        <p:txBody>
          <a:bodyPr wrap="square" rtlCol="0">
            <a:spAutoFit/>
          </a:bodyPr>
          <a:lstStyle/>
          <a:p>
            <a:r>
              <a:rPr lang="en-US" sz="1400" b="1" dirty="0">
                <a:solidFill>
                  <a:srgbClr val="1B415D"/>
                </a:solidFill>
              </a:rPr>
              <a:t>1/3</a:t>
            </a:r>
          </a:p>
        </p:txBody>
      </p:sp>
      <p:sp>
        <p:nvSpPr>
          <p:cNvPr id="3113" name="TextBox 3112">
            <a:extLst>
              <a:ext uri="{FF2B5EF4-FFF2-40B4-BE49-F238E27FC236}">
                <a16:creationId xmlns:a16="http://schemas.microsoft.com/office/drawing/2014/main" id="{7F0EBA4F-15C5-1097-10F3-7873CFF8D2E9}"/>
              </a:ext>
            </a:extLst>
          </p:cNvPr>
          <p:cNvSpPr txBox="1"/>
          <p:nvPr/>
        </p:nvSpPr>
        <p:spPr>
          <a:xfrm>
            <a:off x="8702909" y="4998702"/>
            <a:ext cx="587002" cy="307777"/>
          </a:xfrm>
          <a:prstGeom prst="rect">
            <a:avLst/>
          </a:prstGeom>
          <a:noFill/>
        </p:spPr>
        <p:txBody>
          <a:bodyPr wrap="square" rtlCol="0">
            <a:spAutoFit/>
          </a:bodyPr>
          <a:lstStyle/>
          <a:p>
            <a:r>
              <a:rPr lang="en-US" sz="1400" b="1" dirty="0">
                <a:solidFill>
                  <a:srgbClr val="1B415D"/>
                </a:solidFill>
              </a:rPr>
              <a:t>2/3</a:t>
            </a:r>
          </a:p>
        </p:txBody>
      </p:sp>
      <p:sp>
        <p:nvSpPr>
          <p:cNvPr id="3114" name="TextBox 3113">
            <a:extLst>
              <a:ext uri="{FF2B5EF4-FFF2-40B4-BE49-F238E27FC236}">
                <a16:creationId xmlns:a16="http://schemas.microsoft.com/office/drawing/2014/main" id="{5B69B6EE-B48D-44FE-DC83-CBB4A02C13F1}"/>
              </a:ext>
            </a:extLst>
          </p:cNvPr>
          <p:cNvSpPr txBox="1"/>
          <p:nvPr/>
        </p:nvSpPr>
        <p:spPr>
          <a:xfrm>
            <a:off x="9724737" y="4986211"/>
            <a:ext cx="587002" cy="307777"/>
          </a:xfrm>
          <a:prstGeom prst="rect">
            <a:avLst/>
          </a:prstGeom>
          <a:noFill/>
        </p:spPr>
        <p:txBody>
          <a:bodyPr wrap="square" rtlCol="0">
            <a:spAutoFit/>
          </a:bodyPr>
          <a:lstStyle/>
          <a:p>
            <a:r>
              <a:rPr lang="en-US" sz="1400" b="1" dirty="0">
                <a:solidFill>
                  <a:srgbClr val="1B415D"/>
                </a:solidFill>
              </a:rPr>
              <a:t>1/2</a:t>
            </a:r>
          </a:p>
        </p:txBody>
      </p:sp>
      <p:sp>
        <p:nvSpPr>
          <p:cNvPr id="3115" name="TextBox 3114">
            <a:extLst>
              <a:ext uri="{FF2B5EF4-FFF2-40B4-BE49-F238E27FC236}">
                <a16:creationId xmlns:a16="http://schemas.microsoft.com/office/drawing/2014/main" id="{94606727-4C4F-2D86-1BC3-37B0149C009C}"/>
              </a:ext>
            </a:extLst>
          </p:cNvPr>
          <p:cNvSpPr txBox="1"/>
          <p:nvPr/>
        </p:nvSpPr>
        <p:spPr>
          <a:xfrm>
            <a:off x="10536701" y="4988710"/>
            <a:ext cx="587002" cy="307777"/>
          </a:xfrm>
          <a:prstGeom prst="rect">
            <a:avLst/>
          </a:prstGeom>
          <a:noFill/>
        </p:spPr>
        <p:txBody>
          <a:bodyPr wrap="square" rtlCol="0">
            <a:spAutoFit/>
          </a:bodyPr>
          <a:lstStyle/>
          <a:p>
            <a:r>
              <a:rPr lang="en-US" sz="1400" b="1" dirty="0">
                <a:solidFill>
                  <a:srgbClr val="1B415D"/>
                </a:solidFill>
              </a:rPr>
              <a:t>1/2</a:t>
            </a:r>
          </a:p>
        </p:txBody>
      </p:sp>
    </p:spTree>
    <p:extLst>
      <p:ext uri="{BB962C8B-B14F-4D97-AF65-F5344CB8AC3E}">
        <p14:creationId xmlns:p14="http://schemas.microsoft.com/office/powerpoint/2010/main" val="22397039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DA67D6-8B9B-2108-C732-53CCDAF4341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72A45F9-C2DD-C913-DDC8-D0E3888B7841}"/>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2DC0099F-8AD5-445D-E5EB-27507DD35646}"/>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9D0F9AF7-2F55-5A93-02DE-D126992131B1}"/>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E76CD968-B076-2FE0-EA88-CB40C4A38A5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DB888331-EAE0-5D80-2BD7-0C97A600AF60}"/>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90CFCF8F-54CB-76DF-B1CA-4D6F086CFFEF}"/>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F0CE2587-9770-5715-1025-766813F2199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E0C8A251-2203-63AE-7627-82C16E2D1380}"/>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41E3BEB7-E8A8-0E8B-7683-AC476F70E5A5}"/>
              </a:ext>
            </a:extLst>
          </p:cNvPr>
          <p:cNvSpPr txBox="1"/>
          <p:nvPr/>
        </p:nvSpPr>
        <p:spPr>
          <a:xfrm>
            <a:off x="178526" y="1339396"/>
            <a:ext cx="9650028" cy="646331"/>
          </a:xfrm>
          <a:prstGeom prst="rect">
            <a:avLst/>
          </a:prstGeom>
          <a:noFill/>
        </p:spPr>
        <p:txBody>
          <a:bodyPr wrap="square" rtlCol="0">
            <a:spAutoFit/>
          </a:bodyPr>
          <a:lstStyle/>
          <a:p>
            <a:r>
              <a:rPr lang="en-US" sz="3600" b="1" dirty="0">
                <a:solidFill>
                  <a:srgbClr val="1B415D"/>
                </a:solidFill>
              </a:rPr>
              <a:t>Approaches of Implementation </a:t>
            </a:r>
            <a:r>
              <a:rPr lang="en-US" b="1" dirty="0">
                <a:solidFill>
                  <a:srgbClr val="1B415D"/>
                </a:solidFill>
              </a:rPr>
              <a:t>[9] </a:t>
            </a:r>
            <a:r>
              <a:rPr lang="en-US" sz="3600" b="1" dirty="0">
                <a:solidFill>
                  <a:srgbClr val="1B415D"/>
                </a:solidFill>
              </a:rPr>
              <a:t>: Optimal</a:t>
            </a:r>
          </a:p>
        </p:txBody>
      </p:sp>
      <p:pic>
        <p:nvPicPr>
          <p:cNvPr id="51" name="Picture 50">
            <a:extLst>
              <a:ext uri="{FF2B5EF4-FFF2-40B4-BE49-F238E27FC236}">
                <a16:creationId xmlns:a16="http://schemas.microsoft.com/office/drawing/2014/main" id="{CFCDE129-5494-E17E-AD24-89EB9011960A}"/>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3216267" y="4331676"/>
            <a:ext cx="945088" cy="608375"/>
          </a:xfrm>
          <a:prstGeom prst="rect">
            <a:avLst/>
          </a:prstGeom>
        </p:spPr>
      </p:pic>
      <p:pic>
        <p:nvPicPr>
          <p:cNvPr id="52" name="Picture 51">
            <a:extLst>
              <a:ext uri="{FF2B5EF4-FFF2-40B4-BE49-F238E27FC236}">
                <a16:creationId xmlns:a16="http://schemas.microsoft.com/office/drawing/2014/main" id="{1704745C-3208-5F65-D0F3-1591AF2E4A8C}"/>
              </a:ext>
            </a:extLst>
          </p:cNvPr>
          <p:cNvPicPr>
            <a:picLocks noChangeAspect="1"/>
          </p:cNvPicPr>
          <p:nvPr/>
        </p:nvPicPr>
        <p:blipFill>
          <a:blip r:embed="rId10"/>
          <a:srcRect l="22961" t="57864" r="62119" b="30040"/>
          <a:stretch>
            <a:fillRect/>
          </a:stretch>
        </p:blipFill>
        <p:spPr>
          <a:xfrm>
            <a:off x="2780178" y="5427696"/>
            <a:ext cx="920785" cy="324800"/>
          </a:xfrm>
          <a:prstGeom prst="rect">
            <a:avLst/>
          </a:prstGeom>
        </p:spPr>
      </p:pic>
      <p:pic>
        <p:nvPicPr>
          <p:cNvPr id="53" name="Picture 52">
            <a:extLst>
              <a:ext uri="{FF2B5EF4-FFF2-40B4-BE49-F238E27FC236}">
                <a16:creationId xmlns:a16="http://schemas.microsoft.com/office/drawing/2014/main" id="{5BC97AD1-D9E9-65F9-7652-D9B14756FE7F}"/>
              </a:ext>
            </a:extLst>
          </p:cNvPr>
          <p:cNvPicPr>
            <a:picLocks noChangeAspect="1"/>
          </p:cNvPicPr>
          <p:nvPr/>
        </p:nvPicPr>
        <p:blipFill>
          <a:blip r:embed="rId11">
            <a:clrChange>
              <a:clrFrom>
                <a:srgbClr val="FEFEFC"/>
              </a:clrFrom>
              <a:clrTo>
                <a:srgbClr val="FEFEFC">
                  <a:alpha val="0"/>
                </a:srgbClr>
              </a:clrTo>
            </a:clrChange>
          </a:blip>
          <a:srcRect l="44569" t="30016" r="44627" b="57306"/>
          <a:stretch>
            <a:fillRect/>
          </a:stretch>
        </p:blipFill>
        <p:spPr>
          <a:xfrm>
            <a:off x="3999367" y="2981843"/>
            <a:ext cx="1218647" cy="622233"/>
          </a:xfrm>
          <a:prstGeom prst="rect">
            <a:avLst/>
          </a:prstGeom>
        </p:spPr>
      </p:pic>
      <p:pic>
        <p:nvPicPr>
          <p:cNvPr id="54" name="Picture 53">
            <a:extLst>
              <a:ext uri="{FF2B5EF4-FFF2-40B4-BE49-F238E27FC236}">
                <a16:creationId xmlns:a16="http://schemas.microsoft.com/office/drawing/2014/main" id="{F73E67B8-FD25-88D4-C125-54C31AF6649C}"/>
              </a:ext>
            </a:extLst>
          </p:cNvPr>
          <p:cNvPicPr>
            <a:picLocks noChangeAspect="1"/>
          </p:cNvPicPr>
          <p:nvPr/>
        </p:nvPicPr>
        <p:blipFill>
          <a:blip r:embed="rId8">
            <a:extLst>
              <a:ext uri="{BEBA8EAE-BF5A-486C-A8C5-ECC9F3942E4B}">
                <a14:imgProps xmlns:a14="http://schemas.microsoft.com/office/drawing/2010/main">
                  <a14:imgLayer r:embed="rId12">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5031275" y="4331675"/>
            <a:ext cx="945088" cy="608375"/>
          </a:xfrm>
          <a:prstGeom prst="rect">
            <a:avLst/>
          </a:prstGeom>
        </p:spPr>
      </p:pic>
      <p:cxnSp>
        <p:nvCxnSpPr>
          <p:cNvPr id="55" name="Straight Arrow Connector 54">
            <a:extLst>
              <a:ext uri="{FF2B5EF4-FFF2-40B4-BE49-F238E27FC236}">
                <a16:creationId xmlns:a16="http://schemas.microsoft.com/office/drawing/2014/main" id="{FA8994FD-38CA-B65C-45DC-7FA0E4CC4CCF}"/>
              </a:ext>
            </a:extLst>
          </p:cNvPr>
          <p:cNvCxnSpPr>
            <a:cxnSpLocks/>
            <a:stCxn id="54" idx="0"/>
            <a:endCxn id="53" idx="2"/>
          </p:cNvCxnSpPr>
          <p:nvPr/>
        </p:nvCxnSpPr>
        <p:spPr>
          <a:xfrm flipH="1" flipV="1">
            <a:off x="4608691" y="3604076"/>
            <a:ext cx="895128" cy="72759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6" name="Straight Arrow Connector 55">
            <a:extLst>
              <a:ext uri="{FF2B5EF4-FFF2-40B4-BE49-F238E27FC236}">
                <a16:creationId xmlns:a16="http://schemas.microsoft.com/office/drawing/2014/main" id="{3A3E9A68-2592-FF8D-0929-7D850C0814EB}"/>
              </a:ext>
            </a:extLst>
          </p:cNvPr>
          <p:cNvCxnSpPr>
            <a:cxnSpLocks/>
            <a:stCxn id="51" idx="0"/>
            <a:endCxn id="53" idx="2"/>
          </p:cNvCxnSpPr>
          <p:nvPr/>
        </p:nvCxnSpPr>
        <p:spPr>
          <a:xfrm flipV="1">
            <a:off x="3688811" y="3604076"/>
            <a:ext cx="919880" cy="72760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pic>
        <p:nvPicPr>
          <p:cNvPr id="57" name="Picture 56">
            <a:extLst>
              <a:ext uri="{FF2B5EF4-FFF2-40B4-BE49-F238E27FC236}">
                <a16:creationId xmlns:a16="http://schemas.microsoft.com/office/drawing/2014/main" id="{4829D5EE-0CF3-AA40-00E0-2BE91214B302}"/>
              </a:ext>
            </a:extLst>
          </p:cNvPr>
          <p:cNvPicPr>
            <a:picLocks noChangeAspect="1"/>
          </p:cNvPicPr>
          <p:nvPr/>
        </p:nvPicPr>
        <p:blipFill>
          <a:blip r:embed="rId10"/>
          <a:srcRect l="22961" t="57864" r="62119" b="30040"/>
          <a:stretch>
            <a:fillRect/>
          </a:stretch>
        </p:blipFill>
        <p:spPr>
          <a:xfrm>
            <a:off x="3700963" y="5427696"/>
            <a:ext cx="920785" cy="324800"/>
          </a:xfrm>
          <a:prstGeom prst="rect">
            <a:avLst/>
          </a:prstGeom>
        </p:spPr>
      </p:pic>
      <p:pic>
        <p:nvPicPr>
          <p:cNvPr id="58" name="Picture 57">
            <a:extLst>
              <a:ext uri="{FF2B5EF4-FFF2-40B4-BE49-F238E27FC236}">
                <a16:creationId xmlns:a16="http://schemas.microsoft.com/office/drawing/2014/main" id="{C617CF3B-4B3B-01B3-B66B-FBCACDEFFA15}"/>
              </a:ext>
            </a:extLst>
          </p:cNvPr>
          <p:cNvPicPr>
            <a:picLocks noChangeAspect="1"/>
          </p:cNvPicPr>
          <p:nvPr/>
        </p:nvPicPr>
        <p:blipFill>
          <a:blip r:embed="rId10"/>
          <a:srcRect l="22961" t="57864" r="62119" b="30040"/>
          <a:stretch>
            <a:fillRect/>
          </a:stretch>
        </p:blipFill>
        <p:spPr>
          <a:xfrm>
            <a:off x="4621748" y="5427695"/>
            <a:ext cx="920785" cy="324800"/>
          </a:xfrm>
          <a:prstGeom prst="rect">
            <a:avLst/>
          </a:prstGeom>
        </p:spPr>
      </p:pic>
      <p:pic>
        <p:nvPicPr>
          <p:cNvPr id="59" name="Picture 58">
            <a:extLst>
              <a:ext uri="{FF2B5EF4-FFF2-40B4-BE49-F238E27FC236}">
                <a16:creationId xmlns:a16="http://schemas.microsoft.com/office/drawing/2014/main" id="{31DC5ADB-9AC2-8FB2-9D87-F0B07CB0F86D}"/>
              </a:ext>
            </a:extLst>
          </p:cNvPr>
          <p:cNvPicPr>
            <a:picLocks noChangeAspect="1"/>
          </p:cNvPicPr>
          <p:nvPr/>
        </p:nvPicPr>
        <p:blipFill>
          <a:blip r:embed="rId10"/>
          <a:srcRect l="22961" t="57864" r="62119" b="30040"/>
          <a:stretch>
            <a:fillRect/>
          </a:stretch>
        </p:blipFill>
        <p:spPr>
          <a:xfrm>
            <a:off x="5542533" y="5427695"/>
            <a:ext cx="920785" cy="324800"/>
          </a:xfrm>
          <a:prstGeom prst="rect">
            <a:avLst/>
          </a:prstGeom>
        </p:spPr>
      </p:pic>
      <p:cxnSp>
        <p:nvCxnSpPr>
          <p:cNvPr id="60" name="Straight Arrow Connector 59">
            <a:extLst>
              <a:ext uri="{FF2B5EF4-FFF2-40B4-BE49-F238E27FC236}">
                <a16:creationId xmlns:a16="http://schemas.microsoft.com/office/drawing/2014/main" id="{A352E00F-776E-E2B1-359D-FF1822669938}"/>
              </a:ext>
            </a:extLst>
          </p:cNvPr>
          <p:cNvCxnSpPr>
            <a:cxnSpLocks/>
            <a:stCxn id="51" idx="2"/>
            <a:endCxn id="52" idx="0"/>
          </p:cNvCxnSpPr>
          <p:nvPr/>
        </p:nvCxnSpPr>
        <p:spPr>
          <a:xfrm flipH="1">
            <a:off x="3240571" y="4940051"/>
            <a:ext cx="448240"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1" name="Straight Arrow Connector 60">
            <a:extLst>
              <a:ext uri="{FF2B5EF4-FFF2-40B4-BE49-F238E27FC236}">
                <a16:creationId xmlns:a16="http://schemas.microsoft.com/office/drawing/2014/main" id="{7E90432C-004D-C635-563A-A49FD092F381}"/>
              </a:ext>
            </a:extLst>
          </p:cNvPr>
          <p:cNvCxnSpPr>
            <a:cxnSpLocks/>
            <a:stCxn id="54" idx="2"/>
            <a:endCxn id="58" idx="0"/>
          </p:cNvCxnSpPr>
          <p:nvPr/>
        </p:nvCxnSpPr>
        <p:spPr>
          <a:xfrm flipH="1">
            <a:off x="5082141" y="4940050"/>
            <a:ext cx="421678"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2" name="Straight Arrow Connector 61">
            <a:extLst>
              <a:ext uri="{FF2B5EF4-FFF2-40B4-BE49-F238E27FC236}">
                <a16:creationId xmlns:a16="http://schemas.microsoft.com/office/drawing/2014/main" id="{EA404A17-28C2-061B-0F46-DFCEB812978B}"/>
              </a:ext>
            </a:extLst>
          </p:cNvPr>
          <p:cNvCxnSpPr>
            <a:cxnSpLocks/>
            <a:stCxn id="51" idx="2"/>
            <a:endCxn id="57" idx="0"/>
          </p:cNvCxnSpPr>
          <p:nvPr/>
        </p:nvCxnSpPr>
        <p:spPr>
          <a:xfrm>
            <a:off x="3688811" y="4940051"/>
            <a:ext cx="472545"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3" name="Straight Arrow Connector 62">
            <a:extLst>
              <a:ext uri="{FF2B5EF4-FFF2-40B4-BE49-F238E27FC236}">
                <a16:creationId xmlns:a16="http://schemas.microsoft.com/office/drawing/2014/main" id="{F09AFE3E-118A-9C57-CC6F-7EA631E77D33}"/>
              </a:ext>
            </a:extLst>
          </p:cNvPr>
          <p:cNvCxnSpPr>
            <a:cxnSpLocks/>
            <a:stCxn id="54" idx="2"/>
            <a:endCxn id="59" idx="0"/>
          </p:cNvCxnSpPr>
          <p:nvPr/>
        </p:nvCxnSpPr>
        <p:spPr>
          <a:xfrm>
            <a:off x="5503819" y="4940050"/>
            <a:ext cx="499107"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3072" name="Picture 3071">
            <a:extLst>
              <a:ext uri="{FF2B5EF4-FFF2-40B4-BE49-F238E27FC236}">
                <a16:creationId xmlns:a16="http://schemas.microsoft.com/office/drawing/2014/main" id="{0C098D6B-4AEA-F297-BD63-8EB4A864BD7E}"/>
              </a:ext>
            </a:extLst>
          </p:cNvPr>
          <p:cNvPicPr>
            <a:picLocks noChangeAspect="1"/>
          </p:cNvPicPr>
          <p:nvPr/>
        </p:nvPicPr>
        <p:blipFill>
          <a:blip r:embed="rId8">
            <a:extLst>
              <a:ext uri="{BEBA8EAE-BF5A-486C-A8C5-ECC9F3942E4B}">
                <a14:imgProps xmlns:a14="http://schemas.microsoft.com/office/drawing/2010/main">
                  <a14:imgLayer r:embed="rId13">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8031484" y="4331677"/>
            <a:ext cx="945088" cy="608375"/>
          </a:xfrm>
          <a:prstGeom prst="rect">
            <a:avLst/>
          </a:prstGeom>
        </p:spPr>
      </p:pic>
      <p:pic>
        <p:nvPicPr>
          <p:cNvPr id="3073" name="Picture 3072">
            <a:extLst>
              <a:ext uri="{FF2B5EF4-FFF2-40B4-BE49-F238E27FC236}">
                <a16:creationId xmlns:a16="http://schemas.microsoft.com/office/drawing/2014/main" id="{E500C299-6788-7175-AE86-CBE84DA6E190}"/>
              </a:ext>
            </a:extLst>
          </p:cNvPr>
          <p:cNvPicPr>
            <a:picLocks noChangeAspect="1"/>
          </p:cNvPicPr>
          <p:nvPr/>
        </p:nvPicPr>
        <p:blipFill>
          <a:blip r:embed="rId10"/>
          <a:srcRect l="22961" t="57864" r="62119" b="30040"/>
          <a:stretch>
            <a:fillRect/>
          </a:stretch>
        </p:blipFill>
        <p:spPr>
          <a:xfrm>
            <a:off x="7595394" y="5427697"/>
            <a:ext cx="920785" cy="324800"/>
          </a:xfrm>
          <a:prstGeom prst="rect">
            <a:avLst/>
          </a:prstGeom>
        </p:spPr>
      </p:pic>
      <p:pic>
        <p:nvPicPr>
          <p:cNvPr id="3075" name="Picture 3074">
            <a:extLst>
              <a:ext uri="{FF2B5EF4-FFF2-40B4-BE49-F238E27FC236}">
                <a16:creationId xmlns:a16="http://schemas.microsoft.com/office/drawing/2014/main" id="{9CB2A48D-D4B4-8748-F326-2160083E9B9D}"/>
              </a:ext>
            </a:extLst>
          </p:cNvPr>
          <p:cNvPicPr>
            <a:picLocks noChangeAspect="1"/>
          </p:cNvPicPr>
          <p:nvPr/>
        </p:nvPicPr>
        <p:blipFill>
          <a:blip r:embed="rId11">
            <a:clrChange>
              <a:clrFrom>
                <a:srgbClr val="FEFEFC"/>
              </a:clrFrom>
              <a:clrTo>
                <a:srgbClr val="FEFEFC">
                  <a:alpha val="0"/>
                </a:srgbClr>
              </a:clrTo>
            </a:clrChange>
          </a:blip>
          <a:srcRect l="44569" t="30016" r="44627" b="57306"/>
          <a:stretch>
            <a:fillRect/>
          </a:stretch>
        </p:blipFill>
        <p:spPr>
          <a:xfrm>
            <a:off x="8814584" y="2981844"/>
            <a:ext cx="1218647" cy="622233"/>
          </a:xfrm>
          <a:prstGeom prst="rect">
            <a:avLst/>
          </a:prstGeom>
        </p:spPr>
      </p:pic>
      <p:pic>
        <p:nvPicPr>
          <p:cNvPr id="3076" name="Picture 3075">
            <a:extLst>
              <a:ext uri="{FF2B5EF4-FFF2-40B4-BE49-F238E27FC236}">
                <a16:creationId xmlns:a16="http://schemas.microsoft.com/office/drawing/2014/main" id="{D99FA006-EADD-E881-5856-2DADC19F5067}"/>
              </a:ext>
            </a:extLst>
          </p:cNvPr>
          <p:cNvPicPr>
            <a:picLocks noChangeAspect="1"/>
          </p:cNvPicPr>
          <p:nvPr/>
        </p:nvPicPr>
        <p:blipFill>
          <a:blip r:embed="rId8">
            <a:extLst>
              <a:ext uri="{BEBA8EAE-BF5A-486C-A8C5-ECC9F3942E4B}">
                <a14:imgProps xmlns:a14="http://schemas.microsoft.com/office/drawing/2010/main">
                  <a14:imgLayer r:embed="rId14">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9846491" y="4331676"/>
            <a:ext cx="945088" cy="608375"/>
          </a:xfrm>
          <a:prstGeom prst="rect">
            <a:avLst/>
          </a:prstGeom>
        </p:spPr>
      </p:pic>
      <p:cxnSp>
        <p:nvCxnSpPr>
          <p:cNvPr id="3077" name="Straight Arrow Connector 3076">
            <a:extLst>
              <a:ext uri="{FF2B5EF4-FFF2-40B4-BE49-F238E27FC236}">
                <a16:creationId xmlns:a16="http://schemas.microsoft.com/office/drawing/2014/main" id="{B94E6A97-1BDB-C8C9-CF01-3BFDEB1AACC3}"/>
              </a:ext>
            </a:extLst>
          </p:cNvPr>
          <p:cNvCxnSpPr>
            <a:cxnSpLocks/>
            <a:stCxn id="3076" idx="0"/>
            <a:endCxn id="3075" idx="2"/>
          </p:cNvCxnSpPr>
          <p:nvPr/>
        </p:nvCxnSpPr>
        <p:spPr>
          <a:xfrm flipH="1" flipV="1">
            <a:off x="9423908" y="3604077"/>
            <a:ext cx="895127" cy="72759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78" name="Straight Arrow Connector 3077">
            <a:extLst>
              <a:ext uri="{FF2B5EF4-FFF2-40B4-BE49-F238E27FC236}">
                <a16:creationId xmlns:a16="http://schemas.microsoft.com/office/drawing/2014/main" id="{2EBB983C-8F66-5CD1-880A-C1B2A1AE0645}"/>
              </a:ext>
            </a:extLst>
          </p:cNvPr>
          <p:cNvCxnSpPr>
            <a:cxnSpLocks/>
            <a:stCxn id="3072" idx="0"/>
            <a:endCxn id="3075" idx="2"/>
          </p:cNvCxnSpPr>
          <p:nvPr/>
        </p:nvCxnSpPr>
        <p:spPr>
          <a:xfrm flipV="1">
            <a:off x="8504028" y="3604077"/>
            <a:ext cx="919880" cy="72760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pic>
        <p:nvPicPr>
          <p:cNvPr id="3079" name="Picture 3078">
            <a:extLst>
              <a:ext uri="{FF2B5EF4-FFF2-40B4-BE49-F238E27FC236}">
                <a16:creationId xmlns:a16="http://schemas.microsoft.com/office/drawing/2014/main" id="{C99D2792-CE4D-5527-2FBE-EDD19EA71E44}"/>
              </a:ext>
            </a:extLst>
          </p:cNvPr>
          <p:cNvPicPr>
            <a:picLocks noChangeAspect="1"/>
          </p:cNvPicPr>
          <p:nvPr/>
        </p:nvPicPr>
        <p:blipFill>
          <a:blip r:embed="rId10"/>
          <a:srcRect l="22961" t="57864" r="62119" b="30040"/>
          <a:stretch>
            <a:fillRect/>
          </a:stretch>
        </p:blipFill>
        <p:spPr>
          <a:xfrm>
            <a:off x="8516179" y="5427697"/>
            <a:ext cx="920785" cy="324800"/>
          </a:xfrm>
          <a:prstGeom prst="rect">
            <a:avLst/>
          </a:prstGeom>
        </p:spPr>
      </p:pic>
      <p:pic>
        <p:nvPicPr>
          <p:cNvPr id="3080" name="Picture 3079">
            <a:extLst>
              <a:ext uri="{FF2B5EF4-FFF2-40B4-BE49-F238E27FC236}">
                <a16:creationId xmlns:a16="http://schemas.microsoft.com/office/drawing/2014/main" id="{98B655B0-CFC5-04EC-F34F-DE1C54181892}"/>
              </a:ext>
            </a:extLst>
          </p:cNvPr>
          <p:cNvPicPr>
            <a:picLocks noChangeAspect="1"/>
          </p:cNvPicPr>
          <p:nvPr/>
        </p:nvPicPr>
        <p:blipFill>
          <a:blip r:embed="rId10"/>
          <a:srcRect l="22961" t="57864" r="62119" b="30040"/>
          <a:stretch>
            <a:fillRect/>
          </a:stretch>
        </p:blipFill>
        <p:spPr>
          <a:xfrm>
            <a:off x="9436964" y="5427696"/>
            <a:ext cx="920785" cy="324800"/>
          </a:xfrm>
          <a:prstGeom prst="rect">
            <a:avLst/>
          </a:prstGeom>
        </p:spPr>
      </p:pic>
      <p:pic>
        <p:nvPicPr>
          <p:cNvPr id="3081" name="Picture 3080">
            <a:extLst>
              <a:ext uri="{FF2B5EF4-FFF2-40B4-BE49-F238E27FC236}">
                <a16:creationId xmlns:a16="http://schemas.microsoft.com/office/drawing/2014/main" id="{4F3EE232-55B7-0F5F-2052-2517ED82998D}"/>
              </a:ext>
            </a:extLst>
          </p:cNvPr>
          <p:cNvPicPr>
            <a:picLocks noChangeAspect="1"/>
          </p:cNvPicPr>
          <p:nvPr/>
        </p:nvPicPr>
        <p:blipFill>
          <a:blip r:embed="rId10"/>
          <a:srcRect l="22961" t="57864" r="62119" b="30040"/>
          <a:stretch>
            <a:fillRect/>
          </a:stretch>
        </p:blipFill>
        <p:spPr>
          <a:xfrm>
            <a:off x="10357749" y="5427696"/>
            <a:ext cx="920785" cy="324800"/>
          </a:xfrm>
          <a:prstGeom prst="rect">
            <a:avLst/>
          </a:prstGeom>
        </p:spPr>
      </p:pic>
      <p:cxnSp>
        <p:nvCxnSpPr>
          <p:cNvPr id="3082" name="Straight Arrow Connector 3081">
            <a:extLst>
              <a:ext uri="{FF2B5EF4-FFF2-40B4-BE49-F238E27FC236}">
                <a16:creationId xmlns:a16="http://schemas.microsoft.com/office/drawing/2014/main" id="{07B31CEA-16EA-2BE0-41B2-2EF5027E138F}"/>
              </a:ext>
            </a:extLst>
          </p:cNvPr>
          <p:cNvCxnSpPr>
            <a:cxnSpLocks/>
            <a:stCxn id="3072" idx="2"/>
            <a:endCxn id="3073" idx="0"/>
          </p:cNvCxnSpPr>
          <p:nvPr/>
        </p:nvCxnSpPr>
        <p:spPr>
          <a:xfrm flipH="1">
            <a:off x="8055787" y="4940052"/>
            <a:ext cx="448241"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3" name="Straight Arrow Connector 3082">
            <a:extLst>
              <a:ext uri="{FF2B5EF4-FFF2-40B4-BE49-F238E27FC236}">
                <a16:creationId xmlns:a16="http://schemas.microsoft.com/office/drawing/2014/main" id="{27FBA0FC-DEA7-2828-988B-4FB78DB2DE98}"/>
              </a:ext>
            </a:extLst>
          </p:cNvPr>
          <p:cNvCxnSpPr>
            <a:cxnSpLocks/>
            <a:stCxn id="3076" idx="2"/>
            <a:endCxn id="3080" idx="0"/>
          </p:cNvCxnSpPr>
          <p:nvPr/>
        </p:nvCxnSpPr>
        <p:spPr>
          <a:xfrm flipH="1">
            <a:off x="9897357" y="4940051"/>
            <a:ext cx="421678"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4" name="Straight Arrow Connector 3083">
            <a:extLst>
              <a:ext uri="{FF2B5EF4-FFF2-40B4-BE49-F238E27FC236}">
                <a16:creationId xmlns:a16="http://schemas.microsoft.com/office/drawing/2014/main" id="{4D1E0BC4-33F4-6EAF-0300-82A1ED3D97D3}"/>
              </a:ext>
            </a:extLst>
          </p:cNvPr>
          <p:cNvCxnSpPr>
            <a:cxnSpLocks/>
            <a:stCxn id="3072" idx="2"/>
            <a:endCxn id="3079" idx="0"/>
          </p:cNvCxnSpPr>
          <p:nvPr/>
        </p:nvCxnSpPr>
        <p:spPr>
          <a:xfrm>
            <a:off x="8504028" y="4940052"/>
            <a:ext cx="472544"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5" name="Straight Arrow Connector 3084">
            <a:extLst>
              <a:ext uri="{FF2B5EF4-FFF2-40B4-BE49-F238E27FC236}">
                <a16:creationId xmlns:a16="http://schemas.microsoft.com/office/drawing/2014/main" id="{C89C9BA7-9271-3F13-D517-50921DFC3A79}"/>
              </a:ext>
            </a:extLst>
          </p:cNvPr>
          <p:cNvCxnSpPr>
            <a:cxnSpLocks/>
            <a:stCxn id="3076" idx="2"/>
            <a:endCxn id="3081" idx="0"/>
          </p:cNvCxnSpPr>
          <p:nvPr/>
        </p:nvCxnSpPr>
        <p:spPr>
          <a:xfrm>
            <a:off x="10319035" y="4940051"/>
            <a:ext cx="499107"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092" name="TextBox 3091">
            <a:extLst>
              <a:ext uri="{FF2B5EF4-FFF2-40B4-BE49-F238E27FC236}">
                <a16:creationId xmlns:a16="http://schemas.microsoft.com/office/drawing/2014/main" id="{A8FD345B-D4D4-32BA-9682-A99B55FD1818}"/>
              </a:ext>
            </a:extLst>
          </p:cNvPr>
          <p:cNvSpPr txBox="1"/>
          <p:nvPr/>
        </p:nvSpPr>
        <p:spPr>
          <a:xfrm>
            <a:off x="6590931" y="2106831"/>
            <a:ext cx="890837" cy="327303"/>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TOTAL</a:t>
            </a:r>
          </a:p>
        </p:txBody>
      </p:sp>
      <p:cxnSp>
        <p:nvCxnSpPr>
          <p:cNvPr id="3093" name="Straight Arrow Connector 3092">
            <a:extLst>
              <a:ext uri="{FF2B5EF4-FFF2-40B4-BE49-F238E27FC236}">
                <a16:creationId xmlns:a16="http://schemas.microsoft.com/office/drawing/2014/main" id="{4A5F9B5E-9F43-A6A2-68D6-FEBBB50B7A29}"/>
              </a:ext>
            </a:extLst>
          </p:cNvPr>
          <p:cNvCxnSpPr>
            <a:cxnSpLocks/>
            <a:stCxn id="53" idx="0"/>
            <a:endCxn id="3092" idx="2"/>
          </p:cNvCxnSpPr>
          <p:nvPr/>
        </p:nvCxnSpPr>
        <p:spPr>
          <a:xfrm flipV="1">
            <a:off x="4608691" y="2434134"/>
            <a:ext cx="2427659" cy="54770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94" name="Straight Arrow Connector 3093">
            <a:extLst>
              <a:ext uri="{FF2B5EF4-FFF2-40B4-BE49-F238E27FC236}">
                <a16:creationId xmlns:a16="http://schemas.microsoft.com/office/drawing/2014/main" id="{67F2DB60-5790-F786-D596-55E6A41FEAD0}"/>
              </a:ext>
            </a:extLst>
          </p:cNvPr>
          <p:cNvCxnSpPr>
            <a:cxnSpLocks/>
            <a:stCxn id="3075" idx="0"/>
            <a:endCxn id="3092" idx="2"/>
          </p:cNvCxnSpPr>
          <p:nvPr/>
        </p:nvCxnSpPr>
        <p:spPr>
          <a:xfrm flipH="1" flipV="1">
            <a:off x="7036350" y="2434134"/>
            <a:ext cx="2387558" cy="54771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95" name="Straight Arrow Connector 3094">
            <a:extLst>
              <a:ext uri="{FF2B5EF4-FFF2-40B4-BE49-F238E27FC236}">
                <a16:creationId xmlns:a16="http://schemas.microsoft.com/office/drawing/2014/main" id="{5F1D70A3-96B3-BC4B-6767-3E72AFC85192}"/>
              </a:ext>
            </a:extLst>
          </p:cNvPr>
          <p:cNvCxnSpPr>
            <a:cxnSpLocks/>
          </p:cNvCxnSpPr>
          <p:nvPr/>
        </p:nvCxnSpPr>
        <p:spPr>
          <a:xfrm>
            <a:off x="370806" y="4717541"/>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099" name="TextBox 3098">
            <a:extLst>
              <a:ext uri="{FF2B5EF4-FFF2-40B4-BE49-F238E27FC236}">
                <a16:creationId xmlns:a16="http://schemas.microsoft.com/office/drawing/2014/main" id="{BEB1F6AF-A200-1688-AA34-6E6A174E1BD4}"/>
              </a:ext>
            </a:extLst>
          </p:cNvPr>
          <p:cNvSpPr txBox="1"/>
          <p:nvPr/>
        </p:nvSpPr>
        <p:spPr>
          <a:xfrm>
            <a:off x="632069" y="4193969"/>
            <a:ext cx="1536703" cy="523220"/>
          </a:xfrm>
          <a:prstGeom prst="rect">
            <a:avLst/>
          </a:prstGeom>
          <a:noFill/>
        </p:spPr>
        <p:txBody>
          <a:bodyPr wrap="none" rtlCol="0">
            <a:spAutoFit/>
          </a:bodyPr>
          <a:lstStyle/>
          <a:p>
            <a:r>
              <a:rPr lang="en-US" sz="2800" dirty="0">
                <a:solidFill>
                  <a:srgbClr val="1B415D"/>
                </a:solidFill>
              </a:rPr>
              <a:t>Forecast</a:t>
            </a:r>
          </a:p>
        </p:txBody>
      </p:sp>
      <p:sp>
        <p:nvSpPr>
          <p:cNvPr id="3088" name="TextBox 3087">
            <a:extLst>
              <a:ext uri="{FF2B5EF4-FFF2-40B4-BE49-F238E27FC236}">
                <a16:creationId xmlns:a16="http://schemas.microsoft.com/office/drawing/2014/main" id="{462ABB72-0226-4E23-A593-A7812330FECC}"/>
              </a:ext>
            </a:extLst>
          </p:cNvPr>
          <p:cNvSpPr txBox="1"/>
          <p:nvPr/>
        </p:nvSpPr>
        <p:spPr>
          <a:xfrm>
            <a:off x="4443495" y="3602780"/>
            <a:ext cx="308098" cy="369332"/>
          </a:xfrm>
          <a:prstGeom prst="rect">
            <a:avLst/>
          </a:prstGeom>
          <a:noFill/>
        </p:spPr>
        <p:txBody>
          <a:bodyPr wrap="none" rtlCol="0">
            <a:spAutoFit/>
          </a:bodyPr>
          <a:lstStyle/>
          <a:p>
            <a:r>
              <a:rPr lang="en-US" dirty="0"/>
              <a:t>+</a:t>
            </a:r>
          </a:p>
        </p:txBody>
      </p:sp>
      <p:sp>
        <p:nvSpPr>
          <p:cNvPr id="3098" name="TextBox 3097">
            <a:extLst>
              <a:ext uri="{FF2B5EF4-FFF2-40B4-BE49-F238E27FC236}">
                <a16:creationId xmlns:a16="http://schemas.microsoft.com/office/drawing/2014/main" id="{305B50AB-EEDA-FBD2-B3D3-C459B6439A66}"/>
              </a:ext>
            </a:extLst>
          </p:cNvPr>
          <p:cNvSpPr txBox="1"/>
          <p:nvPr/>
        </p:nvSpPr>
        <p:spPr>
          <a:xfrm>
            <a:off x="9282915" y="3602780"/>
            <a:ext cx="308098" cy="369332"/>
          </a:xfrm>
          <a:prstGeom prst="rect">
            <a:avLst/>
          </a:prstGeom>
          <a:noFill/>
        </p:spPr>
        <p:txBody>
          <a:bodyPr wrap="none" rtlCol="0">
            <a:spAutoFit/>
          </a:bodyPr>
          <a:lstStyle/>
          <a:p>
            <a:r>
              <a:rPr lang="en-US" dirty="0"/>
              <a:t>+</a:t>
            </a:r>
          </a:p>
        </p:txBody>
      </p:sp>
      <p:sp>
        <p:nvSpPr>
          <p:cNvPr id="3100" name="TextBox 3099">
            <a:extLst>
              <a:ext uri="{FF2B5EF4-FFF2-40B4-BE49-F238E27FC236}">
                <a16:creationId xmlns:a16="http://schemas.microsoft.com/office/drawing/2014/main" id="{2BEB42FC-E202-F4C6-91AB-B3310EC4CF5B}"/>
              </a:ext>
            </a:extLst>
          </p:cNvPr>
          <p:cNvSpPr txBox="1"/>
          <p:nvPr/>
        </p:nvSpPr>
        <p:spPr>
          <a:xfrm>
            <a:off x="6878864" y="2405652"/>
            <a:ext cx="308098"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42041194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BA81F-1A90-B0E8-1347-2370CF3ABC0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A2B9174-AB4B-533D-A4AE-BBC2A78471B1}"/>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A7FBCEA3-83E7-CBC9-DD36-3FEA4760C888}"/>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CFE39BD8-6CDB-F5A2-7ECF-5167BBC5BF8F}"/>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9DF14D52-3BC7-4D3F-D726-47168E6FBC3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8CB61959-928D-B34A-600A-3F0B85B443B0}"/>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A201CADA-4D43-DDF0-6B12-459F47416BBC}"/>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1A9A0CD1-AF4C-4062-DE92-E19905003C7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8F3B058F-B0CB-A9F1-8236-74153A14346A}"/>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A44AEE1C-5540-BA0F-79F5-2D8239411FC4}"/>
              </a:ext>
            </a:extLst>
          </p:cNvPr>
          <p:cNvSpPr txBox="1"/>
          <p:nvPr/>
        </p:nvSpPr>
        <p:spPr>
          <a:xfrm>
            <a:off x="178525" y="1339396"/>
            <a:ext cx="11307325" cy="646331"/>
          </a:xfrm>
          <a:prstGeom prst="rect">
            <a:avLst/>
          </a:prstGeom>
          <a:noFill/>
        </p:spPr>
        <p:txBody>
          <a:bodyPr wrap="square" rtlCol="0">
            <a:spAutoFit/>
          </a:bodyPr>
          <a:lstStyle/>
          <a:p>
            <a:r>
              <a:rPr lang="en-US" sz="3600" b="1" dirty="0">
                <a:solidFill>
                  <a:srgbClr val="1B415D"/>
                </a:solidFill>
              </a:rPr>
              <a:t>Approaches of Implementation </a:t>
            </a:r>
            <a:r>
              <a:rPr lang="en-US" b="1" dirty="0">
                <a:solidFill>
                  <a:srgbClr val="1B415D"/>
                </a:solidFill>
              </a:rPr>
              <a:t>[10]</a:t>
            </a:r>
            <a:r>
              <a:rPr lang="en-US" sz="3600" b="1" dirty="0">
                <a:solidFill>
                  <a:srgbClr val="1B415D"/>
                </a:solidFill>
              </a:rPr>
              <a:t> : Optimal Solution</a:t>
            </a:r>
          </a:p>
        </p:txBody>
      </p:sp>
      <p:pic>
        <p:nvPicPr>
          <p:cNvPr id="51" name="Picture 50">
            <a:extLst>
              <a:ext uri="{FF2B5EF4-FFF2-40B4-BE49-F238E27FC236}">
                <a16:creationId xmlns:a16="http://schemas.microsoft.com/office/drawing/2014/main" id="{AB86641E-4DBD-344C-AB51-7BD295664293}"/>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3216267" y="4331676"/>
            <a:ext cx="945088" cy="608375"/>
          </a:xfrm>
          <a:prstGeom prst="rect">
            <a:avLst/>
          </a:prstGeom>
        </p:spPr>
      </p:pic>
      <p:pic>
        <p:nvPicPr>
          <p:cNvPr id="52" name="Picture 51">
            <a:extLst>
              <a:ext uri="{FF2B5EF4-FFF2-40B4-BE49-F238E27FC236}">
                <a16:creationId xmlns:a16="http://schemas.microsoft.com/office/drawing/2014/main" id="{F086249B-A787-B95C-FDE3-5D1FBC813B2A}"/>
              </a:ext>
            </a:extLst>
          </p:cNvPr>
          <p:cNvPicPr>
            <a:picLocks noChangeAspect="1"/>
          </p:cNvPicPr>
          <p:nvPr/>
        </p:nvPicPr>
        <p:blipFill>
          <a:blip r:embed="rId10"/>
          <a:srcRect l="22961" t="57864" r="62119" b="30040"/>
          <a:stretch>
            <a:fillRect/>
          </a:stretch>
        </p:blipFill>
        <p:spPr>
          <a:xfrm>
            <a:off x="2780178" y="5427696"/>
            <a:ext cx="920785" cy="324800"/>
          </a:xfrm>
          <a:prstGeom prst="rect">
            <a:avLst/>
          </a:prstGeom>
        </p:spPr>
      </p:pic>
      <p:pic>
        <p:nvPicPr>
          <p:cNvPr id="53" name="Picture 52">
            <a:extLst>
              <a:ext uri="{FF2B5EF4-FFF2-40B4-BE49-F238E27FC236}">
                <a16:creationId xmlns:a16="http://schemas.microsoft.com/office/drawing/2014/main" id="{88D01243-5CFE-CF20-8BC1-D7672364DB4C}"/>
              </a:ext>
            </a:extLst>
          </p:cNvPr>
          <p:cNvPicPr>
            <a:picLocks noChangeAspect="1"/>
          </p:cNvPicPr>
          <p:nvPr/>
        </p:nvPicPr>
        <p:blipFill>
          <a:blip r:embed="rId11">
            <a:clrChange>
              <a:clrFrom>
                <a:srgbClr val="FEFEFC"/>
              </a:clrFrom>
              <a:clrTo>
                <a:srgbClr val="FEFEFC">
                  <a:alpha val="0"/>
                </a:srgbClr>
              </a:clrTo>
            </a:clrChange>
          </a:blip>
          <a:srcRect l="44569" t="30016" r="44627" b="57306"/>
          <a:stretch>
            <a:fillRect/>
          </a:stretch>
        </p:blipFill>
        <p:spPr>
          <a:xfrm>
            <a:off x="3999367" y="2981843"/>
            <a:ext cx="1218647" cy="622233"/>
          </a:xfrm>
          <a:prstGeom prst="rect">
            <a:avLst/>
          </a:prstGeom>
        </p:spPr>
      </p:pic>
      <p:pic>
        <p:nvPicPr>
          <p:cNvPr id="54" name="Picture 53">
            <a:extLst>
              <a:ext uri="{FF2B5EF4-FFF2-40B4-BE49-F238E27FC236}">
                <a16:creationId xmlns:a16="http://schemas.microsoft.com/office/drawing/2014/main" id="{2C7F056F-F8BB-0405-63CB-AEEB32AD5754}"/>
              </a:ext>
            </a:extLst>
          </p:cNvPr>
          <p:cNvPicPr>
            <a:picLocks noChangeAspect="1"/>
          </p:cNvPicPr>
          <p:nvPr/>
        </p:nvPicPr>
        <p:blipFill>
          <a:blip r:embed="rId8">
            <a:extLst>
              <a:ext uri="{BEBA8EAE-BF5A-486C-A8C5-ECC9F3942E4B}">
                <a14:imgProps xmlns:a14="http://schemas.microsoft.com/office/drawing/2010/main">
                  <a14:imgLayer r:embed="rId12">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5031275" y="4331675"/>
            <a:ext cx="945088" cy="608375"/>
          </a:xfrm>
          <a:prstGeom prst="rect">
            <a:avLst/>
          </a:prstGeom>
        </p:spPr>
      </p:pic>
      <p:cxnSp>
        <p:nvCxnSpPr>
          <p:cNvPr id="55" name="Straight Arrow Connector 54">
            <a:extLst>
              <a:ext uri="{FF2B5EF4-FFF2-40B4-BE49-F238E27FC236}">
                <a16:creationId xmlns:a16="http://schemas.microsoft.com/office/drawing/2014/main" id="{FB3EEC17-8C20-A393-F9DB-B95104AE8FC3}"/>
              </a:ext>
            </a:extLst>
          </p:cNvPr>
          <p:cNvCxnSpPr>
            <a:cxnSpLocks/>
            <a:stCxn id="54" idx="0"/>
            <a:endCxn id="53" idx="2"/>
          </p:cNvCxnSpPr>
          <p:nvPr/>
        </p:nvCxnSpPr>
        <p:spPr>
          <a:xfrm flipH="1" flipV="1">
            <a:off x="4608691" y="3604076"/>
            <a:ext cx="895128" cy="72759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6" name="Straight Arrow Connector 55">
            <a:extLst>
              <a:ext uri="{FF2B5EF4-FFF2-40B4-BE49-F238E27FC236}">
                <a16:creationId xmlns:a16="http://schemas.microsoft.com/office/drawing/2014/main" id="{F2A0B03F-7E6B-A8DB-229D-7941DFDE7A4A}"/>
              </a:ext>
            </a:extLst>
          </p:cNvPr>
          <p:cNvCxnSpPr>
            <a:cxnSpLocks/>
          </p:cNvCxnSpPr>
          <p:nvPr/>
        </p:nvCxnSpPr>
        <p:spPr>
          <a:xfrm flipV="1">
            <a:off x="3589955" y="3628790"/>
            <a:ext cx="919880" cy="72760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pic>
        <p:nvPicPr>
          <p:cNvPr id="57" name="Picture 56">
            <a:extLst>
              <a:ext uri="{FF2B5EF4-FFF2-40B4-BE49-F238E27FC236}">
                <a16:creationId xmlns:a16="http://schemas.microsoft.com/office/drawing/2014/main" id="{9DDBEDA5-D02F-FDE9-5D06-2467FC093581}"/>
              </a:ext>
            </a:extLst>
          </p:cNvPr>
          <p:cNvPicPr>
            <a:picLocks noChangeAspect="1"/>
          </p:cNvPicPr>
          <p:nvPr/>
        </p:nvPicPr>
        <p:blipFill>
          <a:blip r:embed="rId10"/>
          <a:srcRect l="22961" t="57864" r="62119" b="30040"/>
          <a:stretch>
            <a:fillRect/>
          </a:stretch>
        </p:blipFill>
        <p:spPr>
          <a:xfrm>
            <a:off x="3700963" y="5427696"/>
            <a:ext cx="920785" cy="324800"/>
          </a:xfrm>
          <a:prstGeom prst="rect">
            <a:avLst/>
          </a:prstGeom>
        </p:spPr>
      </p:pic>
      <p:pic>
        <p:nvPicPr>
          <p:cNvPr id="58" name="Picture 57">
            <a:extLst>
              <a:ext uri="{FF2B5EF4-FFF2-40B4-BE49-F238E27FC236}">
                <a16:creationId xmlns:a16="http://schemas.microsoft.com/office/drawing/2014/main" id="{42730D43-9E5F-DF02-B223-73EA287B28EF}"/>
              </a:ext>
            </a:extLst>
          </p:cNvPr>
          <p:cNvPicPr>
            <a:picLocks noChangeAspect="1"/>
          </p:cNvPicPr>
          <p:nvPr/>
        </p:nvPicPr>
        <p:blipFill>
          <a:blip r:embed="rId10"/>
          <a:srcRect l="22961" t="57864" r="62119" b="30040"/>
          <a:stretch>
            <a:fillRect/>
          </a:stretch>
        </p:blipFill>
        <p:spPr>
          <a:xfrm>
            <a:off x="4621748" y="5427695"/>
            <a:ext cx="920785" cy="324800"/>
          </a:xfrm>
          <a:prstGeom prst="rect">
            <a:avLst/>
          </a:prstGeom>
        </p:spPr>
      </p:pic>
      <p:pic>
        <p:nvPicPr>
          <p:cNvPr id="59" name="Picture 58">
            <a:extLst>
              <a:ext uri="{FF2B5EF4-FFF2-40B4-BE49-F238E27FC236}">
                <a16:creationId xmlns:a16="http://schemas.microsoft.com/office/drawing/2014/main" id="{B387A384-716C-65C7-E111-DE0D2C076529}"/>
              </a:ext>
            </a:extLst>
          </p:cNvPr>
          <p:cNvPicPr>
            <a:picLocks noChangeAspect="1"/>
          </p:cNvPicPr>
          <p:nvPr/>
        </p:nvPicPr>
        <p:blipFill>
          <a:blip r:embed="rId10"/>
          <a:srcRect l="22961" t="57864" r="62119" b="30040"/>
          <a:stretch>
            <a:fillRect/>
          </a:stretch>
        </p:blipFill>
        <p:spPr>
          <a:xfrm>
            <a:off x="5542533" y="5427695"/>
            <a:ext cx="920785" cy="324800"/>
          </a:xfrm>
          <a:prstGeom prst="rect">
            <a:avLst/>
          </a:prstGeom>
        </p:spPr>
      </p:pic>
      <p:cxnSp>
        <p:nvCxnSpPr>
          <p:cNvPr id="60" name="Straight Arrow Connector 59">
            <a:extLst>
              <a:ext uri="{FF2B5EF4-FFF2-40B4-BE49-F238E27FC236}">
                <a16:creationId xmlns:a16="http://schemas.microsoft.com/office/drawing/2014/main" id="{0E79ACE0-22BB-ACF9-E243-5816812F2DFC}"/>
              </a:ext>
            </a:extLst>
          </p:cNvPr>
          <p:cNvCxnSpPr>
            <a:cxnSpLocks/>
            <a:stCxn id="51" idx="2"/>
            <a:endCxn id="52" idx="0"/>
          </p:cNvCxnSpPr>
          <p:nvPr/>
        </p:nvCxnSpPr>
        <p:spPr>
          <a:xfrm flipH="1">
            <a:off x="3240571" y="4940051"/>
            <a:ext cx="448240"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1" name="Straight Arrow Connector 60">
            <a:extLst>
              <a:ext uri="{FF2B5EF4-FFF2-40B4-BE49-F238E27FC236}">
                <a16:creationId xmlns:a16="http://schemas.microsoft.com/office/drawing/2014/main" id="{2145A9C4-2A5B-B2CC-1DA5-22D7D96A5ACD}"/>
              </a:ext>
            </a:extLst>
          </p:cNvPr>
          <p:cNvCxnSpPr>
            <a:cxnSpLocks/>
            <a:stCxn id="54" idx="2"/>
            <a:endCxn id="58" idx="0"/>
          </p:cNvCxnSpPr>
          <p:nvPr/>
        </p:nvCxnSpPr>
        <p:spPr>
          <a:xfrm flipH="1">
            <a:off x="5082141" y="4940050"/>
            <a:ext cx="421678"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2" name="Straight Arrow Connector 61">
            <a:extLst>
              <a:ext uri="{FF2B5EF4-FFF2-40B4-BE49-F238E27FC236}">
                <a16:creationId xmlns:a16="http://schemas.microsoft.com/office/drawing/2014/main" id="{76776E72-C2C4-D2FA-CD21-47C391E75FF6}"/>
              </a:ext>
            </a:extLst>
          </p:cNvPr>
          <p:cNvCxnSpPr>
            <a:cxnSpLocks/>
            <a:stCxn id="51" idx="2"/>
            <a:endCxn id="57" idx="0"/>
          </p:cNvCxnSpPr>
          <p:nvPr/>
        </p:nvCxnSpPr>
        <p:spPr>
          <a:xfrm>
            <a:off x="3688811" y="4940051"/>
            <a:ext cx="472545"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3" name="Straight Arrow Connector 62">
            <a:extLst>
              <a:ext uri="{FF2B5EF4-FFF2-40B4-BE49-F238E27FC236}">
                <a16:creationId xmlns:a16="http://schemas.microsoft.com/office/drawing/2014/main" id="{F5B8C2D1-4587-C12B-54C5-0D1B30384F04}"/>
              </a:ext>
            </a:extLst>
          </p:cNvPr>
          <p:cNvCxnSpPr>
            <a:cxnSpLocks/>
            <a:stCxn id="54" idx="2"/>
            <a:endCxn id="59" idx="0"/>
          </p:cNvCxnSpPr>
          <p:nvPr/>
        </p:nvCxnSpPr>
        <p:spPr>
          <a:xfrm>
            <a:off x="5503819" y="4940050"/>
            <a:ext cx="499107"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3072" name="Picture 3071">
            <a:extLst>
              <a:ext uri="{FF2B5EF4-FFF2-40B4-BE49-F238E27FC236}">
                <a16:creationId xmlns:a16="http://schemas.microsoft.com/office/drawing/2014/main" id="{11CFE18B-333C-E6CE-971E-452D1E940229}"/>
              </a:ext>
            </a:extLst>
          </p:cNvPr>
          <p:cNvPicPr>
            <a:picLocks noChangeAspect="1"/>
          </p:cNvPicPr>
          <p:nvPr/>
        </p:nvPicPr>
        <p:blipFill>
          <a:blip r:embed="rId8">
            <a:extLst>
              <a:ext uri="{BEBA8EAE-BF5A-486C-A8C5-ECC9F3942E4B}">
                <a14:imgProps xmlns:a14="http://schemas.microsoft.com/office/drawing/2010/main">
                  <a14:imgLayer r:embed="rId13">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8031484" y="4331677"/>
            <a:ext cx="945088" cy="608375"/>
          </a:xfrm>
          <a:prstGeom prst="rect">
            <a:avLst/>
          </a:prstGeom>
        </p:spPr>
      </p:pic>
      <p:pic>
        <p:nvPicPr>
          <p:cNvPr id="3073" name="Picture 3072">
            <a:extLst>
              <a:ext uri="{FF2B5EF4-FFF2-40B4-BE49-F238E27FC236}">
                <a16:creationId xmlns:a16="http://schemas.microsoft.com/office/drawing/2014/main" id="{E4F0F089-7329-B2C3-A6A7-228C97A570F1}"/>
              </a:ext>
            </a:extLst>
          </p:cNvPr>
          <p:cNvPicPr>
            <a:picLocks noChangeAspect="1"/>
          </p:cNvPicPr>
          <p:nvPr/>
        </p:nvPicPr>
        <p:blipFill>
          <a:blip r:embed="rId10"/>
          <a:srcRect l="22961" t="57864" r="62119" b="30040"/>
          <a:stretch>
            <a:fillRect/>
          </a:stretch>
        </p:blipFill>
        <p:spPr>
          <a:xfrm>
            <a:off x="7595394" y="5427697"/>
            <a:ext cx="920785" cy="324800"/>
          </a:xfrm>
          <a:prstGeom prst="rect">
            <a:avLst/>
          </a:prstGeom>
        </p:spPr>
      </p:pic>
      <p:pic>
        <p:nvPicPr>
          <p:cNvPr id="3075" name="Picture 3074">
            <a:extLst>
              <a:ext uri="{FF2B5EF4-FFF2-40B4-BE49-F238E27FC236}">
                <a16:creationId xmlns:a16="http://schemas.microsoft.com/office/drawing/2014/main" id="{C1F03042-B81C-4D62-DBF7-573B9FFE3A48}"/>
              </a:ext>
            </a:extLst>
          </p:cNvPr>
          <p:cNvPicPr>
            <a:picLocks noChangeAspect="1"/>
          </p:cNvPicPr>
          <p:nvPr/>
        </p:nvPicPr>
        <p:blipFill>
          <a:blip r:embed="rId11">
            <a:clrChange>
              <a:clrFrom>
                <a:srgbClr val="FEFEFC"/>
              </a:clrFrom>
              <a:clrTo>
                <a:srgbClr val="FEFEFC">
                  <a:alpha val="0"/>
                </a:srgbClr>
              </a:clrTo>
            </a:clrChange>
          </a:blip>
          <a:srcRect l="44569" t="30016" r="44627" b="57306"/>
          <a:stretch>
            <a:fillRect/>
          </a:stretch>
        </p:blipFill>
        <p:spPr>
          <a:xfrm>
            <a:off x="8814584" y="2981844"/>
            <a:ext cx="1218647" cy="622233"/>
          </a:xfrm>
          <a:prstGeom prst="rect">
            <a:avLst/>
          </a:prstGeom>
        </p:spPr>
      </p:pic>
      <p:pic>
        <p:nvPicPr>
          <p:cNvPr id="3076" name="Picture 3075">
            <a:extLst>
              <a:ext uri="{FF2B5EF4-FFF2-40B4-BE49-F238E27FC236}">
                <a16:creationId xmlns:a16="http://schemas.microsoft.com/office/drawing/2014/main" id="{25805382-4037-CAC1-4E41-7CAB5837E56F}"/>
              </a:ext>
            </a:extLst>
          </p:cNvPr>
          <p:cNvPicPr>
            <a:picLocks noChangeAspect="1"/>
          </p:cNvPicPr>
          <p:nvPr/>
        </p:nvPicPr>
        <p:blipFill>
          <a:blip r:embed="rId8">
            <a:extLst>
              <a:ext uri="{BEBA8EAE-BF5A-486C-A8C5-ECC9F3942E4B}">
                <a14:imgProps xmlns:a14="http://schemas.microsoft.com/office/drawing/2010/main">
                  <a14:imgLayer r:embed="rId14">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9846491" y="4331676"/>
            <a:ext cx="945088" cy="608375"/>
          </a:xfrm>
          <a:prstGeom prst="rect">
            <a:avLst/>
          </a:prstGeom>
        </p:spPr>
      </p:pic>
      <p:cxnSp>
        <p:nvCxnSpPr>
          <p:cNvPr id="3077" name="Straight Arrow Connector 3076">
            <a:extLst>
              <a:ext uri="{FF2B5EF4-FFF2-40B4-BE49-F238E27FC236}">
                <a16:creationId xmlns:a16="http://schemas.microsoft.com/office/drawing/2014/main" id="{F7FFFB34-A58C-B7EB-3FF7-CC56AD3605AE}"/>
              </a:ext>
            </a:extLst>
          </p:cNvPr>
          <p:cNvCxnSpPr>
            <a:cxnSpLocks/>
            <a:stCxn id="3076" idx="0"/>
            <a:endCxn id="3075" idx="2"/>
          </p:cNvCxnSpPr>
          <p:nvPr/>
        </p:nvCxnSpPr>
        <p:spPr>
          <a:xfrm flipH="1" flipV="1">
            <a:off x="9423908" y="3604077"/>
            <a:ext cx="895127" cy="72759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78" name="Straight Arrow Connector 3077">
            <a:extLst>
              <a:ext uri="{FF2B5EF4-FFF2-40B4-BE49-F238E27FC236}">
                <a16:creationId xmlns:a16="http://schemas.microsoft.com/office/drawing/2014/main" id="{BBD48895-E58F-7227-C9DB-2EF92A0E4222}"/>
              </a:ext>
            </a:extLst>
          </p:cNvPr>
          <p:cNvCxnSpPr>
            <a:cxnSpLocks/>
          </p:cNvCxnSpPr>
          <p:nvPr/>
        </p:nvCxnSpPr>
        <p:spPr>
          <a:xfrm flipV="1">
            <a:off x="8454600" y="3604077"/>
            <a:ext cx="919880" cy="72760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pic>
        <p:nvPicPr>
          <p:cNvPr id="3079" name="Picture 3078">
            <a:extLst>
              <a:ext uri="{FF2B5EF4-FFF2-40B4-BE49-F238E27FC236}">
                <a16:creationId xmlns:a16="http://schemas.microsoft.com/office/drawing/2014/main" id="{47E6E3D8-33B8-0F4F-B58A-4D4A8E2BAA01}"/>
              </a:ext>
            </a:extLst>
          </p:cNvPr>
          <p:cNvPicPr>
            <a:picLocks noChangeAspect="1"/>
          </p:cNvPicPr>
          <p:nvPr/>
        </p:nvPicPr>
        <p:blipFill>
          <a:blip r:embed="rId10"/>
          <a:srcRect l="22961" t="57864" r="62119" b="30040"/>
          <a:stretch>
            <a:fillRect/>
          </a:stretch>
        </p:blipFill>
        <p:spPr>
          <a:xfrm>
            <a:off x="8516179" y="5427697"/>
            <a:ext cx="920785" cy="324800"/>
          </a:xfrm>
          <a:prstGeom prst="rect">
            <a:avLst/>
          </a:prstGeom>
        </p:spPr>
      </p:pic>
      <p:pic>
        <p:nvPicPr>
          <p:cNvPr id="3080" name="Picture 3079">
            <a:extLst>
              <a:ext uri="{FF2B5EF4-FFF2-40B4-BE49-F238E27FC236}">
                <a16:creationId xmlns:a16="http://schemas.microsoft.com/office/drawing/2014/main" id="{7CD39BDF-C62C-A140-483E-215259A0BBD8}"/>
              </a:ext>
            </a:extLst>
          </p:cNvPr>
          <p:cNvPicPr>
            <a:picLocks noChangeAspect="1"/>
          </p:cNvPicPr>
          <p:nvPr/>
        </p:nvPicPr>
        <p:blipFill>
          <a:blip r:embed="rId10"/>
          <a:srcRect l="22961" t="57864" r="62119" b="30040"/>
          <a:stretch>
            <a:fillRect/>
          </a:stretch>
        </p:blipFill>
        <p:spPr>
          <a:xfrm>
            <a:off x="9436964" y="5427696"/>
            <a:ext cx="920785" cy="324800"/>
          </a:xfrm>
          <a:prstGeom prst="rect">
            <a:avLst/>
          </a:prstGeom>
        </p:spPr>
      </p:pic>
      <p:pic>
        <p:nvPicPr>
          <p:cNvPr id="3081" name="Picture 3080">
            <a:extLst>
              <a:ext uri="{FF2B5EF4-FFF2-40B4-BE49-F238E27FC236}">
                <a16:creationId xmlns:a16="http://schemas.microsoft.com/office/drawing/2014/main" id="{A06F2108-4872-2314-F6B0-0C1882C36924}"/>
              </a:ext>
            </a:extLst>
          </p:cNvPr>
          <p:cNvPicPr>
            <a:picLocks noChangeAspect="1"/>
          </p:cNvPicPr>
          <p:nvPr/>
        </p:nvPicPr>
        <p:blipFill>
          <a:blip r:embed="rId10"/>
          <a:srcRect l="22961" t="57864" r="62119" b="30040"/>
          <a:stretch>
            <a:fillRect/>
          </a:stretch>
        </p:blipFill>
        <p:spPr>
          <a:xfrm>
            <a:off x="10357749" y="5427696"/>
            <a:ext cx="920785" cy="324800"/>
          </a:xfrm>
          <a:prstGeom prst="rect">
            <a:avLst/>
          </a:prstGeom>
        </p:spPr>
      </p:pic>
      <p:cxnSp>
        <p:nvCxnSpPr>
          <p:cNvPr id="3082" name="Straight Arrow Connector 3081">
            <a:extLst>
              <a:ext uri="{FF2B5EF4-FFF2-40B4-BE49-F238E27FC236}">
                <a16:creationId xmlns:a16="http://schemas.microsoft.com/office/drawing/2014/main" id="{973AA649-B9B1-0E09-C83A-0DF2AACA27E9}"/>
              </a:ext>
            </a:extLst>
          </p:cNvPr>
          <p:cNvCxnSpPr>
            <a:cxnSpLocks/>
            <a:stCxn id="3072" idx="2"/>
            <a:endCxn id="3073" idx="0"/>
          </p:cNvCxnSpPr>
          <p:nvPr/>
        </p:nvCxnSpPr>
        <p:spPr>
          <a:xfrm flipH="1">
            <a:off x="8055787" y="4940052"/>
            <a:ext cx="448241"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3" name="Straight Arrow Connector 3082">
            <a:extLst>
              <a:ext uri="{FF2B5EF4-FFF2-40B4-BE49-F238E27FC236}">
                <a16:creationId xmlns:a16="http://schemas.microsoft.com/office/drawing/2014/main" id="{63F964DA-E98F-320F-A8A6-75A60476D2C7}"/>
              </a:ext>
            </a:extLst>
          </p:cNvPr>
          <p:cNvCxnSpPr>
            <a:cxnSpLocks/>
            <a:stCxn id="3076" idx="2"/>
            <a:endCxn id="3080" idx="0"/>
          </p:cNvCxnSpPr>
          <p:nvPr/>
        </p:nvCxnSpPr>
        <p:spPr>
          <a:xfrm flipH="1">
            <a:off x="9897357" y="4940051"/>
            <a:ext cx="421678"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4" name="Straight Arrow Connector 3083">
            <a:extLst>
              <a:ext uri="{FF2B5EF4-FFF2-40B4-BE49-F238E27FC236}">
                <a16:creationId xmlns:a16="http://schemas.microsoft.com/office/drawing/2014/main" id="{36808D91-6054-1E87-7F4E-FD5BABEE580B}"/>
              </a:ext>
            </a:extLst>
          </p:cNvPr>
          <p:cNvCxnSpPr>
            <a:cxnSpLocks/>
            <a:stCxn id="3072" idx="2"/>
            <a:endCxn id="3079" idx="0"/>
          </p:cNvCxnSpPr>
          <p:nvPr/>
        </p:nvCxnSpPr>
        <p:spPr>
          <a:xfrm>
            <a:off x="8504028" y="4940052"/>
            <a:ext cx="472544"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5" name="Straight Arrow Connector 3084">
            <a:extLst>
              <a:ext uri="{FF2B5EF4-FFF2-40B4-BE49-F238E27FC236}">
                <a16:creationId xmlns:a16="http://schemas.microsoft.com/office/drawing/2014/main" id="{16893E64-A53C-2EF2-A5CD-352049E32DC0}"/>
              </a:ext>
            </a:extLst>
          </p:cNvPr>
          <p:cNvCxnSpPr>
            <a:cxnSpLocks/>
            <a:stCxn id="3076" idx="2"/>
            <a:endCxn id="3081" idx="0"/>
          </p:cNvCxnSpPr>
          <p:nvPr/>
        </p:nvCxnSpPr>
        <p:spPr>
          <a:xfrm>
            <a:off x="10319035" y="4940051"/>
            <a:ext cx="499107"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092" name="TextBox 3091">
            <a:extLst>
              <a:ext uri="{FF2B5EF4-FFF2-40B4-BE49-F238E27FC236}">
                <a16:creationId xmlns:a16="http://schemas.microsoft.com/office/drawing/2014/main" id="{FC39E8E5-C6F8-1871-EEA3-98FBE7F043BF}"/>
              </a:ext>
            </a:extLst>
          </p:cNvPr>
          <p:cNvSpPr txBox="1"/>
          <p:nvPr/>
        </p:nvSpPr>
        <p:spPr>
          <a:xfrm>
            <a:off x="6590931" y="2106831"/>
            <a:ext cx="890837" cy="327303"/>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TOTAL</a:t>
            </a:r>
          </a:p>
        </p:txBody>
      </p:sp>
      <p:cxnSp>
        <p:nvCxnSpPr>
          <p:cNvPr id="3093" name="Straight Arrow Connector 3092">
            <a:extLst>
              <a:ext uri="{FF2B5EF4-FFF2-40B4-BE49-F238E27FC236}">
                <a16:creationId xmlns:a16="http://schemas.microsoft.com/office/drawing/2014/main" id="{048B44AA-CD92-7019-FCF6-0C97F4944349}"/>
              </a:ext>
            </a:extLst>
          </p:cNvPr>
          <p:cNvCxnSpPr>
            <a:cxnSpLocks/>
            <a:stCxn id="53" idx="0"/>
            <a:endCxn id="3092" idx="2"/>
          </p:cNvCxnSpPr>
          <p:nvPr/>
        </p:nvCxnSpPr>
        <p:spPr>
          <a:xfrm flipV="1">
            <a:off x="4608691" y="2434134"/>
            <a:ext cx="2427659" cy="54770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94" name="Straight Arrow Connector 3093">
            <a:extLst>
              <a:ext uri="{FF2B5EF4-FFF2-40B4-BE49-F238E27FC236}">
                <a16:creationId xmlns:a16="http://schemas.microsoft.com/office/drawing/2014/main" id="{0417ED91-F584-4654-A0D2-BBEC57A5529C}"/>
              </a:ext>
            </a:extLst>
          </p:cNvPr>
          <p:cNvCxnSpPr>
            <a:cxnSpLocks/>
            <a:stCxn id="3075" idx="0"/>
            <a:endCxn id="3092" idx="2"/>
          </p:cNvCxnSpPr>
          <p:nvPr/>
        </p:nvCxnSpPr>
        <p:spPr>
          <a:xfrm flipH="1" flipV="1">
            <a:off x="7036350" y="2434134"/>
            <a:ext cx="2387558" cy="54771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95" name="Straight Arrow Connector 3094">
            <a:extLst>
              <a:ext uri="{FF2B5EF4-FFF2-40B4-BE49-F238E27FC236}">
                <a16:creationId xmlns:a16="http://schemas.microsoft.com/office/drawing/2014/main" id="{2EAA780D-55B8-9A69-5292-25CD9C2544B6}"/>
              </a:ext>
            </a:extLst>
          </p:cNvPr>
          <p:cNvCxnSpPr>
            <a:cxnSpLocks/>
          </p:cNvCxnSpPr>
          <p:nvPr/>
        </p:nvCxnSpPr>
        <p:spPr>
          <a:xfrm>
            <a:off x="370806" y="4717541"/>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099" name="TextBox 3098">
            <a:extLst>
              <a:ext uri="{FF2B5EF4-FFF2-40B4-BE49-F238E27FC236}">
                <a16:creationId xmlns:a16="http://schemas.microsoft.com/office/drawing/2014/main" id="{E1F8138D-AA3A-A7B8-02EE-7133D2B6E2EF}"/>
              </a:ext>
            </a:extLst>
          </p:cNvPr>
          <p:cNvSpPr txBox="1"/>
          <p:nvPr/>
        </p:nvSpPr>
        <p:spPr>
          <a:xfrm>
            <a:off x="632069" y="4193969"/>
            <a:ext cx="1536703" cy="523220"/>
          </a:xfrm>
          <a:prstGeom prst="rect">
            <a:avLst/>
          </a:prstGeom>
          <a:noFill/>
        </p:spPr>
        <p:txBody>
          <a:bodyPr wrap="none" rtlCol="0">
            <a:spAutoFit/>
          </a:bodyPr>
          <a:lstStyle/>
          <a:p>
            <a:r>
              <a:rPr lang="en-US" sz="2800" dirty="0">
                <a:solidFill>
                  <a:srgbClr val="1B415D"/>
                </a:solidFill>
              </a:rPr>
              <a:t>Forecast</a:t>
            </a:r>
          </a:p>
        </p:txBody>
      </p:sp>
      <p:cxnSp>
        <p:nvCxnSpPr>
          <p:cNvPr id="3" name="Straight Arrow Connector 2">
            <a:extLst>
              <a:ext uri="{FF2B5EF4-FFF2-40B4-BE49-F238E27FC236}">
                <a16:creationId xmlns:a16="http://schemas.microsoft.com/office/drawing/2014/main" id="{68378DD6-78CE-A722-88E4-6D0F6E2444E5}"/>
              </a:ext>
            </a:extLst>
          </p:cNvPr>
          <p:cNvCxnSpPr>
            <a:cxnSpLocks/>
          </p:cNvCxnSpPr>
          <p:nvPr/>
        </p:nvCxnSpPr>
        <p:spPr>
          <a:xfrm>
            <a:off x="403116" y="3396390"/>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 name="TextBox 3">
            <a:extLst>
              <a:ext uri="{FF2B5EF4-FFF2-40B4-BE49-F238E27FC236}">
                <a16:creationId xmlns:a16="http://schemas.microsoft.com/office/drawing/2014/main" id="{EC0C56EC-3AA7-F1AD-E196-13E60FE15093}"/>
              </a:ext>
            </a:extLst>
          </p:cNvPr>
          <p:cNvSpPr txBox="1"/>
          <p:nvPr/>
        </p:nvSpPr>
        <p:spPr>
          <a:xfrm>
            <a:off x="664379" y="2872818"/>
            <a:ext cx="1536703" cy="523220"/>
          </a:xfrm>
          <a:prstGeom prst="rect">
            <a:avLst/>
          </a:prstGeom>
          <a:noFill/>
        </p:spPr>
        <p:txBody>
          <a:bodyPr wrap="none" rtlCol="0">
            <a:spAutoFit/>
          </a:bodyPr>
          <a:lstStyle/>
          <a:p>
            <a:r>
              <a:rPr lang="en-US" sz="2800" dirty="0">
                <a:solidFill>
                  <a:srgbClr val="1B415D"/>
                </a:solidFill>
              </a:rPr>
              <a:t>Forecast</a:t>
            </a:r>
          </a:p>
        </p:txBody>
      </p:sp>
      <p:cxnSp>
        <p:nvCxnSpPr>
          <p:cNvPr id="6" name="Straight Arrow Connector 5">
            <a:extLst>
              <a:ext uri="{FF2B5EF4-FFF2-40B4-BE49-F238E27FC236}">
                <a16:creationId xmlns:a16="http://schemas.microsoft.com/office/drawing/2014/main" id="{D964184F-7FB1-6876-F663-09A5ED840A4F}"/>
              </a:ext>
            </a:extLst>
          </p:cNvPr>
          <p:cNvCxnSpPr>
            <a:cxnSpLocks/>
          </p:cNvCxnSpPr>
          <p:nvPr/>
        </p:nvCxnSpPr>
        <p:spPr>
          <a:xfrm>
            <a:off x="444886" y="2324944"/>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7" name="TextBox 6">
            <a:extLst>
              <a:ext uri="{FF2B5EF4-FFF2-40B4-BE49-F238E27FC236}">
                <a16:creationId xmlns:a16="http://schemas.microsoft.com/office/drawing/2014/main" id="{FA5D3AF5-4D1F-34B6-545E-F5F594066150}"/>
              </a:ext>
            </a:extLst>
          </p:cNvPr>
          <p:cNvSpPr txBox="1"/>
          <p:nvPr/>
        </p:nvSpPr>
        <p:spPr>
          <a:xfrm>
            <a:off x="706149" y="1801372"/>
            <a:ext cx="1536703" cy="523220"/>
          </a:xfrm>
          <a:prstGeom prst="rect">
            <a:avLst/>
          </a:prstGeom>
          <a:noFill/>
        </p:spPr>
        <p:txBody>
          <a:bodyPr wrap="none" rtlCol="0">
            <a:spAutoFit/>
          </a:bodyPr>
          <a:lstStyle/>
          <a:p>
            <a:r>
              <a:rPr lang="en-US" sz="2800" dirty="0">
                <a:solidFill>
                  <a:srgbClr val="1B415D"/>
                </a:solidFill>
              </a:rPr>
              <a:t>Forecast</a:t>
            </a:r>
          </a:p>
        </p:txBody>
      </p:sp>
      <p:cxnSp>
        <p:nvCxnSpPr>
          <p:cNvPr id="8" name="Straight Arrow Connector 7">
            <a:extLst>
              <a:ext uri="{FF2B5EF4-FFF2-40B4-BE49-F238E27FC236}">
                <a16:creationId xmlns:a16="http://schemas.microsoft.com/office/drawing/2014/main" id="{2AB032EF-7B9F-EF92-32D8-AF4715EA6A21}"/>
              </a:ext>
            </a:extLst>
          </p:cNvPr>
          <p:cNvCxnSpPr>
            <a:cxnSpLocks/>
          </p:cNvCxnSpPr>
          <p:nvPr/>
        </p:nvCxnSpPr>
        <p:spPr>
          <a:xfrm flipH="1">
            <a:off x="3723542" y="3710157"/>
            <a:ext cx="811501" cy="67604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9" name="Straight Arrow Connector 18">
            <a:extLst>
              <a:ext uri="{FF2B5EF4-FFF2-40B4-BE49-F238E27FC236}">
                <a16:creationId xmlns:a16="http://schemas.microsoft.com/office/drawing/2014/main" id="{3572351C-9FC0-8534-24B5-1BFA3735E21E}"/>
              </a:ext>
            </a:extLst>
          </p:cNvPr>
          <p:cNvCxnSpPr>
            <a:cxnSpLocks/>
          </p:cNvCxnSpPr>
          <p:nvPr/>
        </p:nvCxnSpPr>
        <p:spPr>
          <a:xfrm flipH="1">
            <a:off x="8576749" y="3749279"/>
            <a:ext cx="797198" cy="660351"/>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21" name="Straight Arrow Connector 20">
            <a:extLst>
              <a:ext uri="{FF2B5EF4-FFF2-40B4-BE49-F238E27FC236}">
                <a16:creationId xmlns:a16="http://schemas.microsoft.com/office/drawing/2014/main" id="{67E64BB8-7B27-89A0-803B-11996E1BC18F}"/>
              </a:ext>
            </a:extLst>
          </p:cNvPr>
          <p:cNvCxnSpPr>
            <a:cxnSpLocks/>
          </p:cNvCxnSpPr>
          <p:nvPr/>
        </p:nvCxnSpPr>
        <p:spPr>
          <a:xfrm>
            <a:off x="4608690" y="3734156"/>
            <a:ext cx="769621" cy="64694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27" name="Straight Arrow Connector 26">
            <a:extLst>
              <a:ext uri="{FF2B5EF4-FFF2-40B4-BE49-F238E27FC236}">
                <a16:creationId xmlns:a16="http://schemas.microsoft.com/office/drawing/2014/main" id="{7DD60AA4-A915-B31B-F6F1-A6C3CFF7D361}"/>
              </a:ext>
            </a:extLst>
          </p:cNvPr>
          <p:cNvCxnSpPr>
            <a:cxnSpLocks/>
          </p:cNvCxnSpPr>
          <p:nvPr/>
        </p:nvCxnSpPr>
        <p:spPr>
          <a:xfrm>
            <a:off x="9436964" y="3734156"/>
            <a:ext cx="744682" cy="625853"/>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28" name="Straight Arrow Connector 27">
            <a:extLst>
              <a:ext uri="{FF2B5EF4-FFF2-40B4-BE49-F238E27FC236}">
                <a16:creationId xmlns:a16="http://schemas.microsoft.com/office/drawing/2014/main" id="{F3F06E16-F9CB-4DC1-327C-2D6BFE0ED7D0}"/>
              </a:ext>
            </a:extLst>
          </p:cNvPr>
          <p:cNvCxnSpPr>
            <a:cxnSpLocks/>
          </p:cNvCxnSpPr>
          <p:nvPr/>
        </p:nvCxnSpPr>
        <p:spPr>
          <a:xfrm flipH="1">
            <a:off x="5082140" y="2514037"/>
            <a:ext cx="1934159" cy="49147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2" name="Straight Arrow Connector 31">
            <a:extLst>
              <a:ext uri="{FF2B5EF4-FFF2-40B4-BE49-F238E27FC236}">
                <a16:creationId xmlns:a16="http://schemas.microsoft.com/office/drawing/2014/main" id="{590DA9F6-F777-7237-33A4-11E15895927C}"/>
              </a:ext>
            </a:extLst>
          </p:cNvPr>
          <p:cNvCxnSpPr>
            <a:cxnSpLocks/>
          </p:cNvCxnSpPr>
          <p:nvPr/>
        </p:nvCxnSpPr>
        <p:spPr>
          <a:xfrm>
            <a:off x="7056401" y="2544452"/>
            <a:ext cx="2208802" cy="498057"/>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3486201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153BC14-D626-7096-430E-DC9D91E688A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513FB10-4418-6BCF-BDF9-66A55B0A726C}"/>
              </a:ext>
            </a:extLst>
          </p:cNvPr>
          <p:cNvPicPr>
            <a:picLocks/>
          </p:cNvPicPr>
          <p:nvPr/>
        </p:nvPicPr>
        <p:blipFill>
          <a:blip r:embed="rId3"/>
          <a:stretch>
            <a:fillRect/>
          </a:stretch>
        </p:blipFill>
        <p:spPr>
          <a:xfrm>
            <a:off x="-21266" y="4580707"/>
            <a:ext cx="12308114" cy="2944043"/>
          </a:xfrm>
          <a:prstGeom prst="rect">
            <a:avLst/>
          </a:prstGeom>
        </p:spPr>
      </p:pic>
      <p:pic>
        <p:nvPicPr>
          <p:cNvPr id="4" name="Picture 3">
            <a:extLst>
              <a:ext uri="{FF2B5EF4-FFF2-40B4-BE49-F238E27FC236}">
                <a16:creationId xmlns:a16="http://schemas.microsoft.com/office/drawing/2014/main" id="{73F1C891-1088-6786-C94C-EA9DDA41510F}"/>
              </a:ext>
            </a:extLst>
          </p:cNvPr>
          <p:cNvPicPr>
            <a:picLocks/>
          </p:cNvPicPr>
          <p:nvPr/>
        </p:nvPicPr>
        <p:blipFill>
          <a:blip r:embed="rId3"/>
          <a:stretch>
            <a:fillRect/>
          </a:stretch>
        </p:blipFill>
        <p:spPr>
          <a:xfrm>
            <a:off x="-58056" y="-115209"/>
            <a:ext cx="12308114" cy="2944043"/>
          </a:xfrm>
          <a:prstGeom prst="rect">
            <a:avLst/>
          </a:prstGeom>
        </p:spPr>
      </p:pic>
      <p:pic>
        <p:nvPicPr>
          <p:cNvPr id="1028" name="Picture 4" descr="Home – Planet">
            <a:extLst>
              <a:ext uri="{FF2B5EF4-FFF2-40B4-BE49-F238E27FC236}">
                <a16:creationId xmlns:a16="http://schemas.microsoft.com/office/drawing/2014/main" id="{1B76909B-4679-7597-063D-07BEEFD344C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730" y="288828"/>
            <a:ext cx="4939115" cy="216729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1B9604F1-CEB0-C5BD-7D94-9E887F04122B}"/>
              </a:ext>
            </a:extLst>
          </p:cNvPr>
          <p:cNvSpPr txBox="1"/>
          <p:nvPr/>
        </p:nvSpPr>
        <p:spPr>
          <a:xfrm>
            <a:off x="1401147" y="3349905"/>
            <a:ext cx="9389706" cy="646331"/>
          </a:xfrm>
          <a:prstGeom prst="rect">
            <a:avLst/>
          </a:prstGeom>
          <a:noFill/>
        </p:spPr>
        <p:txBody>
          <a:bodyPr wrap="square" rtlCol="0" anchor="ctr" anchorCtr="0">
            <a:spAutoFit/>
          </a:bodyPr>
          <a:lstStyle/>
          <a:p>
            <a:pPr algn="ctr"/>
            <a:r>
              <a:rPr lang="en-US" sz="3600" b="1" dirty="0">
                <a:solidFill>
                  <a:srgbClr val="1B415D"/>
                </a:solidFill>
              </a:rPr>
              <a:t>Literature Methodology</a:t>
            </a:r>
          </a:p>
        </p:txBody>
      </p:sp>
      <p:grpSp>
        <p:nvGrpSpPr>
          <p:cNvPr id="9" name="Group 8">
            <a:extLst>
              <a:ext uri="{FF2B5EF4-FFF2-40B4-BE49-F238E27FC236}">
                <a16:creationId xmlns:a16="http://schemas.microsoft.com/office/drawing/2014/main" id="{E1664B0E-F803-B080-C8F1-526D86FE6C2A}"/>
              </a:ext>
            </a:extLst>
          </p:cNvPr>
          <p:cNvGrpSpPr/>
          <p:nvPr/>
        </p:nvGrpSpPr>
        <p:grpSpPr>
          <a:xfrm>
            <a:off x="6076930" y="399008"/>
            <a:ext cx="6115070" cy="1882835"/>
            <a:chOff x="6076930" y="399008"/>
            <a:chExt cx="6115070" cy="1882835"/>
          </a:xfrm>
        </p:grpSpPr>
        <p:pic>
          <p:nvPicPr>
            <p:cNvPr id="1026" name="Picture 2" descr="Logo Università di Napoli Federico II">
              <a:extLst>
                <a:ext uri="{FF2B5EF4-FFF2-40B4-BE49-F238E27FC236}">
                  <a16:creationId xmlns:a16="http://schemas.microsoft.com/office/drawing/2014/main" id="{C9405516-ED67-F08B-922E-0954D33E83C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Master Degree | International Relations | Italia">
              <a:extLst>
                <a:ext uri="{FF2B5EF4-FFF2-40B4-BE49-F238E27FC236}">
                  <a16:creationId xmlns:a16="http://schemas.microsoft.com/office/drawing/2014/main" id="{E3C0D03C-9239-B004-03BF-11565DFFE52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TextBox 7">
            <a:extLst>
              <a:ext uri="{FF2B5EF4-FFF2-40B4-BE49-F238E27FC236}">
                <a16:creationId xmlns:a16="http://schemas.microsoft.com/office/drawing/2014/main" id="{3F84A05F-E935-9839-B939-CE1974A7E461}"/>
              </a:ext>
            </a:extLst>
          </p:cNvPr>
          <p:cNvSpPr txBox="1"/>
          <p:nvPr/>
        </p:nvSpPr>
        <p:spPr>
          <a:xfrm>
            <a:off x="0" y="4980202"/>
            <a:ext cx="3009900" cy="1147045"/>
          </a:xfrm>
          <a:prstGeom prst="rect">
            <a:avLst/>
          </a:prstGeom>
          <a:noFill/>
        </p:spPr>
        <p:txBody>
          <a:bodyPr wrap="square">
            <a:spAutoFit/>
          </a:bodyPr>
          <a:lstStyle/>
          <a:p>
            <a:pPr>
              <a:lnSpc>
                <a:spcPct val="150000"/>
              </a:lnSpc>
              <a:buNone/>
            </a:pPr>
            <a:r>
              <a:rPr lang="en-US" sz="2400" b="1" dirty="0"/>
              <a:t>Presented by</a:t>
            </a:r>
          </a:p>
          <a:p>
            <a:pPr>
              <a:lnSpc>
                <a:spcPct val="150000"/>
              </a:lnSpc>
              <a:buNone/>
            </a:pPr>
            <a:r>
              <a:rPr lang="en-US" sz="2400" b="1" dirty="0">
                <a:solidFill>
                  <a:schemeClr val="bg1"/>
                </a:solidFill>
              </a:rPr>
              <a:t>Mohammad Sheikh</a:t>
            </a:r>
          </a:p>
        </p:txBody>
      </p:sp>
      <p:sp>
        <p:nvSpPr>
          <p:cNvPr id="11" name="TextBox 10">
            <a:extLst>
              <a:ext uri="{FF2B5EF4-FFF2-40B4-BE49-F238E27FC236}">
                <a16:creationId xmlns:a16="http://schemas.microsoft.com/office/drawing/2014/main" id="{DCA9F500-6A69-736A-3F11-2513082D632A}"/>
              </a:ext>
            </a:extLst>
          </p:cNvPr>
          <p:cNvSpPr txBox="1"/>
          <p:nvPr/>
        </p:nvSpPr>
        <p:spPr>
          <a:xfrm>
            <a:off x="9090502" y="4980202"/>
            <a:ext cx="3101498" cy="1701043"/>
          </a:xfrm>
          <a:prstGeom prst="rect">
            <a:avLst/>
          </a:prstGeom>
          <a:noFill/>
        </p:spPr>
        <p:txBody>
          <a:bodyPr wrap="square">
            <a:spAutoFit/>
          </a:bodyPr>
          <a:lstStyle/>
          <a:p>
            <a:pPr algn="r">
              <a:lnSpc>
                <a:spcPct val="150000"/>
              </a:lnSpc>
              <a:buNone/>
            </a:pPr>
            <a:r>
              <a:rPr lang="en-US" sz="2400" b="1" dirty="0"/>
              <a:t>Supervisors</a:t>
            </a:r>
          </a:p>
          <a:p>
            <a:pPr algn="r">
              <a:lnSpc>
                <a:spcPct val="150000"/>
              </a:lnSpc>
              <a:buNone/>
            </a:pPr>
            <a:r>
              <a:rPr lang="en-US" sz="2400" b="1" dirty="0">
                <a:solidFill>
                  <a:schemeClr val="bg1"/>
                </a:solidFill>
              </a:rPr>
              <a:t>Dr. Luca </a:t>
            </a:r>
            <a:r>
              <a:rPr lang="en-US" sz="2400" b="1" dirty="0" err="1">
                <a:solidFill>
                  <a:schemeClr val="bg1"/>
                </a:solidFill>
              </a:rPr>
              <a:t>Barbierato</a:t>
            </a:r>
            <a:endParaRPr lang="en-US" sz="2400" b="1" dirty="0">
              <a:solidFill>
                <a:schemeClr val="bg1"/>
              </a:solidFill>
            </a:endParaRPr>
          </a:p>
          <a:p>
            <a:pPr algn="r">
              <a:lnSpc>
                <a:spcPct val="150000"/>
              </a:lnSpc>
              <a:buNone/>
            </a:pPr>
            <a:r>
              <a:rPr lang="en-US" sz="2400" b="1" dirty="0">
                <a:solidFill>
                  <a:schemeClr val="bg1"/>
                </a:solidFill>
              </a:rPr>
              <a:t>Dr. Matteo </a:t>
            </a:r>
            <a:r>
              <a:rPr lang="en-US" sz="2400" b="1" dirty="0" err="1">
                <a:solidFill>
                  <a:schemeClr val="bg1"/>
                </a:solidFill>
              </a:rPr>
              <a:t>Santinello</a:t>
            </a:r>
            <a:endParaRPr lang="en-US" sz="2400" b="1" dirty="0">
              <a:solidFill>
                <a:schemeClr val="bg1"/>
              </a:solidFill>
            </a:endParaRPr>
          </a:p>
        </p:txBody>
      </p:sp>
      <p:sp>
        <p:nvSpPr>
          <p:cNvPr id="13" name="TextBox 12">
            <a:extLst>
              <a:ext uri="{FF2B5EF4-FFF2-40B4-BE49-F238E27FC236}">
                <a16:creationId xmlns:a16="http://schemas.microsoft.com/office/drawing/2014/main" id="{C7950C47-660C-4551-C6CE-F2B3D20FDD21}"/>
              </a:ext>
            </a:extLst>
          </p:cNvPr>
          <p:cNvSpPr txBox="1"/>
          <p:nvPr/>
        </p:nvSpPr>
        <p:spPr>
          <a:xfrm>
            <a:off x="4999036" y="6488668"/>
            <a:ext cx="2193925" cy="369332"/>
          </a:xfrm>
          <a:prstGeom prst="rect">
            <a:avLst/>
          </a:prstGeom>
          <a:noFill/>
        </p:spPr>
        <p:txBody>
          <a:bodyPr wrap="square">
            <a:spAutoFit/>
          </a:bodyPr>
          <a:lstStyle/>
          <a:p>
            <a:pPr>
              <a:buNone/>
            </a:pPr>
            <a:r>
              <a:rPr lang="en-US" sz="1800" b="1" dirty="0">
                <a:solidFill>
                  <a:schemeClr val="bg1"/>
                </a:solidFill>
              </a:rPr>
              <a:t>November 2025</a:t>
            </a:r>
          </a:p>
        </p:txBody>
      </p:sp>
      <p:sp>
        <p:nvSpPr>
          <p:cNvPr id="6" name="TextBox 5">
            <a:extLst>
              <a:ext uri="{FF2B5EF4-FFF2-40B4-BE49-F238E27FC236}">
                <a16:creationId xmlns:a16="http://schemas.microsoft.com/office/drawing/2014/main" id="{28B9822C-B9B2-2250-7DB3-9FD971214657}"/>
              </a:ext>
            </a:extLst>
          </p:cNvPr>
          <p:cNvSpPr txBox="1"/>
          <p:nvPr/>
        </p:nvSpPr>
        <p:spPr>
          <a:xfrm>
            <a:off x="1474500" y="8090427"/>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2" name="Picture 2" descr="Predict PNG Transparent Images Free Download | Vector Files | Pngtree">
            <a:extLst>
              <a:ext uri="{FF2B5EF4-FFF2-40B4-BE49-F238E27FC236}">
                <a16:creationId xmlns:a16="http://schemas.microsoft.com/office/drawing/2014/main" id="{2506CCA4-A939-755B-AEF4-B39DB4ED91D5}"/>
              </a:ext>
            </a:extLst>
          </p:cNvPr>
          <p:cNvPicPr>
            <a:picLocks noChangeAspect="1" noChangeArrowheads="1"/>
          </p:cNvPicPr>
          <p:nvPr/>
        </p:nvPicPr>
        <p:blipFill>
          <a:blip r:embed="rId7">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4851" y="6795409"/>
            <a:ext cx="2024360" cy="2024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9907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6B78A1-ED49-3F24-36D4-0718F05BA1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A942F2D-252D-CF79-38CE-FD0145E8BDAE}"/>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EE25F7E7-2787-13D8-C322-C3AEAE7CDCEC}"/>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A98C991F-1A01-5881-7ADF-7D59F23701BD}"/>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EC42B25F-8A85-BADA-4EBD-5758A240EEF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608A32EE-F200-F4D1-B49A-A536BDAA0AA3}"/>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ED2BBE32-9F19-9971-91B1-32E522FF8A20}"/>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52136F18-0FC1-F231-6019-F767528B2CC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2A08E8A1-E051-BA0E-B428-235EE5ADA54D}"/>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1026" name="Picture 2">
            <a:extLst>
              <a:ext uri="{FF2B5EF4-FFF2-40B4-BE49-F238E27FC236}">
                <a16:creationId xmlns:a16="http://schemas.microsoft.com/office/drawing/2014/main" id="{6C6261A0-DB2F-2233-D152-098981AD469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613983" y="1832795"/>
            <a:ext cx="6964030" cy="34820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67570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9B432DE-5938-7A1A-58D4-70706D3A9DA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01ECC28-774A-63E7-D799-C922700AAF52}"/>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6A024007-8342-D120-576F-7936CC705F8B}"/>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19F08A0C-A514-8592-8639-4B530B09D01B}"/>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3DB79383-5ACC-8F1E-70C0-660D2E7F9EF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1611ED29-DB15-6EF0-384F-A61E7821995E}"/>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E6228B8F-432A-6675-3555-DA532CAF21CE}"/>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0B95017E-891E-83C3-52D2-13456AD9A52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103CAECA-ADC8-1E47-761F-AB9FB1737087}"/>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C99269EC-D435-0788-43EC-80B0B81ADF9A}"/>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Preprocessing</a:t>
            </a:r>
          </a:p>
        </p:txBody>
      </p:sp>
      <p:sp>
        <p:nvSpPr>
          <p:cNvPr id="3" name="TextBox 2">
            <a:extLst>
              <a:ext uri="{FF2B5EF4-FFF2-40B4-BE49-F238E27FC236}">
                <a16:creationId xmlns:a16="http://schemas.microsoft.com/office/drawing/2014/main" id="{C1A1CB39-FEC8-14F5-0A1F-4601C2028711}"/>
              </a:ext>
            </a:extLst>
          </p:cNvPr>
          <p:cNvSpPr txBox="1"/>
          <p:nvPr/>
        </p:nvSpPr>
        <p:spPr>
          <a:xfrm>
            <a:off x="566684" y="2289067"/>
            <a:ext cx="6146548" cy="3125727"/>
          </a:xfrm>
          <a:prstGeom prst="rect">
            <a:avLst/>
          </a:prstGeom>
          <a:noFill/>
        </p:spPr>
        <p:txBody>
          <a:bodyPr wrap="square">
            <a:spAutoFit/>
          </a:bodyPr>
          <a:lstStyle/>
          <a:p>
            <a:pPr marL="457200" indent="-457200">
              <a:buFont typeface="Arial" panose="020B0604020202020204" pitchFamily="34" charset="0"/>
              <a:buChar char="•"/>
            </a:pPr>
            <a:r>
              <a:rPr lang="en-US" sz="2000" dirty="0">
                <a:solidFill>
                  <a:srgbClr val="1B415D"/>
                </a:solidFill>
              </a:rPr>
              <a:t>Removing Outliers and null values</a:t>
            </a:r>
          </a:p>
          <a:p>
            <a:pPr marL="914400" lvl="1" indent="-457200">
              <a:buFont typeface="Arial" panose="020B0604020202020204" pitchFamily="34" charset="0"/>
              <a:buChar char="•"/>
            </a:pPr>
            <a:r>
              <a:rPr lang="en-US" sz="2000" dirty="0">
                <a:solidFill>
                  <a:srgbClr val="1B415D"/>
                </a:solidFill>
              </a:rPr>
              <a:t>Time Series Decomposition. [8] </a:t>
            </a:r>
          </a:p>
          <a:p>
            <a:pPr marL="914400" lvl="1" indent="-457200">
              <a:buFont typeface="Arial" panose="020B0604020202020204" pitchFamily="34" charset="0"/>
              <a:buChar char="•"/>
            </a:pPr>
            <a:r>
              <a:rPr lang="en-US" sz="2000" dirty="0">
                <a:solidFill>
                  <a:srgbClr val="1B415D"/>
                </a:solidFill>
              </a:rPr>
              <a:t>Statical methods like normal distribution.</a:t>
            </a:r>
          </a:p>
          <a:p>
            <a:pPr marL="457200" indent="-457200">
              <a:buFont typeface="Arial" panose="020B0604020202020204" pitchFamily="34" charset="0"/>
              <a:buChar char="•"/>
            </a:pPr>
            <a:r>
              <a:rPr lang="en-US" sz="2000" dirty="0">
                <a:solidFill>
                  <a:srgbClr val="1B415D"/>
                </a:solidFill>
              </a:rPr>
              <a:t>Integrating climate data. [3,5]</a:t>
            </a:r>
          </a:p>
          <a:p>
            <a:pPr marL="457200" indent="-457200">
              <a:lnSpc>
                <a:spcPct val="150000"/>
              </a:lnSpc>
              <a:buFont typeface="Arial" panose="020B0604020202020204" pitchFamily="34" charset="0"/>
              <a:buChar char="•"/>
            </a:pPr>
            <a:r>
              <a:rPr lang="en-US" sz="2000" dirty="0">
                <a:solidFill>
                  <a:srgbClr val="1B415D"/>
                </a:solidFill>
              </a:rPr>
              <a:t>THI Compose </a:t>
            </a:r>
          </a:p>
          <a:p>
            <a:pPr marL="914400" lvl="1" indent="-457200">
              <a:lnSpc>
                <a:spcPct val="150000"/>
              </a:lnSpc>
              <a:buFont typeface="Arial" panose="020B0604020202020204" pitchFamily="34" charset="0"/>
              <a:buChar char="•"/>
            </a:pPr>
            <a:r>
              <a:rPr lang="en-US" sz="2000" dirty="0">
                <a:solidFill>
                  <a:srgbClr val="1B415D"/>
                </a:solidFill>
              </a:rPr>
              <a:t>Avg of 2 days before and after [3] </a:t>
            </a:r>
          </a:p>
          <a:p>
            <a:pPr marL="457200" indent="-457200">
              <a:lnSpc>
                <a:spcPct val="150000"/>
              </a:lnSpc>
              <a:buFont typeface="Arial" panose="020B0604020202020204" pitchFamily="34" charset="0"/>
              <a:buChar char="•"/>
            </a:pPr>
            <a:r>
              <a:rPr lang="en-US" sz="2000" dirty="0">
                <a:solidFill>
                  <a:srgbClr val="1B415D"/>
                </a:solidFill>
              </a:rPr>
              <a:t>Lag Features</a:t>
            </a:r>
          </a:p>
          <a:p>
            <a:pPr marL="914400" lvl="1" indent="-457200">
              <a:lnSpc>
                <a:spcPct val="150000"/>
              </a:lnSpc>
              <a:buFont typeface="Arial" panose="020B0604020202020204" pitchFamily="34" charset="0"/>
              <a:buChar char="•"/>
            </a:pPr>
            <a:r>
              <a:rPr lang="en-US" sz="2000" dirty="0">
                <a:solidFill>
                  <a:srgbClr val="1B415D"/>
                </a:solidFill>
              </a:rPr>
              <a:t>Captures the effect of past days</a:t>
            </a:r>
          </a:p>
        </p:txBody>
      </p:sp>
      <p:pic>
        <p:nvPicPr>
          <p:cNvPr id="4" name="Picture 3">
            <a:extLst>
              <a:ext uri="{FF2B5EF4-FFF2-40B4-BE49-F238E27FC236}">
                <a16:creationId xmlns:a16="http://schemas.microsoft.com/office/drawing/2014/main" id="{28839A50-2797-4A6E-D443-231A76A18631}"/>
              </a:ext>
            </a:extLst>
          </p:cNvPr>
          <p:cNvPicPr>
            <a:picLocks noChangeAspect="1"/>
          </p:cNvPicPr>
          <p:nvPr/>
        </p:nvPicPr>
        <p:blipFill>
          <a:blip r:embed="rId8"/>
          <a:stretch>
            <a:fillRect/>
          </a:stretch>
        </p:blipFill>
        <p:spPr>
          <a:xfrm>
            <a:off x="6820864" y="1297885"/>
            <a:ext cx="1869676" cy="1869676"/>
          </a:xfrm>
          <a:prstGeom prst="rect">
            <a:avLst/>
          </a:prstGeom>
        </p:spPr>
      </p:pic>
      <p:pic>
        <p:nvPicPr>
          <p:cNvPr id="6" name="Picture 5">
            <a:extLst>
              <a:ext uri="{FF2B5EF4-FFF2-40B4-BE49-F238E27FC236}">
                <a16:creationId xmlns:a16="http://schemas.microsoft.com/office/drawing/2014/main" id="{1241091B-FB6A-4281-EDA8-F051F9FD2781}"/>
              </a:ext>
            </a:extLst>
          </p:cNvPr>
          <p:cNvPicPr>
            <a:picLocks noChangeAspect="1"/>
          </p:cNvPicPr>
          <p:nvPr/>
        </p:nvPicPr>
        <p:blipFill>
          <a:blip r:embed="rId9"/>
          <a:stretch>
            <a:fillRect/>
          </a:stretch>
        </p:blipFill>
        <p:spPr>
          <a:xfrm>
            <a:off x="9715884" y="1869065"/>
            <a:ext cx="2003224" cy="1869676"/>
          </a:xfrm>
          <a:prstGeom prst="rect">
            <a:avLst/>
          </a:prstGeom>
        </p:spPr>
      </p:pic>
      <p:pic>
        <p:nvPicPr>
          <p:cNvPr id="1028" name="Picture 4" descr="https://www.geeksforgeeks.org/machine-learning/what-is-lag-in-time-series-forecasting/">
            <a:extLst>
              <a:ext uri="{FF2B5EF4-FFF2-40B4-BE49-F238E27FC236}">
                <a16:creationId xmlns:a16="http://schemas.microsoft.com/office/drawing/2014/main" id="{5978EA1E-70C9-0D29-FE00-E9FFC6A20BED}"/>
              </a:ext>
            </a:extLst>
          </p:cNvPr>
          <p:cNvPicPr>
            <a:picLocks noChangeAspect="1" noChangeArrowheads="1"/>
          </p:cNvPicPr>
          <p:nvPr/>
        </p:nvPicPr>
        <p:blipFill rotWithShape="1">
          <a:blip r:embed="rId10">
            <a:clrChange>
              <a:clrFrom>
                <a:srgbClr val="FFFFFF"/>
              </a:clrFrom>
              <a:clrTo>
                <a:srgbClr val="FFFFFF">
                  <a:alpha val="0"/>
                </a:srgbClr>
              </a:clrTo>
            </a:clrChange>
            <a:extLst>
              <a:ext uri="{28A0092B-C50C-407E-A947-70E740481C1C}">
                <a14:useLocalDpi xmlns:a14="http://schemas.microsoft.com/office/drawing/2010/main" val="0"/>
              </a:ext>
            </a:extLst>
          </a:blip>
          <a:srcRect r="49609"/>
          <a:stretch>
            <a:fillRect/>
          </a:stretch>
        </p:blipFill>
        <p:spPr bwMode="auto">
          <a:xfrm>
            <a:off x="6811541" y="3427089"/>
            <a:ext cx="3769373" cy="22674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10831470-A01C-06B8-5A37-76F87EDA30E1}"/>
              </a:ext>
            </a:extLst>
          </p:cNvPr>
          <p:cNvSpPr txBox="1"/>
          <p:nvPr/>
        </p:nvSpPr>
        <p:spPr>
          <a:xfrm>
            <a:off x="6713232" y="5617334"/>
            <a:ext cx="3970471" cy="230832"/>
          </a:xfrm>
          <a:prstGeom prst="rect">
            <a:avLst/>
          </a:prstGeom>
          <a:noFill/>
        </p:spPr>
        <p:txBody>
          <a:bodyPr wrap="square">
            <a:spAutoFit/>
          </a:bodyPr>
          <a:lstStyle/>
          <a:p>
            <a:r>
              <a:rPr lang="en-US" sz="900" dirty="0" err="1"/>
              <a:t>geeksforgeeks.org</a:t>
            </a:r>
            <a:r>
              <a:rPr lang="en-US" sz="900" dirty="0"/>
              <a:t>/machine-learning/what-is-lag-in-time-series-forecasting/</a:t>
            </a:r>
          </a:p>
        </p:txBody>
      </p:sp>
    </p:spTree>
    <p:extLst>
      <p:ext uri="{BB962C8B-B14F-4D97-AF65-F5344CB8AC3E}">
        <p14:creationId xmlns:p14="http://schemas.microsoft.com/office/powerpoint/2010/main" val="2338099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278AB7E-3A67-D7BE-40B5-81401BF3168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368532D-A47C-DFBA-CC8C-5F7872AB939B}"/>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B47FFA3A-2731-6663-3CF1-683AFC1FF485}"/>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33DAC67A-45F9-D227-0E4D-4C29E4B9A18F}"/>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5D79C4D0-B157-D45C-22AF-72D73B20FDF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F8873B5D-7814-E7B9-768E-90CCBAC482D5}"/>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6DC0D446-EA9E-F4F9-4FFC-7E22DE03A78C}"/>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4F47F20C-AB8B-C708-4622-BF6A0A4B3AC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1AE9E32B-A41E-6ED3-80BB-44DC7D26CA67}"/>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45802F09-DEB1-A382-6823-C6C83C8ED3A9}"/>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Preprocessing</a:t>
            </a:r>
          </a:p>
        </p:txBody>
      </p:sp>
      <p:sp>
        <p:nvSpPr>
          <p:cNvPr id="8" name="TextBox 7">
            <a:extLst>
              <a:ext uri="{FF2B5EF4-FFF2-40B4-BE49-F238E27FC236}">
                <a16:creationId xmlns:a16="http://schemas.microsoft.com/office/drawing/2014/main" id="{374F7717-0FF4-2569-3166-970646905E2B}"/>
              </a:ext>
            </a:extLst>
          </p:cNvPr>
          <p:cNvSpPr txBox="1"/>
          <p:nvPr/>
        </p:nvSpPr>
        <p:spPr>
          <a:xfrm>
            <a:off x="6713232" y="5617334"/>
            <a:ext cx="3970471" cy="230832"/>
          </a:xfrm>
          <a:prstGeom prst="rect">
            <a:avLst/>
          </a:prstGeom>
          <a:noFill/>
        </p:spPr>
        <p:txBody>
          <a:bodyPr wrap="square">
            <a:spAutoFit/>
          </a:bodyPr>
          <a:lstStyle/>
          <a:p>
            <a:r>
              <a:rPr lang="en-US" sz="900" dirty="0" err="1"/>
              <a:t>geeksforgeeks.org</a:t>
            </a:r>
            <a:r>
              <a:rPr lang="en-US" sz="900" dirty="0"/>
              <a:t>/machine-learning/what-is-lag-in-time-series-forecasting/</a:t>
            </a:r>
          </a:p>
        </p:txBody>
      </p:sp>
      <p:sp>
        <p:nvSpPr>
          <p:cNvPr id="7" name="Rectangle 6">
            <a:extLst>
              <a:ext uri="{FF2B5EF4-FFF2-40B4-BE49-F238E27FC236}">
                <a16:creationId xmlns:a16="http://schemas.microsoft.com/office/drawing/2014/main" id="{8428210D-7A38-A82F-EC95-5821E6EFA9DE}"/>
              </a:ext>
            </a:extLst>
          </p:cNvPr>
          <p:cNvSpPr/>
          <p:nvPr/>
        </p:nvSpPr>
        <p:spPr>
          <a:xfrm>
            <a:off x="6481187" y="1545900"/>
            <a:ext cx="5144129" cy="39371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87DCF9C-6603-47B8-352A-F98FF17E0DA6}"/>
              </a:ext>
            </a:extLst>
          </p:cNvPr>
          <p:cNvSpPr txBox="1"/>
          <p:nvPr/>
        </p:nvSpPr>
        <p:spPr>
          <a:xfrm>
            <a:off x="566684" y="2289067"/>
            <a:ext cx="6146548" cy="3125727"/>
          </a:xfrm>
          <a:prstGeom prst="rect">
            <a:avLst/>
          </a:prstGeom>
          <a:noFill/>
        </p:spPr>
        <p:txBody>
          <a:bodyPr wrap="square">
            <a:spAutoFit/>
          </a:bodyPr>
          <a:lstStyle/>
          <a:p>
            <a:pPr marL="457200" indent="-457200">
              <a:buFont typeface="Arial" panose="020B0604020202020204" pitchFamily="34" charset="0"/>
              <a:buChar char="•"/>
            </a:pPr>
            <a:r>
              <a:rPr lang="en-US" sz="2000" dirty="0">
                <a:solidFill>
                  <a:schemeClr val="bg1">
                    <a:lumMod val="85000"/>
                  </a:schemeClr>
                </a:solidFill>
              </a:rPr>
              <a:t>Removing Outliers and null values</a:t>
            </a:r>
          </a:p>
          <a:p>
            <a:pPr marL="914400" lvl="1" indent="-457200">
              <a:buFont typeface="Arial" panose="020B0604020202020204" pitchFamily="34" charset="0"/>
              <a:buChar char="•"/>
            </a:pPr>
            <a:r>
              <a:rPr lang="en-US" sz="2000" dirty="0">
                <a:solidFill>
                  <a:srgbClr val="1B415D"/>
                </a:solidFill>
              </a:rPr>
              <a:t>Time Series Decomposition. [8] </a:t>
            </a:r>
          </a:p>
          <a:p>
            <a:pPr marL="914400" lvl="1" indent="-457200">
              <a:buFont typeface="Arial" panose="020B0604020202020204" pitchFamily="34" charset="0"/>
              <a:buChar char="•"/>
            </a:pPr>
            <a:r>
              <a:rPr lang="en-US" sz="2000" dirty="0">
                <a:solidFill>
                  <a:schemeClr val="bg1">
                    <a:lumMod val="85000"/>
                  </a:schemeClr>
                </a:solidFill>
              </a:rPr>
              <a:t>Statical methods like normal distribution.</a:t>
            </a:r>
          </a:p>
          <a:p>
            <a:pPr marL="457200" indent="-457200">
              <a:buFont typeface="Arial" panose="020B0604020202020204" pitchFamily="34" charset="0"/>
              <a:buChar char="•"/>
            </a:pPr>
            <a:r>
              <a:rPr lang="en-US" sz="2000" dirty="0">
                <a:solidFill>
                  <a:schemeClr val="bg1">
                    <a:lumMod val="85000"/>
                  </a:schemeClr>
                </a:solidFill>
              </a:rPr>
              <a:t>Integrating climate data. [3,5]</a:t>
            </a:r>
          </a:p>
          <a:p>
            <a:pPr marL="457200" indent="-457200">
              <a:lnSpc>
                <a:spcPct val="150000"/>
              </a:lnSpc>
              <a:buFont typeface="Arial" panose="020B0604020202020204" pitchFamily="34" charset="0"/>
              <a:buChar char="•"/>
            </a:pPr>
            <a:r>
              <a:rPr lang="en-US" sz="2000" dirty="0">
                <a:solidFill>
                  <a:schemeClr val="bg1">
                    <a:lumMod val="85000"/>
                  </a:schemeClr>
                </a:solidFill>
              </a:rPr>
              <a:t>THI Compose </a:t>
            </a:r>
          </a:p>
          <a:p>
            <a:pPr marL="914400" lvl="1" indent="-457200">
              <a:lnSpc>
                <a:spcPct val="150000"/>
              </a:lnSpc>
              <a:buFont typeface="Arial" panose="020B0604020202020204" pitchFamily="34" charset="0"/>
              <a:buChar char="•"/>
            </a:pPr>
            <a:r>
              <a:rPr lang="en-US" sz="2000" dirty="0">
                <a:solidFill>
                  <a:schemeClr val="bg1">
                    <a:lumMod val="85000"/>
                  </a:schemeClr>
                </a:solidFill>
              </a:rPr>
              <a:t>Avg of 2 days before and after [3] </a:t>
            </a:r>
          </a:p>
          <a:p>
            <a:pPr marL="457200" indent="-457200">
              <a:lnSpc>
                <a:spcPct val="150000"/>
              </a:lnSpc>
              <a:buFont typeface="Arial" panose="020B0604020202020204" pitchFamily="34" charset="0"/>
              <a:buChar char="•"/>
            </a:pPr>
            <a:r>
              <a:rPr lang="en-US" sz="2000" dirty="0">
                <a:solidFill>
                  <a:schemeClr val="bg1">
                    <a:lumMod val="85000"/>
                  </a:schemeClr>
                </a:solidFill>
              </a:rPr>
              <a:t>Lag Features</a:t>
            </a:r>
          </a:p>
          <a:p>
            <a:pPr marL="914400" lvl="1" indent="-457200">
              <a:lnSpc>
                <a:spcPct val="150000"/>
              </a:lnSpc>
              <a:buFont typeface="Arial" panose="020B0604020202020204" pitchFamily="34" charset="0"/>
              <a:buChar char="•"/>
            </a:pPr>
            <a:r>
              <a:rPr lang="en-US" sz="2000" dirty="0">
                <a:solidFill>
                  <a:schemeClr val="bg1">
                    <a:lumMod val="85000"/>
                  </a:schemeClr>
                </a:solidFill>
              </a:rPr>
              <a:t>Captures the effect of past days</a:t>
            </a:r>
          </a:p>
        </p:txBody>
      </p:sp>
    </p:spTree>
    <p:extLst>
      <p:ext uri="{BB962C8B-B14F-4D97-AF65-F5344CB8AC3E}">
        <p14:creationId xmlns:p14="http://schemas.microsoft.com/office/powerpoint/2010/main" val="20912378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CE6A6A7-8438-59E2-0AF9-E3C361CFC81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4147F0B-5D5A-EE2E-AEF7-843EB98966B6}"/>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45C0BDC3-F447-BC5A-DBC8-08DE68C33AC5}"/>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29C96A04-1E24-2B12-E1A9-9FD15044BA1F}"/>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44EA5240-04FF-FEC1-7562-9FFD9C93F1E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FFEAB398-71AC-818C-AFAA-3E80156E1303}"/>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80CF4456-6D12-3276-58AE-ED1130B5909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6B3772A5-1FAD-9BDB-307C-E0F806E9D0C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BA7B9F37-EFCF-D781-C840-C38F47C27C49}"/>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761A3E92-B49C-2E7E-135E-7890385E687D}"/>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Preprocessing</a:t>
            </a:r>
          </a:p>
        </p:txBody>
      </p:sp>
      <p:sp>
        <p:nvSpPr>
          <p:cNvPr id="8" name="TextBox 7">
            <a:extLst>
              <a:ext uri="{FF2B5EF4-FFF2-40B4-BE49-F238E27FC236}">
                <a16:creationId xmlns:a16="http://schemas.microsoft.com/office/drawing/2014/main" id="{845BE717-1375-667E-3085-41FB67890041}"/>
              </a:ext>
            </a:extLst>
          </p:cNvPr>
          <p:cNvSpPr txBox="1"/>
          <p:nvPr/>
        </p:nvSpPr>
        <p:spPr>
          <a:xfrm>
            <a:off x="6713232" y="5617334"/>
            <a:ext cx="3970471" cy="230832"/>
          </a:xfrm>
          <a:prstGeom prst="rect">
            <a:avLst/>
          </a:prstGeom>
          <a:noFill/>
        </p:spPr>
        <p:txBody>
          <a:bodyPr wrap="square">
            <a:spAutoFit/>
          </a:bodyPr>
          <a:lstStyle/>
          <a:p>
            <a:r>
              <a:rPr lang="en-US" sz="900" dirty="0" err="1"/>
              <a:t>geeksforgeeks.org</a:t>
            </a:r>
            <a:r>
              <a:rPr lang="en-US" sz="900" dirty="0"/>
              <a:t>/machine-learning/what-is-lag-in-time-series-forecasting/</a:t>
            </a:r>
          </a:p>
        </p:txBody>
      </p:sp>
      <p:sp>
        <p:nvSpPr>
          <p:cNvPr id="7" name="Rectangle 6">
            <a:extLst>
              <a:ext uri="{FF2B5EF4-FFF2-40B4-BE49-F238E27FC236}">
                <a16:creationId xmlns:a16="http://schemas.microsoft.com/office/drawing/2014/main" id="{DCD35724-7E8A-C723-9016-7C653BE8D4E7}"/>
              </a:ext>
            </a:extLst>
          </p:cNvPr>
          <p:cNvSpPr/>
          <p:nvPr/>
        </p:nvSpPr>
        <p:spPr>
          <a:xfrm>
            <a:off x="6481187" y="1545900"/>
            <a:ext cx="5144129" cy="39371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EE183B42-B1E7-CBEC-67D6-8DA3B03F7C76}"/>
              </a:ext>
            </a:extLst>
          </p:cNvPr>
          <p:cNvSpPr txBox="1"/>
          <p:nvPr/>
        </p:nvSpPr>
        <p:spPr>
          <a:xfrm>
            <a:off x="566684" y="2289067"/>
            <a:ext cx="6146548" cy="3125727"/>
          </a:xfrm>
          <a:prstGeom prst="rect">
            <a:avLst/>
          </a:prstGeom>
          <a:noFill/>
        </p:spPr>
        <p:txBody>
          <a:bodyPr wrap="square">
            <a:spAutoFit/>
          </a:bodyPr>
          <a:lstStyle/>
          <a:p>
            <a:pPr marL="457200" indent="-457200">
              <a:buFont typeface="Arial" panose="020B0604020202020204" pitchFamily="34" charset="0"/>
              <a:buChar char="•"/>
            </a:pPr>
            <a:r>
              <a:rPr lang="en-US" sz="2000" dirty="0">
                <a:solidFill>
                  <a:schemeClr val="bg1">
                    <a:lumMod val="85000"/>
                  </a:schemeClr>
                </a:solidFill>
              </a:rPr>
              <a:t>Removing Outliers and null values</a:t>
            </a:r>
          </a:p>
          <a:p>
            <a:pPr marL="914400" lvl="1" indent="-457200">
              <a:buFont typeface="Arial" panose="020B0604020202020204" pitchFamily="34" charset="0"/>
              <a:buChar char="•"/>
            </a:pPr>
            <a:r>
              <a:rPr lang="en-US" sz="2000" dirty="0">
                <a:solidFill>
                  <a:schemeClr val="bg1">
                    <a:lumMod val="85000"/>
                  </a:schemeClr>
                </a:solidFill>
              </a:rPr>
              <a:t>Time Series Decomposition. [8] </a:t>
            </a:r>
          </a:p>
          <a:p>
            <a:pPr marL="914400" lvl="1" indent="-457200">
              <a:buFont typeface="Arial" panose="020B0604020202020204" pitchFamily="34" charset="0"/>
              <a:buChar char="•"/>
            </a:pPr>
            <a:r>
              <a:rPr lang="en-US" sz="2000" dirty="0">
                <a:solidFill>
                  <a:schemeClr val="tx2"/>
                </a:solidFill>
              </a:rPr>
              <a:t>Statical methods like normal distribution.</a:t>
            </a:r>
          </a:p>
          <a:p>
            <a:pPr marL="457200" indent="-457200">
              <a:buFont typeface="Arial" panose="020B0604020202020204" pitchFamily="34" charset="0"/>
              <a:buChar char="•"/>
            </a:pPr>
            <a:r>
              <a:rPr lang="en-US" sz="2000" dirty="0">
                <a:solidFill>
                  <a:schemeClr val="bg1">
                    <a:lumMod val="85000"/>
                  </a:schemeClr>
                </a:solidFill>
              </a:rPr>
              <a:t>Integrating climate data. [3,5]</a:t>
            </a:r>
          </a:p>
          <a:p>
            <a:pPr marL="457200" indent="-457200">
              <a:lnSpc>
                <a:spcPct val="150000"/>
              </a:lnSpc>
              <a:buFont typeface="Arial" panose="020B0604020202020204" pitchFamily="34" charset="0"/>
              <a:buChar char="•"/>
            </a:pPr>
            <a:r>
              <a:rPr lang="en-US" sz="2000" dirty="0">
                <a:solidFill>
                  <a:schemeClr val="bg1">
                    <a:lumMod val="85000"/>
                  </a:schemeClr>
                </a:solidFill>
              </a:rPr>
              <a:t>THI Compose </a:t>
            </a:r>
          </a:p>
          <a:p>
            <a:pPr marL="914400" lvl="1" indent="-457200">
              <a:lnSpc>
                <a:spcPct val="150000"/>
              </a:lnSpc>
              <a:buFont typeface="Arial" panose="020B0604020202020204" pitchFamily="34" charset="0"/>
              <a:buChar char="•"/>
            </a:pPr>
            <a:r>
              <a:rPr lang="en-US" sz="2000" dirty="0">
                <a:solidFill>
                  <a:schemeClr val="bg1">
                    <a:lumMod val="85000"/>
                  </a:schemeClr>
                </a:solidFill>
              </a:rPr>
              <a:t>Avg of 2 days before and after [3] </a:t>
            </a:r>
          </a:p>
          <a:p>
            <a:pPr marL="457200" indent="-457200">
              <a:lnSpc>
                <a:spcPct val="150000"/>
              </a:lnSpc>
              <a:buFont typeface="Arial" panose="020B0604020202020204" pitchFamily="34" charset="0"/>
              <a:buChar char="•"/>
            </a:pPr>
            <a:r>
              <a:rPr lang="en-US" sz="2000" dirty="0">
                <a:solidFill>
                  <a:schemeClr val="bg1">
                    <a:lumMod val="85000"/>
                  </a:schemeClr>
                </a:solidFill>
              </a:rPr>
              <a:t>Lag Features</a:t>
            </a:r>
          </a:p>
          <a:p>
            <a:pPr marL="914400" lvl="1" indent="-457200">
              <a:lnSpc>
                <a:spcPct val="150000"/>
              </a:lnSpc>
              <a:buFont typeface="Arial" panose="020B0604020202020204" pitchFamily="34" charset="0"/>
              <a:buChar char="•"/>
            </a:pPr>
            <a:r>
              <a:rPr lang="en-US" sz="2000" dirty="0">
                <a:solidFill>
                  <a:schemeClr val="bg1">
                    <a:lumMod val="85000"/>
                  </a:schemeClr>
                </a:solidFill>
              </a:rPr>
              <a:t>Captures the effect of past days</a:t>
            </a:r>
          </a:p>
        </p:txBody>
      </p:sp>
    </p:spTree>
    <p:extLst>
      <p:ext uri="{BB962C8B-B14F-4D97-AF65-F5344CB8AC3E}">
        <p14:creationId xmlns:p14="http://schemas.microsoft.com/office/powerpoint/2010/main" val="6719597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87218F5-9FAB-62AF-FF8D-D76BCD141A3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AFBD4E5-AF9F-1049-2EEB-79E612ECC485}"/>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924859E7-E94A-EB53-5B60-9C8F2B08B64D}"/>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FAF89C09-F82D-2D3B-B22F-61A93B645911}"/>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BA436218-CF02-35DA-66C9-172EF17212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085FE8C6-7061-994B-F697-A693FBB0060B}"/>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10A510F8-5125-0F81-2CBC-1356C271A13F}"/>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D79BCABC-B7B2-D7BA-479A-C63FA005AD4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79239B66-6FB4-33C4-D020-39DEFA4C377B}"/>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2344D61C-8F66-D9A0-237E-5C776AA5F5DC}"/>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Feature Extraction</a:t>
            </a:r>
          </a:p>
        </p:txBody>
      </p:sp>
      <p:sp>
        <p:nvSpPr>
          <p:cNvPr id="3" name="TextBox 2">
            <a:extLst>
              <a:ext uri="{FF2B5EF4-FFF2-40B4-BE49-F238E27FC236}">
                <a16:creationId xmlns:a16="http://schemas.microsoft.com/office/drawing/2014/main" id="{B3F57061-431D-EEFD-2685-7381895D806F}"/>
              </a:ext>
            </a:extLst>
          </p:cNvPr>
          <p:cNvSpPr txBox="1"/>
          <p:nvPr/>
        </p:nvSpPr>
        <p:spPr>
          <a:xfrm>
            <a:off x="566684" y="2289067"/>
            <a:ext cx="6146548" cy="1015663"/>
          </a:xfrm>
          <a:prstGeom prst="rect">
            <a:avLst/>
          </a:prstGeom>
          <a:noFill/>
        </p:spPr>
        <p:txBody>
          <a:bodyPr wrap="square">
            <a:spAutoFit/>
          </a:bodyPr>
          <a:lstStyle/>
          <a:p>
            <a:pPr marL="457200" indent="-457200">
              <a:buFont typeface="Arial" panose="020B0604020202020204" pitchFamily="34" charset="0"/>
              <a:buChar char="•"/>
            </a:pPr>
            <a:r>
              <a:rPr lang="en-US" sz="2000" dirty="0">
                <a:solidFill>
                  <a:srgbClr val="1B415D"/>
                </a:solidFill>
              </a:rPr>
              <a:t>A</a:t>
            </a:r>
          </a:p>
          <a:p>
            <a:pPr marL="457200" indent="-457200">
              <a:buFont typeface="Arial" panose="020B0604020202020204" pitchFamily="34" charset="0"/>
              <a:buChar char="•"/>
            </a:pPr>
            <a:r>
              <a:rPr lang="en-US" sz="2000" dirty="0">
                <a:solidFill>
                  <a:srgbClr val="1B415D"/>
                </a:solidFill>
              </a:rPr>
              <a:t>B</a:t>
            </a:r>
          </a:p>
          <a:p>
            <a:pPr marL="457200" indent="-457200">
              <a:buFont typeface="Arial" panose="020B0604020202020204" pitchFamily="34" charset="0"/>
              <a:buChar char="•"/>
            </a:pPr>
            <a:r>
              <a:rPr lang="en-US" sz="2000" dirty="0">
                <a:solidFill>
                  <a:srgbClr val="1B415D"/>
                </a:solidFill>
              </a:rPr>
              <a:t>C</a:t>
            </a:r>
          </a:p>
        </p:txBody>
      </p:sp>
    </p:spTree>
    <p:extLst>
      <p:ext uri="{BB962C8B-B14F-4D97-AF65-F5344CB8AC3E}">
        <p14:creationId xmlns:p14="http://schemas.microsoft.com/office/powerpoint/2010/main" val="33013398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D85D2A-439A-5F54-3816-CE11E89F916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256F5E0-7E6F-0DBE-4670-08B85BE8BD54}"/>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5A1F74A8-83DE-00B5-42C8-8924AFF2A7BE}"/>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B57BC342-1ECF-A32A-54E5-5AF123627F79}"/>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08CD0E5F-A4CB-6436-3DF5-F9ABE402254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CA925CAD-1122-6573-21C4-72FC491FA270}"/>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1B6FD7E7-EF61-D66E-8194-D65A5DD1D859}"/>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86717F38-EFC1-28B3-06B2-4F973835962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D2DD6F95-7B24-9ED8-A877-D37F4E5D0487}"/>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C4201124-9670-2BFC-4557-FB81DE7A3401}"/>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Feature Extraction</a:t>
            </a:r>
          </a:p>
        </p:txBody>
      </p:sp>
      <p:sp>
        <p:nvSpPr>
          <p:cNvPr id="3" name="TextBox 2">
            <a:extLst>
              <a:ext uri="{FF2B5EF4-FFF2-40B4-BE49-F238E27FC236}">
                <a16:creationId xmlns:a16="http://schemas.microsoft.com/office/drawing/2014/main" id="{C80C1FFD-7D61-74C0-AE6C-1577BC02062F}"/>
              </a:ext>
            </a:extLst>
          </p:cNvPr>
          <p:cNvSpPr txBox="1"/>
          <p:nvPr/>
        </p:nvSpPr>
        <p:spPr>
          <a:xfrm>
            <a:off x="566684" y="2289067"/>
            <a:ext cx="6146548" cy="1015663"/>
          </a:xfrm>
          <a:prstGeom prst="rect">
            <a:avLst/>
          </a:prstGeom>
          <a:noFill/>
        </p:spPr>
        <p:txBody>
          <a:bodyPr wrap="square">
            <a:spAutoFit/>
          </a:bodyPr>
          <a:lstStyle/>
          <a:p>
            <a:pPr marL="457200" indent="-457200">
              <a:buFont typeface="Arial" panose="020B0604020202020204" pitchFamily="34" charset="0"/>
              <a:buChar char="•"/>
            </a:pPr>
            <a:r>
              <a:rPr lang="en-US" sz="2000" dirty="0">
                <a:solidFill>
                  <a:srgbClr val="1B415D"/>
                </a:solidFill>
              </a:rPr>
              <a:t>A</a:t>
            </a:r>
          </a:p>
          <a:p>
            <a:pPr marL="457200" indent="-457200">
              <a:buFont typeface="Arial" panose="020B0604020202020204" pitchFamily="34" charset="0"/>
              <a:buChar char="•"/>
            </a:pPr>
            <a:r>
              <a:rPr lang="en-US" sz="2000" dirty="0">
                <a:solidFill>
                  <a:schemeClr val="bg1">
                    <a:lumMod val="85000"/>
                  </a:schemeClr>
                </a:solidFill>
              </a:rPr>
              <a:t>B</a:t>
            </a:r>
          </a:p>
          <a:p>
            <a:pPr marL="457200" indent="-457200">
              <a:buFont typeface="Arial" panose="020B0604020202020204" pitchFamily="34" charset="0"/>
              <a:buChar char="•"/>
            </a:pPr>
            <a:r>
              <a:rPr lang="en-US" sz="2000" dirty="0">
                <a:solidFill>
                  <a:schemeClr val="bg1">
                    <a:lumMod val="85000"/>
                  </a:schemeClr>
                </a:solidFill>
              </a:rPr>
              <a:t>C</a:t>
            </a:r>
          </a:p>
        </p:txBody>
      </p:sp>
    </p:spTree>
    <p:extLst>
      <p:ext uri="{BB962C8B-B14F-4D97-AF65-F5344CB8AC3E}">
        <p14:creationId xmlns:p14="http://schemas.microsoft.com/office/powerpoint/2010/main" val="21177105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9BC4845-5632-0830-4DEB-7C325770B85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F642480-0971-26C1-ABB5-8878584F2102}"/>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7E60F817-0622-7C68-4C14-742E8A98C57C}"/>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5F637B7C-3E68-F88F-4CB4-F6EE34E885E0}"/>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FA2B0DDB-9372-A317-C0AB-CAD9DAF1C0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8898DEEC-1C4C-B007-EF1E-7160E50B33DA}"/>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35A74E12-3BDA-9B29-64B8-D0288409594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CD1A8D34-3469-661B-6A75-80E61E4CF31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CDD9657F-7792-75CE-B30B-AA58AFA24F0C}"/>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C7899092-E13E-475D-2C75-924D0DB5B77B}"/>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Feature Extraction</a:t>
            </a:r>
          </a:p>
        </p:txBody>
      </p:sp>
      <p:sp>
        <p:nvSpPr>
          <p:cNvPr id="3" name="TextBox 2">
            <a:extLst>
              <a:ext uri="{FF2B5EF4-FFF2-40B4-BE49-F238E27FC236}">
                <a16:creationId xmlns:a16="http://schemas.microsoft.com/office/drawing/2014/main" id="{BF0C0480-051F-92BC-5A4C-DAA5943FC0D4}"/>
              </a:ext>
            </a:extLst>
          </p:cNvPr>
          <p:cNvSpPr txBox="1"/>
          <p:nvPr/>
        </p:nvSpPr>
        <p:spPr>
          <a:xfrm>
            <a:off x="566684" y="2289067"/>
            <a:ext cx="6146548" cy="1015663"/>
          </a:xfrm>
          <a:prstGeom prst="rect">
            <a:avLst/>
          </a:prstGeom>
          <a:noFill/>
        </p:spPr>
        <p:txBody>
          <a:bodyPr wrap="square">
            <a:spAutoFit/>
          </a:bodyPr>
          <a:lstStyle/>
          <a:p>
            <a:pPr marL="457200" indent="-457200">
              <a:buFont typeface="Arial" panose="020B0604020202020204" pitchFamily="34" charset="0"/>
              <a:buChar char="•"/>
            </a:pPr>
            <a:r>
              <a:rPr lang="en-US" sz="2000" dirty="0">
                <a:solidFill>
                  <a:schemeClr val="bg1">
                    <a:lumMod val="85000"/>
                  </a:schemeClr>
                </a:solidFill>
              </a:rPr>
              <a:t>A</a:t>
            </a:r>
          </a:p>
          <a:p>
            <a:pPr marL="457200" indent="-457200">
              <a:buFont typeface="Arial" panose="020B0604020202020204" pitchFamily="34" charset="0"/>
              <a:buChar char="•"/>
            </a:pPr>
            <a:r>
              <a:rPr lang="en-US" sz="2000" dirty="0">
                <a:solidFill>
                  <a:schemeClr val="bg1">
                    <a:lumMod val="85000"/>
                  </a:schemeClr>
                </a:solidFill>
              </a:rPr>
              <a:t>B</a:t>
            </a:r>
          </a:p>
          <a:p>
            <a:pPr marL="457200" indent="-457200">
              <a:buFont typeface="Arial" panose="020B0604020202020204" pitchFamily="34" charset="0"/>
              <a:buChar char="•"/>
            </a:pPr>
            <a:r>
              <a:rPr lang="en-US" sz="2000" dirty="0">
                <a:solidFill>
                  <a:schemeClr val="tx2"/>
                </a:solidFill>
              </a:rPr>
              <a:t>C</a:t>
            </a:r>
          </a:p>
        </p:txBody>
      </p:sp>
    </p:spTree>
    <p:extLst>
      <p:ext uri="{BB962C8B-B14F-4D97-AF65-F5344CB8AC3E}">
        <p14:creationId xmlns:p14="http://schemas.microsoft.com/office/powerpoint/2010/main" val="15465759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3A7421F-928B-1495-AF7A-F043957A54B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5C0B1F9-D5FE-567F-A419-E9CD68298E4D}"/>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611F2895-E161-6A28-BB9C-C326BDDBB417}"/>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F43539BF-FFF6-5164-8909-32C103F7EDF8}"/>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E4727650-FCCD-2193-DACF-25DCF4281EC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E262A914-A0FD-B069-5675-AC72AE6C12F6}"/>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65A0CCDD-294C-0C0F-EDB7-77A49A3D3AFE}"/>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0E722836-B8B9-8228-0D24-26E3DBB4DC3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C94FD259-A79D-3EE2-2DF5-B5219028BD80}"/>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5230A2BA-D346-F3D0-4C38-A94A550F02BE}"/>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Application Machine Learning</a:t>
            </a:r>
          </a:p>
        </p:txBody>
      </p:sp>
      <p:sp>
        <p:nvSpPr>
          <p:cNvPr id="3" name="TextBox 2">
            <a:extLst>
              <a:ext uri="{FF2B5EF4-FFF2-40B4-BE49-F238E27FC236}">
                <a16:creationId xmlns:a16="http://schemas.microsoft.com/office/drawing/2014/main" id="{A69DDB12-7A05-581A-A56C-41E33E629B0B}"/>
              </a:ext>
            </a:extLst>
          </p:cNvPr>
          <p:cNvSpPr txBox="1"/>
          <p:nvPr/>
        </p:nvSpPr>
        <p:spPr>
          <a:xfrm>
            <a:off x="566684" y="2289067"/>
            <a:ext cx="6146548" cy="3125727"/>
          </a:xfrm>
          <a:prstGeom prst="rect">
            <a:avLst/>
          </a:prstGeom>
          <a:noFill/>
        </p:spPr>
        <p:txBody>
          <a:bodyPr wrap="square">
            <a:spAutoFit/>
          </a:bodyPr>
          <a:lstStyle/>
          <a:p>
            <a:pPr marL="457200" indent="-457200">
              <a:buFont typeface="Arial" panose="020B0604020202020204" pitchFamily="34" charset="0"/>
              <a:buChar char="•"/>
            </a:pPr>
            <a:r>
              <a:rPr lang="en-US" sz="2000" dirty="0">
                <a:solidFill>
                  <a:srgbClr val="1B415D"/>
                </a:solidFill>
              </a:rPr>
              <a:t>Removing Outliers and null values</a:t>
            </a:r>
          </a:p>
          <a:p>
            <a:pPr marL="914400" lvl="1" indent="-457200">
              <a:buFont typeface="Arial" panose="020B0604020202020204" pitchFamily="34" charset="0"/>
              <a:buChar char="•"/>
            </a:pPr>
            <a:r>
              <a:rPr lang="en-US" sz="2000" dirty="0">
                <a:solidFill>
                  <a:srgbClr val="1B415D"/>
                </a:solidFill>
              </a:rPr>
              <a:t>Time Series Decomposition. [8] </a:t>
            </a:r>
          </a:p>
          <a:p>
            <a:pPr marL="914400" lvl="1" indent="-457200">
              <a:buFont typeface="Arial" panose="020B0604020202020204" pitchFamily="34" charset="0"/>
              <a:buChar char="•"/>
            </a:pPr>
            <a:r>
              <a:rPr lang="en-US" sz="2000" dirty="0">
                <a:solidFill>
                  <a:srgbClr val="1B415D"/>
                </a:solidFill>
              </a:rPr>
              <a:t>Statical methods like normal distribution.</a:t>
            </a:r>
          </a:p>
          <a:p>
            <a:pPr marL="457200" indent="-457200">
              <a:buFont typeface="Arial" panose="020B0604020202020204" pitchFamily="34" charset="0"/>
              <a:buChar char="•"/>
            </a:pPr>
            <a:r>
              <a:rPr lang="en-US" sz="2000" dirty="0">
                <a:solidFill>
                  <a:srgbClr val="1B415D"/>
                </a:solidFill>
              </a:rPr>
              <a:t>Integrating climate data. [3,5]</a:t>
            </a:r>
          </a:p>
          <a:p>
            <a:pPr marL="457200" indent="-457200">
              <a:lnSpc>
                <a:spcPct val="150000"/>
              </a:lnSpc>
              <a:buFont typeface="Arial" panose="020B0604020202020204" pitchFamily="34" charset="0"/>
              <a:buChar char="•"/>
            </a:pPr>
            <a:r>
              <a:rPr lang="en-US" sz="2000" dirty="0">
                <a:solidFill>
                  <a:srgbClr val="1B415D"/>
                </a:solidFill>
              </a:rPr>
              <a:t>THI Compose </a:t>
            </a:r>
          </a:p>
          <a:p>
            <a:pPr marL="914400" lvl="1" indent="-457200">
              <a:lnSpc>
                <a:spcPct val="150000"/>
              </a:lnSpc>
              <a:buFont typeface="Arial" panose="020B0604020202020204" pitchFamily="34" charset="0"/>
              <a:buChar char="•"/>
            </a:pPr>
            <a:r>
              <a:rPr lang="en-US" sz="2000" dirty="0">
                <a:solidFill>
                  <a:srgbClr val="1B415D"/>
                </a:solidFill>
              </a:rPr>
              <a:t>Avg of 2 days before and after [3] </a:t>
            </a:r>
          </a:p>
          <a:p>
            <a:pPr marL="457200" indent="-457200">
              <a:lnSpc>
                <a:spcPct val="150000"/>
              </a:lnSpc>
              <a:buFont typeface="Arial" panose="020B0604020202020204" pitchFamily="34" charset="0"/>
              <a:buChar char="•"/>
            </a:pPr>
            <a:r>
              <a:rPr lang="en-US" sz="2000" dirty="0">
                <a:solidFill>
                  <a:srgbClr val="1B415D"/>
                </a:solidFill>
              </a:rPr>
              <a:t>Lag Features</a:t>
            </a:r>
          </a:p>
          <a:p>
            <a:pPr marL="914400" lvl="1" indent="-457200">
              <a:lnSpc>
                <a:spcPct val="150000"/>
              </a:lnSpc>
              <a:buFont typeface="Arial" panose="020B0604020202020204" pitchFamily="34" charset="0"/>
              <a:buChar char="•"/>
            </a:pPr>
            <a:r>
              <a:rPr lang="en-US" sz="2000" dirty="0">
                <a:solidFill>
                  <a:srgbClr val="1B415D"/>
                </a:solidFill>
              </a:rPr>
              <a:t>Captures the effect of past days</a:t>
            </a:r>
          </a:p>
        </p:txBody>
      </p:sp>
      <p:pic>
        <p:nvPicPr>
          <p:cNvPr id="4" name="Picture 3">
            <a:extLst>
              <a:ext uri="{FF2B5EF4-FFF2-40B4-BE49-F238E27FC236}">
                <a16:creationId xmlns:a16="http://schemas.microsoft.com/office/drawing/2014/main" id="{35FCD436-9861-BEDD-9EF6-7D00DF60964B}"/>
              </a:ext>
            </a:extLst>
          </p:cNvPr>
          <p:cNvPicPr>
            <a:picLocks noChangeAspect="1"/>
          </p:cNvPicPr>
          <p:nvPr/>
        </p:nvPicPr>
        <p:blipFill>
          <a:blip r:embed="rId8"/>
          <a:stretch>
            <a:fillRect/>
          </a:stretch>
        </p:blipFill>
        <p:spPr>
          <a:xfrm>
            <a:off x="6820864" y="1297885"/>
            <a:ext cx="1869676" cy="1869676"/>
          </a:xfrm>
          <a:prstGeom prst="rect">
            <a:avLst/>
          </a:prstGeom>
        </p:spPr>
      </p:pic>
      <p:pic>
        <p:nvPicPr>
          <p:cNvPr id="6" name="Picture 5">
            <a:extLst>
              <a:ext uri="{FF2B5EF4-FFF2-40B4-BE49-F238E27FC236}">
                <a16:creationId xmlns:a16="http://schemas.microsoft.com/office/drawing/2014/main" id="{3E92D6B7-5FBC-9C5E-8071-E7DC8EB51424}"/>
              </a:ext>
            </a:extLst>
          </p:cNvPr>
          <p:cNvPicPr>
            <a:picLocks noChangeAspect="1"/>
          </p:cNvPicPr>
          <p:nvPr/>
        </p:nvPicPr>
        <p:blipFill>
          <a:blip r:embed="rId9"/>
          <a:stretch>
            <a:fillRect/>
          </a:stretch>
        </p:blipFill>
        <p:spPr>
          <a:xfrm>
            <a:off x="9715884" y="1869065"/>
            <a:ext cx="2003224" cy="1869676"/>
          </a:xfrm>
          <a:prstGeom prst="rect">
            <a:avLst/>
          </a:prstGeom>
        </p:spPr>
      </p:pic>
      <p:pic>
        <p:nvPicPr>
          <p:cNvPr id="1028" name="Picture 4" descr="https://www.geeksforgeeks.org/machine-learning/what-is-lag-in-time-series-forecasting/">
            <a:extLst>
              <a:ext uri="{FF2B5EF4-FFF2-40B4-BE49-F238E27FC236}">
                <a16:creationId xmlns:a16="http://schemas.microsoft.com/office/drawing/2014/main" id="{DDDC4ECF-1824-F0C5-0B8B-ED79B6F65D48}"/>
              </a:ext>
            </a:extLst>
          </p:cNvPr>
          <p:cNvPicPr>
            <a:picLocks noChangeAspect="1" noChangeArrowheads="1"/>
          </p:cNvPicPr>
          <p:nvPr/>
        </p:nvPicPr>
        <p:blipFill rotWithShape="1">
          <a:blip r:embed="rId10">
            <a:clrChange>
              <a:clrFrom>
                <a:srgbClr val="FFFFFF"/>
              </a:clrFrom>
              <a:clrTo>
                <a:srgbClr val="FFFFFF">
                  <a:alpha val="0"/>
                </a:srgbClr>
              </a:clrTo>
            </a:clrChange>
            <a:extLst>
              <a:ext uri="{28A0092B-C50C-407E-A947-70E740481C1C}">
                <a14:useLocalDpi xmlns:a14="http://schemas.microsoft.com/office/drawing/2010/main" val="0"/>
              </a:ext>
            </a:extLst>
          </a:blip>
          <a:srcRect r="49609"/>
          <a:stretch>
            <a:fillRect/>
          </a:stretch>
        </p:blipFill>
        <p:spPr bwMode="auto">
          <a:xfrm>
            <a:off x="6811541" y="3427089"/>
            <a:ext cx="3769373" cy="22674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44493852-6471-B743-573F-1839A6C9F8DE}"/>
              </a:ext>
            </a:extLst>
          </p:cNvPr>
          <p:cNvSpPr txBox="1"/>
          <p:nvPr/>
        </p:nvSpPr>
        <p:spPr>
          <a:xfrm>
            <a:off x="6713232" y="5617334"/>
            <a:ext cx="3970471" cy="230832"/>
          </a:xfrm>
          <a:prstGeom prst="rect">
            <a:avLst/>
          </a:prstGeom>
          <a:noFill/>
        </p:spPr>
        <p:txBody>
          <a:bodyPr wrap="square">
            <a:spAutoFit/>
          </a:bodyPr>
          <a:lstStyle/>
          <a:p>
            <a:r>
              <a:rPr lang="en-US" sz="900" dirty="0" err="1"/>
              <a:t>geeksforgeeks.org</a:t>
            </a:r>
            <a:r>
              <a:rPr lang="en-US" sz="900" dirty="0"/>
              <a:t>/machine-learning/what-is-lag-in-time-series-forecasting/</a:t>
            </a:r>
          </a:p>
        </p:txBody>
      </p:sp>
    </p:spTree>
    <p:extLst>
      <p:ext uri="{BB962C8B-B14F-4D97-AF65-F5344CB8AC3E}">
        <p14:creationId xmlns:p14="http://schemas.microsoft.com/office/powerpoint/2010/main" val="25340535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3CBA236-30B4-49FD-9503-F0FECC8FE84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24BDC56-9F74-AADC-4D67-A6E55FE2D26B}"/>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BCDA963C-54B8-C7B9-4031-D46AFC247398}"/>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0EB3E7BA-59FE-2E07-F5D6-FD9C4D3735C4}"/>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48EB9246-D79E-A1B1-642B-6DB1852076B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E0FC0A23-96E5-E717-7279-FC79CDE80A55}"/>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91E8D2EE-AB04-B9D1-47CE-8567921EC8B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3CD21C08-C6CD-8013-D3F0-A30C6D28703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AAB3E23F-0007-7218-893F-223ED43D138C}"/>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AEEAECDD-0CF1-5FD6-F551-A943B2A1A068}"/>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Model</a:t>
            </a:r>
          </a:p>
        </p:txBody>
      </p:sp>
      <p:sp>
        <p:nvSpPr>
          <p:cNvPr id="3" name="TextBox 2">
            <a:extLst>
              <a:ext uri="{FF2B5EF4-FFF2-40B4-BE49-F238E27FC236}">
                <a16:creationId xmlns:a16="http://schemas.microsoft.com/office/drawing/2014/main" id="{082F119A-31E7-65E6-C64E-918F3293EA05}"/>
              </a:ext>
            </a:extLst>
          </p:cNvPr>
          <p:cNvSpPr txBox="1"/>
          <p:nvPr/>
        </p:nvSpPr>
        <p:spPr>
          <a:xfrm>
            <a:off x="566684" y="2289067"/>
            <a:ext cx="6146548" cy="3125727"/>
          </a:xfrm>
          <a:prstGeom prst="rect">
            <a:avLst/>
          </a:prstGeom>
          <a:noFill/>
        </p:spPr>
        <p:txBody>
          <a:bodyPr wrap="square">
            <a:spAutoFit/>
          </a:bodyPr>
          <a:lstStyle/>
          <a:p>
            <a:pPr marL="457200" indent="-457200">
              <a:buFont typeface="Arial" panose="020B0604020202020204" pitchFamily="34" charset="0"/>
              <a:buChar char="•"/>
            </a:pPr>
            <a:r>
              <a:rPr lang="en-US" sz="2000" dirty="0">
                <a:solidFill>
                  <a:srgbClr val="1B415D"/>
                </a:solidFill>
              </a:rPr>
              <a:t>Removing Outliers and null values</a:t>
            </a:r>
          </a:p>
          <a:p>
            <a:pPr marL="914400" lvl="1" indent="-457200">
              <a:buFont typeface="Arial" panose="020B0604020202020204" pitchFamily="34" charset="0"/>
              <a:buChar char="•"/>
            </a:pPr>
            <a:r>
              <a:rPr lang="en-US" sz="2000" dirty="0">
                <a:solidFill>
                  <a:srgbClr val="1B415D"/>
                </a:solidFill>
              </a:rPr>
              <a:t>Time Series Decomposition. [8] </a:t>
            </a:r>
          </a:p>
          <a:p>
            <a:pPr marL="914400" lvl="1" indent="-457200">
              <a:buFont typeface="Arial" panose="020B0604020202020204" pitchFamily="34" charset="0"/>
              <a:buChar char="•"/>
            </a:pPr>
            <a:r>
              <a:rPr lang="en-US" sz="2000" dirty="0">
                <a:solidFill>
                  <a:srgbClr val="1B415D"/>
                </a:solidFill>
              </a:rPr>
              <a:t>Statical methods like normal distribution.</a:t>
            </a:r>
          </a:p>
          <a:p>
            <a:pPr marL="457200" indent="-457200">
              <a:buFont typeface="Arial" panose="020B0604020202020204" pitchFamily="34" charset="0"/>
              <a:buChar char="•"/>
            </a:pPr>
            <a:r>
              <a:rPr lang="en-US" sz="2000" dirty="0">
                <a:solidFill>
                  <a:srgbClr val="1B415D"/>
                </a:solidFill>
              </a:rPr>
              <a:t>Integrating climate data. [3,5]</a:t>
            </a:r>
          </a:p>
          <a:p>
            <a:pPr marL="457200" indent="-457200">
              <a:lnSpc>
                <a:spcPct val="150000"/>
              </a:lnSpc>
              <a:buFont typeface="Arial" panose="020B0604020202020204" pitchFamily="34" charset="0"/>
              <a:buChar char="•"/>
            </a:pPr>
            <a:r>
              <a:rPr lang="en-US" sz="2000" dirty="0">
                <a:solidFill>
                  <a:srgbClr val="1B415D"/>
                </a:solidFill>
              </a:rPr>
              <a:t>THI Compose </a:t>
            </a:r>
          </a:p>
          <a:p>
            <a:pPr marL="914400" lvl="1" indent="-457200">
              <a:lnSpc>
                <a:spcPct val="150000"/>
              </a:lnSpc>
              <a:buFont typeface="Arial" panose="020B0604020202020204" pitchFamily="34" charset="0"/>
              <a:buChar char="•"/>
            </a:pPr>
            <a:r>
              <a:rPr lang="en-US" sz="2000" dirty="0">
                <a:solidFill>
                  <a:srgbClr val="1B415D"/>
                </a:solidFill>
              </a:rPr>
              <a:t>Avg of 2 days before and after [3] </a:t>
            </a:r>
          </a:p>
          <a:p>
            <a:pPr marL="457200" indent="-457200">
              <a:lnSpc>
                <a:spcPct val="150000"/>
              </a:lnSpc>
              <a:buFont typeface="Arial" panose="020B0604020202020204" pitchFamily="34" charset="0"/>
              <a:buChar char="•"/>
            </a:pPr>
            <a:r>
              <a:rPr lang="en-US" sz="2000" dirty="0">
                <a:solidFill>
                  <a:srgbClr val="1B415D"/>
                </a:solidFill>
              </a:rPr>
              <a:t>Lag Features</a:t>
            </a:r>
          </a:p>
          <a:p>
            <a:pPr marL="914400" lvl="1" indent="-457200">
              <a:lnSpc>
                <a:spcPct val="150000"/>
              </a:lnSpc>
              <a:buFont typeface="Arial" panose="020B0604020202020204" pitchFamily="34" charset="0"/>
              <a:buChar char="•"/>
            </a:pPr>
            <a:r>
              <a:rPr lang="en-US" sz="2000" dirty="0">
                <a:solidFill>
                  <a:srgbClr val="1B415D"/>
                </a:solidFill>
              </a:rPr>
              <a:t>Captures the effect of past days</a:t>
            </a:r>
          </a:p>
        </p:txBody>
      </p:sp>
      <p:pic>
        <p:nvPicPr>
          <p:cNvPr id="4" name="Picture 3">
            <a:extLst>
              <a:ext uri="{FF2B5EF4-FFF2-40B4-BE49-F238E27FC236}">
                <a16:creationId xmlns:a16="http://schemas.microsoft.com/office/drawing/2014/main" id="{EB818D59-3DF5-57CC-3E7F-D5320E626A1F}"/>
              </a:ext>
            </a:extLst>
          </p:cNvPr>
          <p:cNvPicPr>
            <a:picLocks noChangeAspect="1"/>
          </p:cNvPicPr>
          <p:nvPr/>
        </p:nvPicPr>
        <p:blipFill>
          <a:blip r:embed="rId8"/>
          <a:stretch>
            <a:fillRect/>
          </a:stretch>
        </p:blipFill>
        <p:spPr>
          <a:xfrm>
            <a:off x="6820864" y="1297885"/>
            <a:ext cx="1869676" cy="1869676"/>
          </a:xfrm>
          <a:prstGeom prst="rect">
            <a:avLst/>
          </a:prstGeom>
        </p:spPr>
      </p:pic>
      <p:pic>
        <p:nvPicPr>
          <p:cNvPr id="6" name="Picture 5">
            <a:extLst>
              <a:ext uri="{FF2B5EF4-FFF2-40B4-BE49-F238E27FC236}">
                <a16:creationId xmlns:a16="http://schemas.microsoft.com/office/drawing/2014/main" id="{4C01F456-2C83-4A85-DA27-112F95C2781B}"/>
              </a:ext>
            </a:extLst>
          </p:cNvPr>
          <p:cNvPicPr>
            <a:picLocks noChangeAspect="1"/>
          </p:cNvPicPr>
          <p:nvPr/>
        </p:nvPicPr>
        <p:blipFill>
          <a:blip r:embed="rId9"/>
          <a:stretch>
            <a:fillRect/>
          </a:stretch>
        </p:blipFill>
        <p:spPr>
          <a:xfrm>
            <a:off x="9715884" y="1869065"/>
            <a:ext cx="2003224" cy="1869676"/>
          </a:xfrm>
          <a:prstGeom prst="rect">
            <a:avLst/>
          </a:prstGeom>
        </p:spPr>
      </p:pic>
      <p:pic>
        <p:nvPicPr>
          <p:cNvPr id="1028" name="Picture 4" descr="https://www.geeksforgeeks.org/machine-learning/what-is-lag-in-time-series-forecasting/">
            <a:extLst>
              <a:ext uri="{FF2B5EF4-FFF2-40B4-BE49-F238E27FC236}">
                <a16:creationId xmlns:a16="http://schemas.microsoft.com/office/drawing/2014/main" id="{E838363C-22DD-128E-4DCC-4F0516235A29}"/>
              </a:ext>
            </a:extLst>
          </p:cNvPr>
          <p:cNvPicPr>
            <a:picLocks noChangeAspect="1" noChangeArrowheads="1"/>
          </p:cNvPicPr>
          <p:nvPr/>
        </p:nvPicPr>
        <p:blipFill rotWithShape="1">
          <a:blip r:embed="rId10">
            <a:clrChange>
              <a:clrFrom>
                <a:srgbClr val="FFFFFF"/>
              </a:clrFrom>
              <a:clrTo>
                <a:srgbClr val="FFFFFF">
                  <a:alpha val="0"/>
                </a:srgbClr>
              </a:clrTo>
            </a:clrChange>
            <a:extLst>
              <a:ext uri="{28A0092B-C50C-407E-A947-70E740481C1C}">
                <a14:useLocalDpi xmlns:a14="http://schemas.microsoft.com/office/drawing/2010/main" val="0"/>
              </a:ext>
            </a:extLst>
          </a:blip>
          <a:srcRect r="49609"/>
          <a:stretch>
            <a:fillRect/>
          </a:stretch>
        </p:blipFill>
        <p:spPr bwMode="auto">
          <a:xfrm>
            <a:off x="6811541" y="3427089"/>
            <a:ext cx="3769373" cy="22674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29FD2D09-8AA8-C4A0-1CEA-5D33F3E33D70}"/>
              </a:ext>
            </a:extLst>
          </p:cNvPr>
          <p:cNvSpPr txBox="1"/>
          <p:nvPr/>
        </p:nvSpPr>
        <p:spPr>
          <a:xfrm>
            <a:off x="6713232" y="5617334"/>
            <a:ext cx="3970471" cy="230832"/>
          </a:xfrm>
          <a:prstGeom prst="rect">
            <a:avLst/>
          </a:prstGeom>
          <a:noFill/>
        </p:spPr>
        <p:txBody>
          <a:bodyPr wrap="square">
            <a:spAutoFit/>
          </a:bodyPr>
          <a:lstStyle/>
          <a:p>
            <a:r>
              <a:rPr lang="en-US" sz="900" dirty="0" err="1"/>
              <a:t>geeksforgeeks.org</a:t>
            </a:r>
            <a:r>
              <a:rPr lang="en-US" sz="900" dirty="0"/>
              <a:t>/machine-learning/what-is-lag-in-time-series-forecasting/</a:t>
            </a:r>
          </a:p>
        </p:txBody>
      </p:sp>
    </p:spTree>
    <p:extLst>
      <p:ext uri="{BB962C8B-B14F-4D97-AF65-F5344CB8AC3E}">
        <p14:creationId xmlns:p14="http://schemas.microsoft.com/office/powerpoint/2010/main" val="18044682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C1D9A89-ECF6-BD7A-E216-D163A219957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7E309FA-8948-CDE1-BBFF-4E72F50D300A}"/>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CDF67F3D-1603-6EDC-BB50-23477F80C397}"/>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1D4D5C47-4C9E-EB83-A8F8-0D9200D1A0CF}"/>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1E0AA4A9-334B-A211-989D-08ACB9567B7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366E2C6B-3CDE-3041-D2B6-769DCFF9D002}"/>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A283B44E-7921-EF96-4794-1C66DDB30B52}"/>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6B37888E-5652-3DC3-B11A-4FA3A7738A1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0CABCFC7-3A1D-6D79-B1F9-ADBD569E0C1B}"/>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3D0C6B46-A9B6-BC44-2A4F-84217D395719}"/>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Model Selection for Prediction Task</a:t>
            </a:r>
          </a:p>
        </p:txBody>
      </p:sp>
      <p:sp>
        <p:nvSpPr>
          <p:cNvPr id="3" name="TextBox 2">
            <a:extLst>
              <a:ext uri="{FF2B5EF4-FFF2-40B4-BE49-F238E27FC236}">
                <a16:creationId xmlns:a16="http://schemas.microsoft.com/office/drawing/2014/main" id="{7BBD6652-674A-2793-3116-46F04A248A7F}"/>
              </a:ext>
            </a:extLst>
          </p:cNvPr>
          <p:cNvSpPr txBox="1"/>
          <p:nvPr/>
        </p:nvSpPr>
        <p:spPr>
          <a:xfrm>
            <a:off x="566684" y="2289067"/>
            <a:ext cx="11272634" cy="2615460"/>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solidFill>
                  <a:srgbClr val="1B415D"/>
                </a:solidFill>
                <a:sym typeface="Wingdings" pitchFamily="2" charset="2"/>
              </a:rPr>
              <a:t>Individual model for each animal </a:t>
            </a:r>
            <a:r>
              <a:rPr lang="en-US" sz="2000" dirty="0">
                <a:solidFill>
                  <a:srgbClr val="1B415D"/>
                </a:solidFill>
                <a:sym typeface="Wingdings" pitchFamily="2" charset="2"/>
              </a:rPr>
              <a:t>[5,6]</a:t>
            </a:r>
            <a:r>
              <a:rPr lang="en-US" sz="2800" dirty="0">
                <a:solidFill>
                  <a:srgbClr val="1B415D"/>
                </a:solidFill>
                <a:sym typeface="Wingdings" pitchFamily="2" charset="2"/>
              </a:rPr>
              <a:t>:</a:t>
            </a:r>
          </a:p>
          <a:p>
            <a:pPr marL="800100" lvl="1" indent="-342900">
              <a:lnSpc>
                <a:spcPct val="150000"/>
              </a:lnSpc>
              <a:buFont typeface="Arial" panose="020B0604020202020204" pitchFamily="34" charset="0"/>
              <a:buChar char="•"/>
            </a:pPr>
            <a:r>
              <a:rPr lang="en-US" sz="2800" dirty="0">
                <a:solidFill>
                  <a:srgbClr val="1B415D"/>
                </a:solidFill>
                <a:sym typeface="Wingdings" pitchFamily="2" charset="2"/>
              </a:rPr>
              <a:t>Not scalable.</a:t>
            </a:r>
          </a:p>
          <a:p>
            <a:pPr marL="342900" indent="-342900">
              <a:lnSpc>
                <a:spcPct val="150000"/>
              </a:lnSpc>
              <a:buFont typeface="Arial" panose="020B0604020202020204" pitchFamily="34" charset="0"/>
              <a:buChar char="•"/>
            </a:pPr>
            <a:r>
              <a:rPr lang="en-US" sz="2800" dirty="0">
                <a:solidFill>
                  <a:srgbClr val="1B415D"/>
                </a:solidFill>
              </a:rPr>
              <a:t>Global model for all the animals.</a:t>
            </a:r>
          </a:p>
          <a:p>
            <a:pPr marL="800100" lvl="1" indent="-342900">
              <a:lnSpc>
                <a:spcPct val="150000"/>
              </a:lnSpc>
              <a:buFont typeface="Arial" panose="020B0604020202020204" pitchFamily="34" charset="0"/>
              <a:buChar char="•"/>
            </a:pPr>
            <a:r>
              <a:rPr lang="en-US" sz="2800" dirty="0">
                <a:solidFill>
                  <a:srgbClr val="1B415D"/>
                </a:solidFill>
              </a:rPr>
              <a:t>LGBM, </a:t>
            </a:r>
            <a:r>
              <a:rPr lang="en-US" sz="2800" dirty="0" err="1">
                <a:solidFill>
                  <a:srgbClr val="1B415D"/>
                </a:solidFill>
              </a:rPr>
              <a:t>XGBoost</a:t>
            </a:r>
            <a:r>
              <a:rPr lang="en-US" sz="2800" dirty="0">
                <a:solidFill>
                  <a:srgbClr val="1B415D"/>
                </a:solidFill>
              </a:rPr>
              <a:t>,  RNN works perfectly for global model. </a:t>
            </a:r>
            <a:r>
              <a:rPr lang="en-US" sz="2000" dirty="0">
                <a:solidFill>
                  <a:srgbClr val="1B415D"/>
                </a:solidFill>
              </a:rPr>
              <a:t>[3,7]</a:t>
            </a:r>
            <a:endParaRPr lang="en-US" sz="2800" dirty="0">
              <a:solidFill>
                <a:srgbClr val="1B415D"/>
              </a:solidFill>
            </a:endParaRPr>
          </a:p>
        </p:txBody>
      </p:sp>
    </p:spTree>
    <p:extLst>
      <p:ext uri="{BB962C8B-B14F-4D97-AF65-F5344CB8AC3E}">
        <p14:creationId xmlns:p14="http://schemas.microsoft.com/office/powerpoint/2010/main" val="40122198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94EB18-D00A-7C25-2638-BAED9338C1A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6BA13EB-7948-8069-10B1-2815AFEEA82A}"/>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4B7E5826-B507-4BC3-5367-072A51DE8CB6}"/>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5091BE09-867C-2BCE-22F4-C8E2979CDADE}"/>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805527F1-098F-87A7-ACE5-DBCDDA7EC3D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C5411C04-E3EC-E5F7-FC4C-35BE27F12160}"/>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2735159E-AEB3-0A07-BD84-6BEAA75D640E}"/>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5CFD98B8-5E2E-5276-B932-B6F554ADECD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08DBD9DB-CE9F-329E-C5D9-51BCFDE4E9F1}"/>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A724BF28-A004-F740-3888-69C7D66C9403}"/>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Evaluation and Metrics</a:t>
            </a:r>
          </a:p>
        </p:txBody>
      </p:sp>
      <p:sp>
        <p:nvSpPr>
          <p:cNvPr id="3" name="TextBox 2">
            <a:extLst>
              <a:ext uri="{FF2B5EF4-FFF2-40B4-BE49-F238E27FC236}">
                <a16:creationId xmlns:a16="http://schemas.microsoft.com/office/drawing/2014/main" id="{2669AA5B-F0A3-5C0E-39FC-2011331C9DF5}"/>
              </a:ext>
            </a:extLst>
          </p:cNvPr>
          <p:cNvSpPr txBox="1"/>
          <p:nvPr/>
        </p:nvSpPr>
        <p:spPr>
          <a:xfrm>
            <a:off x="566684" y="2289067"/>
            <a:ext cx="3299922" cy="323787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solidFill>
                  <a:srgbClr val="1B415D"/>
                </a:solidFill>
                <a:sym typeface="Wingdings" pitchFamily="2" charset="2"/>
              </a:rPr>
              <a:t>Cross-Validation</a:t>
            </a:r>
          </a:p>
          <a:p>
            <a:pPr marL="342900" indent="-342900">
              <a:lnSpc>
                <a:spcPct val="150000"/>
              </a:lnSpc>
              <a:buFont typeface="Arial" panose="020B0604020202020204" pitchFamily="34" charset="0"/>
              <a:buChar char="•"/>
            </a:pPr>
            <a:r>
              <a:rPr lang="en-US" sz="2800" dirty="0">
                <a:solidFill>
                  <a:srgbClr val="1B415D"/>
                </a:solidFill>
                <a:sym typeface="Wingdings" pitchFamily="2" charset="2"/>
              </a:rPr>
              <a:t>Global model  </a:t>
            </a:r>
          </a:p>
          <a:p>
            <a:pPr marL="800100" lvl="1" indent="-342900">
              <a:lnSpc>
                <a:spcPct val="150000"/>
              </a:lnSpc>
              <a:buFont typeface="Arial" panose="020B0604020202020204" pitchFamily="34" charset="0"/>
              <a:buChar char="•"/>
            </a:pPr>
            <a:r>
              <a:rPr lang="en-US" dirty="0">
                <a:solidFill>
                  <a:srgbClr val="1B415D"/>
                </a:solidFill>
                <a:sym typeface="Wingdings" pitchFamily="2" charset="2"/>
              </a:rPr>
              <a:t>We can use both</a:t>
            </a:r>
          </a:p>
          <a:p>
            <a:pPr marL="342900" indent="-342900">
              <a:lnSpc>
                <a:spcPct val="150000"/>
              </a:lnSpc>
              <a:buFont typeface="Arial" panose="020B0604020202020204" pitchFamily="34" charset="0"/>
              <a:buChar char="•"/>
            </a:pPr>
            <a:r>
              <a:rPr lang="en-US" sz="2800" dirty="0">
                <a:solidFill>
                  <a:srgbClr val="1B415D"/>
                </a:solidFill>
                <a:sym typeface="Wingdings" pitchFamily="2" charset="2"/>
              </a:rPr>
              <a:t>Individual model  </a:t>
            </a:r>
          </a:p>
          <a:p>
            <a:pPr marL="800100" lvl="1" indent="-342900">
              <a:lnSpc>
                <a:spcPct val="150000"/>
              </a:lnSpc>
              <a:buFont typeface="Arial" panose="020B0604020202020204" pitchFamily="34" charset="0"/>
              <a:buChar char="•"/>
            </a:pPr>
            <a:r>
              <a:rPr lang="en-US" dirty="0">
                <a:solidFill>
                  <a:srgbClr val="1B415D"/>
                </a:solidFill>
                <a:sym typeface="Wingdings" pitchFamily="2" charset="2"/>
              </a:rPr>
              <a:t>We can use time series cross validation </a:t>
            </a:r>
            <a:endParaRPr lang="en-US" sz="2800" dirty="0">
              <a:solidFill>
                <a:srgbClr val="1B415D"/>
              </a:solidFill>
              <a:sym typeface="Wingdings" pitchFamily="2" charset="2"/>
            </a:endParaRPr>
          </a:p>
        </p:txBody>
      </p:sp>
      <p:pic>
        <p:nvPicPr>
          <p:cNvPr id="2052" name="Picture 4" descr="Classical k -fold cross validation vs. time series split cross validation |  Download Scientific Diagram">
            <a:extLst>
              <a:ext uri="{FF2B5EF4-FFF2-40B4-BE49-F238E27FC236}">
                <a16:creationId xmlns:a16="http://schemas.microsoft.com/office/drawing/2014/main" id="{8A136E2D-582B-46BF-190A-CFBDDFC380D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866606" y="2182065"/>
            <a:ext cx="8104846" cy="344217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9423F93-BC90-179B-42B2-A9D218D0A3AF}"/>
              </a:ext>
            </a:extLst>
          </p:cNvPr>
          <p:cNvSpPr txBox="1"/>
          <p:nvPr/>
        </p:nvSpPr>
        <p:spPr>
          <a:xfrm>
            <a:off x="4564263" y="5358796"/>
            <a:ext cx="7014755" cy="246221"/>
          </a:xfrm>
          <a:prstGeom prst="rect">
            <a:avLst/>
          </a:prstGeom>
          <a:noFill/>
        </p:spPr>
        <p:txBody>
          <a:bodyPr wrap="square">
            <a:spAutoFit/>
          </a:bodyPr>
          <a:lstStyle/>
          <a:p>
            <a:r>
              <a:rPr lang="en-US" sz="1000" dirty="0">
                <a:hlinkClick r:id="rId9"/>
              </a:rPr>
              <a:t>https://</a:t>
            </a:r>
            <a:r>
              <a:rPr lang="en-US" sz="1000" dirty="0" err="1">
                <a:hlinkClick r:id="rId9"/>
              </a:rPr>
              <a:t>www.researchgate.net</a:t>
            </a:r>
            <a:r>
              <a:rPr lang="en-US" sz="1000" dirty="0">
                <a:hlinkClick r:id="rId9"/>
              </a:rPr>
              <a:t>/figure/Classical-k-fold-cross-validation-vs-time-series-split-cross-validation_fig1_355889701</a:t>
            </a:r>
            <a:endParaRPr lang="en-US" sz="1000" dirty="0"/>
          </a:p>
        </p:txBody>
      </p:sp>
    </p:spTree>
    <p:extLst>
      <p:ext uri="{BB962C8B-B14F-4D97-AF65-F5344CB8AC3E}">
        <p14:creationId xmlns:p14="http://schemas.microsoft.com/office/powerpoint/2010/main" val="7246074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FA5A5CA-E797-8018-7C7F-0DB67A977A6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AC5F19D-D7B4-CAB4-FF21-47E9769D7ABE}"/>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EEB3A298-452F-21BD-485E-3C9E8248911A}"/>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9EBB90D6-E970-4110-A519-7DE513BE3D70}"/>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D74CD919-B5C1-AD1B-3ACC-CC3E7D364D8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2BDE0108-3AF2-23B5-BD5E-AC0C472F9B6C}"/>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C890D234-11D1-C222-1BC1-01D4B1BD295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904A8618-FD2B-D227-7643-5F35407585B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35310C75-2454-FCEF-E21A-20243FEDD380}"/>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BBBF64D3-34F2-5F4B-E621-70E69116F484}"/>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Evaluation and Metrics</a:t>
            </a:r>
          </a:p>
        </p:txBody>
      </p:sp>
      <p:sp>
        <p:nvSpPr>
          <p:cNvPr id="3" name="TextBox 2">
            <a:extLst>
              <a:ext uri="{FF2B5EF4-FFF2-40B4-BE49-F238E27FC236}">
                <a16:creationId xmlns:a16="http://schemas.microsoft.com/office/drawing/2014/main" id="{30849FA3-C5A7-89A2-EEC2-E15D54812CEE}"/>
              </a:ext>
            </a:extLst>
          </p:cNvPr>
          <p:cNvSpPr txBox="1"/>
          <p:nvPr/>
        </p:nvSpPr>
        <p:spPr>
          <a:xfrm>
            <a:off x="566684" y="2289067"/>
            <a:ext cx="4597400" cy="1969129"/>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solidFill>
                  <a:srgbClr val="1B415D"/>
                </a:solidFill>
                <a:sym typeface="Wingdings" pitchFamily="2" charset="2"/>
              </a:rPr>
              <a:t>R-squared</a:t>
            </a:r>
          </a:p>
          <a:p>
            <a:pPr>
              <a:lnSpc>
                <a:spcPct val="150000"/>
              </a:lnSpc>
            </a:pPr>
            <a:endParaRPr lang="en-US" sz="2800" dirty="0">
              <a:solidFill>
                <a:srgbClr val="1B415D"/>
              </a:solidFill>
              <a:sym typeface="Wingdings" pitchFamily="2" charset="2"/>
            </a:endParaRPr>
          </a:p>
          <a:p>
            <a:pPr marL="342900" indent="-342900">
              <a:lnSpc>
                <a:spcPct val="150000"/>
              </a:lnSpc>
              <a:buFont typeface="Arial" panose="020B0604020202020204" pitchFamily="34" charset="0"/>
              <a:buChar char="•"/>
            </a:pPr>
            <a:r>
              <a:rPr lang="en-US" sz="2800" dirty="0">
                <a:solidFill>
                  <a:srgbClr val="1B415D"/>
                </a:solidFill>
                <a:sym typeface="Wingdings" pitchFamily="2" charset="2"/>
              </a:rPr>
              <a:t>Root mean squared Error</a:t>
            </a:r>
          </a:p>
        </p:txBody>
      </p:sp>
      <p:grpSp>
        <p:nvGrpSpPr>
          <p:cNvPr id="4" name="Group 3">
            <a:extLst>
              <a:ext uri="{FF2B5EF4-FFF2-40B4-BE49-F238E27FC236}">
                <a16:creationId xmlns:a16="http://schemas.microsoft.com/office/drawing/2014/main" id="{68931B18-8309-86A0-966A-C03108FC3468}"/>
              </a:ext>
            </a:extLst>
          </p:cNvPr>
          <p:cNvGrpSpPr/>
          <p:nvPr/>
        </p:nvGrpSpPr>
        <p:grpSpPr>
          <a:xfrm>
            <a:off x="4728053" y="2150588"/>
            <a:ext cx="4380412" cy="1381024"/>
            <a:chOff x="4388418" y="2122544"/>
            <a:chExt cx="4380412" cy="1381024"/>
          </a:xfrm>
        </p:grpSpPr>
        <p:pic>
          <p:nvPicPr>
            <p:cNvPr id="4100" name="Picture 4" descr="Looking at R-Squared. In data science we create regression… | by Erika D |  Medium">
              <a:extLst>
                <a:ext uri="{FF2B5EF4-FFF2-40B4-BE49-F238E27FC236}">
                  <a16:creationId xmlns:a16="http://schemas.microsoft.com/office/drawing/2014/main" id="{0E40B6AA-5458-2E01-3C3B-B08DFEB2231F}"/>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r="83397"/>
            <a:stretch>
              <a:fillRect/>
            </a:stretch>
          </p:blipFill>
          <p:spPr bwMode="auto">
            <a:xfrm>
              <a:off x="4388418" y="2122544"/>
              <a:ext cx="1150233" cy="1381024"/>
            </a:xfrm>
            <a:prstGeom prst="rect">
              <a:avLst/>
            </a:prstGeom>
            <a:noFill/>
            <a:extLst>
              <a:ext uri="{909E8E84-426E-40DD-AFC4-6F175D3DCCD1}">
                <a14:hiddenFill xmlns:a14="http://schemas.microsoft.com/office/drawing/2010/main">
                  <a:solidFill>
                    <a:srgbClr val="FFFFFF"/>
                  </a:solidFill>
                </a14:hiddenFill>
              </a:ext>
            </a:extLst>
          </p:spPr>
        </p:pic>
        <p:pic>
          <p:nvPicPr>
            <p:cNvPr id="4104" name="Picture 8" descr="Looking at R-Squared. In data science we create regression… | by Erika D |  Medium">
              <a:extLst>
                <a:ext uri="{FF2B5EF4-FFF2-40B4-BE49-F238E27FC236}">
                  <a16:creationId xmlns:a16="http://schemas.microsoft.com/office/drawing/2014/main" id="{A2AF35E4-69CA-A58A-D606-1D3D6F659607}"/>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53373"/>
            <a:stretch>
              <a:fillRect/>
            </a:stretch>
          </p:blipFill>
          <p:spPr bwMode="auto">
            <a:xfrm>
              <a:off x="5538651" y="2122544"/>
              <a:ext cx="3230179" cy="1381024"/>
            </a:xfrm>
            <a:prstGeom prst="rect">
              <a:avLst/>
            </a:prstGeom>
            <a:noFill/>
            <a:extLst>
              <a:ext uri="{909E8E84-426E-40DD-AFC4-6F175D3DCCD1}">
                <a14:hiddenFill xmlns:a14="http://schemas.microsoft.com/office/drawing/2010/main">
                  <a:solidFill>
                    <a:srgbClr val="FFFFFF"/>
                  </a:solidFill>
                </a14:hiddenFill>
              </a:ext>
            </a:extLst>
          </p:spPr>
        </p:pic>
      </p:grpSp>
      <p:pic>
        <p:nvPicPr>
          <p:cNvPr id="6" name="Picture 5">
            <a:extLst>
              <a:ext uri="{FF2B5EF4-FFF2-40B4-BE49-F238E27FC236}">
                <a16:creationId xmlns:a16="http://schemas.microsoft.com/office/drawing/2014/main" id="{9B210D00-49D2-20A5-B2A8-4569425A21AB}"/>
              </a:ext>
            </a:extLst>
          </p:cNvPr>
          <p:cNvPicPr>
            <a:picLocks noChangeAspect="1"/>
          </p:cNvPicPr>
          <p:nvPr/>
        </p:nvPicPr>
        <p:blipFill>
          <a:blip r:embed="rId9"/>
          <a:stretch>
            <a:fillRect/>
          </a:stretch>
        </p:blipFill>
        <p:spPr>
          <a:xfrm>
            <a:off x="4511065" y="4288451"/>
            <a:ext cx="4597400" cy="1435100"/>
          </a:xfrm>
          <a:prstGeom prst="rect">
            <a:avLst/>
          </a:prstGeom>
        </p:spPr>
      </p:pic>
      <p:pic>
        <p:nvPicPr>
          <p:cNvPr id="9" name="Picture 8" descr="Looking at R-Squared. In data science we create regression… | by Erika D |  Medium">
            <a:extLst>
              <a:ext uri="{FF2B5EF4-FFF2-40B4-BE49-F238E27FC236}">
                <a16:creationId xmlns:a16="http://schemas.microsoft.com/office/drawing/2014/main" id="{3ED164B5-161F-71FA-C448-07617ACF891F}"/>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86529" t="8411" r="7868" b="53199"/>
          <a:stretch>
            <a:fillRect/>
          </a:stretch>
        </p:blipFill>
        <p:spPr bwMode="auto">
          <a:xfrm>
            <a:off x="9958700" y="2360532"/>
            <a:ext cx="388158" cy="530174"/>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5D99142A-D796-B2CC-361B-FE35B8CA0A3F}"/>
              </a:ext>
            </a:extLst>
          </p:cNvPr>
          <p:cNvSpPr txBox="1"/>
          <p:nvPr/>
        </p:nvSpPr>
        <p:spPr>
          <a:xfrm>
            <a:off x="10346858" y="2520078"/>
            <a:ext cx="1745221" cy="369332"/>
          </a:xfrm>
          <a:prstGeom prst="rect">
            <a:avLst/>
          </a:prstGeom>
          <a:noFill/>
        </p:spPr>
        <p:txBody>
          <a:bodyPr wrap="none" rtlCol="0">
            <a:spAutoFit/>
          </a:bodyPr>
          <a:lstStyle/>
          <a:p>
            <a:r>
              <a:rPr lang="en-US" dirty="0">
                <a:solidFill>
                  <a:srgbClr val="1B415D"/>
                </a:solidFill>
              </a:rPr>
              <a:t>Predicted Value</a:t>
            </a:r>
          </a:p>
        </p:txBody>
      </p:sp>
      <p:pic>
        <p:nvPicPr>
          <p:cNvPr id="16" name="Picture 8" descr="Looking at R-Squared. In data science we create regression… | by Erika D |  Medium">
            <a:extLst>
              <a:ext uri="{FF2B5EF4-FFF2-40B4-BE49-F238E27FC236}">
                <a16:creationId xmlns:a16="http://schemas.microsoft.com/office/drawing/2014/main" id="{A80365AB-8A15-FD84-785B-EBB96F4DE4D6}"/>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75114" t="20052" r="19283" b="56608"/>
          <a:stretch>
            <a:fillRect/>
          </a:stretch>
        </p:blipFill>
        <p:spPr bwMode="auto">
          <a:xfrm>
            <a:off x="9984826" y="3043480"/>
            <a:ext cx="388158" cy="322339"/>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1B68D679-75F3-5413-C529-C6F651512BE5}"/>
              </a:ext>
            </a:extLst>
          </p:cNvPr>
          <p:cNvSpPr txBox="1"/>
          <p:nvPr/>
        </p:nvSpPr>
        <p:spPr>
          <a:xfrm>
            <a:off x="10400421" y="3048806"/>
            <a:ext cx="1431161" cy="369332"/>
          </a:xfrm>
          <a:prstGeom prst="rect">
            <a:avLst/>
          </a:prstGeom>
          <a:noFill/>
        </p:spPr>
        <p:txBody>
          <a:bodyPr wrap="none" rtlCol="0">
            <a:spAutoFit/>
          </a:bodyPr>
          <a:lstStyle/>
          <a:p>
            <a:r>
              <a:rPr lang="en-US" dirty="0">
                <a:solidFill>
                  <a:srgbClr val="1B415D"/>
                </a:solidFill>
              </a:rPr>
              <a:t>Actual Value</a:t>
            </a:r>
          </a:p>
        </p:txBody>
      </p:sp>
      <p:pic>
        <p:nvPicPr>
          <p:cNvPr id="18" name="Picture 8" descr="Looking at R-Squared. In data science we create regression… | by Erika D |  Medium">
            <a:extLst>
              <a:ext uri="{FF2B5EF4-FFF2-40B4-BE49-F238E27FC236}">
                <a16:creationId xmlns:a16="http://schemas.microsoft.com/office/drawing/2014/main" id="{0B7B060C-C3A3-96D7-E4FA-4D8F9BB70878}"/>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87566" t="52612" r="8285" b="8860"/>
          <a:stretch>
            <a:fillRect/>
          </a:stretch>
        </p:blipFill>
        <p:spPr bwMode="auto">
          <a:xfrm>
            <a:off x="9997889" y="3570845"/>
            <a:ext cx="287383" cy="532083"/>
          </a:xfrm>
          <a:prstGeom prst="rect">
            <a:avLst/>
          </a:prstGeom>
          <a:noFill/>
          <a:extLst>
            <a:ext uri="{909E8E84-426E-40DD-AFC4-6F175D3DCCD1}">
              <a14:hiddenFill xmlns:a14="http://schemas.microsoft.com/office/drawing/2010/main">
                <a:solidFill>
                  <a:srgbClr val="FFFFFF"/>
                </a:solidFill>
              </a14:hiddenFill>
            </a:ext>
          </a:extLst>
        </p:spPr>
      </p:pic>
      <p:sp>
        <p:nvSpPr>
          <p:cNvPr id="19" name="TextBox 18">
            <a:extLst>
              <a:ext uri="{FF2B5EF4-FFF2-40B4-BE49-F238E27FC236}">
                <a16:creationId xmlns:a16="http://schemas.microsoft.com/office/drawing/2014/main" id="{AE693343-3B7E-BF3B-2D17-19DE55AC5DC6}"/>
              </a:ext>
            </a:extLst>
          </p:cNvPr>
          <p:cNvSpPr txBox="1"/>
          <p:nvPr/>
        </p:nvSpPr>
        <p:spPr>
          <a:xfrm>
            <a:off x="10478797" y="3507423"/>
            <a:ext cx="1431161" cy="646331"/>
          </a:xfrm>
          <a:prstGeom prst="rect">
            <a:avLst/>
          </a:prstGeom>
          <a:noFill/>
        </p:spPr>
        <p:txBody>
          <a:bodyPr wrap="square" rtlCol="0">
            <a:spAutoFit/>
          </a:bodyPr>
          <a:lstStyle/>
          <a:p>
            <a:r>
              <a:rPr lang="en-US" dirty="0">
                <a:solidFill>
                  <a:srgbClr val="1B415D"/>
                </a:solidFill>
              </a:rPr>
              <a:t>Mean of Actual Value</a:t>
            </a:r>
          </a:p>
        </p:txBody>
      </p:sp>
      <p:pic>
        <p:nvPicPr>
          <p:cNvPr id="21" name="Picture 20">
            <a:extLst>
              <a:ext uri="{FF2B5EF4-FFF2-40B4-BE49-F238E27FC236}">
                <a16:creationId xmlns:a16="http://schemas.microsoft.com/office/drawing/2014/main" id="{678503FC-9F12-4FC8-5A0D-9924A622DADC}"/>
              </a:ext>
            </a:extLst>
          </p:cNvPr>
          <p:cNvPicPr>
            <a:picLocks noChangeAspect="1"/>
          </p:cNvPicPr>
          <p:nvPr/>
        </p:nvPicPr>
        <p:blipFill>
          <a:blip r:embed="rId9"/>
          <a:srcRect l="75762" t="55833" r="13725" b="15012"/>
          <a:stretch>
            <a:fillRect/>
          </a:stretch>
        </p:blipFill>
        <p:spPr>
          <a:xfrm>
            <a:off x="9899916" y="4282651"/>
            <a:ext cx="483327" cy="418414"/>
          </a:xfrm>
          <a:prstGeom prst="rect">
            <a:avLst/>
          </a:prstGeom>
        </p:spPr>
      </p:pic>
      <p:sp>
        <p:nvSpPr>
          <p:cNvPr id="22" name="TextBox 21">
            <a:extLst>
              <a:ext uri="{FF2B5EF4-FFF2-40B4-BE49-F238E27FC236}">
                <a16:creationId xmlns:a16="http://schemas.microsoft.com/office/drawing/2014/main" id="{F7DDF06C-7BF4-1C8C-D259-970562DDD128}"/>
              </a:ext>
            </a:extLst>
          </p:cNvPr>
          <p:cNvSpPr txBox="1"/>
          <p:nvPr/>
        </p:nvSpPr>
        <p:spPr>
          <a:xfrm>
            <a:off x="10519297" y="4221776"/>
            <a:ext cx="1431161" cy="646331"/>
          </a:xfrm>
          <a:prstGeom prst="rect">
            <a:avLst/>
          </a:prstGeom>
          <a:noFill/>
        </p:spPr>
        <p:txBody>
          <a:bodyPr wrap="square" rtlCol="0">
            <a:spAutoFit/>
          </a:bodyPr>
          <a:lstStyle/>
          <a:p>
            <a:r>
              <a:rPr lang="en-US" dirty="0">
                <a:solidFill>
                  <a:srgbClr val="1B415D"/>
                </a:solidFill>
              </a:rPr>
              <a:t>Number of samples</a:t>
            </a:r>
          </a:p>
        </p:txBody>
      </p:sp>
    </p:spTree>
    <p:extLst>
      <p:ext uri="{BB962C8B-B14F-4D97-AF65-F5344CB8AC3E}">
        <p14:creationId xmlns:p14="http://schemas.microsoft.com/office/powerpoint/2010/main" val="30791394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AC6BD99-2C49-3576-31E1-971C0FF4B1EB}"/>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FB3CAD3F-FEE7-F76C-0B11-BC4BE4020618}"/>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Hierarchical Reconciliation </a:t>
            </a:r>
            <a:r>
              <a:rPr lang="en-US" b="1" dirty="0">
                <a:solidFill>
                  <a:srgbClr val="1B415D"/>
                </a:solidFill>
              </a:rPr>
              <a:t>[10]</a:t>
            </a:r>
            <a:endParaRPr lang="en-US" sz="3600" b="1" dirty="0">
              <a:solidFill>
                <a:srgbClr val="1B415D"/>
              </a:solidFill>
            </a:endParaRPr>
          </a:p>
        </p:txBody>
      </p:sp>
      <p:sp>
        <p:nvSpPr>
          <p:cNvPr id="2" name="TextBox 1">
            <a:extLst>
              <a:ext uri="{FF2B5EF4-FFF2-40B4-BE49-F238E27FC236}">
                <a16:creationId xmlns:a16="http://schemas.microsoft.com/office/drawing/2014/main" id="{9115CF70-4683-4F7E-1897-CF66F2EE0722}"/>
              </a:ext>
            </a:extLst>
          </p:cNvPr>
          <p:cNvSpPr txBox="1"/>
          <p:nvPr/>
        </p:nvSpPr>
        <p:spPr>
          <a:xfrm>
            <a:off x="404158" y="2348160"/>
            <a:ext cx="11534557" cy="3908762"/>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A model will be trained on the data[</a:t>
            </a:r>
            <a:r>
              <a:rPr lang="en-US" sz="3600" dirty="0" err="1">
                <a:solidFill>
                  <a:srgbClr val="1B415D"/>
                </a:solidFill>
              </a:rPr>
              <a:t>XGBoost</a:t>
            </a:r>
            <a:r>
              <a:rPr lang="en-US" sz="3600" dirty="0">
                <a:solidFill>
                  <a:srgbClr val="1B415D"/>
                </a:solidFill>
              </a:rPr>
              <a:t>, ...].</a:t>
            </a:r>
          </a:p>
          <a:p>
            <a:pPr marL="571500" indent="-571500">
              <a:buFont typeface="Arial" panose="020B0604020202020204" pitchFamily="34" charset="0"/>
              <a:buChar char="•"/>
            </a:pPr>
            <a:r>
              <a:rPr lang="en-US" sz="3600" dirty="0">
                <a:solidFill>
                  <a:srgbClr val="1B415D"/>
                </a:solidFill>
              </a:rPr>
              <a:t>Forecast on the data using current model.</a:t>
            </a:r>
          </a:p>
          <a:p>
            <a:pPr marL="571500" indent="-571500">
              <a:buFont typeface="Arial" panose="020B0604020202020204" pitchFamily="34" charset="0"/>
              <a:buChar char="•"/>
            </a:pPr>
            <a:r>
              <a:rPr lang="en-US" sz="3600" dirty="0">
                <a:solidFill>
                  <a:srgbClr val="1B415D"/>
                </a:solidFill>
              </a:rPr>
              <a:t>Reconcile the predicted values using statistical approaches:</a:t>
            </a:r>
          </a:p>
          <a:p>
            <a:pPr marL="1028700" lvl="1" indent="-571500">
              <a:buFont typeface="Arial" panose="020B0604020202020204" pitchFamily="34" charset="0"/>
              <a:buChar char="•"/>
            </a:pPr>
            <a:r>
              <a:rPr lang="en-US" sz="3600" dirty="0">
                <a:solidFill>
                  <a:srgbClr val="1B415D"/>
                </a:solidFill>
              </a:rPr>
              <a:t> </a:t>
            </a:r>
            <a:r>
              <a:rPr lang="en-US" sz="3200" dirty="0" err="1">
                <a:solidFill>
                  <a:srgbClr val="1B415D"/>
                </a:solidFill>
              </a:rPr>
              <a:t>MinT</a:t>
            </a:r>
            <a:r>
              <a:rPr lang="en-US" sz="3200" b="1" dirty="0">
                <a:solidFill>
                  <a:srgbClr val="1B415D"/>
                </a:solidFill>
              </a:rPr>
              <a:t> : </a:t>
            </a:r>
            <a:r>
              <a:rPr lang="en-US" sz="3200" dirty="0">
                <a:solidFill>
                  <a:srgbClr val="1B415D"/>
                </a:solidFill>
              </a:rPr>
              <a:t>minimize the variance between reconciled values and base forecast error.</a:t>
            </a: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F4659740-E0B8-551A-6F04-1D2CE601319A}"/>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D94A0AAE-0205-4AB3-BA62-FCAF5EB96621}"/>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AEF09FFF-9684-9E0F-FBC9-08C67AAB26A3}"/>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E7D2AA5A-DDC9-7324-C32C-3CF6CFFF9A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79304684-0EDB-57CB-B740-C699A37670B6}"/>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CF9EBC4C-90ED-D623-08C9-2B73C2D7B81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AB11A3AF-28C1-03D3-1FA9-D818DC516CD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98673295-50FE-9AA0-B70E-35F31C1FEFCE}"/>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Tree>
    <p:extLst>
      <p:ext uri="{BB962C8B-B14F-4D97-AF65-F5344CB8AC3E}">
        <p14:creationId xmlns:p14="http://schemas.microsoft.com/office/powerpoint/2010/main" val="27771099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7EBE-1AD6-BABE-622D-1B37F9335E4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D80DBA0-15DC-68C6-D1D0-F68DC5882E9D}"/>
              </a:ext>
            </a:extLst>
          </p:cNvPr>
          <p:cNvPicPr>
            <a:picLocks/>
          </p:cNvPicPr>
          <p:nvPr/>
        </p:nvPicPr>
        <p:blipFill>
          <a:blip r:embed="rId3"/>
          <a:stretch>
            <a:fillRect/>
          </a:stretch>
        </p:blipFill>
        <p:spPr>
          <a:xfrm>
            <a:off x="-21266" y="4580707"/>
            <a:ext cx="12308114" cy="2944043"/>
          </a:xfrm>
          <a:prstGeom prst="rect">
            <a:avLst/>
          </a:prstGeom>
        </p:spPr>
      </p:pic>
      <p:pic>
        <p:nvPicPr>
          <p:cNvPr id="4" name="Picture 3">
            <a:extLst>
              <a:ext uri="{FF2B5EF4-FFF2-40B4-BE49-F238E27FC236}">
                <a16:creationId xmlns:a16="http://schemas.microsoft.com/office/drawing/2014/main" id="{E9FFF461-0FD0-D7AD-1524-6DD6E9F059FC}"/>
              </a:ext>
            </a:extLst>
          </p:cNvPr>
          <p:cNvPicPr>
            <a:picLocks/>
          </p:cNvPicPr>
          <p:nvPr/>
        </p:nvPicPr>
        <p:blipFill>
          <a:blip r:embed="rId3"/>
          <a:stretch>
            <a:fillRect/>
          </a:stretch>
        </p:blipFill>
        <p:spPr>
          <a:xfrm>
            <a:off x="-58056" y="-115209"/>
            <a:ext cx="12308114" cy="2944043"/>
          </a:xfrm>
          <a:prstGeom prst="rect">
            <a:avLst/>
          </a:prstGeom>
        </p:spPr>
      </p:pic>
      <p:pic>
        <p:nvPicPr>
          <p:cNvPr id="1028" name="Picture 4" descr="Home – Planet">
            <a:extLst>
              <a:ext uri="{FF2B5EF4-FFF2-40B4-BE49-F238E27FC236}">
                <a16:creationId xmlns:a16="http://schemas.microsoft.com/office/drawing/2014/main" id="{7843C5D6-EB37-D398-B486-588D4CA2D8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730" y="288828"/>
            <a:ext cx="4939115" cy="216729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EDF60051-3CA5-10D4-38C3-9266434B0DA5}"/>
              </a:ext>
            </a:extLst>
          </p:cNvPr>
          <p:cNvSpPr txBox="1"/>
          <p:nvPr/>
        </p:nvSpPr>
        <p:spPr>
          <a:xfrm>
            <a:off x="1401147" y="3072906"/>
            <a:ext cx="9389706" cy="1200329"/>
          </a:xfrm>
          <a:prstGeom prst="rect">
            <a:avLst/>
          </a:prstGeom>
          <a:noFill/>
        </p:spPr>
        <p:txBody>
          <a:bodyPr wrap="square" rtlCol="0" anchor="ctr" anchorCtr="0">
            <a:spAutoFit/>
          </a:bodyPr>
          <a:lstStyle/>
          <a:p>
            <a:pPr algn="ctr"/>
            <a:r>
              <a:rPr lang="en-US" sz="3600" b="1" dirty="0">
                <a:solidFill>
                  <a:srgbClr val="1B415D"/>
                </a:solidFill>
              </a:rPr>
              <a:t>Literature Methodology on prediction of hierarchical time series</a:t>
            </a:r>
          </a:p>
        </p:txBody>
      </p:sp>
      <p:grpSp>
        <p:nvGrpSpPr>
          <p:cNvPr id="9" name="Group 8">
            <a:extLst>
              <a:ext uri="{FF2B5EF4-FFF2-40B4-BE49-F238E27FC236}">
                <a16:creationId xmlns:a16="http://schemas.microsoft.com/office/drawing/2014/main" id="{7B34A88F-D60C-2E45-3579-2D28D8F66788}"/>
              </a:ext>
            </a:extLst>
          </p:cNvPr>
          <p:cNvGrpSpPr/>
          <p:nvPr/>
        </p:nvGrpSpPr>
        <p:grpSpPr>
          <a:xfrm>
            <a:off x="6076930" y="399008"/>
            <a:ext cx="6115070" cy="1882835"/>
            <a:chOff x="6076930" y="399008"/>
            <a:chExt cx="6115070" cy="1882835"/>
          </a:xfrm>
        </p:grpSpPr>
        <p:pic>
          <p:nvPicPr>
            <p:cNvPr id="1026" name="Picture 2" descr="Logo Università di Napoli Federico II">
              <a:extLst>
                <a:ext uri="{FF2B5EF4-FFF2-40B4-BE49-F238E27FC236}">
                  <a16:creationId xmlns:a16="http://schemas.microsoft.com/office/drawing/2014/main" id="{EE838C90-7B4A-DEB1-FEDA-7D952CA1522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Master Degree | International Relations | Italia">
              <a:extLst>
                <a:ext uri="{FF2B5EF4-FFF2-40B4-BE49-F238E27FC236}">
                  <a16:creationId xmlns:a16="http://schemas.microsoft.com/office/drawing/2014/main" id="{932BC408-BCBD-8E9E-BF69-1E1CCB3C0B7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TextBox 7">
            <a:extLst>
              <a:ext uri="{FF2B5EF4-FFF2-40B4-BE49-F238E27FC236}">
                <a16:creationId xmlns:a16="http://schemas.microsoft.com/office/drawing/2014/main" id="{42A5224B-2A80-D62B-7BE8-5E7473076642}"/>
              </a:ext>
            </a:extLst>
          </p:cNvPr>
          <p:cNvSpPr txBox="1"/>
          <p:nvPr/>
        </p:nvSpPr>
        <p:spPr>
          <a:xfrm>
            <a:off x="0" y="4980202"/>
            <a:ext cx="3009900" cy="1147045"/>
          </a:xfrm>
          <a:prstGeom prst="rect">
            <a:avLst/>
          </a:prstGeom>
          <a:noFill/>
        </p:spPr>
        <p:txBody>
          <a:bodyPr wrap="square">
            <a:spAutoFit/>
          </a:bodyPr>
          <a:lstStyle/>
          <a:p>
            <a:pPr>
              <a:lnSpc>
                <a:spcPct val="150000"/>
              </a:lnSpc>
              <a:buNone/>
            </a:pPr>
            <a:r>
              <a:rPr lang="en-US" sz="2400" b="1" dirty="0"/>
              <a:t>Presented by</a:t>
            </a:r>
          </a:p>
          <a:p>
            <a:pPr>
              <a:lnSpc>
                <a:spcPct val="150000"/>
              </a:lnSpc>
              <a:buNone/>
            </a:pPr>
            <a:r>
              <a:rPr lang="en-US" sz="2400" b="1" dirty="0">
                <a:solidFill>
                  <a:schemeClr val="bg1"/>
                </a:solidFill>
              </a:rPr>
              <a:t>Mohammad Sheikh</a:t>
            </a:r>
          </a:p>
        </p:txBody>
      </p:sp>
      <p:sp>
        <p:nvSpPr>
          <p:cNvPr id="11" name="TextBox 10">
            <a:extLst>
              <a:ext uri="{FF2B5EF4-FFF2-40B4-BE49-F238E27FC236}">
                <a16:creationId xmlns:a16="http://schemas.microsoft.com/office/drawing/2014/main" id="{9D738613-00E0-5B56-A829-F407AB38D9B6}"/>
              </a:ext>
            </a:extLst>
          </p:cNvPr>
          <p:cNvSpPr txBox="1"/>
          <p:nvPr/>
        </p:nvSpPr>
        <p:spPr>
          <a:xfrm>
            <a:off x="9090502" y="4980202"/>
            <a:ext cx="3101498" cy="1701043"/>
          </a:xfrm>
          <a:prstGeom prst="rect">
            <a:avLst/>
          </a:prstGeom>
          <a:noFill/>
        </p:spPr>
        <p:txBody>
          <a:bodyPr wrap="square">
            <a:spAutoFit/>
          </a:bodyPr>
          <a:lstStyle/>
          <a:p>
            <a:pPr algn="r">
              <a:lnSpc>
                <a:spcPct val="150000"/>
              </a:lnSpc>
              <a:buNone/>
            </a:pPr>
            <a:r>
              <a:rPr lang="en-US" sz="2400" b="1" dirty="0"/>
              <a:t>Supervisors</a:t>
            </a:r>
          </a:p>
          <a:p>
            <a:pPr algn="r">
              <a:lnSpc>
                <a:spcPct val="150000"/>
              </a:lnSpc>
              <a:buNone/>
            </a:pPr>
            <a:r>
              <a:rPr lang="en-US" sz="2400" b="1" dirty="0">
                <a:solidFill>
                  <a:schemeClr val="bg1"/>
                </a:solidFill>
              </a:rPr>
              <a:t>Dr. Luca </a:t>
            </a:r>
            <a:r>
              <a:rPr lang="en-US" sz="2400" b="1" dirty="0" err="1">
                <a:solidFill>
                  <a:schemeClr val="bg1"/>
                </a:solidFill>
              </a:rPr>
              <a:t>Barbierato</a:t>
            </a:r>
            <a:endParaRPr lang="en-US" sz="2400" b="1" dirty="0">
              <a:solidFill>
                <a:schemeClr val="bg1"/>
              </a:solidFill>
            </a:endParaRPr>
          </a:p>
          <a:p>
            <a:pPr algn="r">
              <a:lnSpc>
                <a:spcPct val="150000"/>
              </a:lnSpc>
              <a:buNone/>
            </a:pPr>
            <a:r>
              <a:rPr lang="en-US" sz="2400" b="1" dirty="0">
                <a:solidFill>
                  <a:schemeClr val="bg1"/>
                </a:solidFill>
              </a:rPr>
              <a:t>Dr. Matteo </a:t>
            </a:r>
            <a:r>
              <a:rPr lang="en-US" sz="2400" b="1" dirty="0" err="1">
                <a:solidFill>
                  <a:schemeClr val="bg1"/>
                </a:solidFill>
              </a:rPr>
              <a:t>Santinello</a:t>
            </a:r>
            <a:endParaRPr lang="en-US" sz="2400" b="1" dirty="0">
              <a:solidFill>
                <a:schemeClr val="bg1"/>
              </a:solidFill>
            </a:endParaRPr>
          </a:p>
        </p:txBody>
      </p:sp>
      <p:sp>
        <p:nvSpPr>
          <p:cNvPr id="13" name="TextBox 12">
            <a:extLst>
              <a:ext uri="{FF2B5EF4-FFF2-40B4-BE49-F238E27FC236}">
                <a16:creationId xmlns:a16="http://schemas.microsoft.com/office/drawing/2014/main" id="{E9104B0C-0CEE-462B-BA37-A90282810832}"/>
              </a:ext>
            </a:extLst>
          </p:cNvPr>
          <p:cNvSpPr txBox="1"/>
          <p:nvPr/>
        </p:nvSpPr>
        <p:spPr>
          <a:xfrm>
            <a:off x="4999036" y="6488668"/>
            <a:ext cx="2193925" cy="369332"/>
          </a:xfrm>
          <a:prstGeom prst="rect">
            <a:avLst/>
          </a:prstGeom>
          <a:noFill/>
        </p:spPr>
        <p:txBody>
          <a:bodyPr wrap="square">
            <a:spAutoFit/>
          </a:bodyPr>
          <a:lstStyle/>
          <a:p>
            <a:pPr>
              <a:buNone/>
            </a:pPr>
            <a:r>
              <a:rPr lang="en-US" sz="1800" b="1" dirty="0">
                <a:solidFill>
                  <a:schemeClr val="bg1"/>
                </a:solidFill>
              </a:rPr>
              <a:t>November 2025</a:t>
            </a:r>
          </a:p>
        </p:txBody>
      </p:sp>
      <p:sp>
        <p:nvSpPr>
          <p:cNvPr id="6" name="TextBox 5">
            <a:extLst>
              <a:ext uri="{FF2B5EF4-FFF2-40B4-BE49-F238E27FC236}">
                <a16:creationId xmlns:a16="http://schemas.microsoft.com/office/drawing/2014/main" id="{F4842BD1-A077-6A87-1CE3-1AC79132F0C7}"/>
              </a:ext>
            </a:extLst>
          </p:cNvPr>
          <p:cNvSpPr txBox="1"/>
          <p:nvPr/>
        </p:nvSpPr>
        <p:spPr>
          <a:xfrm>
            <a:off x="1474500" y="8090427"/>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2" name="Picture 2" descr="Predict PNG Transparent Images Free Download | Vector Files | Pngtree">
            <a:extLst>
              <a:ext uri="{FF2B5EF4-FFF2-40B4-BE49-F238E27FC236}">
                <a16:creationId xmlns:a16="http://schemas.microsoft.com/office/drawing/2014/main" id="{10EB08C8-E050-70F3-501D-00C3C8CCDF16}"/>
              </a:ext>
            </a:extLst>
          </p:cNvPr>
          <p:cNvPicPr>
            <a:picLocks noChangeAspect="1" noChangeArrowheads="1"/>
          </p:cNvPicPr>
          <p:nvPr/>
        </p:nvPicPr>
        <p:blipFill>
          <a:blip r:embed="rId7">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4851" y="6795409"/>
            <a:ext cx="2024360" cy="2024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76363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E0B5A-CD45-0865-F8EC-3A105669AB3B}"/>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82135022-086E-BC94-A79B-042725F8024C}"/>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B0445B51-AD79-1828-5A8B-97DDBFC1077D}"/>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B3760035-2367-19E2-88C4-58A2DE2883C2}"/>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F016C18F-CE25-299E-DB6F-8323CB6C18D5}"/>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0872597F-3132-E016-5D2D-74C2E6088FD3}"/>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A12E00A0-77D6-96D2-BD7F-A0393D37320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EA4CE45E-5BB1-E465-4538-5683729A25D3}"/>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2C26B617-F675-4893-B05D-0B11201F24B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F582CC66-0C21-CF06-1D0B-FFA89BCDB4E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31BF5453-6F86-C5AB-E267-0FBFC1929999}"/>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6" name="Picture 5">
            <a:extLst>
              <a:ext uri="{FF2B5EF4-FFF2-40B4-BE49-F238E27FC236}">
                <a16:creationId xmlns:a16="http://schemas.microsoft.com/office/drawing/2014/main" id="{6F4B8F75-653C-8528-D79D-5086DE023057}"/>
              </a:ext>
            </a:extLst>
          </p:cNvPr>
          <p:cNvPicPr>
            <a:picLocks noChangeAspect="1"/>
          </p:cNvPicPr>
          <p:nvPr/>
        </p:nvPicPr>
        <p:blipFill>
          <a:blip r:embed="rId7"/>
          <a:stretch>
            <a:fillRect/>
          </a:stretch>
        </p:blipFill>
        <p:spPr>
          <a:xfrm>
            <a:off x="653163" y="2902083"/>
            <a:ext cx="11243515" cy="2991326"/>
          </a:xfrm>
          <a:prstGeom prst="rect">
            <a:avLst/>
          </a:prstGeom>
        </p:spPr>
      </p:pic>
    </p:spTree>
    <p:extLst>
      <p:ext uri="{BB962C8B-B14F-4D97-AF65-F5344CB8AC3E}">
        <p14:creationId xmlns:p14="http://schemas.microsoft.com/office/powerpoint/2010/main" val="12518162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47E1F-EDA9-D4CD-02D6-42E0A9EC8CF8}"/>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AF24083D-612B-00F6-E915-5572C170D0C8}"/>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8FABCA8D-CEFF-FF04-EBFA-07EA9BCCAB34}"/>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D6B965DC-FFF1-340E-0510-FA01ECB42BA4}"/>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23B76DE8-7F21-1146-0FFB-AA6973CD0321}"/>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DA97AEA9-33A9-775C-F933-8270B97667A7}"/>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09864B5F-3AC5-1414-40D8-0CA5ED53AA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3FAF8C8B-52B2-5677-99B6-E698580BB515}"/>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A73F5625-C3C1-12A2-8F43-3E598CDD7CC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6AD6D90C-33BB-82C7-61CF-E4F7358F120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E73601F0-DCE6-F5D3-F2C4-BD8CC7C5CA6F}"/>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6" name="Picture 5">
            <a:extLst>
              <a:ext uri="{FF2B5EF4-FFF2-40B4-BE49-F238E27FC236}">
                <a16:creationId xmlns:a16="http://schemas.microsoft.com/office/drawing/2014/main" id="{4AA42A53-19EC-93FF-93F6-DD80B7030454}"/>
              </a:ext>
            </a:extLst>
          </p:cNvPr>
          <p:cNvPicPr>
            <a:picLocks noChangeAspect="1"/>
          </p:cNvPicPr>
          <p:nvPr/>
        </p:nvPicPr>
        <p:blipFill>
          <a:blip r:embed="rId7">
            <a:duotone>
              <a:schemeClr val="bg2">
                <a:shade val="45000"/>
                <a:satMod val="135000"/>
              </a:schemeClr>
              <a:prstClr val="white"/>
            </a:duotone>
          </a:blip>
          <a:stretch>
            <a:fillRect/>
          </a:stretch>
        </p:blipFill>
        <p:spPr>
          <a:xfrm>
            <a:off x="653163" y="2902083"/>
            <a:ext cx="11243515" cy="2991326"/>
          </a:xfrm>
          <a:prstGeom prst="rect">
            <a:avLst/>
          </a:prstGeom>
        </p:spPr>
      </p:pic>
      <p:pic>
        <p:nvPicPr>
          <p:cNvPr id="4" name="Picture 3">
            <a:extLst>
              <a:ext uri="{FF2B5EF4-FFF2-40B4-BE49-F238E27FC236}">
                <a16:creationId xmlns:a16="http://schemas.microsoft.com/office/drawing/2014/main" id="{648C497E-6BF3-AB23-1321-B8ACEA19DB3F}"/>
              </a:ext>
            </a:extLst>
          </p:cNvPr>
          <p:cNvPicPr>
            <a:picLocks noChangeAspect="1"/>
          </p:cNvPicPr>
          <p:nvPr/>
        </p:nvPicPr>
        <p:blipFill>
          <a:blip r:embed="rId7"/>
          <a:srcRect r="55734"/>
          <a:stretch>
            <a:fillRect/>
          </a:stretch>
        </p:blipFill>
        <p:spPr>
          <a:xfrm>
            <a:off x="653163" y="2898966"/>
            <a:ext cx="4977076" cy="2991326"/>
          </a:xfrm>
          <a:prstGeom prst="rect">
            <a:avLst/>
          </a:prstGeom>
        </p:spPr>
      </p:pic>
    </p:spTree>
    <p:extLst>
      <p:ext uri="{BB962C8B-B14F-4D97-AF65-F5344CB8AC3E}">
        <p14:creationId xmlns:p14="http://schemas.microsoft.com/office/powerpoint/2010/main" val="41767454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CFD9B-4C5D-E4C5-CE39-96DAEC91A5E9}"/>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E22F15E6-6583-2AF7-DF20-EAA4B022D2C7}"/>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0BFB05A2-7731-D5BB-2F8E-E1AA67BDE381}"/>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D3FA6707-8D7C-6292-5E07-3E441D17C8A3}"/>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E9EC5FD9-5C0A-6F68-9F11-339DE67FDF40}"/>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E08238EC-608F-E375-CA7D-BAF61BB5B81B}"/>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A0288392-E746-BFE6-9000-210981F35A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1229C4BB-FD8E-7A49-0DD6-56D4989BB8E3}"/>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43FB2D2F-A66A-7DB5-2A80-4F3C2415C7B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0DC28D57-280C-7967-4574-443065D7887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7591FFD5-8E84-B5A3-5542-6FB0792E6D5C}"/>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6" name="Picture 5">
            <a:extLst>
              <a:ext uri="{FF2B5EF4-FFF2-40B4-BE49-F238E27FC236}">
                <a16:creationId xmlns:a16="http://schemas.microsoft.com/office/drawing/2014/main" id="{D2A9B640-4AD7-530F-396A-A1CFDD010605}"/>
              </a:ext>
            </a:extLst>
          </p:cNvPr>
          <p:cNvPicPr>
            <a:picLocks noChangeAspect="1"/>
          </p:cNvPicPr>
          <p:nvPr/>
        </p:nvPicPr>
        <p:blipFill>
          <a:blip r:embed="rId7">
            <a:duotone>
              <a:schemeClr val="bg2">
                <a:shade val="45000"/>
                <a:satMod val="135000"/>
              </a:schemeClr>
              <a:prstClr val="white"/>
            </a:duotone>
          </a:blip>
          <a:stretch>
            <a:fillRect/>
          </a:stretch>
        </p:blipFill>
        <p:spPr>
          <a:xfrm>
            <a:off x="653163" y="2902083"/>
            <a:ext cx="11243515" cy="2991326"/>
          </a:xfrm>
          <a:prstGeom prst="rect">
            <a:avLst/>
          </a:prstGeom>
        </p:spPr>
      </p:pic>
      <p:pic>
        <p:nvPicPr>
          <p:cNvPr id="4" name="Picture 3">
            <a:extLst>
              <a:ext uri="{FF2B5EF4-FFF2-40B4-BE49-F238E27FC236}">
                <a16:creationId xmlns:a16="http://schemas.microsoft.com/office/drawing/2014/main" id="{05C645DD-57DB-B9AE-D3B1-FA2479D9A087}"/>
              </a:ext>
            </a:extLst>
          </p:cNvPr>
          <p:cNvPicPr>
            <a:picLocks noChangeAspect="1"/>
          </p:cNvPicPr>
          <p:nvPr/>
        </p:nvPicPr>
        <p:blipFill>
          <a:blip r:embed="rId7"/>
          <a:srcRect l="44219" r="21279"/>
          <a:stretch>
            <a:fillRect/>
          </a:stretch>
        </p:blipFill>
        <p:spPr>
          <a:xfrm>
            <a:off x="5624945" y="2898966"/>
            <a:ext cx="3879272" cy="2991326"/>
          </a:xfrm>
          <a:prstGeom prst="rect">
            <a:avLst/>
          </a:prstGeom>
        </p:spPr>
      </p:pic>
    </p:spTree>
    <p:extLst>
      <p:ext uri="{BB962C8B-B14F-4D97-AF65-F5344CB8AC3E}">
        <p14:creationId xmlns:p14="http://schemas.microsoft.com/office/powerpoint/2010/main" val="10010690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727C5-2906-59DE-E2BD-6542E62342AA}"/>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6B65E29B-CC68-77ED-85E2-023A5182DFCC}"/>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CB845C96-82F3-A057-30FD-9B2AD1485A22}"/>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CAC42FD0-9A9D-1A7B-F4ED-EA5D5C2E9170}"/>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3EA00CD3-75D4-E021-CB37-29D574784A11}"/>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CB0B439B-7090-A8B4-B07F-A912059D1AC7}"/>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0267C4D1-E3FC-D931-CBBA-46C9341FA44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50BBBD9C-AB3D-79BA-3F87-8E2942B544E2}"/>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D31A825F-B419-FEC4-6F18-7C74AF585C41}"/>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76655D8B-639B-B8DC-9C15-2EC3747A54E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73CAB3CF-D172-E353-6BDF-D3469E8B725E}"/>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Tree>
    <p:extLst>
      <p:ext uri="{BB962C8B-B14F-4D97-AF65-F5344CB8AC3E}">
        <p14:creationId xmlns:p14="http://schemas.microsoft.com/office/powerpoint/2010/main" val="38615532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63318-15DB-ED62-E20B-4C1E92DDD890}"/>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5FB03544-1385-5D19-9F9A-EB4D5C152EC9}"/>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E9AC1115-96B9-79A7-B8AE-14DCCE20502A}"/>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9D8207E9-600B-5505-9D38-242FFEF28B96}"/>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F04E39B4-FA37-DEBB-7AA0-76E0A50F3C84}"/>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4B891B0C-B627-3641-6BFD-97F0B2A54888}"/>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9DEB84FF-D87A-38A0-A0E7-6E1FFBAE242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ED6A449E-AAE6-BC06-2BFB-853A7375196E}"/>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EDAE948E-A512-65D6-66EB-068B5DAF8B4E}"/>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67206845-71FE-893A-3BB0-2A23BC9D7BC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EE0324ED-24F0-8E71-5D58-5913CE7DD141}"/>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Tree>
    <p:extLst>
      <p:ext uri="{BB962C8B-B14F-4D97-AF65-F5344CB8AC3E}">
        <p14:creationId xmlns:p14="http://schemas.microsoft.com/office/powerpoint/2010/main" val="39946721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B9149-D123-2740-0197-0D6D2E373920}"/>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F20D4C97-5853-6E94-6F49-DFB2446D1EBC}"/>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D9394D48-D038-F378-CCFB-23DC478F4F11}"/>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D01D8B30-AEFA-1A00-1857-7FE55F87316A}"/>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7A3083E4-11BD-8D1B-248D-152D771245FF}"/>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C420224F-975F-C835-8805-41B77B3E0F76}"/>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AFA5F618-210B-4D13-ABC4-94AB4AF445D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3CC86019-E88F-A0CD-C090-87C69CB4CF42}"/>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24EBD6CC-E9B3-E66A-90B4-4FFE574FAEE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56E6FD5C-F089-8BB0-A21E-7CD98B46447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979C69F0-4BA0-0E02-4F9E-D71BC8958796}"/>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Tree>
    <p:extLst>
      <p:ext uri="{BB962C8B-B14F-4D97-AF65-F5344CB8AC3E}">
        <p14:creationId xmlns:p14="http://schemas.microsoft.com/office/powerpoint/2010/main" val="3366280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105BF-01BE-995C-8093-E70DD36D0F1F}"/>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02A367FF-0321-84C0-60A6-A2A4843953C9}"/>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A7476D58-61ED-A612-9BC1-794709FD1CD9}"/>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2D5BD7BB-4FC8-1F46-AF3D-E71EA99B8F06}"/>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63ED53C1-267F-BF7C-5E1D-C2EB328E23B3}"/>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E4E96DBC-E5B7-DA51-8968-61E81B9E4CDF}"/>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B693EA61-5482-5D0A-CEF7-CAEE54BDB24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5E47D6E3-6470-0942-9EE2-4D3597E9C8B8}"/>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712C70A9-A69C-1253-C895-6DB4ED9C482C}"/>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1AF5BF7A-2CB2-442A-2A62-BD2B08548B6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CE3256CA-A11A-576C-0C10-36081C74881C}"/>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Tree>
    <p:extLst>
      <p:ext uri="{BB962C8B-B14F-4D97-AF65-F5344CB8AC3E}">
        <p14:creationId xmlns:p14="http://schemas.microsoft.com/office/powerpoint/2010/main" val="8915581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3A337-90E0-F134-5C0E-A7D75A143F7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FF1470C-7812-BC12-5294-0435D5BC874F}"/>
              </a:ext>
            </a:extLst>
          </p:cNvPr>
          <p:cNvPicPr>
            <a:picLocks/>
          </p:cNvPicPr>
          <p:nvPr/>
        </p:nvPicPr>
        <p:blipFill>
          <a:blip r:embed="rId2"/>
          <a:stretch>
            <a:fillRect/>
          </a:stretch>
        </p:blipFill>
        <p:spPr>
          <a:xfrm>
            <a:off x="-68921" y="5929314"/>
            <a:ext cx="12308114" cy="1063680"/>
          </a:xfrm>
          <a:prstGeom prst="rect">
            <a:avLst/>
          </a:prstGeom>
        </p:spPr>
      </p:pic>
      <p:sp>
        <p:nvSpPr>
          <p:cNvPr id="5" name="TextBox 4">
            <a:extLst>
              <a:ext uri="{FF2B5EF4-FFF2-40B4-BE49-F238E27FC236}">
                <a16:creationId xmlns:a16="http://schemas.microsoft.com/office/drawing/2014/main" id="{FD5AB88C-680D-5170-C385-F0DE233F63FC}"/>
              </a:ext>
            </a:extLst>
          </p:cNvPr>
          <p:cNvSpPr txBox="1"/>
          <p:nvPr/>
        </p:nvSpPr>
        <p:spPr>
          <a:xfrm>
            <a:off x="178526" y="1247229"/>
            <a:ext cx="5802144" cy="646331"/>
          </a:xfrm>
          <a:prstGeom prst="rect">
            <a:avLst/>
          </a:prstGeom>
          <a:noFill/>
        </p:spPr>
        <p:txBody>
          <a:bodyPr wrap="square" rtlCol="0">
            <a:spAutoFit/>
          </a:bodyPr>
          <a:lstStyle/>
          <a:p>
            <a:r>
              <a:rPr lang="en-US" sz="3600" b="1" dirty="0">
                <a:solidFill>
                  <a:srgbClr val="1B415D"/>
                </a:solidFill>
              </a:rPr>
              <a:t>References</a:t>
            </a:r>
          </a:p>
        </p:txBody>
      </p:sp>
      <p:sp>
        <p:nvSpPr>
          <p:cNvPr id="10" name="TextBox 9">
            <a:extLst>
              <a:ext uri="{FF2B5EF4-FFF2-40B4-BE49-F238E27FC236}">
                <a16:creationId xmlns:a16="http://schemas.microsoft.com/office/drawing/2014/main" id="{23C8ED20-8337-7B37-AB61-856BEF6BFF8F}"/>
              </a:ext>
            </a:extLst>
          </p:cNvPr>
          <p:cNvSpPr txBox="1"/>
          <p:nvPr/>
        </p:nvSpPr>
        <p:spPr>
          <a:xfrm>
            <a:off x="326243" y="1841309"/>
            <a:ext cx="11865756" cy="3970318"/>
          </a:xfrm>
          <a:prstGeom prst="rect">
            <a:avLst/>
          </a:prstGeom>
          <a:noFill/>
        </p:spPr>
        <p:txBody>
          <a:bodyPr wrap="square">
            <a:spAutoFit/>
          </a:bodyPr>
          <a:lstStyle/>
          <a:p>
            <a:pPr marL="920750" lvl="1" indent="-463550"/>
            <a:r>
              <a:rPr lang="en-US" sz="1400" dirty="0"/>
              <a:t>[1] - </a:t>
            </a:r>
            <a:r>
              <a:rPr lang="en-US" sz="1400" dirty="0" err="1"/>
              <a:t>Bernabucci</a:t>
            </a:r>
            <a:r>
              <a:rPr lang="en-US" sz="1400" dirty="0"/>
              <a:t>, U.; </a:t>
            </a:r>
            <a:r>
              <a:rPr lang="en-US" sz="1400" dirty="0" err="1"/>
              <a:t>Lacetera</a:t>
            </a:r>
            <a:r>
              <a:rPr lang="en-US" sz="1400" dirty="0"/>
              <a:t>, N.; Baumgard, L.H.; Rhoads, R.P.; Ronchi, B.; Nardone, A. Metabolic and Hormonal Acclimation to Heat Stress in Domesticated Ruminants. Animal 2010, 4, 1167–1183. [</a:t>
            </a:r>
            <a:r>
              <a:rPr lang="en-US" sz="1400" dirty="0">
                <a:hlinkClick r:id="rId3"/>
              </a:rPr>
              <a:t>Ref</a:t>
            </a:r>
            <a:r>
              <a:rPr lang="en-US" sz="1400" dirty="0"/>
              <a:t>]</a:t>
            </a:r>
          </a:p>
          <a:p>
            <a:pPr marL="920750" lvl="1" indent="-463550"/>
            <a:r>
              <a:rPr lang="en-US" sz="1400" dirty="0"/>
              <a:t>[2] - Dash, S.; Chakravarty, A.K.; Singh, A.; Upadhyay, A.; Singh, M.; Yousuf, S. Effect of Heat Stress on Reproductive Performances of Dairy Cattle and Buffaloes: A Review. Vet. World 2016, 9, 235–244. [</a:t>
            </a:r>
            <a:r>
              <a:rPr lang="en-US" sz="1400" dirty="0">
                <a:hlinkClick r:id="rId4"/>
              </a:rPr>
              <a:t>Ref</a:t>
            </a:r>
            <a:r>
              <a:rPr lang="en-US" sz="1400" dirty="0"/>
              <a:t>]</a:t>
            </a:r>
          </a:p>
          <a:p>
            <a:pPr marL="920750" lvl="1" indent="-463550"/>
            <a:r>
              <a:rPr lang="en-US" sz="1400" dirty="0"/>
              <a:t>[3] - M.F. Hasan, N. Celik, Y. Williams, S.R.O. Williams, L.C. </a:t>
            </a:r>
            <a:r>
              <a:rPr lang="en-US" sz="1400" dirty="0" err="1"/>
              <a:t>Marett,An</a:t>
            </a:r>
            <a:r>
              <a:rPr lang="en-US" sz="1400" dirty="0"/>
              <a:t> effective way to incorporate temperature–humidity index to study effect of heat stress on milk yield by an </a:t>
            </a:r>
            <a:r>
              <a:rPr lang="en-US" sz="1400" dirty="0" err="1"/>
              <a:t>XGBoost</a:t>
            </a:r>
            <a:r>
              <a:rPr lang="en-US" sz="1400" dirty="0"/>
              <a:t> machine learning model,[</a:t>
            </a:r>
            <a:r>
              <a:rPr lang="en-US" sz="1400" dirty="0">
                <a:hlinkClick r:id="rId5"/>
              </a:rPr>
              <a:t>Ref</a:t>
            </a:r>
            <a:r>
              <a:rPr lang="en-US" sz="1400" dirty="0"/>
              <a:t>]</a:t>
            </a:r>
          </a:p>
          <a:p>
            <a:pPr marL="920750" lvl="1" indent="-463550"/>
            <a:r>
              <a:rPr lang="en-US" sz="1400" dirty="0"/>
              <a:t>[4] - Hyndman, Rob J., and George Athanasopoulos. </a:t>
            </a:r>
            <a:r>
              <a:rPr lang="en-US" sz="1400" i="1" dirty="0"/>
              <a:t>Forecasting: Principles and Practice</a:t>
            </a:r>
            <a:r>
              <a:rPr lang="en-US" sz="1400" dirty="0"/>
              <a:t>. 3rd ed. Melbourne, Australia: </a:t>
            </a:r>
            <a:r>
              <a:rPr lang="en-US" sz="1400" dirty="0" err="1"/>
              <a:t>OTexts</a:t>
            </a:r>
            <a:r>
              <a:rPr lang="en-US" sz="1400" dirty="0"/>
              <a:t>, 2021. [</a:t>
            </a:r>
            <a:r>
              <a:rPr lang="en-US" sz="1400" dirty="0">
                <a:hlinkClick r:id="rId6"/>
              </a:rPr>
              <a:t>Ref</a:t>
            </a:r>
            <a:r>
              <a:rPr lang="en-US" sz="1400" dirty="0"/>
              <a:t>]</a:t>
            </a:r>
          </a:p>
          <a:p>
            <a:pPr marL="920750" lvl="1" indent="-463550"/>
            <a:r>
              <a:rPr lang="en-US" sz="1400" dirty="0"/>
              <a:t>[5] - Boyu Ji, Thomas </a:t>
            </a:r>
            <a:r>
              <a:rPr lang="en-US" sz="1400" dirty="0" err="1"/>
              <a:t>Banhazi</a:t>
            </a:r>
            <a:r>
              <a:rPr lang="en-US" sz="1400" dirty="0"/>
              <a:t>, Clive J.C. Phillips, </a:t>
            </a:r>
            <a:r>
              <a:rPr lang="en-US" sz="1400" dirty="0" err="1"/>
              <a:t>Chaoyuan</a:t>
            </a:r>
            <a:r>
              <a:rPr lang="en-US" sz="1400" dirty="0"/>
              <a:t> Wang, </a:t>
            </a:r>
            <a:r>
              <a:rPr lang="en-US" sz="1400" dirty="0" err="1"/>
              <a:t>Baoming</a:t>
            </a:r>
            <a:r>
              <a:rPr lang="en-US" sz="1400" dirty="0"/>
              <a:t> Li, A machine learning framework to predict the next month's daily milk yield, milk composition and milking frequency for cows in a robotic dairy farm. [</a:t>
            </a:r>
            <a:r>
              <a:rPr lang="en-US" sz="1400" dirty="0">
                <a:hlinkClick r:id="rId7"/>
              </a:rPr>
              <a:t>Ref</a:t>
            </a:r>
            <a:r>
              <a:rPr lang="en-US" sz="1400" dirty="0"/>
              <a:t>]</a:t>
            </a:r>
          </a:p>
          <a:p>
            <a:pPr marL="920750" lvl="1" indent="-463550"/>
            <a:r>
              <a:rPr lang="en-US" sz="1400" dirty="0"/>
              <a:t>[6] - Jae-Woo Song, </a:t>
            </a:r>
            <a:r>
              <a:rPr lang="en-US" sz="1400" dirty="0" err="1"/>
              <a:t>Mingyung</a:t>
            </a:r>
            <a:r>
              <a:rPr lang="en-US" sz="1400" dirty="0"/>
              <a:t> Lee, Hyunjin Cho, Dae-Hyun Lee, </a:t>
            </a:r>
            <a:r>
              <a:rPr lang="en-US" sz="1400" dirty="0" err="1"/>
              <a:t>Seongwon</a:t>
            </a:r>
            <a:r>
              <a:rPr lang="en-US" sz="1400" dirty="0"/>
              <a:t> Seo, Wang-</a:t>
            </a:r>
            <a:r>
              <a:rPr lang="en-US" sz="1400" dirty="0" err="1"/>
              <a:t>Hee</a:t>
            </a:r>
            <a:r>
              <a:rPr lang="en-US" sz="1400" dirty="0"/>
              <a:t> Lee, Development of individual models for predicting cow milk production for real-time monitoring, [</a:t>
            </a:r>
            <a:r>
              <a:rPr lang="en-US" sz="1400" dirty="0">
                <a:hlinkClick r:id="rId8"/>
              </a:rPr>
              <a:t>Ref</a:t>
            </a:r>
            <a:r>
              <a:rPr lang="en-US" sz="1400" dirty="0"/>
              <a:t>]</a:t>
            </a:r>
          </a:p>
          <a:p>
            <a:pPr marL="920750" lvl="1" indent="-463550"/>
            <a:r>
              <a:rPr lang="en-US" sz="1400" dirty="0"/>
              <a:t>[7] - Hansika </a:t>
            </a:r>
            <a:r>
              <a:rPr lang="en-US" sz="1400" dirty="0" err="1"/>
              <a:t>Hewamalage</a:t>
            </a:r>
            <a:r>
              <a:rPr lang="en-US" sz="1400" dirty="0"/>
              <a:t>, Christoph </a:t>
            </a:r>
            <a:r>
              <a:rPr lang="en-US" sz="1400" dirty="0" err="1"/>
              <a:t>Bergmeir</a:t>
            </a:r>
            <a:r>
              <a:rPr lang="en-US" sz="1400" dirty="0"/>
              <a:t>, Kasun </a:t>
            </a:r>
            <a:r>
              <a:rPr lang="en-US" sz="1400" dirty="0" err="1"/>
              <a:t>Bandara,Global</a:t>
            </a:r>
            <a:r>
              <a:rPr lang="en-US" sz="1400" dirty="0"/>
              <a:t> models for time series forecasting: A Simulation study, [</a:t>
            </a:r>
            <a:r>
              <a:rPr lang="en-US" sz="1400" dirty="0">
                <a:hlinkClick r:id="rId9"/>
              </a:rPr>
              <a:t>Ref</a:t>
            </a:r>
            <a:r>
              <a:rPr lang="en-US" sz="1400" dirty="0"/>
              <a:t>]</a:t>
            </a:r>
          </a:p>
          <a:p>
            <a:pPr marL="920750" lvl="1" indent="-463550"/>
            <a:r>
              <a:rPr lang="en-US" sz="1400" dirty="0"/>
              <a:t>[8] - Jae-Min Jung, Dong-Hyeon Kim, Hyunjin Cho, </a:t>
            </a:r>
            <a:r>
              <a:rPr lang="en-US" sz="1400" dirty="0" err="1"/>
              <a:t>Mingyung</a:t>
            </a:r>
            <a:r>
              <a:rPr lang="en-US" sz="1400" dirty="0"/>
              <a:t> Lee, Jinhui Jeong, Dae-Hyun Lee, </a:t>
            </a:r>
            <a:r>
              <a:rPr lang="en-US" sz="1400" dirty="0" err="1"/>
              <a:t>Seongwon</a:t>
            </a:r>
            <a:r>
              <a:rPr lang="en-US" sz="1400" dirty="0"/>
              <a:t> Seo, Wang-</a:t>
            </a:r>
            <a:r>
              <a:rPr lang="en-US" sz="1400" dirty="0" err="1"/>
              <a:t>Hee</a:t>
            </a:r>
            <a:r>
              <a:rPr lang="en-US" sz="1400" dirty="0"/>
              <a:t> </a:t>
            </a:r>
            <a:r>
              <a:rPr lang="en-US" sz="1400" dirty="0" err="1"/>
              <a:t>Lee,Multi</a:t>
            </a:r>
            <a:r>
              <a:rPr lang="en-US" sz="1400" dirty="0"/>
              <a:t>-algorithmic approach for detecting outliers in cattle intake data [</a:t>
            </a:r>
            <a:r>
              <a:rPr lang="en-US" sz="1400" dirty="0">
                <a:hlinkClick r:id="rId10"/>
              </a:rPr>
              <a:t>Ref</a:t>
            </a:r>
            <a:r>
              <a:rPr lang="en-US" sz="1400" dirty="0"/>
              <a:t>]</a:t>
            </a:r>
          </a:p>
          <a:p>
            <a:pPr marL="920750" lvl="1" indent="-463550"/>
            <a:r>
              <a:rPr lang="en-US" sz="1400" dirty="0"/>
              <a:t>[9] – Rob J. Hyndman, Roman A. Ahmed, George Athanasopoulos, Han Lin </a:t>
            </a:r>
            <a:r>
              <a:rPr lang="en-US" sz="1400" dirty="0" err="1"/>
              <a:t>Shang,Optimal</a:t>
            </a:r>
            <a:r>
              <a:rPr lang="en-US" sz="1400" dirty="0"/>
              <a:t> combination forecasts for hierarchical time series [</a:t>
            </a:r>
            <a:r>
              <a:rPr lang="en-US" sz="1400" dirty="0">
                <a:hlinkClick r:id="rId11"/>
              </a:rPr>
              <a:t>Ref</a:t>
            </a:r>
            <a:r>
              <a:rPr lang="en-US" sz="1400" dirty="0"/>
              <a:t>]</a:t>
            </a:r>
          </a:p>
          <a:p>
            <a:pPr marL="920750" lvl="1" indent="-463550"/>
            <a:r>
              <a:rPr lang="en-US" sz="1400" dirty="0"/>
              <a:t>[10] - Shanika L. </a:t>
            </a:r>
            <a:r>
              <a:rPr lang="en-US" sz="1400" dirty="0" err="1"/>
              <a:t>Wickramasuriya,George</a:t>
            </a:r>
            <a:r>
              <a:rPr lang="en-US" sz="1400" dirty="0"/>
              <a:t> </a:t>
            </a:r>
            <a:r>
              <a:rPr lang="en-US" sz="1400" dirty="0" err="1"/>
              <a:t>Athanasopoulos,Rob</a:t>
            </a:r>
            <a:r>
              <a:rPr lang="en-US" sz="1400" dirty="0"/>
              <a:t> J. </a:t>
            </a:r>
            <a:r>
              <a:rPr lang="en-US" sz="1400" dirty="0" err="1"/>
              <a:t>HyndmanOptimal</a:t>
            </a:r>
            <a:r>
              <a:rPr lang="en-US" sz="1400" dirty="0"/>
              <a:t> Forecast Reconciliation for Hierarchical and Grouped Time Series Through Trace Minimization [</a:t>
            </a:r>
            <a:r>
              <a:rPr lang="en-US" sz="1400" dirty="0">
                <a:hlinkClick r:id="rId12"/>
              </a:rPr>
              <a:t>Ref</a:t>
            </a:r>
            <a:r>
              <a:rPr lang="en-US" sz="1400" dirty="0"/>
              <a:t>]</a:t>
            </a:r>
          </a:p>
          <a:p>
            <a:pPr marL="920750" lvl="1" indent="-463550"/>
            <a:endParaRPr lang="en-US" sz="1400" dirty="0"/>
          </a:p>
        </p:txBody>
      </p:sp>
      <p:pic>
        <p:nvPicPr>
          <p:cNvPr id="15" name="Picture 14">
            <a:extLst>
              <a:ext uri="{FF2B5EF4-FFF2-40B4-BE49-F238E27FC236}">
                <a16:creationId xmlns:a16="http://schemas.microsoft.com/office/drawing/2014/main" id="{CBC5CCA6-CDEB-1E8A-8486-CD786936E358}"/>
              </a:ext>
            </a:extLst>
          </p:cNvPr>
          <p:cNvPicPr>
            <a:picLocks/>
          </p:cNvPicPr>
          <p:nvPr/>
        </p:nvPicPr>
        <p:blipFill>
          <a:blip r:embed="rId2"/>
          <a:stretch>
            <a:fillRect/>
          </a:stretch>
        </p:blipFill>
        <p:spPr>
          <a:xfrm>
            <a:off x="-58056" y="-115208"/>
            <a:ext cx="12308114" cy="1333500"/>
          </a:xfrm>
          <a:prstGeom prst="rect">
            <a:avLst/>
          </a:prstGeom>
        </p:spPr>
      </p:pic>
      <p:pic>
        <p:nvPicPr>
          <p:cNvPr id="16" name="Picture 4" descr="Home – Planet">
            <a:extLst>
              <a:ext uri="{FF2B5EF4-FFF2-40B4-BE49-F238E27FC236}">
                <a16:creationId xmlns:a16="http://schemas.microsoft.com/office/drawing/2014/main" id="{DE60EDA7-CDB8-6E52-2D04-9A92BC52159B}"/>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7" name="Group 16">
            <a:extLst>
              <a:ext uri="{FF2B5EF4-FFF2-40B4-BE49-F238E27FC236}">
                <a16:creationId xmlns:a16="http://schemas.microsoft.com/office/drawing/2014/main" id="{7423B922-3174-2019-7FF0-7F621ADD4762}"/>
              </a:ext>
            </a:extLst>
          </p:cNvPr>
          <p:cNvGrpSpPr/>
          <p:nvPr/>
        </p:nvGrpSpPr>
        <p:grpSpPr>
          <a:xfrm>
            <a:off x="8803346" y="58766"/>
            <a:ext cx="3388653" cy="1043369"/>
            <a:chOff x="6076930" y="399008"/>
            <a:chExt cx="6115070" cy="1882835"/>
          </a:xfrm>
        </p:grpSpPr>
        <p:pic>
          <p:nvPicPr>
            <p:cNvPr id="18" name="Picture 2" descr="Logo Università di Napoli Federico II">
              <a:extLst>
                <a:ext uri="{FF2B5EF4-FFF2-40B4-BE49-F238E27FC236}">
                  <a16:creationId xmlns:a16="http://schemas.microsoft.com/office/drawing/2014/main" id="{B33BE5D8-62B1-70AD-7055-79C69A2AF6D4}"/>
                </a:ext>
              </a:extLst>
            </p:cNvPr>
            <p:cNvPicPr>
              <a:picLocks noChangeAspect="1" noChangeArrowheads="1"/>
            </p:cNvPicPr>
            <p:nvPr/>
          </p:nvPicPr>
          <p:blipFill rotWithShape="1">
            <a:blip r:embed="rId14">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2" descr="Master Degree | International Relations | Italia">
              <a:extLst>
                <a:ext uri="{FF2B5EF4-FFF2-40B4-BE49-F238E27FC236}">
                  <a16:creationId xmlns:a16="http://schemas.microsoft.com/office/drawing/2014/main" id="{174D724D-879E-2A16-FB04-247862825371}"/>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49622A30-4E86-2E83-8EB0-CF48A246097A}"/>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4" name="Picture 2" descr="Predict PNG Transparent Images Free Download | Vector Files | Pngtree">
            <a:extLst>
              <a:ext uri="{FF2B5EF4-FFF2-40B4-BE49-F238E27FC236}">
                <a16:creationId xmlns:a16="http://schemas.microsoft.com/office/drawing/2014/main" id="{1F1AF95D-EDC1-A256-8B9F-F1527F5C4A28}"/>
              </a:ext>
            </a:extLst>
          </p:cNvPr>
          <p:cNvPicPr>
            <a:picLocks noChangeAspect="1" noChangeArrowheads="1"/>
          </p:cNvPicPr>
          <p:nvPr/>
        </p:nvPicPr>
        <p:blipFill>
          <a:blip r:embed="rId16">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3872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2DC4A-0F84-1DEC-34B8-C8BAE5A555F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6861E41-70C1-00E2-CD0B-2B41C288BB6B}"/>
              </a:ext>
            </a:extLst>
          </p:cNvPr>
          <p:cNvPicPr>
            <a:picLocks/>
          </p:cNvPicPr>
          <p:nvPr/>
        </p:nvPicPr>
        <p:blipFill>
          <a:blip r:embed="rId2"/>
          <a:stretch>
            <a:fillRect/>
          </a:stretch>
        </p:blipFill>
        <p:spPr>
          <a:xfrm>
            <a:off x="-68921" y="5929314"/>
            <a:ext cx="12308114" cy="1063680"/>
          </a:xfrm>
          <a:prstGeom prst="rect">
            <a:avLst/>
          </a:prstGeom>
        </p:spPr>
      </p:pic>
      <p:sp>
        <p:nvSpPr>
          <p:cNvPr id="5" name="TextBox 4">
            <a:extLst>
              <a:ext uri="{FF2B5EF4-FFF2-40B4-BE49-F238E27FC236}">
                <a16:creationId xmlns:a16="http://schemas.microsoft.com/office/drawing/2014/main" id="{1990127C-438C-D562-DAE4-312B4114C95D}"/>
              </a:ext>
            </a:extLst>
          </p:cNvPr>
          <p:cNvSpPr txBox="1"/>
          <p:nvPr/>
        </p:nvSpPr>
        <p:spPr>
          <a:xfrm>
            <a:off x="178526" y="1247229"/>
            <a:ext cx="5802144" cy="646331"/>
          </a:xfrm>
          <a:prstGeom prst="rect">
            <a:avLst/>
          </a:prstGeom>
          <a:noFill/>
        </p:spPr>
        <p:txBody>
          <a:bodyPr wrap="square" rtlCol="0">
            <a:spAutoFit/>
          </a:bodyPr>
          <a:lstStyle/>
          <a:p>
            <a:r>
              <a:rPr lang="en-US" sz="3600" b="1" dirty="0">
                <a:solidFill>
                  <a:srgbClr val="1B415D"/>
                </a:solidFill>
              </a:rPr>
              <a:t>References</a:t>
            </a:r>
          </a:p>
        </p:txBody>
      </p:sp>
      <p:sp>
        <p:nvSpPr>
          <p:cNvPr id="10" name="TextBox 9">
            <a:extLst>
              <a:ext uri="{FF2B5EF4-FFF2-40B4-BE49-F238E27FC236}">
                <a16:creationId xmlns:a16="http://schemas.microsoft.com/office/drawing/2014/main" id="{139508DA-B83D-0BC6-5EE8-DE1BCB3B3D31}"/>
              </a:ext>
            </a:extLst>
          </p:cNvPr>
          <p:cNvSpPr txBox="1"/>
          <p:nvPr/>
        </p:nvSpPr>
        <p:spPr>
          <a:xfrm>
            <a:off x="326243" y="1841309"/>
            <a:ext cx="11865756" cy="738664"/>
          </a:xfrm>
          <a:prstGeom prst="rect">
            <a:avLst/>
          </a:prstGeom>
          <a:noFill/>
        </p:spPr>
        <p:txBody>
          <a:bodyPr wrap="square">
            <a:spAutoFit/>
          </a:bodyPr>
          <a:lstStyle/>
          <a:p>
            <a:pPr marL="920750" lvl="1" indent="-463550"/>
            <a:r>
              <a:rPr lang="en-US" sz="1400" dirty="0"/>
              <a:t>[11] - Omri, O., Kafa, N., Babai, M. Z., Jemai, Z. &amp; Rostami-Tabar, B. (2025). On the inventory performance of hierarchical forecasting approaches: case of a vaccine supply chain. Journal of the Operational Research Society. [</a:t>
            </a:r>
            <a:r>
              <a:rPr lang="en-US" sz="1400" dirty="0">
                <a:hlinkClick r:id="rId3"/>
              </a:rPr>
              <a:t>Ref</a:t>
            </a:r>
            <a:r>
              <a:rPr lang="en-US" sz="1400" dirty="0"/>
              <a:t>]</a:t>
            </a:r>
          </a:p>
          <a:p>
            <a:pPr marL="920750" lvl="1" indent="-463550"/>
            <a:r>
              <a:rPr lang="en-US" sz="1400" dirty="0"/>
              <a:t>[12] - Kim, M., Kim, H. &amp; Moon, J. (2025). Beginner-Friendly Review of Research on R-Based Energy Forecasting: Insights from Text Mining. [</a:t>
            </a:r>
            <a:r>
              <a:rPr lang="en-US" sz="1400" dirty="0">
                <a:hlinkClick r:id="rId4"/>
              </a:rPr>
              <a:t>Ref</a:t>
            </a:r>
            <a:r>
              <a:rPr lang="en-US" sz="1400" dirty="0"/>
              <a:t>]</a:t>
            </a:r>
          </a:p>
        </p:txBody>
      </p:sp>
      <p:pic>
        <p:nvPicPr>
          <p:cNvPr id="15" name="Picture 14">
            <a:extLst>
              <a:ext uri="{FF2B5EF4-FFF2-40B4-BE49-F238E27FC236}">
                <a16:creationId xmlns:a16="http://schemas.microsoft.com/office/drawing/2014/main" id="{1AF790AF-00B8-D5A2-3105-A8C134B24388}"/>
              </a:ext>
            </a:extLst>
          </p:cNvPr>
          <p:cNvPicPr>
            <a:picLocks/>
          </p:cNvPicPr>
          <p:nvPr/>
        </p:nvPicPr>
        <p:blipFill>
          <a:blip r:embed="rId2"/>
          <a:stretch>
            <a:fillRect/>
          </a:stretch>
        </p:blipFill>
        <p:spPr>
          <a:xfrm>
            <a:off x="-58056" y="-115208"/>
            <a:ext cx="12308114" cy="1333500"/>
          </a:xfrm>
          <a:prstGeom prst="rect">
            <a:avLst/>
          </a:prstGeom>
        </p:spPr>
      </p:pic>
      <p:pic>
        <p:nvPicPr>
          <p:cNvPr id="16" name="Picture 4" descr="Home – Planet">
            <a:extLst>
              <a:ext uri="{FF2B5EF4-FFF2-40B4-BE49-F238E27FC236}">
                <a16:creationId xmlns:a16="http://schemas.microsoft.com/office/drawing/2014/main" id="{042DC24F-79D3-A596-2E1E-B838F71D5AC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7" name="Group 16">
            <a:extLst>
              <a:ext uri="{FF2B5EF4-FFF2-40B4-BE49-F238E27FC236}">
                <a16:creationId xmlns:a16="http://schemas.microsoft.com/office/drawing/2014/main" id="{0D8D28E4-11FA-970C-5316-3AF05E1A1EEC}"/>
              </a:ext>
            </a:extLst>
          </p:cNvPr>
          <p:cNvGrpSpPr/>
          <p:nvPr/>
        </p:nvGrpSpPr>
        <p:grpSpPr>
          <a:xfrm>
            <a:off x="8803346" y="58766"/>
            <a:ext cx="3388653" cy="1043369"/>
            <a:chOff x="6076930" y="399008"/>
            <a:chExt cx="6115070" cy="1882835"/>
          </a:xfrm>
        </p:grpSpPr>
        <p:pic>
          <p:nvPicPr>
            <p:cNvPr id="18" name="Picture 2" descr="Logo Università di Napoli Federico II">
              <a:extLst>
                <a:ext uri="{FF2B5EF4-FFF2-40B4-BE49-F238E27FC236}">
                  <a16:creationId xmlns:a16="http://schemas.microsoft.com/office/drawing/2014/main" id="{48117518-F467-729A-94E2-2F29F56AE3E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2" descr="Master Degree | International Relations | Italia">
              <a:extLst>
                <a:ext uri="{FF2B5EF4-FFF2-40B4-BE49-F238E27FC236}">
                  <a16:creationId xmlns:a16="http://schemas.microsoft.com/office/drawing/2014/main" id="{99D2BB9E-0330-B5CD-4EB3-C7786187CEF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734E0105-06BB-72FA-4565-F67390CBAFFB}"/>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4" name="Picture 2" descr="Predict PNG Transparent Images Free Download | Vector Files | Pngtree">
            <a:extLst>
              <a:ext uri="{FF2B5EF4-FFF2-40B4-BE49-F238E27FC236}">
                <a16:creationId xmlns:a16="http://schemas.microsoft.com/office/drawing/2014/main" id="{BA6A648B-938B-48B1-4A75-7CB20B05C785}"/>
              </a:ext>
            </a:extLst>
          </p:cNvPr>
          <p:cNvPicPr>
            <a:picLocks noChangeAspect="1" noChangeArrowheads="1"/>
          </p:cNvPicPr>
          <p:nvPr/>
        </p:nvPicPr>
        <p:blipFill>
          <a:blip r:embed="rId8">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769877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A7304-32E5-8522-9011-599423A4CCB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CDADC05-7BD0-160E-3F8B-4BAD712CCECE}"/>
              </a:ext>
            </a:extLst>
          </p:cNvPr>
          <p:cNvPicPr>
            <a:picLocks/>
          </p:cNvPicPr>
          <p:nvPr/>
        </p:nvPicPr>
        <p:blipFill>
          <a:blip r:embed="rId3"/>
          <a:stretch>
            <a:fillRect/>
          </a:stretch>
        </p:blipFill>
        <p:spPr>
          <a:xfrm>
            <a:off x="-21266" y="4580707"/>
            <a:ext cx="12308114" cy="2944043"/>
          </a:xfrm>
          <a:prstGeom prst="rect">
            <a:avLst/>
          </a:prstGeom>
        </p:spPr>
      </p:pic>
      <p:pic>
        <p:nvPicPr>
          <p:cNvPr id="4" name="Picture 3">
            <a:extLst>
              <a:ext uri="{FF2B5EF4-FFF2-40B4-BE49-F238E27FC236}">
                <a16:creationId xmlns:a16="http://schemas.microsoft.com/office/drawing/2014/main" id="{941FC00F-FB22-9846-5D24-12B5AAD9D6C8}"/>
              </a:ext>
            </a:extLst>
          </p:cNvPr>
          <p:cNvPicPr>
            <a:picLocks/>
          </p:cNvPicPr>
          <p:nvPr/>
        </p:nvPicPr>
        <p:blipFill>
          <a:blip r:embed="rId3"/>
          <a:stretch>
            <a:fillRect/>
          </a:stretch>
        </p:blipFill>
        <p:spPr>
          <a:xfrm>
            <a:off x="-58056" y="-115209"/>
            <a:ext cx="12308114" cy="2944043"/>
          </a:xfrm>
          <a:prstGeom prst="rect">
            <a:avLst/>
          </a:prstGeom>
        </p:spPr>
      </p:pic>
      <p:pic>
        <p:nvPicPr>
          <p:cNvPr id="1028" name="Picture 4" descr="Home – Planet">
            <a:extLst>
              <a:ext uri="{FF2B5EF4-FFF2-40B4-BE49-F238E27FC236}">
                <a16:creationId xmlns:a16="http://schemas.microsoft.com/office/drawing/2014/main" id="{A8281192-CA09-03F7-50D6-29B8E9820A2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730" y="288828"/>
            <a:ext cx="4939115" cy="2167294"/>
          </a:xfrm>
          <a:prstGeom prst="rect">
            <a:avLst/>
          </a:prstGeom>
          <a:noFill/>
          <a:extLst>
            <a:ext uri="{909E8E84-426E-40DD-AFC4-6F175D3DCCD1}">
              <a14:hiddenFill xmlns:a14="http://schemas.microsoft.com/office/drawing/2010/main">
                <a:solidFill>
                  <a:srgbClr val="FFFFFF"/>
                </a:solidFill>
              </a14:hiddenFill>
            </a:ext>
          </a:extLst>
        </p:spPr>
      </p:pic>
      <p:grpSp>
        <p:nvGrpSpPr>
          <p:cNvPr id="9" name="Group 8">
            <a:extLst>
              <a:ext uri="{FF2B5EF4-FFF2-40B4-BE49-F238E27FC236}">
                <a16:creationId xmlns:a16="http://schemas.microsoft.com/office/drawing/2014/main" id="{AA4CA3C5-AC5B-B968-2F04-A99B38D3E1C0}"/>
              </a:ext>
            </a:extLst>
          </p:cNvPr>
          <p:cNvGrpSpPr/>
          <p:nvPr/>
        </p:nvGrpSpPr>
        <p:grpSpPr>
          <a:xfrm>
            <a:off x="6076930" y="399008"/>
            <a:ext cx="6115070" cy="1882835"/>
            <a:chOff x="6076930" y="399008"/>
            <a:chExt cx="6115070" cy="1882835"/>
          </a:xfrm>
        </p:grpSpPr>
        <p:pic>
          <p:nvPicPr>
            <p:cNvPr id="1026" name="Picture 2" descr="Logo Università di Napoli Federico II">
              <a:extLst>
                <a:ext uri="{FF2B5EF4-FFF2-40B4-BE49-F238E27FC236}">
                  <a16:creationId xmlns:a16="http://schemas.microsoft.com/office/drawing/2014/main" id="{7F6D53C6-9933-0CA5-DA3E-F4C86924F63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Master Degree | International Relations | Italia">
              <a:extLst>
                <a:ext uri="{FF2B5EF4-FFF2-40B4-BE49-F238E27FC236}">
                  <a16:creationId xmlns:a16="http://schemas.microsoft.com/office/drawing/2014/main" id="{89741608-2252-65AB-A537-539700DB8C3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TextBox 7">
            <a:extLst>
              <a:ext uri="{FF2B5EF4-FFF2-40B4-BE49-F238E27FC236}">
                <a16:creationId xmlns:a16="http://schemas.microsoft.com/office/drawing/2014/main" id="{59C6EACE-3FB1-4FA8-6E0C-812811B2D860}"/>
              </a:ext>
            </a:extLst>
          </p:cNvPr>
          <p:cNvSpPr txBox="1"/>
          <p:nvPr/>
        </p:nvSpPr>
        <p:spPr>
          <a:xfrm>
            <a:off x="0" y="4980202"/>
            <a:ext cx="3009900" cy="1147045"/>
          </a:xfrm>
          <a:prstGeom prst="rect">
            <a:avLst/>
          </a:prstGeom>
          <a:noFill/>
        </p:spPr>
        <p:txBody>
          <a:bodyPr wrap="square">
            <a:spAutoFit/>
          </a:bodyPr>
          <a:lstStyle/>
          <a:p>
            <a:pPr>
              <a:lnSpc>
                <a:spcPct val="150000"/>
              </a:lnSpc>
              <a:buNone/>
            </a:pPr>
            <a:r>
              <a:rPr lang="en-US" sz="2400" b="1" dirty="0"/>
              <a:t>Presented by</a:t>
            </a:r>
          </a:p>
          <a:p>
            <a:pPr>
              <a:lnSpc>
                <a:spcPct val="150000"/>
              </a:lnSpc>
              <a:buNone/>
            </a:pPr>
            <a:r>
              <a:rPr lang="en-US" sz="2400" b="1" dirty="0">
                <a:solidFill>
                  <a:schemeClr val="bg1"/>
                </a:solidFill>
              </a:rPr>
              <a:t>Mohammad Sheikh</a:t>
            </a:r>
          </a:p>
        </p:txBody>
      </p:sp>
      <p:sp>
        <p:nvSpPr>
          <p:cNvPr id="11" name="TextBox 10">
            <a:extLst>
              <a:ext uri="{FF2B5EF4-FFF2-40B4-BE49-F238E27FC236}">
                <a16:creationId xmlns:a16="http://schemas.microsoft.com/office/drawing/2014/main" id="{B9682003-38AF-EFDB-2046-E95731F405E4}"/>
              </a:ext>
            </a:extLst>
          </p:cNvPr>
          <p:cNvSpPr txBox="1"/>
          <p:nvPr/>
        </p:nvSpPr>
        <p:spPr>
          <a:xfrm>
            <a:off x="9090502" y="4980202"/>
            <a:ext cx="3101498" cy="1701043"/>
          </a:xfrm>
          <a:prstGeom prst="rect">
            <a:avLst/>
          </a:prstGeom>
          <a:noFill/>
        </p:spPr>
        <p:txBody>
          <a:bodyPr wrap="square">
            <a:spAutoFit/>
          </a:bodyPr>
          <a:lstStyle/>
          <a:p>
            <a:pPr algn="r">
              <a:lnSpc>
                <a:spcPct val="150000"/>
              </a:lnSpc>
              <a:buNone/>
            </a:pPr>
            <a:r>
              <a:rPr lang="en-US" sz="2400" b="1" dirty="0"/>
              <a:t>Supervisors</a:t>
            </a:r>
          </a:p>
          <a:p>
            <a:pPr algn="r">
              <a:lnSpc>
                <a:spcPct val="150000"/>
              </a:lnSpc>
              <a:buNone/>
            </a:pPr>
            <a:r>
              <a:rPr lang="en-US" sz="2400" b="1" dirty="0">
                <a:solidFill>
                  <a:schemeClr val="bg1"/>
                </a:solidFill>
              </a:rPr>
              <a:t>Dr. Luca </a:t>
            </a:r>
            <a:r>
              <a:rPr lang="en-US" sz="2400" b="1" dirty="0" err="1">
                <a:solidFill>
                  <a:schemeClr val="bg1"/>
                </a:solidFill>
              </a:rPr>
              <a:t>Barbierato</a:t>
            </a:r>
            <a:endParaRPr lang="en-US" sz="2400" b="1" dirty="0">
              <a:solidFill>
                <a:schemeClr val="bg1"/>
              </a:solidFill>
            </a:endParaRPr>
          </a:p>
          <a:p>
            <a:pPr algn="r">
              <a:lnSpc>
                <a:spcPct val="150000"/>
              </a:lnSpc>
              <a:buNone/>
            </a:pPr>
            <a:r>
              <a:rPr lang="en-US" sz="2400" b="1" dirty="0">
                <a:solidFill>
                  <a:schemeClr val="bg1"/>
                </a:solidFill>
              </a:rPr>
              <a:t>Dr. Matteo </a:t>
            </a:r>
            <a:r>
              <a:rPr lang="en-US" sz="2400" b="1" dirty="0" err="1">
                <a:solidFill>
                  <a:schemeClr val="bg1"/>
                </a:solidFill>
              </a:rPr>
              <a:t>Santinello</a:t>
            </a:r>
            <a:endParaRPr lang="en-US" sz="2400" b="1" dirty="0">
              <a:solidFill>
                <a:schemeClr val="bg1"/>
              </a:solidFill>
            </a:endParaRPr>
          </a:p>
        </p:txBody>
      </p:sp>
      <p:sp>
        <p:nvSpPr>
          <p:cNvPr id="13" name="TextBox 12">
            <a:extLst>
              <a:ext uri="{FF2B5EF4-FFF2-40B4-BE49-F238E27FC236}">
                <a16:creationId xmlns:a16="http://schemas.microsoft.com/office/drawing/2014/main" id="{3C9F71F2-29B5-260F-E000-D0EF6D9DC034}"/>
              </a:ext>
            </a:extLst>
          </p:cNvPr>
          <p:cNvSpPr txBox="1"/>
          <p:nvPr/>
        </p:nvSpPr>
        <p:spPr>
          <a:xfrm>
            <a:off x="4999036" y="6488668"/>
            <a:ext cx="2193925" cy="369332"/>
          </a:xfrm>
          <a:prstGeom prst="rect">
            <a:avLst/>
          </a:prstGeom>
          <a:noFill/>
        </p:spPr>
        <p:txBody>
          <a:bodyPr wrap="square">
            <a:spAutoFit/>
          </a:bodyPr>
          <a:lstStyle/>
          <a:p>
            <a:pPr>
              <a:buNone/>
            </a:pPr>
            <a:r>
              <a:rPr lang="en-US" sz="1800" b="1" dirty="0">
                <a:solidFill>
                  <a:schemeClr val="bg1"/>
                </a:solidFill>
              </a:rPr>
              <a:t>November 2025</a:t>
            </a:r>
          </a:p>
        </p:txBody>
      </p:sp>
      <p:sp>
        <p:nvSpPr>
          <p:cNvPr id="6" name="TextBox 5">
            <a:extLst>
              <a:ext uri="{FF2B5EF4-FFF2-40B4-BE49-F238E27FC236}">
                <a16:creationId xmlns:a16="http://schemas.microsoft.com/office/drawing/2014/main" id="{91774A55-9F56-4149-2237-23C4BB3A5537}"/>
              </a:ext>
            </a:extLst>
          </p:cNvPr>
          <p:cNvSpPr txBox="1"/>
          <p:nvPr/>
        </p:nvSpPr>
        <p:spPr>
          <a:xfrm>
            <a:off x="1474500" y="8090427"/>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2" name="Picture 2" descr="Predict PNG Transparent Images Free Download | Vector Files | Pngtree">
            <a:extLst>
              <a:ext uri="{FF2B5EF4-FFF2-40B4-BE49-F238E27FC236}">
                <a16:creationId xmlns:a16="http://schemas.microsoft.com/office/drawing/2014/main" id="{0A2251D7-B328-2892-9557-9E9801734725}"/>
              </a:ext>
            </a:extLst>
          </p:cNvPr>
          <p:cNvPicPr>
            <a:picLocks noChangeAspect="1" noChangeArrowheads="1"/>
          </p:cNvPicPr>
          <p:nvPr/>
        </p:nvPicPr>
        <p:blipFill>
          <a:blip r:embed="rId7">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4851" y="6795409"/>
            <a:ext cx="2024360" cy="202436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8AF0682-57F4-84D7-21D8-74774953E560}"/>
              </a:ext>
            </a:extLst>
          </p:cNvPr>
          <p:cNvSpPr txBox="1"/>
          <p:nvPr/>
        </p:nvSpPr>
        <p:spPr>
          <a:xfrm>
            <a:off x="1474499" y="3074639"/>
            <a:ext cx="9242995" cy="1200329"/>
          </a:xfrm>
          <a:prstGeom prst="rect">
            <a:avLst/>
          </a:prstGeom>
          <a:noFill/>
        </p:spPr>
        <p:txBody>
          <a:bodyPr wrap="square">
            <a:spAutoFit/>
          </a:bodyPr>
          <a:lstStyle/>
          <a:p>
            <a:pPr algn="ctr">
              <a:buNone/>
            </a:pPr>
            <a:r>
              <a:rPr lang="en-US" sz="3600" b="1" dirty="0">
                <a:solidFill>
                  <a:srgbClr val="1B415D"/>
                </a:solidFill>
              </a:rPr>
              <a:t>Predictive Analytics of Climate Stress Impact on the Italian Mediterranean Buffalo</a:t>
            </a:r>
          </a:p>
        </p:txBody>
      </p:sp>
    </p:spTree>
    <p:extLst>
      <p:ext uri="{BB962C8B-B14F-4D97-AF65-F5344CB8AC3E}">
        <p14:creationId xmlns:p14="http://schemas.microsoft.com/office/powerpoint/2010/main" val="30085733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EACDD-D867-B5F7-11AB-2EE7EE5B40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83EF1B-11D8-CEAE-B22F-052FF8D5B48A}"/>
              </a:ext>
            </a:extLst>
          </p:cNvPr>
          <p:cNvSpPr>
            <a:spLocks noGrp="1"/>
          </p:cNvSpPr>
          <p:nvPr>
            <p:ph type="title"/>
          </p:nvPr>
        </p:nvSpPr>
        <p:spPr/>
        <p:txBody>
          <a:bodyPr>
            <a:normAutofit fontScale="90000"/>
          </a:bodyPr>
          <a:lstStyle/>
          <a:p>
            <a:r>
              <a:rPr lang="en-US" dirty="0"/>
              <a:t>Jiang et al. (2021)</a:t>
            </a:r>
          </a:p>
        </p:txBody>
      </p:sp>
      <p:sp>
        <p:nvSpPr>
          <p:cNvPr id="3" name="Content Placeholder 2">
            <a:extLst>
              <a:ext uri="{FF2B5EF4-FFF2-40B4-BE49-F238E27FC236}">
                <a16:creationId xmlns:a16="http://schemas.microsoft.com/office/drawing/2014/main" id="{11628019-6BB0-D66C-31B1-CF3CFF69F410}"/>
              </a:ext>
            </a:extLst>
          </p:cNvPr>
          <p:cNvSpPr>
            <a:spLocks noGrp="1"/>
          </p:cNvSpPr>
          <p:nvPr>
            <p:ph idx="1"/>
          </p:nvPr>
        </p:nvSpPr>
        <p:spPr/>
        <p:txBody>
          <a:bodyPr>
            <a:normAutofit fontScale="62500" lnSpcReduction="20000"/>
          </a:bodyPr>
          <a:lstStyle/>
          <a:p>
            <a:r>
              <a:rPr lang="en-US" dirty="0"/>
              <a:t>They introduced a </a:t>
            </a:r>
            <a:r>
              <a:rPr lang="en-US" b="1" dirty="0"/>
              <a:t>hybrid dual-radio mesh network</a:t>
            </a:r>
            <a:r>
              <a:rPr lang="en-US" dirty="0"/>
              <a:t> that integrates </a:t>
            </a:r>
            <a:r>
              <a:rPr lang="en-US" b="1" dirty="0"/>
              <a:t>sub-GHz LoRa</a:t>
            </a:r>
            <a:r>
              <a:rPr lang="en-US" dirty="0"/>
              <a:t> for long-range communication and </a:t>
            </a:r>
            <a:r>
              <a:rPr lang="en-US" b="1" dirty="0"/>
              <a:t>2.4 GHz ANT</a:t>
            </a:r>
            <a:r>
              <a:rPr lang="en-US" dirty="0"/>
              <a:t> for local mesh connectivity. The two technologies are coupled through an </a:t>
            </a:r>
            <a:r>
              <a:rPr lang="en-US" b="1" dirty="0"/>
              <a:t>encapsulation mechanism</a:t>
            </a:r>
            <a:r>
              <a:rPr lang="en-US" dirty="0"/>
              <a:t>, where short-range mesh frames are </a:t>
            </a:r>
            <a:r>
              <a:rPr lang="en-US" b="1" dirty="0" err="1"/>
              <a:t>tunnelled</a:t>
            </a:r>
            <a:r>
              <a:rPr lang="en-US" b="1" dirty="0"/>
              <a:t> inside LoRa packets</a:t>
            </a:r>
            <a:r>
              <a:rPr lang="en-US" dirty="0"/>
              <a:t>, enabling seamless forwarding between tiers.</a:t>
            </a:r>
          </a:p>
          <a:p>
            <a:r>
              <a:rPr lang="en-US" b="1" dirty="0">
                <a:solidFill>
                  <a:schemeClr val="bg1">
                    <a:lumMod val="95000"/>
                  </a:schemeClr>
                </a:solidFill>
              </a:rPr>
              <a:t>Protocol Encapsulation: </a:t>
            </a:r>
            <a:r>
              <a:rPr lang="en-US" dirty="0">
                <a:solidFill>
                  <a:schemeClr val="bg1">
                    <a:lumMod val="95000"/>
                  </a:schemeClr>
                </a:solidFill>
              </a:rPr>
              <a:t>ANT mesh packets are encapsulated as payloads within LoRa frames. This allows data to traverse the long-range LoRa backhaul </a:t>
            </a:r>
            <a:r>
              <a:rPr lang="en-US" b="1" dirty="0">
                <a:solidFill>
                  <a:schemeClr val="bg1">
                    <a:lumMod val="95000"/>
                  </a:schemeClr>
                </a:solidFill>
              </a:rPr>
              <a:t>without modifying the ANT protocol stack</a:t>
            </a:r>
            <a:r>
              <a:rPr lang="en-US" dirty="0">
                <a:solidFill>
                  <a:schemeClr val="bg1">
                    <a:lumMod val="95000"/>
                  </a:schemeClr>
                </a:solidFill>
              </a:rPr>
              <a:t>.</a:t>
            </a:r>
          </a:p>
          <a:p>
            <a:r>
              <a:rPr lang="en-US" b="1" dirty="0">
                <a:solidFill>
                  <a:schemeClr val="bg1">
                    <a:lumMod val="95000"/>
                  </a:schemeClr>
                </a:solidFill>
              </a:rPr>
              <a:t>Dual-Radio Bridging: </a:t>
            </a:r>
            <a:r>
              <a:rPr lang="en-US" dirty="0">
                <a:solidFill>
                  <a:schemeClr val="bg1">
                    <a:lumMod val="95000"/>
                  </a:schemeClr>
                </a:solidFill>
              </a:rPr>
              <a:t>Nodes equipped with both radios manage context switching between mesh (ANT) and LPWAN (LoRa) interfaces. The gateway decapsulates incoming LoRa packets and reinjects them into the local mesh layer.</a:t>
            </a:r>
          </a:p>
          <a:p>
            <a:r>
              <a:rPr lang="en-US" b="1" dirty="0">
                <a:solidFill>
                  <a:schemeClr val="bg1">
                    <a:lumMod val="95000"/>
                  </a:schemeClr>
                </a:solidFill>
              </a:rPr>
              <a:t>TDMA-Based Coordination: </a:t>
            </a:r>
            <a:r>
              <a:rPr lang="en-US" dirty="0">
                <a:solidFill>
                  <a:schemeClr val="bg1">
                    <a:lumMod val="95000"/>
                  </a:schemeClr>
                </a:solidFill>
              </a:rPr>
              <a:t>Time Division Multiple Access scheduling synchronizes short-range mesh communication and LoRa transmissions, preventing collisions and improving energy efficiency.</a:t>
            </a:r>
          </a:p>
          <a:p>
            <a:r>
              <a:rPr lang="en-US" b="1" dirty="0">
                <a:solidFill>
                  <a:schemeClr val="bg1">
                    <a:lumMod val="95000"/>
                  </a:schemeClr>
                </a:solidFill>
              </a:rPr>
              <a:t>Hybrid Routing: </a:t>
            </a:r>
            <a:r>
              <a:rPr lang="en-US" dirty="0">
                <a:solidFill>
                  <a:schemeClr val="bg1">
                    <a:lumMod val="95000"/>
                  </a:schemeClr>
                </a:solidFill>
              </a:rPr>
              <a:t>Local data aggregation occurs within the mesh before encapsulated forwarding over LoRa to reduce channel load.</a:t>
            </a:r>
          </a:p>
          <a:p>
            <a:r>
              <a:rPr lang="en-US" b="1" dirty="0">
                <a:solidFill>
                  <a:schemeClr val="bg1">
                    <a:lumMod val="95000"/>
                  </a:schemeClr>
                </a:solidFill>
              </a:rPr>
              <a:t>Results: </a:t>
            </a:r>
            <a:r>
              <a:rPr lang="en-US" dirty="0">
                <a:solidFill>
                  <a:schemeClr val="bg1">
                    <a:lumMod val="95000"/>
                  </a:schemeClr>
                </a:solidFill>
              </a:rPr>
              <a:t>Achieved </a:t>
            </a:r>
            <a:r>
              <a:rPr lang="en-US" b="1" dirty="0">
                <a:solidFill>
                  <a:schemeClr val="bg1">
                    <a:lumMod val="95000"/>
                  </a:schemeClr>
                </a:solidFill>
              </a:rPr>
              <a:t>seamless protocol interoperability</a:t>
            </a:r>
            <a:r>
              <a:rPr lang="en-US" dirty="0">
                <a:solidFill>
                  <a:schemeClr val="bg1">
                    <a:lumMod val="95000"/>
                  </a:schemeClr>
                </a:solidFill>
              </a:rPr>
              <a:t> without redesigning either the PHY or the MAC layer. Demonstrated </a:t>
            </a:r>
            <a:r>
              <a:rPr lang="en-US" b="1" dirty="0">
                <a:solidFill>
                  <a:schemeClr val="bg1">
                    <a:lumMod val="95000"/>
                  </a:schemeClr>
                </a:solidFill>
              </a:rPr>
              <a:t>extended coverage (≈ 15 km)</a:t>
            </a:r>
            <a:r>
              <a:rPr lang="en-US" dirty="0">
                <a:solidFill>
                  <a:schemeClr val="bg1">
                    <a:lumMod val="95000"/>
                  </a:schemeClr>
                </a:solidFill>
              </a:rPr>
              <a:t> and </a:t>
            </a:r>
            <a:r>
              <a:rPr lang="en-US" b="1" dirty="0">
                <a:solidFill>
                  <a:schemeClr val="bg1">
                    <a:lumMod val="95000"/>
                  </a:schemeClr>
                </a:solidFill>
              </a:rPr>
              <a:t>stable multi-hop performance</a:t>
            </a:r>
            <a:r>
              <a:rPr lang="en-US" dirty="0">
                <a:solidFill>
                  <a:schemeClr val="bg1">
                    <a:lumMod val="95000"/>
                  </a:schemeClr>
                </a:solidFill>
              </a:rPr>
              <a:t>. Improved energy use and throughput due to efficient encapsulation and coordinated scheduling</a:t>
            </a:r>
          </a:p>
          <a:p>
            <a:endParaRPr lang="en-US" dirty="0"/>
          </a:p>
        </p:txBody>
      </p:sp>
      <p:sp>
        <p:nvSpPr>
          <p:cNvPr id="4" name="TextBox 3">
            <a:extLst>
              <a:ext uri="{FF2B5EF4-FFF2-40B4-BE49-F238E27FC236}">
                <a16:creationId xmlns:a16="http://schemas.microsoft.com/office/drawing/2014/main" id="{DBA27F96-CCBE-F640-23EA-4A7487083FF6}"/>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6" name="TextBox 5">
            <a:extLst>
              <a:ext uri="{FF2B5EF4-FFF2-40B4-BE49-F238E27FC236}">
                <a16:creationId xmlns:a16="http://schemas.microsoft.com/office/drawing/2014/main" id="{91F6F6E4-499C-D297-852D-F60A99F0BC3E}"/>
              </a:ext>
            </a:extLst>
          </p:cNvPr>
          <p:cNvSpPr txBox="1"/>
          <p:nvPr/>
        </p:nvSpPr>
        <p:spPr>
          <a:xfrm>
            <a:off x="643982" y="5688736"/>
            <a:ext cx="11243217" cy="646331"/>
          </a:xfrm>
          <a:prstGeom prst="rect">
            <a:avLst/>
          </a:prstGeom>
          <a:noFill/>
        </p:spPr>
        <p:txBody>
          <a:bodyPr wrap="square">
            <a:spAutoFit/>
          </a:bodyPr>
          <a:lstStyle/>
          <a:p>
            <a:r>
              <a:rPr lang="en-US" b="0" i="0" dirty="0">
                <a:solidFill>
                  <a:srgbClr val="333333"/>
                </a:solidFill>
                <a:effectLst/>
                <a:latin typeface="HelveticaNeue Regular"/>
              </a:rPr>
              <a:t>X. Jiang </a:t>
            </a:r>
            <a:r>
              <a:rPr lang="en-US" b="0" i="1" dirty="0">
                <a:solidFill>
                  <a:srgbClr val="333333"/>
                </a:solidFill>
                <a:effectLst/>
                <a:latin typeface="HelveticaNeue Regular"/>
              </a:rPr>
              <a:t>et al</a:t>
            </a:r>
            <a:r>
              <a:rPr lang="en-US" b="0" i="0" dirty="0">
                <a:solidFill>
                  <a:srgbClr val="333333"/>
                </a:solidFill>
                <a:effectLst/>
                <a:latin typeface="HelveticaNeue Regular"/>
              </a:rPr>
              <a:t>., "Hybrid Low-Power Wide-Area Mesh Network for IoT Applications," in </a:t>
            </a:r>
            <a:r>
              <a:rPr lang="en-US" b="0" i="1" dirty="0">
                <a:solidFill>
                  <a:srgbClr val="333333"/>
                </a:solidFill>
                <a:effectLst/>
                <a:latin typeface="HelveticaNeue Regular"/>
              </a:rPr>
              <a:t>IEEE Internet of Things Journal</a:t>
            </a:r>
            <a:r>
              <a:rPr lang="en-US" b="0" i="0" dirty="0">
                <a:solidFill>
                  <a:srgbClr val="333333"/>
                </a:solidFill>
                <a:effectLst/>
                <a:latin typeface="HelveticaNeue Regular"/>
              </a:rPr>
              <a:t>, vol. 8, no. 2, pp. 901-915, 15 Jan.15, 2021, </a:t>
            </a:r>
            <a:r>
              <a:rPr lang="en-US" b="0" i="0" dirty="0" err="1">
                <a:solidFill>
                  <a:srgbClr val="333333"/>
                </a:solidFill>
                <a:effectLst/>
                <a:latin typeface="HelveticaNeue Regular"/>
              </a:rPr>
              <a:t>doi</a:t>
            </a:r>
            <a:r>
              <a:rPr lang="en-US" b="0" i="0" dirty="0">
                <a:solidFill>
                  <a:srgbClr val="333333"/>
                </a:solidFill>
                <a:effectLst/>
                <a:latin typeface="HelveticaNeue Regular"/>
              </a:rPr>
              <a:t>: 10.1109/JIOT.2020.3009228.</a:t>
            </a:r>
            <a:endParaRPr lang="en-US" dirty="0"/>
          </a:p>
        </p:txBody>
      </p:sp>
      <p:pic>
        <p:nvPicPr>
          <p:cNvPr id="8" name="Picture 7">
            <a:extLst>
              <a:ext uri="{FF2B5EF4-FFF2-40B4-BE49-F238E27FC236}">
                <a16:creationId xmlns:a16="http://schemas.microsoft.com/office/drawing/2014/main" id="{0D822647-5098-F42D-5880-C4BFC2ED5B66}"/>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43131" y="2154032"/>
            <a:ext cx="5238750" cy="3495675"/>
          </a:xfrm>
          <a:prstGeom prst="rect">
            <a:avLst/>
          </a:prstGeom>
        </p:spPr>
      </p:pic>
      <p:sp>
        <p:nvSpPr>
          <p:cNvPr id="9" name="TextBox 8">
            <a:extLst>
              <a:ext uri="{FF2B5EF4-FFF2-40B4-BE49-F238E27FC236}">
                <a16:creationId xmlns:a16="http://schemas.microsoft.com/office/drawing/2014/main" id="{C037FB33-A71B-95EB-7DE6-7C60CF076303}"/>
              </a:ext>
            </a:extLst>
          </p:cNvPr>
          <p:cNvSpPr txBox="1"/>
          <p:nvPr/>
        </p:nvSpPr>
        <p:spPr>
          <a:xfrm>
            <a:off x="5923620" y="2041583"/>
            <a:ext cx="5925249" cy="3970318"/>
          </a:xfrm>
          <a:prstGeom prst="rect">
            <a:avLst/>
          </a:prstGeom>
          <a:noFill/>
        </p:spPr>
        <p:txBody>
          <a:bodyPr wrap="square" rtlCol="0">
            <a:spAutoFit/>
          </a:bodyPr>
          <a:lstStyle/>
          <a:p>
            <a:pPr algn="ctr"/>
            <a:r>
              <a:rPr lang="en-US" dirty="0">
                <a:solidFill>
                  <a:srgbClr val="C00000"/>
                </a:solidFill>
              </a:rPr>
              <a:t>A modified mesh distance vector routing protocol:</a:t>
            </a:r>
          </a:p>
          <a:p>
            <a:r>
              <a:rPr lang="en-US" sz="1200" b="1" dirty="0">
                <a:solidFill>
                  <a:srgbClr val="C00000"/>
                </a:solidFill>
              </a:rPr>
              <a:t>LoRa Mesh Network Protocol</a:t>
            </a:r>
          </a:p>
          <a:p>
            <a:r>
              <a:rPr lang="en-US" sz="1200" dirty="0">
                <a:solidFill>
                  <a:srgbClr val="C00000"/>
                </a:solidFill>
              </a:rPr>
              <a:t>	1: </a:t>
            </a:r>
            <a:r>
              <a:rPr lang="en-US" sz="1200" b="1" dirty="0">
                <a:solidFill>
                  <a:srgbClr val="C00000"/>
                </a:solidFill>
              </a:rPr>
              <a:t>procedure</a:t>
            </a:r>
            <a:r>
              <a:rPr lang="en-US" sz="1200" dirty="0">
                <a:solidFill>
                  <a:srgbClr val="C00000"/>
                </a:solidFill>
              </a:rPr>
              <a:t> Operations of Each Node</a:t>
            </a:r>
          </a:p>
          <a:p>
            <a:r>
              <a:rPr lang="en-US" sz="1200" b="1" dirty="0">
                <a:solidFill>
                  <a:srgbClr val="C00000"/>
                </a:solidFill>
              </a:rPr>
              <a:t>Setup Phase</a:t>
            </a:r>
            <a:endParaRPr lang="en-US" sz="1200" dirty="0">
              <a:solidFill>
                <a:srgbClr val="C00000"/>
              </a:solidFill>
            </a:endParaRPr>
          </a:p>
          <a:p>
            <a:r>
              <a:rPr lang="en-US" sz="1200" dirty="0">
                <a:solidFill>
                  <a:srgbClr val="C00000"/>
                </a:solidFill>
              </a:rPr>
              <a:t>	2: Each node builds local routing table using distance vector 	routing protocol.</a:t>
            </a:r>
          </a:p>
          <a:p>
            <a:r>
              <a:rPr lang="en-US" sz="1200" dirty="0">
                <a:solidFill>
                  <a:srgbClr val="C00000"/>
                </a:solidFill>
              </a:rPr>
              <a:t>	3: Each node broadcasts its own routing table and forwards 	others’ routing tables, for the purpose of gathering all routing 	tables at the Hub node.</a:t>
            </a:r>
          </a:p>
          <a:p>
            <a:r>
              <a:rPr lang="en-US" sz="1200" dirty="0">
                <a:solidFill>
                  <a:srgbClr val="C00000"/>
                </a:solidFill>
              </a:rPr>
              <a:t>	4: Hub node builds the connectivity table for the whole 	network after collecting all routing tables from other nodes.</a:t>
            </a:r>
          </a:p>
          <a:p>
            <a:r>
              <a:rPr lang="en-US" sz="1200" dirty="0">
                <a:solidFill>
                  <a:srgbClr val="C00000"/>
                </a:solidFill>
              </a:rPr>
              <a:t>	5: Hub node executes Algorithm 1 to build the 	communication schedule of each node and floods the 	schedule out; all the other nodes forward the schedule after 	receiving it.</a:t>
            </a:r>
          </a:p>
          <a:p>
            <a:r>
              <a:rPr lang="en-US" sz="1200" b="1" dirty="0">
                <a:solidFill>
                  <a:srgbClr val="C00000"/>
                </a:solidFill>
              </a:rPr>
              <a:t>Data Passing Phase</a:t>
            </a:r>
            <a:endParaRPr lang="en-US" sz="1200" dirty="0">
              <a:solidFill>
                <a:srgbClr val="C00000"/>
              </a:solidFill>
            </a:endParaRPr>
          </a:p>
          <a:p>
            <a:r>
              <a:rPr lang="en-US" sz="1200" dirty="0">
                <a:solidFill>
                  <a:srgbClr val="C00000"/>
                </a:solidFill>
              </a:rPr>
              <a:t>	6: Each node sends/receives/sleeps based on the schedule.</a:t>
            </a:r>
          </a:p>
          <a:p>
            <a:r>
              <a:rPr lang="en-US" sz="1200" b="1" dirty="0">
                <a:solidFill>
                  <a:srgbClr val="C00000"/>
                </a:solidFill>
              </a:rPr>
              <a:t>Sleep Phase</a:t>
            </a:r>
            <a:endParaRPr lang="en-US" sz="1200" dirty="0">
              <a:solidFill>
                <a:srgbClr val="C00000"/>
              </a:solidFill>
            </a:endParaRPr>
          </a:p>
          <a:p>
            <a:r>
              <a:rPr lang="en-US" sz="1200" dirty="0">
                <a:solidFill>
                  <a:srgbClr val="C00000"/>
                </a:solidFill>
              </a:rPr>
              <a:t>	7: All nodes sleep until the next Data Passing Phase.</a:t>
            </a:r>
          </a:p>
          <a:p>
            <a:pPr algn="ctr"/>
            <a:endParaRPr lang="en-US" dirty="0">
              <a:solidFill>
                <a:srgbClr val="C00000"/>
              </a:solidFill>
            </a:endParaRPr>
          </a:p>
        </p:txBody>
      </p:sp>
    </p:spTree>
    <p:extLst>
      <p:ext uri="{BB962C8B-B14F-4D97-AF65-F5344CB8AC3E}">
        <p14:creationId xmlns:p14="http://schemas.microsoft.com/office/powerpoint/2010/main" val="269075929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C0797-E8EE-092B-E35A-7DB347B9C1F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B7DB64-6757-B831-04FE-69EA6EF4A72C}"/>
              </a:ext>
            </a:extLst>
          </p:cNvPr>
          <p:cNvSpPr>
            <a:spLocks noGrp="1"/>
          </p:cNvSpPr>
          <p:nvPr>
            <p:ph idx="1"/>
          </p:nvPr>
        </p:nvSpPr>
        <p:spPr/>
        <p:txBody>
          <a:bodyPr>
            <a:normAutofit/>
          </a:bodyPr>
          <a:lstStyle/>
          <a:p>
            <a:r>
              <a:rPr lang="en-US" sz="2400" dirty="0" err="1"/>
              <a:t>LoRaWAN</a:t>
            </a:r>
            <a:r>
              <a:rPr lang="en-US" sz="2400" dirty="0"/>
              <a:t> and BLE Mesh together enable resilient, scalable IoT infrastructures. The main challenge lies in efficient, secure routing across two fundamentally different wireless tiers—solvable with adaptive, energy-aware algorithms.</a:t>
            </a:r>
          </a:p>
          <a:p>
            <a:r>
              <a:rPr lang="en-US" sz="2400" dirty="0"/>
              <a:t>Approaches for BLE–LoRa integration:</a:t>
            </a:r>
          </a:p>
          <a:p>
            <a:pPr marL="285750" indent="-285750">
              <a:buFont typeface="Arial" panose="020B0604020202020204" pitchFamily="34" charset="0"/>
              <a:buChar char="•"/>
            </a:pPr>
            <a:r>
              <a:rPr lang="en-US" sz="2400" b="1" dirty="0"/>
              <a:t>Cross-layer best-radio selection</a:t>
            </a:r>
          </a:p>
          <a:p>
            <a:pPr marL="285750" indent="-285750">
              <a:buFont typeface="Arial" panose="020B0604020202020204" pitchFamily="34" charset="0"/>
              <a:buChar char="•"/>
            </a:pPr>
            <a:r>
              <a:rPr lang="en-US" sz="2400" b="1" dirty="0"/>
              <a:t>Opportunistic candidate forwarding</a:t>
            </a:r>
          </a:p>
          <a:p>
            <a:pPr marL="285750" indent="-285750">
              <a:buFont typeface="Arial" panose="020B0604020202020204" pitchFamily="34" charset="0"/>
              <a:buChar char="•"/>
            </a:pPr>
            <a:r>
              <a:rPr lang="en-US" sz="2400" b="1" dirty="0"/>
              <a:t>Machine-learning–based adaptive routing</a:t>
            </a:r>
          </a:p>
          <a:p>
            <a:pPr marL="285750" indent="-285750">
              <a:buFont typeface="Arial" panose="020B0604020202020204" pitchFamily="34" charset="0"/>
              <a:buChar char="•"/>
            </a:pPr>
            <a:r>
              <a:rPr lang="en-US" sz="2400" b="1" dirty="0"/>
              <a:t>Hybrid proactive (LoRa) + reactive (BLE) methods</a:t>
            </a:r>
          </a:p>
        </p:txBody>
      </p:sp>
      <p:sp>
        <p:nvSpPr>
          <p:cNvPr id="4" name="TextBox 3">
            <a:extLst>
              <a:ext uri="{FF2B5EF4-FFF2-40B4-BE49-F238E27FC236}">
                <a16:creationId xmlns:a16="http://schemas.microsoft.com/office/drawing/2014/main" id="{144A9130-4971-8123-5E76-6851D5B8986D}"/>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7" name="Title 6">
            <a:extLst>
              <a:ext uri="{FF2B5EF4-FFF2-40B4-BE49-F238E27FC236}">
                <a16:creationId xmlns:a16="http://schemas.microsoft.com/office/drawing/2014/main" id="{3682E002-E6B0-5B89-1C8C-EBC0A977206B}"/>
              </a:ext>
            </a:extLst>
          </p:cNvPr>
          <p:cNvSpPr>
            <a:spLocks noGrp="1"/>
          </p:cNvSpPr>
          <p:nvPr>
            <p:ph type="title"/>
          </p:nvPr>
        </p:nvSpPr>
        <p:spPr/>
        <p:txBody>
          <a:bodyPr>
            <a:normAutofit fontScale="90000"/>
          </a:bodyPr>
          <a:lstStyle/>
          <a:p>
            <a:r>
              <a:rPr lang="en-US" dirty="0"/>
              <a:t>Routing Strategies for Mixed Networks</a:t>
            </a:r>
          </a:p>
        </p:txBody>
      </p:sp>
    </p:spTree>
    <p:extLst>
      <p:ext uri="{BB962C8B-B14F-4D97-AF65-F5344CB8AC3E}">
        <p14:creationId xmlns:p14="http://schemas.microsoft.com/office/powerpoint/2010/main" val="65900350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486AE-2A00-0205-5328-5AA5D26533E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D09536E-8F77-0B8E-9CF8-00B3127641A3}"/>
              </a:ext>
            </a:extLst>
          </p:cNvPr>
          <p:cNvSpPr>
            <a:spLocks noGrp="1"/>
          </p:cNvSpPr>
          <p:nvPr>
            <p:ph idx="1"/>
          </p:nvPr>
        </p:nvSpPr>
        <p:spPr/>
        <p:txBody>
          <a:bodyPr>
            <a:normAutofit fontScale="70000" lnSpcReduction="20000"/>
          </a:bodyPr>
          <a:lstStyle/>
          <a:p>
            <a:r>
              <a:rPr lang="en-US" dirty="0"/>
              <a:t>Cross-layer routing introduces </a:t>
            </a:r>
            <a:r>
              <a:rPr lang="en-US" b="1" dirty="0"/>
              <a:t>dynamic radio selection</a:t>
            </a:r>
            <a:r>
              <a:rPr lang="en-US" dirty="0"/>
              <a:t>, enabling dual-interface nodes to choose </a:t>
            </a:r>
            <a:r>
              <a:rPr lang="en-US" b="1" dirty="0"/>
              <a:t>BLE or </a:t>
            </a:r>
            <a:r>
              <a:rPr lang="en-US" b="1" dirty="0" err="1"/>
              <a:t>LoRaWAN</a:t>
            </a:r>
            <a:r>
              <a:rPr lang="en-US" dirty="0"/>
              <a:t> per transmission based on live network conditions and QoS requirements.</a:t>
            </a:r>
          </a:p>
          <a:p>
            <a:r>
              <a:rPr lang="en-US" b="1" dirty="0"/>
              <a:t>Mechanism: </a:t>
            </a:r>
          </a:p>
          <a:p>
            <a:r>
              <a:rPr lang="en-US" dirty="0"/>
              <a:t>Nodes continuously monitor metrics such as:</a:t>
            </a:r>
          </a:p>
          <a:p>
            <a:pPr marL="800100" lvl="1" indent="-342900">
              <a:buFont typeface="Arial" panose="020B0604020202020204" pitchFamily="34" charset="0"/>
              <a:buChar char="•"/>
            </a:pPr>
            <a:r>
              <a:rPr lang="en-US" dirty="0"/>
              <a:t>Received Signal Strength Indicator (RSSI) and SNR.</a:t>
            </a:r>
          </a:p>
          <a:p>
            <a:pPr marL="800100" lvl="1" indent="-342900">
              <a:buFont typeface="Arial" panose="020B0604020202020204" pitchFamily="34" charset="0"/>
              <a:buChar char="•"/>
            </a:pPr>
            <a:r>
              <a:rPr lang="en-US" dirty="0"/>
              <a:t>Remaining battery energy.</a:t>
            </a:r>
          </a:p>
          <a:p>
            <a:pPr marL="800100" lvl="1" indent="-342900">
              <a:buFont typeface="Arial" panose="020B0604020202020204" pitchFamily="34" charset="0"/>
              <a:buChar char="•"/>
            </a:pPr>
            <a:r>
              <a:rPr lang="en-US" dirty="0"/>
              <a:t>Channel duty-cycle and interference levels.</a:t>
            </a:r>
          </a:p>
          <a:p>
            <a:pPr marL="800100" lvl="1" indent="-342900">
              <a:buFont typeface="Arial" panose="020B0604020202020204" pitchFamily="34" charset="0"/>
              <a:buChar char="•"/>
            </a:pPr>
            <a:r>
              <a:rPr lang="en-US" dirty="0"/>
              <a:t>Message priority (critical, regular, or background).</a:t>
            </a:r>
          </a:p>
          <a:p>
            <a:r>
              <a:rPr lang="en-US" dirty="0"/>
              <a:t>A decision engine (local or distributed) selects the </a:t>
            </a:r>
            <a:r>
              <a:rPr lang="en-US" b="1" dirty="0"/>
              <a:t>best radio</a:t>
            </a:r>
            <a:r>
              <a:rPr lang="en-US" dirty="0"/>
              <a:t> for the next transmission. </a:t>
            </a:r>
          </a:p>
          <a:p>
            <a:r>
              <a:rPr lang="en-US" dirty="0"/>
              <a:t>The selected radio handles the transmission while the other remains idle to save energy.</a:t>
            </a:r>
          </a:p>
          <a:p>
            <a:r>
              <a:rPr lang="en-US" b="1" dirty="0"/>
              <a:t>Advantages: </a:t>
            </a:r>
          </a:p>
          <a:p>
            <a:r>
              <a:rPr lang="en-US" dirty="0"/>
              <a:t>Optimizes </a:t>
            </a:r>
            <a:r>
              <a:rPr lang="en-US" b="1" dirty="0"/>
              <a:t>energy efficiency and reliability</a:t>
            </a:r>
            <a:r>
              <a:rPr lang="en-US" dirty="0"/>
              <a:t>. </a:t>
            </a:r>
          </a:p>
          <a:p>
            <a:r>
              <a:rPr lang="en-US" dirty="0"/>
              <a:t>Adapts to environment and workload in real time. </a:t>
            </a:r>
          </a:p>
          <a:p>
            <a:r>
              <a:rPr lang="en-US" dirty="0"/>
              <a:t>Minimizes packet loss under variable channel conditions.</a:t>
            </a:r>
          </a:p>
          <a:p>
            <a:endParaRPr lang="en-US" sz="2400" b="1" dirty="0"/>
          </a:p>
        </p:txBody>
      </p:sp>
      <p:sp>
        <p:nvSpPr>
          <p:cNvPr id="4" name="TextBox 3">
            <a:extLst>
              <a:ext uri="{FF2B5EF4-FFF2-40B4-BE49-F238E27FC236}">
                <a16:creationId xmlns:a16="http://schemas.microsoft.com/office/drawing/2014/main" id="{9DF90E5E-39DC-5604-D126-9397AAE97996}"/>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7" name="Title 6">
            <a:extLst>
              <a:ext uri="{FF2B5EF4-FFF2-40B4-BE49-F238E27FC236}">
                <a16:creationId xmlns:a16="http://schemas.microsoft.com/office/drawing/2014/main" id="{BB2C24E7-8789-95DF-3534-A349C0657340}"/>
              </a:ext>
            </a:extLst>
          </p:cNvPr>
          <p:cNvSpPr>
            <a:spLocks noGrp="1"/>
          </p:cNvSpPr>
          <p:nvPr>
            <p:ph type="title"/>
          </p:nvPr>
        </p:nvSpPr>
        <p:spPr/>
        <p:txBody>
          <a:bodyPr>
            <a:normAutofit fontScale="90000"/>
          </a:bodyPr>
          <a:lstStyle/>
          <a:p>
            <a:r>
              <a:rPr lang="en-US" dirty="0"/>
              <a:t>Cross-Layer Best-Radio Selection</a:t>
            </a:r>
          </a:p>
        </p:txBody>
      </p:sp>
    </p:spTree>
    <p:extLst>
      <p:ext uri="{BB962C8B-B14F-4D97-AF65-F5344CB8AC3E}">
        <p14:creationId xmlns:p14="http://schemas.microsoft.com/office/powerpoint/2010/main" val="39273494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F3C8C5-AA66-D43D-86C9-61C6E46AC9E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668D733-ACFA-2149-6398-5A70399EE4FA}"/>
              </a:ext>
            </a:extLst>
          </p:cNvPr>
          <p:cNvSpPr>
            <a:spLocks noGrp="1"/>
          </p:cNvSpPr>
          <p:nvPr>
            <p:ph idx="1"/>
          </p:nvPr>
        </p:nvSpPr>
        <p:spPr/>
        <p:txBody>
          <a:bodyPr>
            <a:normAutofit/>
          </a:bodyPr>
          <a:lstStyle/>
          <a:p>
            <a:r>
              <a:rPr lang="en-US" sz="2000" dirty="0"/>
              <a:t>Opportunistic forwarding eliminates fixed routes by using </a:t>
            </a:r>
            <a:r>
              <a:rPr lang="en-US" sz="2000" b="1" dirty="0"/>
              <a:t>probabilistic, competition-based forwarding</a:t>
            </a:r>
            <a:r>
              <a:rPr lang="en-US" sz="2000" dirty="0"/>
              <a:t> — multiple nodes can forward a packet, and the network self-selects the best next hop.</a:t>
            </a:r>
          </a:p>
          <a:p>
            <a:r>
              <a:rPr lang="en-US" sz="2000" b="1" dirty="0"/>
              <a:t>Mechanism: </a:t>
            </a:r>
          </a:p>
          <a:p>
            <a:r>
              <a:rPr lang="en-US" sz="2000" dirty="0"/>
              <a:t>Nodes broadcast packets to all nearby </a:t>
            </a:r>
            <a:r>
              <a:rPr lang="en-US" sz="2000" dirty="0" err="1"/>
              <a:t>neighbours</a:t>
            </a:r>
            <a:r>
              <a:rPr lang="en-US" sz="2000" dirty="0"/>
              <a:t>. </a:t>
            </a:r>
          </a:p>
          <a:p>
            <a:r>
              <a:rPr lang="en-US" sz="2000" dirty="0"/>
              <a:t>Each </a:t>
            </a:r>
            <a:r>
              <a:rPr lang="en-US" sz="2000" dirty="0" err="1"/>
              <a:t>neighbour</a:t>
            </a:r>
            <a:r>
              <a:rPr lang="en-US" sz="2000" dirty="0"/>
              <a:t> evaluates its suitability (e.g., link quality, hop count, residual energy). </a:t>
            </a:r>
          </a:p>
          <a:p>
            <a:r>
              <a:rPr lang="en-US" sz="2000" dirty="0"/>
              <a:t>The most eligible node forwards first; others cancel after a random backoff period. </a:t>
            </a:r>
          </a:p>
          <a:p>
            <a:r>
              <a:rPr lang="en-US" sz="2000" dirty="0"/>
              <a:t>Ensures progress toward the destination without precomputed paths.</a:t>
            </a:r>
          </a:p>
          <a:p>
            <a:r>
              <a:rPr lang="en-US" sz="2000" b="1" dirty="0"/>
              <a:t>Advantages:</a:t>
            </a:r>
            <a:endParaRPr lang="en-US" sz="2000" dirty="0"/>
          </a:p>
          <a:p>
            <a:r>
              <a:rPr lang="en-US" sz="2000" b="1" dirty="0"/>
              <a:t>Topology-free:</a:t>
            </a:r>
            <a:r>
              <a:rPr lang="en-US" sz="2000" dirty="0"/>
              <a:t> no route discovery or maintenance overhead.</a:t>
            </a:r>
          </a:p>
          <a:p>
            <a:r>
              <a:rPr lang="en-US" sz="2000" b="1" dirty="0"/>
              <a:t>Robust:</a:t>
            </a:r>
            <a:r>
              <a:rPr lang="en-US" sz="2000" dirty="0"/>
              <a:t> resilient to node failures or dynamic topology changes.</a:t>
            </a:r>
          </a:p>
          <a:p>
            <a:r>
              <a:rPr lang="en-US" sz="2000" b="1" dirty="0"/>
              <a:t>Scalable:</a:t>
            </a:r>
            <a:r>
              <a:rPr lang="en-US" sz="2000" dirty="0"/>
              <a:t> adapts automatically to network growth.</a:t>
            </a:r>
          </a:p>
          <a:p>
            <a:endParaRPr lang="en-US" sz="2400" b="1" dirty="0"/>
          </a:p>
        </p:txBody>
      </p:sp>
      <p:sp>
        <p:nvSpPr>
          <p:cNvPr id="4" name="TextBox 3">
            <a:extLst>
              <a:ext uri="{FF2B5EF4-FFF2-40B4-BE49-F238E27FC236}">
                <a16:creationId xmlns:a16="http://schemas.microsoft.com/office/drawing/2014/main" id="{B404DD49-76C1-7593-860A-A4473DA2A7A9}"/>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7" name="Title 6">
            <a:extLst>
              <a:ext uri="{FF2B5EF4-FFF2-40B4-BE49-F238E27FC236}">
                <a16:creationId xmlns:a16="http://schemas.microsoft.com/office/drawing/2014/main" id="{50329B54-61A0-9A6C-B629-377B5D4692DA}"/>
              </a:ext>
            </a:extLst>
          </p:cNvPr>
          <p:cNvSpPr>
            <a:spLocks noGrp="1"/>
          </p:cNvSpPr>
          <p:nvPr>
            <p:ph type="title"/>
          </p:nvPr>
        </p:nvSpPr>
        <p:spPr/>
        <p:txBody>
          <a:bodyPr>
            <a:normAutofit fontScale="90000"/>
          </a:bodyPr>
          <a:lstStyle/>
          <a:p>
            <a:r>
              <a:rPr lang="en-US" dirty="0"/>
              <a:t>Opportunistic Candidate Forwarding</a:t>
            </a:r>
          </a:p>
        </p:txBody>
      </p:sp>
    </p:spTree>
    <p:extLst>
      <p:ext uri="{BB962C8B-B14F-4D97-AF65-F5344CB8AC3E}">
        <p14:creationId xmlns:p14="http://schemas.microsoft.com/office/powerpoint/2010/main" val="19766969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5F613-DC64-FFD7-5CAB-1E301CD1CAB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D3E285-53FA-92F2-14E2-6D4681CFFD08}"/>
              </a:ext>
            </a:extLst>
          </p:cNvPr>
          <p:cNvSpPr>
            <a:spLocks noGrp="1"/>
          </p:cNvSpPr>
          <p:nvPr>
            <p:ph idx="1"/>
          </p:nvPr>
        </p:nvSpPr>
        <p:spPr/>
        <p:txBody>
          <a:bodyPr>
            <a:normAutofit fontScale="92500" lnSpcReduction="10000"/>
          </a:bodyPr>
          <a:lstStyle/>
          <a:p>
            <a:r>
              <a:rPr lang="en-US" sz="2400" dirty="0"/>
              <a:t>Machine learning introduces </a:t>
            </a:r>
            <a:r>
              <a:rPr lang="en-US" sz="2400" b="1" dirty="0"/>
              <a:t>self-learning routing intelligence</a:t>
            </a:r>
            <a:r>
              <a:rPr lang="en-US" sz="2400" dirty="0"/>
              <a:t>, enabling dual-radio nodes to adapt forwarding </a:t>
            </a:r>
            <a:r>
              <a:rPr lang="en-US" sz="2400" dirty="0" err="1"/>
              <a:t>behaviour</a:t>
            </a:r>
            <a:r>
              <a:rPr lang="en-US" sz="2400" dirty="0"/>
              <a:t> dynamically through </a:t>
            </a:r>
            <a:r>
              <a:rPr lang="en-US" sz="2400" b="1" dirty="0"/>
              <a:t>reinforcement learning (e.g., Q-learning)</a:t>
            </a:r>
            <a:r>
              <a:rPr lang="en-US" sz="2400" dirty="0"/>
              <a:t> or predictive models.</a:t>
            </a:r>
          </a:p>
          <a:p>
            <a:r>
              <a:rPr lang="en-US" sz="2400" b="1" dirty="0"/>
              <a:t>Mechanism:</a:t>
            </a:r>
            <a:endParaRPr lang="en-US" sz="2400" dirty="0"/>
          </a:p>
          <a:p>
            <a:r>
              <a:rPr lang="en-US" sz="2400" dirty="0"/>
              <a:t>Each node observes local conditions (RSSI, energy, congestion, message success).</a:t>
            </a:r>
          </a:p>
          <a:p>
            <a:r>
              <a:rPr lang="en-US" sz="2400" dirty="0"/>
              <a:t>The node selects an </a:t>
            </a:r>
            <a:r>
              <a:rPr lang="en-US" sz="2400" b="1" dirty="0"/>
              <a:t>action</a:t>
            </a:r>
            <a:r>
              <a:rPr lang="en-US" sz="2400" dirty="0"/>
              <a:t>: use BLE, use LoRa, forward, or remain silent.</a:t>
            </a:r>
          </a:p>
          <a:p>
            <a:r>
              <a:rPr lang="en-US" sz="2400" dirty="0"/>
              <a:t>The environment provides a </a:t>
            </a:r>
            <a:r>
              <a:rPr lang="en-US" sz="2400" b="1" dirty="0"/>
              <a:t>reward</a:t>
            </a:r>
            <a:r>
              <a:rPr lang="en-US" sz="2400" dirty="0"/>
              <a:t> based on delivery success and energy use.</a:t>
            </a:r>
          </a:p>
          <a:p>
            <a:r>
              <a:rPr lang="en-US" sz="2400" dirty="0"/>
              <a:t>The node updates its routing policy to </a:t>
            </a:r>
            <a:r>
              <a:rPr lang="en-US" sz="2400" dirty="0" err="1"/>
              <a:t>maximise</a:t>
            </a:r>
            <a:r>
              <a:rPr lang="en-US" sz="2400" dirty="0"/>
              <a:t> long-term performance.</a:t>
            </a:r>
          </a:p>
          <a:p>
            <a:r>
              <a:rPr lang="en-US" sz="2400" b="1" dirty="0"/>
              <a:t>Advantages:</a:t>
            </a:r>
            <a:endParaRPr lang="en-US" sz="2400" dirty="0"/>
          </a:p>
          <a:p>
            <a:r>
              <a:rPr lang="en-US" sz="2400" dirty="0"/>
              <a:t>Learns optimal forwarding strategies over time.</a:t>
            </a:r>
          </a:p>
          <a:p>
            <a:r>
              <a:rPr lang="en-US" sz="2400" dirty="0"/>
              <a:t>Requires no </a:t>
            </a:r>
            <a:r>
              <a:rPr lang="en-US" sz="2400" dirty="0" err="1"/>
              <a:t>centralised</a:t>
            </a:r>
            <a:r>
              <a:rPr lang="en-US" sz="2400" dirty="0"/>
              <a:t> routing management.</a:t>
            </a:r>
          </a:p>
          <a:p>
            <a:r>
              <a:rPr lang="en-US" sz="2400" dirty="0"/>
              <a:t>Enhances lifetime and delivery success in dynamic environments.</a:t>
            </a:r>
          </a:p>
          <a:p>
            <a:endParaRPr lang="en-US" sz="2400" b="1" dirty="0"/>
          </a:p>
        </p:txBody>
      </p:sp>
      <p:sp>
        <p:nvSpPr>
          <p:cNvPr id="4" name="TextBox 3">
            <a:extLst>
              <a:ext uri="{FF2B5EF4-FFF2-40B4-BE49-F238E27FC236}">
                <a16:creationId xmlns:a16="http://schemas.microsoft.com/office/drawing/2014/main" id="{EB027ED0-F035-D223-E8FB-0626EBD9FD98}"/>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7" name="Title 6">
            <a:extLst>
              <a:ext uri="{FF2B5EF4-FFF2-40B4-BE49-F238E27FC236}">
                <a16:creationId xmlns:a16="http://schemas.microsoft.com/office/drawing/2014/main" id="{CDF5E603-4688-BBF8-750E-DE276ABA1F19}"/>
              </a:ext>
            </a:extLst>
          </p:cNvPr>
          <p:cNvSpPr>
            <a:spLocks noGrp="1"/>
          </p:cNvSpPr>
          <p:nvPr>
            <p:ph type="title"/>
          </p:nvPr>
        </p:nvSpPr>
        <p:spPr/>
        <p:txBody>
          <a:bodyPr>
            <a:normAutofit fontScale="90000"/>
          </a:bodyPr>
          <a:lstStyle/>
          <a:p>
            <a:r>
              <a:rPr lang="en-US" dirty="0"/>
              <a:t>Machine-Learning–Based Adaptive Routing</a:t>
            </a:r>
          </a:p>
        </p:txBody>
      </p:sp>
    </p:spTree>
    <p:extLst>
      <p:ext uri="{BB962C8B-B14F-4D97-AF65-F5344CB8AC3E}">
        <p14:creationId xmlns:p14="http://schemas.microsoft.com/office/powerpoint/2010/main" val="1130377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AC3C7-38FB-B99E-7BF5-26786364104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56B360-B39C-BF8E-22D0-5F3DED61CE64}"/>
              </a:ext>
            </a:extLst>
          </p:cNvPr>
          <p:cNvSpPr>
            <a:spLocks noGrp="1"/>
          </p:cNvSpPr>
          <p:nvPr>
            <p:ph idx="1"/>
          </p:nvPr>
        </p:nvSpPr>
        <p:spPr/>
        <p:txBody>
          <a:bodyPr>
            <a:normAutofit fontScale="77500" lnSpcReduction="20000"/>
          </a:bodyPr>
          <a:lstStyle/>
          <a:p>
            <a:r>
              <a:rPr lang="en-US" dirty="0"/>
              <a:t>This approach merges two classical routing philosophies to leverage each protocol’s strengths — </a:t>
            </a:r>
            <a:r>
              <a:rPr lang="en-US" b="1" dirty="0" err="1"/>
              <a:t>LoRaWAN</a:t>
            </a:r>
            <a:r>
              <a:rPr lang="en-US" b="1" dirty="0"/>
              <a:t> uses proactive (table-based) routing</a:t>
            </a:r>
            <a:r>
              <a:rPr lang="en-US" dirty="0"/>
              <a:t>, while </a:t>
            </a:r>
            <a:r>
              <a:rPr lang="en-US" b="1" dirty="0"/>
              <a:t>BLE Mesh employs reactive (on-demand)</a:t>
            </a:r>
            <a:r>
              <a:rPr lang="en-US" dirty="0"/>
              <a:t> routing.</a:t>
            </a:r>
          </a:p>
          <a:p>
            <a:r>
              <a:rPr lang="en-US" b="1" dirty="0"/>
              <a:t>Mechanism:</a:t>
            </a:r>
            <a:endParaRPr lang="en-US" dirty="0"/>
          </a:p>
          <a:p>
            <a:r>
              <a:rPr lang="en-US" b="1" dirty="0"/>
              <a:t>LoRa Tier: </a:t>
            </a:r>
            <a:r>
              <a:rPr lang="en-US" dirty="0"/>
              <a:t>Maintains stable, long-term routing paths (proactive). Suitable for periodic reporting and backhaul reliability.</a:t>
            </a:r>
          </a:p>
          <a:p>
            <a:r>
              <a:rPr lang="en-US" b="1" dirty="0"/>
              <a:t>BLE Tier: </a:t>
            </a:r>
            <a:r>
              <a:rPr lang="en-US" dirty="0"/>
              <a:t>Routes established only when needed (reactive). Ideal for dense networks where topology changes frequently.</a:t>
            </a:r>
          </a:p>
          <a:p>
            <a:r>
              <a:rPr lang="en-US" b="1" dirty="0"/>
              <a:t>Bridging Strategy: </a:t>
            </a:r>
            <a:r>
              <a:rPr lang="en-US" dirty="0"/>
              <a:t>BLE clusters send aggregated or event-driven data to the LoRa tier. LoRa ensures deterministic delivery to the backend.</a:t>
            </a:r>
          </a:p>
          <a:p>
            <a:r>
              <a:rPr lang="en-US" b="1" dirty="0"/>
              <a:t>Advantages:</a:t>
            </a:r>
            <a:endParaRPr lang="en-US" dirty="0"/>
          </a:p>
          <a:p>
            <a:r>
              <a:rPr lang="en-US" dirty="0"/>
              <a:t>Balances responsiveness (BLE) with reliability (LoRa).</a:t>
            </a:r>
          </a:p>
          <a:p>
            <a:r>
              <a:rPr lang="en-US" dirty="0"/>
              <a:t>Reduces routing overhead compared to full proactive or reactive systems.</a:t>
            </a:r>
          </a:p>
          <a:p>
            <a:r>
              <a:rPr lang="en-US" dirty="0"/>
              <a:t>Enables scalable hybrid architectures with predictable latency.</a:t>
            </a:r>
          </a:p>
          <a:p>
            <a:endParaRPr lang="en-US" sz="2400" b="1" dirty="0"/>
          </a:p>
        </p:txBody>
      </p:sp>
      <p:sp>
        <p:nvSpPr>
          <p:cNvPr id="4" name="TextBox 3">
            <a:extLst>
              <a:ext uri="{FF2B5EF4-FFF2-40B4-BE49-F238E27FC236}">
                <a16:creationId xmlns:a16="http://schemas.microsoft.com/office/drawing/2014/main" id="{A703F40F-D9DE-FB50-5635-500A523B687F}"/>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7" name="Title 6">
            <a:extLst>
              <a:ext uri="{FF2B5EF4-FFF2-40B4-BE49-F238E27FC236}">
                <a16:creationId xmlns:a16="http://schemas.microsoft.com/office/drawing/2014/main" id="{C4F8DF87-FECB-3001-3771-ED37D597F207}"/>
              </a:ext>
            </a:extLst>
          </p:cNvPr>
          <p:cNvSpPr>
            <a:spLocks noGrp="1"/>
          </p:cNvSpPr>
          <p:nvPr>
            <p:ph type="title"/>
          </p:nvPr>
        </p:nvSpPr>
        <p:spPr/>
        <p:txBody>
          <a:bodyPr>
            <a:normAutofit fontScale="90000"/>
          </a:bodyPr>
          <a:lstStyle/>
          <a:p>
            <a:r>
              <a:rPr lang="en-US" dirty="0"/>
              <a:t>Hybrid Proactive (LoRa) + Reactive (BLE) Methods</a:t>
            </a:r>
          </a:p>
        </p:txBody>
      </p:sp>
    </p:spTree>
    <p:extLst>
      <p:ext uri="{BB962C8B-B14F-4D97-AF65-F5344CB8AC3E}">
        <p14:creationId xmlns:p14="http://schemas.microsoft.com/office/powerpoint/2010/main" val="39004678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10547489"/>
      </p:ext>
    </p:extLst>
  </p:cSld>
  <p:clrMapOvr>
    <a:masterClrMapping/>
  </p:clrMapOvr>
</p:sld>
</file>

<file path=ppt/theme/theme1.xml><?xml version="1.0" encoding="utf-8"?>
<a:theme xmlns:a="http://schemas.openxmlformats.org/drawingml/2006/main" name="COPERTINE">
  <a:themeElements>
    <a:clrScheme name="PoliTO_Template">
      <a:dk1>
        <a:srgbClr val="002B49"/>
      </a:dk1>
      <a:lt1>
        <a:srgbClr val="FFFFFF"/>
      </a:lt1>
      <a:dk2>
        <a:srgbClr val="000000"/>
      </a:dk2>
      <a:lt2>
        <a:srgbClr val="EED9CC"/>
      </a:lt2>
      <a:accent1>
        <a:srgbClr val="EF7B00"/>
      </a:accent1>
      <a:accent2>
        <a:srgbClr val="00B1DF"/>
      </a:accent2>
      <a:accent3>
        <a:srgbClr val="C4E7FB"/>
      </a:accent3>
      <a:accent4>
        <a:srgbClr val="F1C64C"/>
      </a:accent4>
      <a:accent5>
        <a:srgbClr val="FFE9AF"/>
      </a:accent5>
      <a:accent6>
        <a:srgbClr val="92CCAE"/>
      </a:accent6>
      <a:hlink>
        <a:srgbClr val="175673"/>
      </a:hlink>
      <a:folHlink>
        <a:srgbClr val="EC6055"/>
      </a:folHlink>
    </a:clrScheme>
    <a:fontScheme name="PoliTO_Template">
      <a:majorFont>
        <a:latin typeface="Poppins Medium"/>
        <a:ea typeface=""/>
        <a:cs typeface=""/>
      </a:majorFont>
      <a:minorFont>
        <a:latin typeface="Poppi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lito template_ITA" id="{B4DE900A-7F1E-FB4B-BE2A-0D4B6B8B958A}" vid="{413DD7D1-C3E5-6A4B-BFB7-237394F1067C}"/>
    </a:ext>
  </a:extLst>
</a:theme>
</file>

<file path=ppt/theme/theme2.xml><?xml version="1.0" encoding="utf-8"?>
<a:theme xmlns:a="http://schemas.openxmlformats.org/drawingml/2006/main" name="CONTENUTI 1 _ titoli blu">
  <a:themeElements>
    <a:clrScheme name="PoliTO_Template">
      <a:dk1>
        <a:srgbClr val="002B49"/>
      </a:dk1>
      <a:lt1>
        <a:srgbClr val="FFFFFF"/>
      </a:lt1>
      <a:dk2>
        <a:srgbClr val="000000"/>
      </a:dk2>
      <a:lt2>
        <a:srgbClr val="EED9CC"/>
      </a:lt2>
      <a:accent1>
        <a:srgbClr val="EF7B00"/>
      </a:accent1>
      <a:accent2>
        <a:srgbClr val="00B1DF"/>
      </a:accent2>
      <a:accent3>
        <a:srgbClr val="C4E7FB"/>
      </a:accent3>
      <a:accent4>
        <a:srgbClr val="F1C64C"/>
      </a:accent4>
      <a:accent5>
        <a:srgbClr val="FFE9AF"/>
      </a:accent5>
      <a:accent6>
        <a:srgbClr val="92CCAE"/>
      </a:accent6>
      <a:hlink>
        <a:srgbClr val="175673"/>
      </a:hlink>
      <a:folHlink>
        <a:srgbClr val="EC6055"/>
      </a:folHlink>
    </a:clrScheme>
    <a:fontScheme name="PoliTO_Template">
      <a:majorFont>
        <a:latin typeface="Poppins Medium"/>
        <a:ea typeface=""/>
        <a:cs typeface=""/>
      </a:majorFont>
      <a:minorFont>
        <a:latin typeface="Poppi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rgbClr val="FFFFFF"/>
        </a:solidFill>
        <a:ln>
          <a:noFill/>
        </a:ln>
        <a:extLst>
          <a:ext uri="{91240B29-F687-4F45-9708-019B960494DF}">
            <a14:hiddenLine xmlns:a14="http://schemas.microsoft.com/office/drawing/2010/main" w="9525">
              <a:solidFill>
                <a:srgbClr val="000000"/>
              </a:solidFill>
              <a:round/>
              <a:headEnd/>
              <a:tailEnd/>
            </a14:hiddenLine>
          </a:ext>
        </a:extLst>
      </a:spPr>
      <a:bodyPr vert="horz" wrap="square" lIns="91440" tIns="45720" rIns="91440" bIns="45720" numCol="1" anchor="t" anchorCtr="0" compatLnSpc="1">
        <a:prstTxWarp prst="textNoShape">
          <a:avLst/>
        </a:prstTxWarp>
      </a:bodyPr>
      <a:lstStyle>
        <a:defPPr>
          <a:defRPr/>
        </a:defPPr>
      </a:lstStyle>
    </a:spDef>
  </a:objectDefaults>
  <a:extraClrSchemeLst/>
  <a:extLst>
    <a:ext uri="{05A4C25C-085E-4340-85A3-A5531E510DB2}">
      <thm15:themeFamily xmlns:thm15="http://schemas.microsoft.com/office/thememl/2012/main" name="Polito template_ITA" id="{B4DE900A-7F1E-FB4B-BE2A-0D4B6B8B958A}" vid="{A7BD8485-1F4D-B940-AD4F-9A9144EBD7DF}"/>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AD4CAB1AA5B43F4D9AAF01BADE0E3A4F" ma:contentTypeVersion="8" ma:contentTypeDescription="Creare un nuovo documento." ma:contentTypeScope="" ma:versionID="59c7fa7676cd10170f585e95f6181454">
  <xsd:schema xmlns:xsd="http://www.w3.org/2001/XMLSchema" xmlns:xs="http://www.w3.org/2001/XMLSchema" xmlns:p="http://schemas.microsoft.com/office/2006/metadata/properties" xmlns:ns2="ee8ce87a-fc1e-415b-8f19-964dc6e332da" targetNamespace="http://schemas.microsoft.com/office/2006/metadata/properties" ma:root="true" ma:fieldsID="e3f9aa92bd1d0291e55783ad41e7d77e" ns2:_="">
    <xsd:import namespace="ee8ce87a-fc1e-415b-8f19-964dc6e332d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8ce87a-fc1e-415b-8f19-964dc6e332d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1B4A7BA3-74A2-491B-AF81-6CB1FF02180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8ce87a-fc1e-415b-8f19-964dc6e332d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46FE114-0C58-4EEA-8876-F3C08EF0B541}">
  <ds:schemaRefs>
    <ds:schemaRef ds:uri="http://schemas.microsoft.com/sharepoint/v3/contenttype/forms"/>
  </ds:schemaRefs>
</ds:datastoreItem>
</file>

<file path=customXml/itemProps3.xml><?xml version="1.0" encoding="utf-8"?>
<ds:datastoreItem xmlns:ds="http://schemas.openxmlformats.org/officeDocument/2006/customXml" ds:itemID="{80F9F511-3832-4B05-91B3-5180D7ACFDC9}">
  <ds:schemaRefs>
    <ds:schemaRef ds:uri="http://purl.org/dc/terms/"/>
    <ds:schemaRef ds:uri="ee8ce87a-fc1e-415b-8f19-964dc6e332da"/>
    <ds:schemaRef ds:uri="http://schemas.microsoft.com/office/2006/documentManagement/types"/>
    <ds:schemaRef ds:uri="http://schemas.microsoft.com/office/2006/metadata/properties"/>
    <ds:schemaRef ds:uri="http://schemas.microsoft.com/office/infopath/2007/PartnerControls"/>
    <ds:schemaRef ds:uri="http://www.w3.org/XML/1998/namespace"/>
    <ds:schemaRef ds:uri="http://purl.org/dc/elements/1.1/"/>
    <ds:schemaRef ds:uri="http://schemas.openxmlformats.org/package/2006/metadata/core-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COPERTINE</Template>
  <TotalTime>10676</TotalTime>
  <Words>6614</Words>
  <Application>Microsoft Macintosh PowerPoint</Application>
  <PresentationFormat>Widescreen</PresentationFormat>
  <Paragraphs>874</Paragraphs>
  <Slides>59</Slides>
  <Notes>22</Notes>
  <HiddenSlides>14</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59</vt:i4>
      </vt:variant>
    </vt:vector>
  </HeadingPairs>
  <TitlesOfParts>
    <vt:vector size="70" baseType="lpstr">
      <vt:lpstr>Poppins</vt:lpstr>
      <vt:lpstr>Arial</vt:lpstr>
      <vt:lpstr>Cambria Math</vt:lpstr>
      <vt:lpstr>Aptos</vt:lpstr>
      <vt:lpstr>Calibri</vt:lpstr>
      <vt:lpstr>System Font Regular</vt:lpstr>
      <vt:lpstr>HelveticaNeue Regular</vt:lpstr>
      <vt:lpstr>Poppins Medium</vt:lpstr>
      <vt:lpstr>Wingdings</vt:lpstr>
      <vt:lpstr>COPERTINE</vt:lpstr>
      <vt:lpstr>CONTENUTI 1 _ titoli blu</vt:lpstr>
      <vt:lpstr>PowerPoint Presentation</vt:lpstr>
      <vt:lpstr>Jiang et al. (2021)</vt:lpstr>
      <vt:lpstr>Milk predictions of buffalo</vt:lpstr>
      <vt:lpstr>Precision livestock farming (PLF) </vt:lpstr>
      <vt:lpstr>Heat Stress is affecting …</vt:lpstr>
      <vt:lpstr>Temperature-Humidity Index (THI)</vt:lpstr>
      <vt:lpstr>THI refers to be an important KPI in milk production.</vt:lpstr>
      <vt:lpstr>Studies on Milk Prediction</vt:lpstr>
      <vt:lpstr>Effect of HS on cow milk yield by Hassan, 2025</vt:lpstr>
      <vt:lpstr>individual models for predicting cow milk production in Korea, by Song,2025 </vt:lpstr>
      <vt:lpstr>predict the next month's daily cow milk yield in Australia by Ji,2022 </vt:lpstr>
      <vt:lpstr>predict SCC in the Italian Mediterranean Buffaloes by Bobbo, 2022 </vt:lpstr>
      <vt:lpstr>Matteo’s work slide 1</vt:lpstr>
      <vt:lpstr>Matteo’s work slide 2</vt:lpstr>
      <vt:lpstr>Matteo’s work slide 3</vt:lpstr>
      <vt:lpstr>PowerPoint Presentation</vt:lpstr>
      <vt:lpstr>Hierarchy in time series (HTS)</vt:lpstr>
      <vt:lpstr>Hierarchy in time series (HTS)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Jiang et al. (2021)</vt:lpstr>
      <vt:lpstr>Routing Strategies for Mixed Networks</vt:lpstr>
      <vt:lpstr>Cross-Layer Best-Radio Selection</vt:lpstr>
      <vt:lpstr>Opportunistic Candidate Forwarding</vt:lpstr>
      <vt:lpstr>Machine-Learning–Based Adaptive Routing</vt:lpstr>
      <vt:lpstr>Hybrid Proactive (LoRa) + Reactive (BLE) Methods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Massimo Messori</dc:creator>
  <cp:lastModifiedBy>Sheikh Ahmadi Gandab  Seyed Mohammad</cp:lastModifiedBy>
  <cp:revision>14</cp:revision>
  <dcterms:created xsi:type="dcterms:W3CDTF">2024-10-30T07:55:12Z</dcterms:created>
  <dcterms:modified xsi:type="dcterms:W3CDTF">2025-12-30T15:09:28Z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0x010100AD4CAB1AA5B43F4D9AAF01BADE0E3A4F</vt:lpwstr>
  </property>
</Properties>
</file>