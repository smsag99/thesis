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7" r:id="rId4"/>
    <p:sldMasterId id="2147483767" r:id="rId5"/>
  </p:sldMasterIdLst>
  <p:notesMasterIdLst>
    <p:notesMasterId r:id="rId65"/>
  </p:notesMasterIdLst>
  <p:handoutMasterIdLst>
    <p:handoutMasterId r:id="rId66"/>
  </p:handoutMasterIdLst>
  <p:sldIdLst>
    <p:sldId id="256" r:id="rId6"/>
    <p:sldId id="288" r:id="rId7"/>
    <p:sldId id="353" r:id="rId8"/>
    <p:sldId id="369" r:id="rId9"/>
    <p:sldId id="354" r:id="rId10"/>
    <p:sldId id="370" r:id="rId11"/>
    <p:sldId id="356" r:id="rId12"/>
    <p:sldId id="357" r:id="rId13"/>
    <p:sldId id="359" r:id="rId14"/>
    <p:sldId id="360" r:id="rId15"/>
    <p:sldId id="361" r:id="rId16"/>
    <p:sldId id="362" r:id="rId17"/>
    <p:sldId id="363" r:id="rId18"/>
    <p:sldId id="364" r:id="rId19"/>
    <p:sldId id="365" r:id="rId20"/>
    <p:sldId id="366" r:id="rId21"/>
    <p:sldId id="367" r:id="rId22"/>
    <p:sldId id="368" r:id="rId23"/>
    <p:sldId id="319" r:id="rId24"/>
    <p:sldId id="305" r:id="rId25"/>
    <p:sldId id="301" r:id="rId26"/>
    <p:sldId id="332" r:id="rId27"/>
    <p:sldId id="303" r:id="rId28"/>
    <p:sldId id="304" r:id="rId29"/>
    <p:sldId id="333" r:id="rId30"/>
    <p:sldId id="313" r:id="rId31"/>
    <p:sldId id="314" r:id="rId32"/>
    <p:sldId id="334" r:id="rId33"/>
    <p:sldId id="335" r:id="rId34"/>
    <p:sldId id="336" r:id="rId35"/>
    <p:sldId id="321" r:id="rId36"/>
    <p:sldId id="337" r:id="rId37"/>
    <p:sldId id="338" r:id="rId38"/>
    <p:sldId id="339" r:id="rId39"/>
    <p:sldId id="340" r:id="rId40"/>
    <p:sldId id="341" r:id="rId41"/>
    <p:sldId id="342" r:id="rId42"/>
    <p:sldId id="306" r:id="rId43"/>
    <p:sldId id="343" r:id="rId44"/>
    <p:sldId id="344" r:id="rId45"/>
    <p:sldId id="315" r:id="rId46"/>
    <p:sldId id="345" r:id="rId47"/>
    <p:sldId id="346" r:id="rId48"/>
    <p:sldId id="347" r:id="rId49"/>
    <p:sldId id="348" r:id="rId50"/>
    <p:sldId id="349" r:id="rId51"/>
    <p:sldId id="350" r:id="rId52"/>
    <p:sldId id="351" r:id="rId53"/>
    <p:sldId id="352" r:id="rId54"/>
    <p:sldId id="296" r:id="rId55"/>
    <p:sldId id="320" r:id="rId56"/>
    <p:sldId id="317" r:id="rId57"/>
    <p:sldId id="302" r:id="rId58"/>
    <p:sldId id="307" r:id="rId59"/>
    <p:sldId id="308" r:id="rId60"/>
    <p:sldId id="309" r:id="rId61"/>
    <p:sldId id="310" r:id="rId62"/>
    <p:sldId id="311" r:id="rId63"/>
    <p:sldId id="282" r:id="rId64"/>
  </p:sldIdLst>
  <p:sldSz cx="12192000" cy="6858000"/>
  <p:notesSz cx="6858000" cy="9144000"/>
  <p:embeddedFontLst>
    <p:embeddedFont>
      <p:font typeface="Cambria Math" panose="02040503050406030204" pitchFamily="18" charset="0"/>
      <p:regular r:id="rId67"/>
    </p:embeddedFont>
    <p:embeddedFont>
      <p:font typeface="Poppins" pitchFamily="2" charset="77"/>
      <p:regular r:id="rId68"/>
      <p:bold r:id="rId69"/>
      <p:italic r:id="rId70"/>
      <p:boldItalic r:id="rId71"/>
    </p:embeddedFont>
    <p:embeddedFont>
      <p:font typeface="Poppins Medium" panose="00000600000000000000" pitchFamily="2" charset="77"/>
      <p:regular r:id="rId72"/>
      <p:italic r:id="rId73"/>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49"/>
    <a:srgbClr val="80AF98"/>
    <a:srgbClr val="AF7550"/>
    <a:srgbClr val="B2BD29"/>
    <a:srgbClr val="E9E7E7"/>
    <a:srgbClr val="006BB7"/>
    <a:srgbClr val="92D05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49" autoAdjust="0"/>
    <p:restoredTop sz="96260" autoAdjust="0"/>
  </p:normalViewPr>
  <p:slideViewPr>
    <p:cSldViewPr snapToGrid="0" showGuides="1">
      <p:cViewPr>
        <p:scale>
          <a:sx n="84" d="100"/>
          <a:sy n="84" d="100"/>
        </p:scale>
        <p:origin x="400" y="880"/>
      </p:cViewPr>
      <p:guideLst>
        <p:guide orient="horz" pos="2160"/>
        <p:guide pos="3840"/>
      </p:guideLst>
    </p:cSldViewPr>
  </p:slideViewPr>
  <p:outlineViewPr>
    <p:cViewPr>
      <p:scale>
        <a:sx n="33" d="100"/>
        <a:sy n="33" d="100"/>
      </p:scale>
      <p:origin x="0" y="-6904"/>
    </p:cViewPr>
  </p:outlineViewPr>
  <p:notesTextViewPr>
    <p:cViewPr>
      <p:scale>
        <a:sx n="20" d="100"/>
        <a:sy n="20" d="100"/>
      </p:scale>
      <p:origin x="0" y="0"/>
    </p:cViewPr>
  </p:notesTextViewPr>
  <p:sorterViewPr>
    <p:cViewPr>
      <p:scale>
        <a:sx n="80" d="100"/>
        <a:sy n="80" d="100"/>
      </p:scale>
      <p:origin x="0" y="0"/>
    </p:cViewPr>
  </p:sorterViewPr>
  <p:notesViewPr>
    <p:cSldViewPr snapToGrid="0">
      <p:cViewPr varScale="1">
        <p:scale>
          <a:sx n="95" d="100"/>
          <a:sy n="95" d="100"/>
        </p:scale>
        <p:origin x="3720" y="1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font" Target="fonts/font2.fntdata"/><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handoutMaster" Target="handoutMasters/handoutMaster1.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font" Target="fonts/font3.fntdata"/><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1.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4.fntdata"/><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73"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font" Target="fonts/font5.fntdata"/><Relationship Id="rId2" Type="http://schemas.openxmlformats.org/officeDocument/2006/relationships/customXml" Target="../customXml/item2.xml"/><Relationship Id="rId29"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6D0A9E-DD06-C7B0-946D-31F9B20149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7087193-AB98-65AF-F701-EBFEDD042C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833D1A-776C-2B44-AB57-E14B633AE185}" type="datetimeFigureOut">
              <a:rPr lang="en-US" smtClean="0"/>
              <a:t>12/28/25</a:t>
            </a:fld>
            <a:endParaRPr lang="en-US"/>
          </a:p>
        </p:txBody>
      </p:sp>
      <p:sp>
        <p:nvSpPr>
          <p:cNvPr id="4" name="Footer Placeholder 3">
            <a:extLst>
              <a:ext uri="{FF2B5EF4-FFF2-40B4-BE49-F238E27FC236}">
                <a16:creationId xmlns:a16="http://schemas.microsoft.com/office/drawing/2014/main" id="{3EC31572-0E60-DFDC-759E-36E167E25E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270B3F7-BC69-9660-AD95-517F134729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1FF382-66A3-E447-A138-6DDB2D92ECB1}" type="slidenum">
              <a:rPr lang="en-US" smtClean="0"/>
              <a:t>‹#›</a:t>
            </a:fld>
            <a:endParaRPr lang="en-US"/>
          </a:p>
        </p:txBody>
      </p:sp>
    </p:spTree>
    <p:extLst>
      <p:ext uri="{BB962C8B-B14F-4D97-AF65-F5344CB8AC3E}">
        <p14:creationId xmlns:p14="http://schemas.microsoft.com/office/powerpoint/2010/main" val="15229183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AFB3AD-FAF9-A04B-9767-E49F4F24F3E6}" type="datetimeFigureOut">
              <a:rPr lang="it-IT" smtClean="0"/>
              <a:t>28/12/25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8FE5C-85ED-194D-A826-552950995C66}" type="slidenum">
              <a:rPr lang="it-IT" smtClean="0"/>
              <a:t>‹#›</a:t>
            </a:fld>
            <a:endParaRPr lang="it-IT"/>
          </a:p>
        </p:txBody>
      </p:sp>
    </p:spTree>
    <p:extLst>
      <p:ext uri="{BB962C8B-B14F-4D97-AF65-F5344CB8AC3E}">
        <p14:creationId xmlns:p14="http://schemas.microsoft.com/office/powerpoint/2010/main" val="31316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sciencedirect.com/topics/engineering/downtime"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8FE5C-85ED-194D-A826-552950995C66}" type="slidenum">
              <a:rPr lang="it-IT" smtClean="0"/>
              <a:t>1</a:t>
            </a:fld>
            <a:endParaRPr lang="it-IT"/>
          </a:p>
        </p:txBody>
      </p:sp>
    </p:spTree>
    <p:extLst>
      <p:ext uri="{BB962C8B-B14F-4D97-AF65-F5344CB8AC3E}">
        <p14:creationId xmlns:p14="http://schemas.microsoft.com/office/powerpoint/2010/main" val="1551442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8FE5C-85ED-194D-A826-552950995C66}" type="slidenum">
              <a:rPr lang="it-IT" smtClean="0"/>
              <a:t>2</a:t>
            </a:fld>
            <a:endParaRPr lang="it-IT"/>
          </a:p>
        </p:txBody>
      </p:sp>
    </p:spTree>
    <p:extLst>
      <p:ext uri="{BB962C8B-B14F-4D97-AF65-F5344CB8AC3E}">
        <p14:creationId xmlns:p14="http://schemas.microsoft.com/office/powerpoint/2010/main" val="4129570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2D847-AF6B-CA80-9E40-1A7C6B8E0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CD7AB-CF56-AAE3-801B-9AFCFE3CC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91CBF-DD73-0594-5E51-0B06E12C4E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7F7349-08C9-E07E-D038-3BDA6D6221B9}"/>
              </a:ext>
            </a:extLst>
          </p:cNvPr>
          <p:cNvSpPr>
            <a:spLocks noGrp="1"/>
          </p:cNvSpPr>
          <p:nvPr>
            <p:ph type="sldNum" sz="quarter" idx="5"/>
          </p:nvPr>
        </p:nvSpPr>
        <p:spPr/>
        <p:txBody>
          <a:bodyPr/>
          <a:lstStyle/>
          <a:p>
            <a:fld id="{35B8FE5C-85ED-194D-A826-552950995C66}" type="slidenum">
              <a:rPr lang="it-IT" smtClean="0"/>
              <a:t>16</a:t>
            </a:fld>
            <a:endParaRPr lang="it-IT"/>
          </a:p>
        </p:txBody>
      </p:sp>
    </p:spTree>
    <p:extLst>
      <p:ext uri="{BB962C8B-B14F-4D97-AF65-F5344CB8AC3E}">
        <p14:creationId xmlns:p14="http://schemas.microsoft.com/office/powerpoint/2010/main" val="1685967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B770B2-34DD-8442-AC65-87A3EFFB3F5B}" type="slidenum">
              <a:rPr lang="en-US" smtClean="0"/>
              <a:t>20</a:t>
            </a:fld>
            <a:endParaRPr lang="en-US"/>
          </a:p>
        </p:txBody>
      </p:sp>
    </p:spTree>
    <p:extLst>
      <p:ext uri="{BB962C8B-B14F-4D97-AF65-F5344CB8AC3E}">
        <p14:creationId xmlns:p14="http://schemas.microsoft.com/office/powerpoint/2010/main" val="1167318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E088-572D-B56A-C6CA-BA9DBE18D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381F6-7AE1-F9F4-C190-7EAF88F14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934C1-F9DA-ABF8-A098-8E8E2F24F949}"/>
              </a:ext>
            </a:extLst>
          </p:cNvPr>
          <p:cNvSpPr>
            <a:spLocks noGrp="1"/>
          </p:cNvSpPr>
          <p:nvPr>
            <p:ph type="body" idx="1"/>
          </p:nvPr>
        </p:nvSpPr>
        <p:spPr/>
        <p:txBody>
          <a:bodyPr/>
          <a:lstStyle/>
          <a:p>
            <a:r>
              <a:rPr lang="en-US" dirty="0"/>
              <a:t>There  are 2 related studies one in Korea and another in Australia  in recent year used individual model for their prediction.</a:t>
            </a:r>
          </a:p>
          <a:p>
            <a:endParaRPr lang="en-US" dirty="0"/>
          </a:p>
          <a:p>
            <a:endParaRPr lang="en-US" dirty="0"/>
          </a:p>
          <a:p>
            <a:r>
              <a:rPr lang="en-US" dirty="0"/>
              <a:t>Also, there is another study that compared global and individual models for timeseries forecasting and the result was LGBM and RNN are out-performed the other models even compared with individual models.</a:t>
            </a:r>
          </a:p>
        </p:txBody>
      </p:sp>
      <p:sp>
        <p:nvSpPr>
          <p:cNvPr id="4" name="Slide Number Placeholder 3">
            <a:extLst>
              <a:ext uri="{FF2B5EF4-FFF2-40B4-BE49-F238E27FC236}">
                <a16:creationId xmlns:a16="http://schemas.microsoft.com/office/drawing/2014/main" id="{F8E5F734-5955-DA3D-FC9C-5AA806E5854D}"/>
              </a:ext>
            </a:extLst>
          </p:cNvPr>
          <p:cNvSpPr>
            <a:spLocks noGrp="1"/>
          </p:cNvSpPr>
          <p:nvPr>
            <p:ph type="sldNum" sz="quarter" idx="5"/>
          </p:nvPr>
        </p:nvSpPr>
        <p:spPr/>
        <p:txBody>
          <a:bodyPr/>
          <a:lstStyle/>
          <a:p>
            <a:fld id="{09B770B2-34DD-8442-AC65-87A3EFFB3F5B}" type="slidenum">
              <a:rPr lang="en-US" smtClean="0"/>
              <a:t>25</a:t>
            </a:fld>
            <a:endParaRPr lang="en-US"/>
          </a:p>
        </p:txBody>
      </p:sp>
    </p:spTree>
    <p:extLst>
      <p:ext uri="{BB962C8B-B14F-4D97-AF65-F5344CB8AC3E}">
        <p14:creationId xmlns:p14="http://schemas.microsoft.com/office/powerpoint/2010/main" val="1048565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AA66-82FB-B08B-46B2-512956ABC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86805-2BF1-47DE-3B7A-76E3E6A1F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8E7D78-1D59-8457-06DB-EAEB5BEE85E5}"/>
              </a:ext>
            </a:extLst>
          </p:cNvPr>
          <p:cNvSpPr>
            <a:spLocks noGrp="1"/>
          </p:cNvSpPr>
          <p:nvPr>
            <p:ph type="body" idx="1"/>
          </p:nvPr>
        </p:nvSpPr>
        <p:spPr/>
        <p:txBody>
          <a:bodyPr/>
          <a:lstStyle/>
          <a:p>
            <a:r>
              <a:rPr lang="en-US" dirty="0"/>
              <a:t>There  are 2 related studies one in Korea and another in Australia  in recent year used individual model for their prediction.</a:t>
            </a:r>
          </a:p>
          <a:p>
            <a:endParaRPr lang="en-US" dirty="0"/>
          </a:p>
          <a:p>
            <a:endParaRPr lang="en-US" dirty="0"/>
          </a:p>
          <a:p>
            <a:r>
              <a:rPr lang="en-US" dirty="0"/>
              <a:t>Also, there is another study that compared global and individual models for timeseries forecasting and the result was LGBM and RNN are out-performed the other models even compared with individual models.</a:t>
            </a:r>
          </a:p>
        </p:txBody>
      </p:sp>
      <p:sp>
        <p:nvSpPr>
          <p:cNvPr id="4" name="Slide Number Placeholder 3">
            <a:extLst>
              <a:ext uri="{FF2B5EF4-FFF2-40B4-BE49-F238E27FC236}">
                <a16:creationId xmlns:a16="http://schemas.microsoft.com/office/drawing/2014/main" id="{71283DD8-4C41-080A-1F40-CBBD83F38D12}"/>
              </a:ext>
            </a:extLst>
          </p:cNvPr>
          <p:cNvSpPr>
            <a:spLocks noGrp="1"/>
          </p:cNvSpPr>
          <p:nvPr>
            <p:ph type="sldNum" sz="quarter" idx="5"/>
          </p:nvPr>
        </p:nvSpPr>
        <p:spPr/>
        <p:txBody>
          <a:bodyPr/>
          <a:lstStyle/>
          <a:p>
            <a:fld id="{09B770B2-34DD-8442-AC65-87A3EFFB3F5B}" type="slidenum">
              <a:rPr lang="en-US" smtClean="0"/>
              <a:t>26</a:t>
            </a:fld>
            <a:endParaRPr lang="en-US"/>
          </a:p>
        </p:txBody>
      </p:sp>
    </p:spTree>
    <p:extLst>
      <p:ext uri="{BB962C8B-B14F-4D97-AF65-F5344CB8AC3E}">
        <p14:creationId xmlns:p14="http://schemas.microsoft.com/office/powerpoint/2010/main" val="1952304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8A8D0-E8A2-839D-8BC9-93002255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8837C-94BA-BA4F-146E-CB6EDFE30F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EF0076-94F1-2897-E402-A0269A12283E}"/>
              </a:ext>
            </a:extLst>
          </p:cNvPr>
          <p:cNvSpPr>
            <a:spLocks noGrp="1"/>
          </p:cNvSpPr>
          <p:nvPr>
            <p:ph type="body" idx="1"/>
          </p:nvPr>
        </p:nvSpPr>
        <p:spPr/>
        <p:txBody>
          <a:bodyPr/>
          <a:lstStyle/>
          <a:p>
            <a:r>
              <a:rPr lang="en-US" dirty="0"/>
              <a:t>There  are 2 related studies one in Korea and another in Australia  in recent year used individual model for their prediction.</a:t>
            </a:r>
          </a:p>
          <a:p>
            <a:endParaRPr lang="en-US" dirty="0"/>
          </a:p>
          <a:p>
            <a:endParaRPr lang="en-US" dirty="0"/>
          </a:p>
          <a:p>
            <a:r>
              <a:rPr lang="en-US" dirty="0"/>
              <a:t>Also, there is another study that compared global and individual models for timeseries forecasting and the result was LGBM and RNN are out-performed the other models even compared with individual models.</a:t>
            </a:r>
          </a:p>
        </p:txBody>
      </p:sp>
      <p:sp>
        <p:nvSpPr>
          <p:cNvPr id="4" name="Slide Number Placeholder 3">
            <a:extLst>
              <a:ext uri="{FF2B5EF4-FFF2-40B4-BE49-F238E27FC236}">
                <a16:creationId xmlns:a16="http://schemas.microsoft.com/office/drawing/2014/main" id="{60FDB19E-64DD-B619-142D-AA488B6541D7}"/>
              </a:ext>
            </a:extLst>
          </p:cNvPr>
          <p:cNvSpPr>
            <a:spLocks noGrp="1"/>
          </p:cNvSpPr>
          <p:nvPr>
            <p:ph type="sldNum" sz="quarter" idx="5"/>
          </p:nvPr>
        </p:nvSpPr>
        <p:spPr/>
        <p:txBody>
          <a:bodyPr/>
          <a:lstStyle/>
          <a:p>
            <a:fld id="{09B770B2-34DD-8442-AC65-87A3EFFB3F5B}" type="slidenum">
              <a:rPr lang="en-US" smtClean="0"/>
              <a:t>27</a:t>
            </a:fld>
            <a:endParaRPr lang="en-US"/>
          </a:p>
        </p:txBody>
      </p:sp>
    </p:spTree>
    <p:extLst>
      <p:ext uri="{BB962C8B-B14F-4D97-AF65-F5344CB8AC3E}">
        <p14:creationId xmlns:p14="http://schemas.microsoft.com/office/powerpoint/2010/main" val="2434624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553B1-15B6-82C7-467C-FBE1B8482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206A7-38B6-FEFD-8DD9-3C963898E7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AA9D7-3DE3-4112-09A3-A46E20E937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0A51DB-1545-E3A8-638E-E95B308507AE}"/>
              </a:ext>
            </a:extLst>
          </p:cNvPr>
          <p:cNvSpPr>
            <a:spLocks noGrp="1"/>
          </p:cNvSpPr>
          <p:nvPr>
            <p:ph type="sldNum" sz="quarter" idx="5"/>
          </p:nvPr>
        </p:nvSpPr>
        <p:spPr/>
        <p:txBody>
          <a:bodyPr/>
          <a:lstStyle/>
          <a:p>
            <a:fld id="{09B770B2-34DD-8442-AC65-87A3EFFB3F5B}" type="slidenum">
              <a:rPr lang="en-US" smtClean="0"/>
              <a:t>28</a:t>
            </a:fld>
            <a:endParaRPr lang="en-US"/>
          </a:p>
        </p:txBody>
      </p:sp>
    </p:spTree>
    <p:extLst>
      <p:ext uri="{BB962C8B-B14F-4D97-AF65-F5344CB8AC3E}">
        <p14:creationId xmlns:p14="http://schemas.microsoft.com/office/powerpoint/2010/main" val="2105404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23C0-2295-3A85-AA50-AF5E9AB5E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D16B7-C373-13BE-48EB-EEE08218D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3DFEE-1C95-2C8D-4C12-6C0A9CE60C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3B170FC3-A097-B691-54E2-7E905D4B2A5D}"/>
              </a:ext>
            </a:extLst>
          </p:cNvPr>
          <p:cNvSpPr>
            <a:spLocks noGrp="1"/>
          </p:cNvSpPr>
          <p:nvPr>
            <p:ph type="sldNum" sz="quarter" idx="5"/>
          </p:nvPr>
        </p:nvSpPr>
        <p:spPr/>
        <p:txBody>
          <a:bodyPr/>
          <a:lstStyle/>
          <a:p>
            <a:fld id="{09B770B2-34DD-8442-AC65-87A3EFFB3F5B}" type="slidenum">
              <a:rPr lang="en-US" smtClean="0"/>
              <a:t>29</a:t>
            </a:fld>
            <a:endParaRPr lang="en-US"/>
          </a:p>
        </p:txBody>
      </p:sp>
    </p:spTree>
    <p:extLst>
      <p:ext uri="{BB962C8B-B14F-4D97-AF65-F5344CB8AC3E}">
        <p14:creationId xmlns:p14="http://schemas.microsoft.com/office/powerpoint/2010/main" val="3375985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DE88-3246-D395-ECE5-118BFB763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3CDC8-63F9-263D-E103-D8BE74D449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BAA91-E91F-80F2-ECA9-A85D2E7360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26B0B607-4CD9-64F0-B2AA-A8D8870579C7}"/>
              </a:ext>
            </a:extLst>
          </p:cNvPr>
          <p:cNvSpPr>
            <a:spLocks noGrp="1"/>
          </p:cNvSpPr>
          <p:nvPr>
            <p:ph type="sldNum" sz="quarter" idx="5"/>
          </p:nvPr>
        </p:nvSpPr>
        <p:spPr/>
        <p:txBody>
          <a:bodyPr/>
          <a:lstStyle/>
          <a:p>
            <a:fld id="{09B770B2-34DD-8442-AC65-87A3EFFB3F5B}" type="slidenum">
              <a:rPr lang="en-US" smtClean="0"/>
              <a:t>30</a:t>
            </a:fld>
            <a:endParaRPr lang="en-US"/>
          </a:p>
        </p:txBody>
      </p:sp>
    </p:spTree>
    <p:extLst>
      <p:ext uri="{BB962C8B-B14F-4D97-AF65-F5344CB8AC3E}">
        <p14:creationId xmlns:p14="http://schemas.microsoft.com/office/powerpoint/2010/main" val="3396826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269A0-5132-561A-1F87-30A4FD22DB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B6153-8EFD-7D87-3A25-A3F268EFC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7EDD6-08F2-B1CE-BA8A-0D968FB96E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774CFBE2-E6E9-2472-F977-4E634B89C47E}"/>
              </a:ext>
            </a:extLst>
          </p:cNvPr>
          <p:cNvSpPr>
            <a:spLocks noGrp="1"/>
          </p:cNvSpPr>
          <p:nvPr>
            <p:ph type="sldNum" sz="quarter" idx="5"/>
          </p:nvPr>
        </p:nvSpPr>
        <p:spPr/>
        <p:txBody>
          <a:bodyPr/>
          <a:lstStyle/>
          <a:p>
            <a:fld id="{09B770B2-34DD-8442-AC65-87A3EFFB3F5B}" type="slidenum">
              <a:rPr lang="en-US" smtClean="0"/>
              <a:t>31</a:t>
            </a:fld>
            <a:endParaRPr lang="en-US"/>
          </a:p>
        </p:txBody>
      </p:sp>
    </p:spTree>
    <p:extLst>
      <p:ext uri="{BB962C8B-B14F-4D97-AF65-F5344CB8AC3E}">
        <p14:creationId xmlns:p14="http://schemas.microsoft.com/office/powerpoint/2010/main" val="1108232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C895-B8B9-1748-6C9E-F0164ECA1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FC54A-EC8E-A63A-BB05-6AFDD88E8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6196C-5D16-D3E5-56A7-FC4B973521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E46621D1-76A7-85BF-CCA2-F4579ABC6714}"/>
              </a:ext>
            </a:extLst>
          </p:cNvPr>
          <p:cNvSpPr>
            <a:spLocks noGrp="1"/>
          </p:cNvSpPr>
          <p:nvPr>
            <p:ph type="sldNum" sz="quarter" idx="5"/>
          </p:nvPr>
        </p:nvSpPr>
        <p:spPr/>
        <p:txBody>
          <a:bodyPr/>
          <a:lstStyle/>
          <a:p>
            <a:fld id="{09B770B2-34DD-8442-AC65-87A3EFFB3F5B}" type="slidenum">
              <a:rPr lang="en-US" smtClean="0"/>
              <a:t>32</a:t>
            </a:fld>
            <a:endParaRPr lang="en-US"/>
          </a:p>
        </p:txBody>
      </p:sp>
    </p:spTree>
    <p:extLst>
      <p:ext uri="{BB962C8B-B14F-4D97-AF65-F5344CB8AC3E}">
        <p14:creationId xmlns:p14="http://schemas.microsoft.com/office/powerpoint/2010/main" val="1772932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DCAB-331E-90E6-0E5A-A5382E255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4F1DF-D855-5557-F8B4-D9345261C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F234F4-356B-3217-2246-37B1BCF58A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247DAFFC-3E94-E9D8-E4A5-2A7F8F621F9A}"/>
              </a:ext>
            </a:extLst>
          </p:cNvPr>
          <p:cNvSpPr>
            <a:spLocks noGrp="1"/>
          </p:cNvSpPr>
          <p:nvPr>
            <p:ph type="sldNum" sz="quarter" idx="5"/>
          </p:nvPr>
        </p:nvSpPr>
        <p:spPr/>
        <p:txBody>
          <a:bodyPr/>
          <a:lstStyle/>
          <a:p>
            <a:fld id="{09B770B2-34DD-8442-AC65-87A3EFFB3F5B}" type="slidenum">
              <a:rPr lang="en-US" smtClean="0"/>
              <a:t>33</a:t>
            </a:fld>
            <a:endParaRPr lang="en-US"/>
          </a:p>
        </p:txBody>
      </p:sp>
    </p:spTree>
    <p:extLst>
      <p:ext uri="{BB962C8B-B14F-4D97-AF65-F5344CB8AC3E}">
        <p14:creationId xmlns:p14="http://schemas.microsoft.com/office/powerpoint/2010/main" val="1469524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36818-021E-C266-DF47-2D66975F2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8C317-74F3-C22D-82FF-8890CDA53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AC855-5B6F-71E2-CA6F-FC630AEBD0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63213112-996C-03A7-0349-54A3E9EDB25A}"/>
              </a:ext>
            </a:extLst>
          </p:cNvPr>
          <p:cNvSpPr>
            <a:spLocks noGrp="1"/>
          </p:cNvSpPr>
          <p:nvPr>
            <p:ph type="sldNum" sz="quarter" idx="5"/>
          </p:nvPr>
        </p:nvSpPr>
        <p:spPr/>
        <p:txBody>
          <a:bodyPr/>
          <a:lstStyle/>
          <a:p>
            <a:fld id="{09B770B2-34DD-8442-AC65-87A3EFFB3F5B}" type="slidenum">
              <a:rPr lang="en-US" smtClean="0"/>
              <a:t>34</a:t>
            </a:fld>
            <a:endParaRPr lang="en-US"/>
          </a:p>
        </p:txBody>
      </p:sp>
    </p:spTree>
    <p:extLst>
      <p:ext uri="{BB962C8B-B14F-4D97-AF65-F5344CB8AC3E}">
        <p14:creationId xmlns:p14="http://schemas.microsoft.com/office/powerpoint/2010/main" val="1021931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7F5C4-E23E-E37B-BF71-B41169B42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9678-4BD3-BD29-95A4-BDD280C61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79360-3861-2498-972C-A537C3193F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880830ED-3C11-DE73-47DA-827B83E98360}"/>
              </a:ext>
            </a:extLst>
          </p:cNvPr>
          <p:cNvSpPr>
            <a:spLocks noGrp="1"/>
          </p:cNvSpPr>
          <p:nvPr>
            <p:ph type="sldNum" sz="quarter" idx="5"/>
          </p:nvPr>
        </p:nvSpPr>
        <p:spPr/>
        <p:txBody>
          <a:bodyPr/>
          <a:lstStyle/>
          <a:p>
            <a:fld id="{09B770B2-34DD-8442-AC65-87A3EFFB3F5B}" type="slidenum">
              <a:rPr lang="en-US" smtClean="0"/>
              <a:t>35</a:t>
            </a:fld>
            <a:endParaRPr lang="en-US"/>
          </a:p>
        </p:txBody>
      </p:sp>
    </p:spTree>
    <p:extLst>
      <p:ext uri="{BB962C8B-B14F-4D97-AF65-F5344CB8AC3E}">
        <p14:creationId xmlns:p14="http://schemas.microsoft.com/office/powerpoint/2010/main" val="801944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1F6D9-0AC2-54B6-EA19-602F1C0C9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9D1F4-9841-5370-BE95-1D298B654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BE3F5-DEE7-D9A5-34AB-D3258C51FB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A97870AC-B0A0-512C-9643-FC565E222958}"/>
              </a:ext>
            </a:extLst>
          </p:cNvPr>
          <p:cNvSpPr>
            <a:spLocks noGrp="1"/>
          </p:cNvSpPr>
          <p:nvPr>
            <p:ph type="sldNum" sz="quarter" idx="5"/>
          </p:nvPr>
        </p:nvSpPr>
        <p:spPr/>
        <p:txBody>
          <a:bodyPr/>
          <a:lstStyle/>
          <a:p>
            <a:fld id="{09B770B2-34DD-8442-AC65-87A3EFFB3F5B}" type="slidenum">
              <a:rPr lang="en-US" smtClean="0"/>
              <a:t>36</a:t>
            </a:fld>
            <a:endParaRPr lang="en-US"/>
          </a:p>
        </p:txBody>
      </p:sp>
    </p:spTree>
    <p:extLst>
      <p:ext uri="{BB962C8B-B14F-4D97-AF65-F5344CB8AC3E}">
        <p14:creationId xmlns:p14="http://schemas.microsoft.com/office/powerpoint/2010/main" val="3551040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D35B-7740-7069-2DE1-4882AEAA6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95099-22FE-BAE6-44CB-7B9D5C079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436DB-936E-8BF7-1EE0-C80C26FB64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Ok preprocessing includes some steps, the first step is removing outliers and zero values because of </a:t>
            </a:r>
            <a:r>
              <a:rPr lang="en-US" sz="1200" dirty="0" err="1"/>
              <a:t>desease</a:t>
            </a:r>
            <a:r>
              <a:rPr lang="en-US" sz="1200" dirty="0"/>
              <a:t> or technical issues, I found a paper related to anomaly and outlier detection  in </a:t>
            </a:r>
            <a:r>
              <a:rPr lang="en-US" sz="1200" dirty="0" err="1"/>
              <a:t>cattles</a:t>
            </a:r>
            <a:r>
              <a:rPr lang="en-US" sz="1200" dirty="0"/>
              <a:t> that I think it’s very helpful, so they used Time series decomposition and statical approaches like normal distribution for detecting outlier.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Time series decomposition breaks </a:t>
            </a:r>
            <a:r>
              <a:rPr lang="en-US" sz="1200" dirty="0">
                <a:hlinkClick r:id="rId3" tooltip="Learn more about down time from ScienceDirect's AI-generated Topic Pages"/>
              </a:rPr>
              <a:t>down time</a:t>
            </a:r>
            <a:r>
              <a:rPr lang="en-US" sz="1200" dirty="0"/>
              <a:t> series data into components like trends, seasonality, and residuals,</a:t>
            </a:r>
            <a:endParaRPr lang="en-US" dirty="0"/>
          </a:p>
          <a:p>
            <a:endParaRPr lang="en-US" sz="1200" dirty="0"/>
          </a:p>
          <a:p>
            <a:endParaRPr lang="en-US" sz="1200" dirty="0"/>
          </a:p>
          <a:p>
            <a:r>
              <a:rPr lang="en-US" sz="1200" dirty="0"/>
              <a:t>The nest step is integrating climate data, some other studies didn’t use climate data or just utilized climate data from physical station near the farm while we are going to use </a:t>
            </a:r>
            <a:r>
              <a:rPr lang="en-US" sz="1200" dirty="0" err="1"/>
              <a:t>nasa</a:t>
            </a:r>
            <a:r>
              <a:rPr lang="en-US" sz="1200" dirty="0"/>
              <a:t> power API.</a:t>
            </a:r>
          </a:p>
          <a:p>
            <a:endParaRPr lang="en-US" sz="1200" dirty="0"/>
          </a:p>
          <a:p>
            <a:r>
              <a:rPr lang="en-US" sz="1200" dirty="0"/>
              <a:t>Another one is THI compose that Hassan in his paper in 2025 introduced and compared it to the actual THI and got better results,</a:t>
            </a:r>
          </a:p>
          <a:p>
            <a:endParaRPr lang="en-US" sz="1200" dirty="0"/>
          </a:p>
          <a:p>
            <a:r>
              <a:rPr lang="en-US" sz="1200" dirty="0"/>
              <a:t>And finally in all the time series </a:t>
            </a:r>
            <a:r>
              <a:rPr lang="en-US" sz="1200" dirty="0" err="1"/>
              <a:t>forecastings</a:t>
            </a:r>
            <a:r>
              <a:rPr lang="en-US" sz="1200" dirty="0"/>
              <a:t> Lag feature is an essential feature that capture previous effect on the actual values.</a:t>
            </a:r>
          </a:p>
        </p:txBody>
      </p:sp>
      <p:sp>
        <p:nvSpPr>
          <p:cNvPr id="4" name="Slide Number Placeholder 3">
            <a:extLst>
              <a:ext uri="{FF2B5EF4-FFF2-40B4-BE49-F238E27FC236}">
                <a16:creationId xmlns:a16="http://schemas.microsoft.com/office/drawing/2014/main" id="{AB99D17A-ECFD-448B-FFA6-AF1644D1AD91}"/>
              </a:ext>
            </a:extLst>
          </p:cNvPr>
          <p:cNvSpPr>
            <a:spLocks noGrp="1"/>
          </p:cNvSpPr>
          <p:nvPr>
            <p:ph type="sldNum" sz="quarter" idx="5"/>
          </p:nvPr>
        </p:nvSpPr>
        <p:spPr/>
        <p:txBody>
          <a:bodyPr/>
          <a:lstStyle/>
          <a:p>
            <a:fld id="{09B770B2-34DD-8442-AC65-87A3EFFB3F5B}" type="slidenum">
              <a:rPr lang="en-US" smtClean="0"/>
              <a:t>37</a:t>
            </a:fld>
            <a:endParaRPr lang="en-US"/>
          </a:p>
        </p:txBody>
      </p:sp>
    </p:spTree>
    <p:extLst>
      <p:ext uri="{BB962C8B-B14F-4D97-AF65-F5344CB8AC3E}">
        <p14:creationId xmlns:p14="http://schemas.microsoft.com/office/powerpoint/2010/main" val="1885024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 related studies one in Korea and another in Australia  in recent year used individual model for their prediction.</a:t>
            </a:r>
          </a:p>
          <a:p>
            <a:endParaRPr lang="en-US" dirty="0"/>
          </a:p>
          <a:p>
            <a:endParaRPr lang="en-US" dirty="0"/>
          </a:p>
          <a:p>
            <a:r>
              <a:rPr lang="en-US" dirty="0"/>
              <a:t>Also, there is another study that compared global and individual models for timeseries forecasting and the result was LGBM and RNN are out-performed the other models even compared with individual models.</a:t>
            </a:r>
          </a:p>
        </p:txBody>
      </p:sp>
      <p:sp>
        <p:nvSpPr>
          <p:cNvPr id="4" name="Slide Number Placeholder 3"/>
          <p:cNvSpPr>
            <a:spLocks noGrp="1"/>
          </p:cNvSpPr>
          <p:nvPr>
            <p:ph type="sldNum" sz="quarter" idx="5"/>
          </p:nvPr>
        </p:nvSpPr>
        <p:spPr/>
        <p:txBody>
          <a:bodyPr/>
          <a:lstStyle/>
          <a:p>
            <a:fld id="{09B770B2-34DD-8442-AC65-87A3EFFB3F5B}" type="slidenum">
              <a:rPr lang="en-US" smtClean="0"/>
              <a:t>38</a:t>
            </a:fld>
            <a:endParaRPr lang="en-US"/>
          </a:p>
        </p:txBody>
      </p:sp>
    </p:spTree>
    <p:extLst>
      <p:ext uri="{BB962C8B-B14F-4D97-AF65-F5344CB8AC3E}">
        <p14:creationId xmlns:p14="http://schemas.microsoft.com/office/powerpoint/2010/main" val="27824590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F71F2-5A9D-375C-23C7-37C3E38A2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FC794-C6FD-A6A1-7C7C-211822C56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8B44C-443C-0B1D-35B4-23DDAEBCD47E}"/>
              </a:ext>
            </a:extLst>
          </p:cNvPr>
          <p:cNvSpPr>
            <a:spLocks noGrp="1"/>
          </p:cNvSpPr>
          <p:nvPr>
            <p:ph type="body" idx="1"/>
          </p:nvPr>
        </p:nvSpPr>
        <p:spPr/>
        <p:txBody>
          <a:bodyPr/>
          <a:lstStyle/>
          <a:p>
            <a:r>
              <a:rPr lang="en-US" dirty="0"/>
              <a:t>To insure avoiding overfitting we should use a separate and unseen data for evaluate the model.</a:t>
            </a:r>
          </a:p>
          <a:p>
            <a:r>
              <a:rPr lang="en-US" dirty="0"/>
              <a:t>Cross validation is a way to evaluate our model and to do that we train and test the data for few times on different subset of data.</a:t>
            </a:r>
          </a:p>
        </p:txBody>
      </p:sp>
      <p:sp>
        <p:nvSpPr>
          <p:cNvPr id="4" name="Slide Number Placeholder 3">
            <a:extLst>
              <a:ext uri="{FF2B5EF4-FFF2-40B4-BE49-F238E27FC236}">
                <a16:creationId xmlns:a16="http://schemas.microsoft.com/office/drawing/2014/main" id="{8685AE90-09E5-815B-BE13-13F1C7CF0EF2}"/>
              </a:ext>
            </a:extLst>
          </p:cNvPr>
          <p:cNvSpPr>
            <a:spLocks noGrp="1"/>
          </p:cNvSpPr>
          <p:nvPr>
            <p:ph type="sldNum" sz="quarter" idx="5"/>
          </p:nvPr>
        </p:nvSpPr>
        <p:spPr/>
        <p:txBody>
          <a:bodyPr/>
          <a:lstStyle/>
          <a:p>
            <a:fld id="{09B770B2-34DD-8442-AC65-87A3EFFB3F5B}" type="slidenum">
              <a:rPr lang="en-US" smtClean="0"/>
              <a:t>39</a:t>
            </a:fld>
            <a:endParaRPr lang="en-US"/>
          </a:p>
        </p:txBody>
      </p:sp>
    </p:spTree>
    <p:extLst>
      <p:ext uri="{BB962C8B-B14F-4D97-AF65-F5344CB8AC3E}">
        <p14:creationId xmlns:p14="http://schemas.microsoft.com/office/powerpoint/2010/main" val="17213575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CF47E-573A-F3D9-3669-857372442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B6AA-433A-CE65-8E86-5D46CF8B9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5AAAD-0E52-61AA-5F4D-E27D89DC69C0}"/>
              </a:ext>
            </a:extLst>
          </p:cNvPr>
          <p:cNvSpPr>
            <a:spLocks noGrp="1"/>
          </p:cNvSpPr>
          <p:nvPr>
            <p:ph type="body" idx="1"/>
          </p:nvPr>
        </p:nvSpPr>
        <p:spPr/>
        <p:txBody>
          <a:bodyPr/>
          <a:lstStyle/>
          <a:p>
            <a:r>
              <a:rPr lang="en-US" dirty="0"/>
              <a:t>Here is two common metrics for evaluating performance of regression and forecasting models.</a:t>
            </a:r>
          </a:p>
        </p:txBody>
      </p:sp>
      <p:sp>
        <p:nvSpPr>
          <p:cNvPr id="4" name="Slide Number Placeholder 3">
            <a:extLst>
              <a:ext uri="{FF2B5EF4-FFF2-40B4-BE49-F238E27FC236}">
                <a16:creationId xmlns:a16="http://schemas.microsoft.com/office/drawing/2014/main" id="{55FA9A0B-6C2D-BAEF-2188-6687894CD91F}"/>
              </a:ext>
            </a:extLst>
          </p:cNvPr>
          <p:cNvSpPr>
            <a:spLocks noGrp="1"/>
          </p:cNvSpPr>
          <p:nvPr>
            <p:ph type="sldNum" sz="quarter" idx="5"/>
          </p:nvPr>
        </p:nvSpPr>
        <p:spPr/>
        <p:txBody>
          <a:bodyPr/>
          <a:lstStyle/>
          <a:p>
            <a:fld id="{09B770B2-34DD-8442-AC65-87A3EFFB3F5B}" type="slidenum">
              <a:rPr lang="en-US" smtClean="0"/>
              <a:t>40</a:t>
            </a:fld>
            <a:endParaRPr lang="en-US"/>
          </a:p>
        </p:txBody>
      </p:sp>
    </p:spTree>
    <p:extLst>
      <p:ext uri="{BB962C8B-B14F-4D97-AF65-F5344CB8AC3E}">
        <p14:creationId xmlns:p14="http://schemas.microsoft.com/office/powerpoint/2010/main" val="22777668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2B6E9-BC13-F8D1-44A1-3E5E5EDDE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FE2D4E-AE00-6EED-A107-508313AA1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76564-9917-1F31-F771-5954CD84E6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8D384A-A806-A98D-2841-14AF7F24896B}"/>
              </a:ext>
            </a:extLst>
          </p:cNvPr>
          <p:cNvSpPr>
            <a:spLocks noGrp="1"/>
          </p:cNvSpPr>
          <p:nvPr>
            <p:ph type="sldNum" sz="quarter" idx="5"/>
          </p:nvPr>
        </p:nvSpPr>
        <p:spPr/>
        <p:txBody>
          <a:bodyPr/>
          <a:lstStyle/>
          <a:p>
            <a:fld id="{09B770B2-34DD-8442-AC65-87A3EFFB3F5B}" type="slidenum">
              <a:rPr lang="en-US" smtClean="0"/>
              <a:t>42</a:t>
            </a:fld>
            <a:endParaRPr lang="en-US"/>
          </a:p>
        </p:txBody>
      </p:sp>
    </p:spTree>
    <p:extLst>
      <p:ext uri="{BB962C8B-B14F-4D97-AF65-F5344CB8AC3E}">
        <p14:creationId xmlns:p14="http://schemas.microsoft.com/office/powerpoint/2010/main" val="644641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B5E4-DAF9-E944-F299-645A05DB5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EEAB9-A27F-9846-E287-3286D5316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6B24-37AE-33A4-CDDA-703919C768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5B7E56-45BB-3D8C-91DF-0816A8BA21C1}"/>
              </a:ext>
            </a:extLst>
          </p:cNvPr>
          <p:cNvSpPr>
            <a:spLocks noGrp="1"/>
          </p:cNvSpPr>
          <p:nvPr>
            <p:ph type="sldNum" sz="quarter" idx="5"/>
          </p:nvPr>
        </p:nvSpPr>
        <p:spPr/>
        <p:txBody>
          <a:bodyPr/>
          <a:lstStyle/>
          <a:p>
            <a:fld id="{09B770B2-34DD-8442-AC65-87A3EFFB3F5B}" type="slidenum">
              <a:rPr lang="en-US" smtClean="0"/>
              <a:t>52</a:t>
            </a:fld>
            <a:endParaRPr lang="en-US"/>
          </a:p>
        </p:txBody>
      </p:sp>
    </p:spTree>
    <p:extLst>
      <p:ext uri="{BB962C8B-B14F-4D97-AF65-F5344CB8AC3E}">
        <p14:creationId xmlns:p14="http://schemas.microsoft.com/office/powerpoint/2010/main" val="36959221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 _ Apertura">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cxnSp>
        <p:nvCxnSpPr>
          <p:cNvPr id="7" name="Connettore diritto 6">
            <a:extLst>
              <a:ext uri="{FF2B5EF4-FFF2-40B4-BE49-F238E27FC236}">
                <a16:creationId xmlns:a16="http://schemas.microsoft.com/office/drawing/2014/main" id="{27DE37F3-51F4-48BE-8599-73297EEF3BD3}"/>
              </a:ext>
            </a:extLst>
          </p:cNvPr>
          <p:cNvCxnSpPr/>
          <p:nvPr userDrawn="1"/>
        </p:nvCxnSpPr>
        <p:spPr>
          <a:xfrm>
            <a:off x="6705088" y="5410098"/>
            <a:ext cx="1552353"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hasCustomPrompt="1"/>
          </p:nvPr>
        </p:nvSpPr>
        <p:spPr>
          <a:xfrm>
            <a:off x="6602817" y="888227"/>
            <a:ext cx="5040000" cy="3024000"/>
          </a:xfrm>
          <a:prstGeom prst="rect">
            <a:avLst/>
          </a:prstGeom>
        </p:spPr>
        <p:txBody>
          <a:bodyPr anchor="ctr" anchorCtr="0">
            <a:normAutofit/>
          </a:bodyPr>
          <a:lstStyle>
            <a:lvl1pPr marL="0" indent="0">
              <a:buFontTx/>
              <a:buNone/>
              <a:defRPr sz="4800">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dirty="0"/>
              <a:t>Fare clic per modificare il testo</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hasCustomPrompt="1"/>
          </p:nvPr>
        </p:nvSpPr>
        <p:spPr>
          <a:xfrm>
            <a:off x="6602413" y="4249738"/>
            <a:ext cx="5040312" cy="1008000"/>
          </a:xfrm>
          <a:prstGeom prst="rect">
            <a:avLst/>
          </a:prstGeom>
        </p:spPr>
        <p:txBody>
          <a:bodyPr anchor="ctr">
            <a:normAutofit/>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dirty="0"/>
              <a:t>Fare clic per modificare il testo</a:t>
            </a:r>
          </a:p>
        </p:txBody>
      </p:sp>
    </p:spTree>
    <p:extLst>
      <p:ext uri="{BB962C8B-B14F-4D97-AF65-F5344CB8AC3E}">
        <p14:creationId xmlns:p14="http://schemas.microsoft.com/office/powerpoint/2010/main" val="252142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U Chiusura">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72F68884-7283-48EF-B315-53827BAF1A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spTree>
    <p:extLst>
      <p:ext uri="{BB962C8B-B14F-4D97-AF65-F5344CB8AC3E}">
        <p14:creationId xmlns:p14="http://schemas.microsoft.com/office/powerpoint/2010/main" val="2539576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MAGINE Apertura">
    <p:bg>
      <p:bgPr>
        <a:solidFill>
          <a:schemeClr val="bg1"/>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DA394C85-E2AD-479A-B76F-DFA5BB41B2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3139" y="2787188"/>
            <a:ext cx="2857722" cy="1255543"/>
          </a:xfrm>
          <a:prstGeom prst="rect">
            <a:avLst/>
          </a:prstGeom>
        </p:spPr>
      </p:pic>
      <p:sp>
        <p:nvSpPr>
          <p:cNvPr id="3" name="Segnaposto immagine 10">
            <a:extLst>
              <a:ext uri="{FF2B5EF4-FFF2-40B4-BE49-F238E27FC236}">
                <a16:creationId xmlns:a16="http://schemas.microsoft.com/office/drawing/2014/main" id="{9CCE0AB1-41FD-4EDC-AB39-9282210F5525}"/>
              </a:ext>
            </a:extLst>
          </p:cNvPr>
          <p:cNvSpPr>
            <a:spLocks noGrp="1"/>
          </p:cNvSpPr>
          <p:nvPr>
            <p:ph type="pic" sz="quarter" idx="11" hasCustomPrompt="1"/>
          </p:nvPr>
        </p:nvSpPr>
        <p:spPr>
          <a:xfrm>
            <a:off x="3051544" y="0"/>
            <a:ext cx="9140456" cy="6858000"/>
          </a:xfrm>
          <a:custGeom>
            <a:avLst/>
            <a:gdLst>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 name="connsiteX0" fmla="*/ 0 w 9140456"/>
              <a:gd name="connsiteY0" fmla="*/ 0 h 6858000"/>
              <a:gd name="connsiteX1" fmla="*/ 9140456 w 9140456"/>
              <a:gd name="connsiteY1" fmla="*/ 0 h 6858000"/>
              <a:gd name="connsiteX2" fmla="*/ 9140456 w 9140456"/>
              <a:gd name="connsiteY2" fmla="*/ 6858000 h 6858000"/>
              <a:gd name="connsiteX3" fmla="*/ 0 w 9140456"/>
              <a:gd name="connsiteY3" fmla="*/ 6858000 h 6858000"/>
              <a:gd name="connsiteX4" fmla="*/ 0 w 9140456"/>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0456" h="6858000">
                <a:moveTo>
                  <a:pt x="0" y="0"/>
                </a:moveTo>
                <a:lnTo>
                  <a:pt x="9140456" y="0"/>
                </a:lnTo>
                <a:lnTo>
                  <a:pt x="9140456" y="6858000"/>
                </a:lnTo>
                <a:lnTo>
                  <a:pt x="0" y="6858000"/>
                </a:lnTo>
                <a:cubicBezTo>
                  <a:pt x="1265276" y="5858538"/>
                  <a:pt x="2647507" y="2509284"/>
                  <a:pt x="0" y="0"/>
                </a:cubicBezTo>
                <a:close/>
              </a:path>
            </a:pathLst>
          </a:custGeom>
          <a:solidFill>
            <a:schemeClr val="bg1">
              <a:lumMod val="95000"/>
            </a:schemeClr>
          </a:solidFill>
        </p:spPr>
        <p:txBody>
          <a:bodyPr/>
          <a:lstStyle>
            <a:lvl1pPr marL="0" indent="0">
              <a:buFontTx/>
              <a:buNone/>
              <a:defRPr>
                <a:latin typeface="Poppins" panose="00000500000000000000" pitchFamily="2" charset="0"/>
              </a:defRPr>
            </a:lvl1pPr>
          </a:lstStyle>
          <a:p>
            <a:r>
              <a:rPr lang="it-IT" dirty="0"/>
              <a:t>   </a:t>
            </a:r>
          </a:p>
        </p:txBody>
      </p:sp>
      <p:sp>
        <p:nvSpPr>
          <p:cNvPr id="5" name="Segnaposto testo 6">
            <a:extLst>
              <a:ext uri="{FF2B5EF4-FFF2-40B4-BE49-F238E27FC236}">
                <a16:creationId xmlns:a16="http://schemas.microsoft.com/office/drawing/2014/main" id="{049324E1-916B-44BE-A2CA-01572E502A9B}"/>
              </a:ext>
            </a:extLst>
          </p:cNvPr>
          <p:cNvSpPr>
            <a:spLocks noGrp="1"/>
          </p:cNvSpPr>
          <p:nvPr>
            <p:ph type="body" sz="quarter" idx="12" hasCustomPrompt="1"/>
          </p:nvPr>
        </p:nvSpPr>
        <p:spPr>
          <a:xfrm>
            <a:off x="6602817" y="888227"/>
            <a:ext cx="5040000" cy="3024000"/>
          </a:xfrm>
          <a:prstGeom prst="rect">
            <a:avLst/>
          </a:prstGeom>
        </p:spPr>
        <p:txBody>
          <a:bodyPr anchor="ctr" anchorCtr="0">
            <a:normAutofit/>
          </a:bodyPr>
          <a:lstStyle>
            <a:lvl1pPr marL="0" indent="0">
              <a:buFontTx/>
              <a:buNone/>
              <a:defRPr sz="4800">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dirty="0"/>
              <a:t>Fare clic per modificare il testo</a:t>
            </a:r>
          </a:p>
        </p:txBody>
      </p:sp>
      <p:sp>
        <p:nvSpPr>
          <p:cNvPr id="6" name="Segnaposto testo 9">
            <a:extLst>
              <a:ext uri="{FF2B5EF4-FFF2-40B4-BE49-F238E27FC236}">
                <a16:creationId xmlns:a16="http://schemas.microsoft.com/office/drawing/2014/main" id="{BC83BF07-630E-48B5-9C07-F0CEF6A2BF85}"/>
              </a:ext>
            </a:extLst>
          </p:cNvPr>
          <p:cNvSpPr>
            <a:spLocks noGrp="1"/>
          </p:cNvSpPr>
          <p:nvPr>
            <p:ph type="body" sz="quarter" idx="13" hasCustomPrompt="1"/>
          </p:nvPr>
        </p:nvSpPr>
        <p:spPr>
          <a:xfrm>
            <a:off x="6602413" y="4249738"/>
            <a:ext cx="5040312" cy="1008000"/>
          </a:xfrm>
          <a:prstGeom prst="rect">
            <a:avLst/>
          </a:prstGeom>
        </p:spPr>
        <p:txBody>
          <a:bodyPr anchor="ctr">
            <a:normAutofit/>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dirty="0"/>
              <a:t>Fare clic per modificare il testo</a:t>
            </a:r>
          </a:p>
        </p:txBody>
      </p:sp>
      <p:cxnSp>
        <p:nvCxnSpPr>
          <p:cNvPr id="7" name="Connettore diritto 6">
            <a:extLst>
              <a:ext uri="{FF2B5EF4-FFF2-40B4-BE49-F238E27FC236}">
                <a16:creationId xmlns:a16="http://schemas.microsoft.com/office/drawing/2014/main" id="{98F9590B-AA34-4576-A95D-7E6FD9F1FF0F}"/>
              </a:ext>
            </a:extLst>
          </p:cNvPr>
          <p:cNvCxnSpPr/>
          <p:nvPr userDrawn="1"/>
        </p:nvCxnSpPr>
        <p:spPr>
          <a:xfrm>
            <a:off x="6705088" y="5410098"/>
            <a:ext cx="1552353"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0063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AGINE Chiusura">
    <p:bg>
      <p:bgPr>
        <a:solidFill>
          <a:schemeClr val="bg1"/>
        </a:solidFill>
        <a:effectLst/>
      </p:bgPr>
    </p:bg>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5F8C436-50BB-46D3-92D1-A32E72258D0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3139" y="2787188"/>
            <a:ext cx="2857722" cy="1255543"/>
          </a:xfrm>
          <a:prstGeom prst="rect">
            <a:avLst/>
          </a:prstGeom>
        </p:spPr>
      </p:pic>
    </p:spTree>
    <p:extLst>
      <p:ext uri="{BB962C8B-B14F-4D97-AF65-F5344CB8AC3E}">
        <p14:creationId xmlns:p14="http://schemas.microsoft.com/office/powerpoint/2010/main" val="2771932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4" name="Segnaposto titolo 1">
            <a:extLst>
              <a:ext uri="{FF2B5EF4-FFF2-40B4-BE49-F238E27FC236}">
                <a16:creationId xmlns:a16="http://schemas.microsoft.com/office/drawing/2014/main" id="{24993FE2-BDC7-854D-9E60-5881B6A9F399}"/>
              </a:ext>
            </a:extLst>
          </p:cNvPr>
          <p:cNvSpPr>
            <a:spLocks noGrp="1"/>
          </p:cNvSpPr>
          <p:nvPr>
            <p:ph type="title"/>
          </p:nvPr>
        </p:nvSpPr>
        <p:spPr>
          <a:xfrm>
            <a:off x="180000" y="180000"/>
            <a:ext cx="11880000" cy="648000"/>
          </a:xfrm>
          <a:prstGeom prst="rect">
            <a:avLst/>
          </a:prstGeom>
        </p:spPr>
        <p:txBody>
          <a:bodyPr vert="horz" lIns="91440" tIns="45720" rIns="91440" bIns="45720" rtlCol="0" anchor="ctr" anchorCtr="0">
            <a:normAutofit/>
          </a:bodyPr>
          <a:lstStyle/>
          <a:p>
            <a:r>
              <a:rPr lang="it-IT" dirty="0"/>
              <a:t>Fare clic per modificare il titolo</a:t>
            </a:r>
          </a:p>
        </p:txBody>
      </p:sp>
      <p:sp>
        <p:nvSpPr>
          <p:cNvPr id="6" name="Segnaposto testo 3">
            <a:extLst>
              <a:ext uri="{FF2B5EF4-FFF2-40B4-BE49-F238E27FC236}">
                <a16:creationId xmlns:a16="http://schemas.microsoft.com/office/drawing/2014/main" id="{03A3DA46-7DB4-F940-B006-60DA29DE6728}"/>
              </a:ext>
            </a:extLst>
          </p:cNvPr>
          <p:cNvSpPr>
            <a:spLocks noGrp="1"/>
          </p:cNvSpPr>
          <p:nvPr>
            <p:ph idx="1" hasCustomPrompt="1"/>
          </p:nvPr>
        </p:nvSpPr>
        <p:spPr>
          <a:xfrm>
            <a:off x="180000" y="984487"/>
            <a:ext cx="11880000" cy="5171513"/>
          </a:xfrm>
          <a:prstGeom prst="rect">
            <a:avLst/>
          </a:prstGeom>
        </p:spPr>
        <p:txBody>
          <a:bodyPr vert="horz" lIns="91440" tIns="45720" rIns="91440" bIns="45720" rtlCol="0" anchor="t">
            <a:normAutofit/>
          </a:bodyPr>
          <a:lstStyle/>
          <a:p>
            <a:pPr lvl="0"/>
            <a:r>
              <a:rPr lang="it-IT" dirty="0"/>
              <a:t>Fare clic per modificare il testo</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227797146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4FB4A7-FF62-53E7-CC8F-E29751CD513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3514851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olo Titolo">
    <p:spTree>
      <p:nvGrpSpPr>
        <p:cNvPr id="1" name=""/>
        <p:cNvGrpSpPr/>
        <p:nvPr/>
      </p:nvGrpSpPr>
      <p:grpSpPr>
        <a:xfrm>
          <a:off x="0" y="0"/>
          <a:ext cx="0" cy="0"/>
          <a:chOff x="0" y="0"/>
          <a:chExt cx="0" cy="0"/>
        </a:xfrm>
      </p:grpSpPr>
      <p:sp>
        <p:nvSpPr>
          <p:cNvPr id="4" name="Segnaposto titolo 1">
            <a:extLst>
              <a:ext uri="{FF2B5EF4-FFF2-40B4-BE49-F238E27FC236}">
                <a16:creationId xmlns:a16="http://schemas.microsoft.com/office/drawing/2014/main" id="{2C61AA3E-D013-404E-8B75-86054DB2A686}"/>
              </a:ext>
            </a:extLst>
          </p:cNvPr>
          <p:cNvSpPr>
            <a:spLocks noGrp="1"/>
          </p:cNvSpPr>
          <p:nvPr>
            <p:ph type="title"/>
          </p:nvPr>
        </p:nvSpPr>
        <p:spPr>
          <a:xfrm>
            <a:off x="156000" y="2441500"/>
            <a:ext cx="11880000" cy="1975000"/>
          </a:xfrm>
          <a:prstGeom prst="rect">
            <a:avLst/>
          </a:prstGeom>
        </p:spPr>
        <p:txBody>
          <a:bodyPr vert="horz" lIns="91440" tIns="45720" rIns="91440" bIns="45720" rtlCol="0" anchor="ctr" anchorCtr="0">
            <a:normAutofit/>
          </a:bodyPr>
          <a:lstStyle>
            <a:lvl1pPr algn="ctr">
              <a:defRPr/>
            </a:lvl1pPr>
          </a:lstStyle>
          <a:p>
            <a:r>
              <a:rPr lang="it-IT" dirty="0"/>
              <a:t>Fare clic per modificare il titolo</a:t>
            </a:r>
          </a:p>
        </p:txBody>
      </p:sp>
    </p:spTree>
    <p:extLst>
      <p:ext uri="{BB962C8B-B14F-4D97-AF65-F5344CB8AC3E}">
        <p14:creationId xmlns:p14="http://schemas.microsoft.com/office/powerpoint/2010/main" val="420311766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6402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5F729-938E-04F0-BCB2-18B82DCBFA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607A96-EB02-AF7F-34E0-786239456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4B780F-003D-862E-A374-B265E0000707}"/>
              </a:ext>
            </a:extLst>
          </p:cNvPr>
          <p:cNvSpPr>
            <a:spLocks noGrp="1"/>
          </p:cNvSpPr>
          <p:nvPr>
            <p:ph type="dt" sz="half" idx="10"/>
          </p:nvPr>
        </p:nvSpPr>
        <p:spPr/>
        <p:txBody>
          <a:bodyPr/>
          <a:lstStyle/>
          <a:p>
            <a:fld id="{0586965B-D52A-094D-B5E2-79AEB94E123E}" type="datetimeFigureOut">
              <a:rPr lang="en-US" smtClean="0"/>
              <a:t>12/28/25</a:t>
            </a:fld>
            <a:endParaRPr lang="en-US"/>
          </a:p>
        </p:txBody>
      </p:sp>
      <p:sp>
        <p:nvSpPr>
          <p:cNvPr id="5" name="Footer Placeholder 4">
            <a:extLst>
              <a:ext uri="{FF2B5EF4-FFF2-40B4-BE49-F238E27FC236}">
                <a16:creationId xmlns:a16="http://schemas.microsoft.com/office/drawing/2014/main" id="{1A41EE01-83FE-B654-9AB5-6911F6D4E6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94DBA-4284-1A57-D847-361E5BBFD55B}"/>
              </a:ext>
            </a:extLst>
          </p:cNvPr>
          <p:cNvSpPr>
            <a:spLocks noGrp="1"/>
          </p:cNvSpPr>
          <p:nvPr>
            <p:ph type="sldNum" sz="quarter" idx="12"/>
          </p:nvPr>
        </p:nvSpPr>
        <p:spPr/>
        <p:txBody>
          <a:bodyPr/>
          <a:lstStyle/>
          <a:p>
            <a:fld id="{12B54D11-4114-9746-AE57-51143CCC4D67}" type="slidenum">
              <a:rPr lang="en-US" smtClean="0"/>
              <a:t>‹#›</a:t>
            </a:fld>
            <a:endParaRPr lang="en-US"/>
          </a:p>
        </p:txBody>
      </p:sp>
    </p:spTree>
    <p:extLst>
      <p:ext uri="{BB962C8B-B14F-4D97-AF65-F5344CB8AC3E}">
        <p14:creationId xmlns:p14="http://schemas.microsoft.com/office/powerpoint/2010/main" val="2943775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LU _ Apertura">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55988862-B47E-48D4-9426-E775261B7C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11070" cy="6858000"/>
          </a:xfrm>
          <a:prstGeom prst="rect">
            <a:avLst/>
          </a:prstGeom>
        </p:spPr>
      </p:pic>
      <p:pic>
        <p:nvPicPr>
          <p:cNvPr id="6" name="Immagine 5">
            <a:extLst>
              <a:ext uri="{FF2B5EF4-FFF2-40B4-BE49-F238E27FC236}">
                <a16:creationId xmlns:a16="http://schemas.microsoft.com/office/drawing/2014/main" id="{E7FA2C98-6DE1-4D78-AE6F-0BAAE6E1D8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9125" y="5410098"/>
            <a:ext cx="2166253" cy="952602"/>
          </a:xfrm>
          <a:prstGeom prst="rect">
            <a:avLst/>
          </a:prstGeom>
        </p:spPr>
      </p:pic>
      <p:cxnSp>
        <p:nvCxnSpPr>
          <p:cNvPr id="7" name="Connettore diritto 6">
            <a:extLst>
              <a:ext uri="{FF2B5EF4-FFF2-40B4-BE49-F238E27FC236}">
                <a16:creationId xmlns:a16="http://schemas.microsoft.com/office/drawing/2014/main" id="{27DE37F3-51F4-48BE-8599-73297EEF3BD3}"/>
              </a:ext>
            </a:extLst>
          </p:cNvPr>
          <p:cNvCxnSpPr/>
          <p:nvPr userDrawn="1"/>
        </p:nvCxnSpPr>
        <p:spPr>
          <a:xfrm>
            <a:off x="6705088" y="5410098"/>
            <a:ext cx="1552353"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Segnaposto testo 6">
            <a:extLst>
              <a:ext uri="{FF2B5EF4-FFF2-40B4-BE49-F238E27FC236}">
                <a16:creationId xmlns:a16="http://schemas.microsoft.com/office/drawing/2014/main" id="{5BB8A5A3-9EC2-4C88-8FAC-05F96F00D7EF}"/>
              </a:ext>
            </a:extLst>
          </p:cNvPr>
          <p:cNvSpPr>
            <a:spLocks noGrp="1"/>
          </p:cNvSpPr>
          <p:nvPr>
            <p:ph type="body" sz="quarter" idx="11" hasCustomPrompt="1"/>
          </p:nvPr>
        </p:nvSpPr>
        <p:spPr>
          <a:xfrm>
            <a:off x="6602817" y="888227"/>
            <a:ext cx="5040000" cy="3024000"/>
          </a:xfrm>
          <a:prstGeom prst="rect">
            <a:avLst/>
          </a:prstGeom>
        </p:spPr>
        <p:txBody>
          <a:bodyPr anchor="ctr" anchorCtr="0">
            <a:normAutofit/>
          </a:bodyPr>
          <a:lstStyle>
            <a:lvl1pPr marL="0" indent="0">
              <a:buFontTx/>
              <a:buNone/>
              <a:defRPr sz="4800">
                <a:solidFill>
                  <a:schemeClr val="bg1"/>
                </a:solidFill>
                <a:latin typeface="+mj-lt"/>
              </a:defRPr>
            </a:lvl1pPr>
            <a:lvl2pPr>
              <a:defRPr sz="4800">
                <a:latin typeface="+mj-lt"/>
              </a:defRPr>
            </a:lvl2pPr>
            <a:lvl3pPr>
              <a:defRPr sz="4800">
                <a:latin typeface="+mj-lt"/>
              </a:defRPr>
            </a:lvl3pPr>
            <a:lvl4pPr>
              <a:defRPr sz="4800">
                <a:latin typeface="+mj-lt"/>
              </a:defRPr>
            </a:lvl4pPr>
            <a:lvl5pPr>
              <a:defRPr sz="4800">
                <a:latin typeface="+mj-lt"/>
              </a:defRPr>
            </a:lvl5pPr>
          </a:lstStyle>
          <a:p>
            <a:pPr lvl="0"/>
            <a:r>
              <a:rPr lang="it-IT" dirty="0"/>
              <a:t>Fare clic per modificare il testo</a:t>
            </a:r>
          </a:p>
        </p:txBody>
      </p:sp>
      <p:sp>
        <p:nvSpPr>
          <p:cNvPr id="9" name="Segnaposto testo 9">
            <a:extLst>
              <a:ext uri="{FF2B5EF4-FFF2-40B4-BE49-F238E27FC236}">
                <a16:creationId xmlns:a16="http://schemas.microsoft.com/office/drawing/2014/main" id="{95F7323E-8285-4667-83C4-2BED21A60E35}"/>
              </a:ext>
            </a:extLst>
          </p:cNvPr>
          <p:cNvSpPr>
            <a:spLocks noGrp="1"/>
          </p:cNvSpPr>
          <p:nvPr>
            <p:ph type="body" sz="quarter" idx="12" hasCustomPrompt="1"/>
          </p:nvPr>
        </p:nvSpPr>
        <p:spPr>
          <a:xfrm>
            <a:off x="6602413" y="4249738"/>
            <a:ext cx="5040312" cy="1008000"/>
          </a:xfrm>
          <a:prstGeom prst="rect">
            <a:avLst/>
          </a:prstGeom>
        </p:spPr>
        <p:txBody>
          <a:bodyPr anchor="ctr">
            <a:normAutofit/>
          </a:bodyPr>
          <a:lstStyle>
            <a:lvl1pPr marL="0" indent="0">
              <a:buFontTx/>
              <a:buNone/>
              <a:defRPr sz="2400">
                <a:solidFill>
                  <a:schemeClr val="bg1"/>
                </a:solidFill>
                <a:latin typeface="+mn-lt"/>
              </a:defRPr>
            </a:lvl1pPr>
            <a:lvl2pPr>
              <a:defRPr sz="2000">
                <a:latin typeface="+mn-lt"/>
              </a:defRPr>
            </a:lvl2pPr>
            <a:lvl3pPr>
              <a:defRPr sz="2000">
                <a:latin typeface="+mn-lt"/>
              </a:defRPr>
            </a:lvl3pPr>
            <a:lvl4pPr>
              <a:defRPr sz="2000">
                <a:latin typeface="+mn-lt"/>
              </a:defRPr>
            </a:lvl4pPr>
            <a:lvl5pPr>
              <a:defRPr sz="2000">
                <a:latin typeface="+mn-lt"/>
              </a:defRPr>
            </a:lvl5pPr>
          </a:lstStyle>
          <a:p>
            <a:pPr lvl="0"/>
            <a:r>
              <a:rPr lang="it-IT" dirty="0"/>
              <a:t>Fare clic per modificare il testo</a:t>
            </a:r>
          </a:p>
        </p:txBody>
      </p:sp>
    </p:spTree>
    <p:extLst>
      <p:ext uri="{BB962C8B-B14F-4D97-AF65-F5344CB8AC3E}">
        <p14:creationId xmlns:p14="http://schemas.microsoft.com/office/powerpoint/2010/main" val="31038739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359207"/>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9" r:id="rId3"/>
    <p:sldLayoutId id="214748368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166" userDrawn="1">
          <p15:clr>
            <a:srgbClr val="F26B43"/>
          </p15:clr>
        </p15:guide>
        <p15:guide id="4" pos="7514" userDrawn="1">
          <p15:clr>
            <a:srgbClr val="F26B43"/>
          </p15:clr>
        </p15:guide>
        <p15:guide id="5" orient="horz" pos="164" userDrawn="1">
          <p15:clr>
            <a:srgbClr val="F26B43"/>
          </p15:clr>
        </p15:guide>
        <p15:guide id="6" orient="horz" pos="415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ttangolo 2"/>
          <p:cNvSpPr/>
          <p:nvPr userDrawn="1"/>
        </p:nvSpPr>
        <p:spPr bwMode="auto">
          <a:xfrm>
            <a:off x="0" y="6308725"/>
            <a:ext cx="12192000" cy="549275"/>
          </a:xfrm>
          <a:prstGeom prst="rect">
            <a:avLst/>
          </a:prstGeom>
          <a:solidFill>
            <a:schemeClr val="tx1"/>
          </a:solidFill>
          <a:ln>
            <a:noFill/>
          </a:ln>
        </p:spPr>
        <p:txBody>
          <a:bodyPr vert="horz" wrap="square" lIns="91440" tIns="45720" rIns="91440" bIns="45720" numCol="1" rtlCol="0" anchor="t" anchorCtr="0" compatLnSpc="1">
            <a:prstTxWarp prst="textNoShape">
              <a:avLst/>
            </a:prstTxWarp>
          </a:bodyPr>
          <a:lstStyle/>
          <a:p>
            <a:pPr algn="ctr"/>
            <a:endParaRPr lang="it-IT"/>
          </a:p>
        </p:txBody>
      </p:sp>
      <p:pic>
        <p:nvPicPr>
          <p:cNvPr id="6" name="Immagin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82311" y="6465212"/>
            <a:ext cx="951065" cy="269625"/>
          </a:xfrm>
          <a:prstGeom prst="rect">
            <a:avLst/>
          </a:prstGeom>
        </p:spPr>
      </p:pic>
      <p:sp>
        <p:nvSpPr>
          <p:cNvPr id="2" name="Segnaposto titolo 1">
            <a:extLst>
              <a:ext uri="{FF2B5EF4-FFF2-40B4-BE49-F238E27FC236}">
                <a16:creationId xmlns:a16="http://schemas.microsoft.com/office/drawing/2014/main" id="{FECFCC25-4FD9-414D-AE29-E50F7351E184}"/>
              </a:ext>
            </a:extLst>
          </p:cNvPr>
          <p:cNvSpPr>
            <a:spLocks noGrp="1"/>
          </p:cNvSpPr>
          <p:nvPr>
            <p:ph type="title"/>
          </p:nvPr>
        </p:nvSpPr>
        <p:spPr>
          <a:xfrm>
            <a:off x="180000" y="180000"/>
            <a:ext cx="11880000" cy="648000"/>
          </a:xfrm>
          <a:prstGeom prst="rect">
            <a:avLst/>
          </a:prstGeom>
        </p:spPr>
        <p:txBody>
          <a:bodyPr vert="horz" lIns="91440" tIns="45720" rIns="91440" bIns="45720" rtlCol="0" anchor="ctr" anchorCtr="0">
            <a:normAutofit/>
          </a:bodyPr>
          <a:lstStyle/>
          <a:p>
            <a:r>
              <a:rPr lang="it-IT" dirty="0"/>
              <a:t>Fare clic per modificare il titolo</a:t>
            </a:r>
          </a:p>
        </p:txBody>
      </p:sp>
      <p:sp>
        <p:nvSpPr>
          <p:cNvPr id="4" name="Segnaposto testo 3">
            <a:extLst>
              <a:ext uri="{FF2B5EF4-FFF2-40B4-BE49-F238E27FC236}">
                <a16:creationId xmlns:a16="http://schemas.microsoft.com/office/drawing/2014/main" id="{1FA7E6D1-1565-475C-8B80-AB85A60730A7}"/>
              </a:ext>
            </a:extLst>
          </p:cNvPr>
          <p:cNvSpPr>
            <a:spLocks noGrp="1"/>
          </p:cNvSpPr>
          <p:nvPr>
            <p:ph type="body" idx="1"/>
          </p:nvPr>
        </p:nvSpPr>
        <p:spPr>
          <a:xfrm>
            <a:off x="180000" y="984487"/>
            <a:ext cx="11880000" cy="5171513"/>
          </a:xfrm>
          <a:prstGeom prst="rect">
            <a:avLst/>
          </a:prstGeom>
        </p:spPr>
        <p:txBody>
          <a:bodyPr vert="horz" lIns="91440" tIns="45720" rIns="91440" bIns="45720" rtlCol="0" anchor="t">
            <a:normAutofit/>
          </a:bodyPr>
          <a:lstStyle/>
          <a:p>
            <a:pPr lvl="0"/>
            <a:r>
              <a:rPr lang="it-IT" dirty="0"/>
              <a:t>Fare clic per modificare il testo</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9" name="Segnaposto testo 3">
            <a:extLst>
              <a:ext uri="{FF2B5EF4-FFF2-40B4-BE49-F238E27FC236}">
                <a16:creationId xmlns:a16="http://schemas.microsoft.com/office/drawing/2014/main" id="{AFBBB134-F3B5-014C-81C1-EC3290A3567D}"/>
              </a:ext>
            </a:extLst>
          </p:cNvPr>
          <p:cNvSpPr txBox="1">
            <a:spLocks/>
          </p:cNvSpPr>
          <p:nvPr userDrawn="1"/>
        </p:nvSpPr>
        <p:spPr>
          <a:xfrm>
            <a:off x="3649451" y="6373047"/>
            <a:ext cx="8421867" cy="236542"/>
          </a:xfrm>
          <a:prstGeom prst="rect">
            <a:avLst/>
          </a:prstGeom>
        </p:spPr>
        <p:txBody>
          <a:bodyPr/>
          <a:lstStyle>
            <a:lvl1pPr marL="0" indent="0" algn="r" defTabSz="914400" rtl="0" eaLnBrk="1" latinLnBrk="0" hangingPunct="1">
              <a:lnSpc>
                <a:spcPct val="100000"/>
              </a:lnSpc>
              <a:spcBef>
                <a:spcPts val="1000"/>
              </a:spcBef>
              <a:buFont typeface="Arial" panose="020B0604020202020204" pitchFamily="34" charset="0"/>
              <a:buNone/>
              <a:defRPr sz="1050" kern="1200">
                <a:solidFill>
                  <a:schemeClr val="bg1"/>
                </a:solidFill>
                <a:latin typeface="+mj-lt"/>
                <a:ea typeface="+mn-ea"/>
                <a:cs typeface="+mn-cs"/>
              </a:defRPr>
            </a:lvl1pPr>
            <a:lvl2pPr marL="457200" indent="0" algn="r" defTabSz="914400" rtl="0" eaLnBrk="1" latinLnBrk="0" hangingPunct="1">
              <a:lnSpc>
                <a:spcPct val="90000"/>
              </a:lnSpc>
              <a:spcBef>
                <a:spcPts val="500"/>
              </a:spcBef>
              <a:buFont typeface="Arial" panose="020B0604020202020204" pitchFamily="34" charset="0"/>
              <a:buNone/>
              <a:defRPr sz="900" kern="1200">
                <a:solidFill>
                  <a:schemeClr val="accent2"/>
                </a:solidFill>
                <a:latin typeface="+mn-lt"/>
                <a:ea typeface="+mn-ea"/>
                <a:cs typeface="+mn-cs"/>
              </a:defRPr>
            </a:lvl2pPr>
            <a:lvl3pPr marL="914400" marR="0" indent="0" algn="r" defTabSz="914400" rtl="0" eaLnBrk="1" fontAlgn="auto" latinLnBrk="0" hangingPunct="1">
              <a:lnSpc>
                <a:spcPct val="90000"/>
              </a:lnSpc>
              <a:spcBef>
                <a:spcPts val="500"/>
              </a:spcBef>
              <a:spcAft>
                <a:spcPts val="0"/>
              </a:spcAft>
              <a:buClrTx/>
              <a:buSzTx/>
              <a:buFont typeface="Arial" panose="020B0604020202020204" pitchFamily="34" charset="0"/>
              <a:buNone/>
              <a:tabLst/>
              <a:defRPr sz="900" kern="1200" spc="300">
                <a:solidFill>
                  <a:schemeClr val="accent2"/>
                </a:solidFill>
                <a:latin typeface="+mn-lt"/>
                <a:ea typeface="+mn-ea"/>
                <a:cs typeface="+mn-cs"/>
              </a:defRPr>
            </a:lvl3pPr>
            <a:lvl4pPr marL="1371600" indent="0" algn="r" defTabSz="914400" rtl="0" eaLnBrk="1" latinLnBrk="0" hangingPunct="1">
              <a:lnSpc>
                <a:spcPct val="90000"/>
              </a:lnSpc>
              <a:spcBef>
                <a:spcPts val="500"/>
              </a:spcBef>
              <a:buFont typeface="Arial" panose="020B0604020202020204" pitchFamily="34" charset="0"/>
              <a:buNone/>
              <a:defRPr sz="900" kern="1200">
                <a:solidFill>
                  <a:schemeClr val="accent2"/>
                </a:solidFill>
                <a:latin typeface="+mn-lt"/>
                <a:ea typeface="+mn-ea"/>
                <a:cs typeface="+mn-cs"/>
              </a:defRPr>
            </a:lvl4pPr>
            <a:lvl5pPr marL="1828800" indent="0" algn="r" defTabSz="914400" rtl="0" eaLnBrk="1" latinLnBrk="0" hangingPunct="1">
              <a:lnSpc>
                <a:spcPct val="90000"/>
              </a:lnSpc>
              <a:spcBef>
                <a:spcPts val="500"/>
              </a:spcBef>
              <a:buFont typeface="Arial" panose="020B0604020202020204" pitchFamily="34" charset="0"/>
              <a:buNone/>
              <a:defRPr sz="900"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err="1"/>
              <a:t>mohammad.sheikh@studenti.polito.it</a:t>
            </a:r>
            <a:endParaRPr lang="it-IT" dirty="0"/>
          </a:p>
        </p:txBody>
      </p:sp>
      <p:sp>
        <p:nvSpPr>
          <p:cNvPr id="10" name="Segnaposto testo 6">
            <a:extLst>
              <a:ext uri="{FF2B5EF4-FFF2-40B4-BE49-F238E27FC236}">
                <a16:creationId xmlns:a16="http://schemas.microsoft.com/office/drawing/2014/main" id="{3AEC9288-CBBA-2949-AD51-BD9C863E1BE8}"/>
              </a:ext>
            </a:extLst>
          </p:cNvPr>
          <p:cNvSpPr txBox="1">
            <a:spLocks/>
          </p:cNvSpPr>
          <p:nvPr userDrawn="1"/>
        </p:nvSpPr>
        <p:spPr>
          <a:xfrm>
            <a:off x="3649451" y="6583362"/>
            <a:ext cx="8451065" cy="215816"/>
          </a:xfrm>
          <a:prstGeom prst="rect">
            <a:avLst/>
          </a:prstGeom>
        </p:spPr>
        <p:txBody>
          <a:bodyPr/>
          <a:lstStyle>
            <a:lvl1pPr marL="0" indent="0" algn="r" defTabSz="914400" rtl="0" eaLnBrk="1" latinLnBrk="0" hangingPunct="1">
              <a:lnSpc>
                <a:spcPct val="100000"/>
              </a:lnSpc>
              <a:spcBef>
                <a:spcPts val="1000"/>
              </a:spcBef>
              <a:buFont typeface="Arial" panose="020B0604020202020204" pitchFamily="34" charset="0"/>
              <a:buNone/>
              <a:defRPr sz="800"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2000" kern="1200" spc="300">
                <a:solidFill>
                  <a:schemeClr val="tx1"/>
                </a:solidFill>
                <a:latin typeface="Poppins" panose="000005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lumMod val="95000"/>
                  </a:srgbClr>
                </a:solidFill>
                <a:effectLst/>
                <a:uLnTx/>
                <a:uFillTx/>
                <a:latin typeface="Poppins"/>
                <a:ea typeface="+mn-ea"/>
                <a:cs typeface="+mn-cs"/>
              </a:rPr>
              <a:t>Predictive Analytics of Climate Stress Impact on the Italian Mediterranean Buffalo</a:t>
            </a:r>
          </a:p>
        </p:txBody>
      </p:sp>
    </p:spTree>
    <p:extLst>
      <p:ext uri="{BB962C8B-B14F-4D97-AF65-F5344CB8AC3E}">
        <p14:creationId xmlns:p14="http://schemas.microsoft.com/office/powerpoint/2010/main" val="3365820312"/>
      </p:ext>
    </p:extLst>
  </p:cSld>
  <p:clrMap bg1="lt1" tx1="dk1" bg2="lt2" tx2="dk2" accent1="accent1" accent2="accent2" accent3="accent3" accent4="accent4" accent5="accent5" accent6="accent6" hlink="hlink" folHlink="folHlink"/>
  <p:sldLayoutIdLst>
    <p:sldLayoutId id="2147483768" r:id="rId1"/>
    <p:sldLayoutId id="2147483778" r:id="rId2"/>
    <p:sldLayoutId id="2147483784" r:id="rId3"/>
    <p:sldLayoutId id="2147483783" r:id="rId4"/>
    <p:sldLayoutId id="2147483785" r:id="rId5"/>
    <p:sldLayoutId id="2147483786" r:id="rId6"/>
  </p:sldLayoutIdLst>
  <p:txStyles>
    <p:titleStyle>
      <a:lvl1pPr algn="l" defTabSz="914400" rtl="0" eaLnBrk="1" latinLnBrk="0" hangingPunct="1">
        <a:lnSpc>
          <a:spcPct val="90000"/>
        </a:lnSpc>
        <a:spcBef>
          <a:spcPct val="0"/>
        </a:spcBef>
        <a:buNone/>
        <a:defRPr sz="4000" kern="120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2000" kern="1200" spc="300">
          <a:solidFill>
            <a:schemeClr val="tx1"/>
          </a:solidFill>
          <a:latin typeface="Poppins" panose="000005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166">
          <p15:clr>
            <a:srgbClr val="F26B43"/>
          </p15:clr>
        </p15:guide>
        <p15:guide id="4" pos="7514">
          <p15:clr>
            <a:srgbClr val="F26B43"/>
          </p15:clr>
        </p15:guide>
        <p15:guide id="5" orient="horz" pos="164">
          <p15:clr>
            <a:srgbClr val="F26B43"/>
          </p15:clr>
        </p15:guide>
        <p15:guide id="6" orient="horz" pos="4156">
          <p15:clr>
            <a:srgbClr val="F26B43"/>
          </p15:clr>
        </p15:guide>
        <p15:guide id="7" orient="horz" pos="380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mohammad.sheikh@studenti.polito.it"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hyperlink" Target="mailto:mohammad.sheikh@studenti.polito.it"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mailto:mohammad.sheikh@studenti.polito.it"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mailto:mohammad.sheikh@studenti.polito.it"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mohammad.sheikh@studenti.polito.it" TargetMode="Externa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hdphoto" Target="../media/hdphoto3.wdp"/><Relationship Id="rId3" Type="http://schemas.openxmlformats.org/officeDocument/2006/relationships/image" Target="../media/image20.png"/><Relationship Id="rId7" Type="http://schemas.openxmlformats.org/officeDocument/2006/relationships/image" Target="../media/image24.gif"/><Relationship Id="rId12"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microsoft.com/office/2007/relationships/hdphoto" Target="../media/hdphoto1.wdp"/><Relationship Id="rId14" Type="http://schemas.microsoft.com/office/2007/relationships/hdphoto" Target="../media/hdphoto4.wdp"/></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7.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hdphoto" Target="../media/hdphoto3.wdp"/><Relationship Id="rId3" Type="http://schemas.openxmlformats.org/officeDocument/2006/relationships/image" Target="../media/image20.png"/><Relationship Id="rId7" Type="http://schemas.openxmlformats.org/officeDocument/2006/relationships/image" Target="../media/image24.gif"/><Relationship Id="rId12"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microsoft.com/office/2007/relationships/hdphoto" Target="../media/hdphoto1.wdp"/><Relationship Id="rId14" Type="http://schemas.microsoft.com/office/2007/relationships/hdphoto" Target="../media/hdphoto4.wdp"/></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hdphoto" Target="../media/hdphoto3.wdp"/><Relationship Id="rId3" Type="http://schemas.openxmlformats.org/officeDocument/2006/relationships/image" Target="../media/image20.png"/><Relationship Id="rId7" Type="http://schemas.openxmlformats.org/officeDocument/2006/relationships/image" Target="../media/image24.gif"/><Relationship Id="rId12"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microsoft.com/office/2007/relationships/hdphoto" Target="../media/hdphoto1.wdp"/><Relationship Id="rId14" Type="http://schemas.microsoft.com/office/2007/relationships/hdphoto" Target="../media/hdphoto4.wdp"/></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13" Type="http://schemas.microsoft.com/office/2007/relationships/hdphoto" Target="../media/hdphoto3.wdp"/><Relationship Id="rId3" Type="http://schemas.openxmlformats.org/officeDocument/2006/relationships/image" Target="../media/image20.png"/><Relationship Id="rId7" Type="http://schemas.openxmlformats.org/officeDocument/2006/relationships/image" Target="../media/image24.gif"/><Relationship Id="rId12"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microsoft.com/office/2007/relationships/hdphoto" Target="../media/hdphoto1.wdp"/><Relationship Id="rId14" Type="http://schemas.microsoft.com/office/2007/relationships/hdphoto" Target="../media/hdphoto4.wdp"/></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31.png"/><Relationship Id="rId4" Type="http://schemas.openxmlformats.org/officeDocument/2006/relationships/image" Target="../media/image21.png"/><Relationship Id="rId9"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31.png"/><Relationship Id="rId4" Type="http://schemas.openxmlformats.org/officeDocument/2006/relationships/image" Target="../media/image21.png"/><Relationship Id="rId9" Type="http://schemas.openxmlformats.org/officeDocument/2006/relationships/image" Target="../media/image30.png"/></Relationships>
</file>

<file path=ppt/slides/_rels/slide3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31.png"/><Relationship Id="rId4" Type="http://schemas.openxmlformats.org/officeDocument/2006/relationships/image" Target="../media/image21.png"/><Relationship Id="rId9"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hyperlink" Target="https://www.researchgate.net/figure/Classical-k-fold-cross-validation-vs-time-series-split-cross-validation_fig1_355889701" TargetMode="External"/></Relationships>
</file>

<file path=ppt/slides/_rels/slide4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0.png"/><Relationship Id="rId7" Type="http://schemas.openxmlformats.org/officeDocument/2006/relationships/image" Target="../media/image24.gif"/><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8" Type="http://schemas.openxmlformats.org/officeDocument/2006/relationships/hyperlink" Target="https://doi.org/10.1016/j.compag.2024.109698" TargetMode="External"/><Relationship Id="rId13" Type="http://schemas.openxmlformats.org/officeDocument/2006/relationships/image" Target="../media/image22.png"/><Relationship Id="rId3" Type="http://schemas.openxmlformats.org/officeDocument/2006/relationships/hyperlink" Target="http://doi.org/10.1017/S175173111000090X" TargetMode="External"/><Relationship Id="rId7" Type="http://schemas.openxmlformats.org/officeDocument/2006/relationships/hyperlink" Target="https://doi.org/10.1016/j.biosystemseng.2022.02.013" TargetMode="External"/><Relationship Id="rId12" Type="http://schemas.openxmlformats.org/officeDocument/2006/relationships/hyperlink" Target="https://doi-org.ezproxy.biblio.polito.it/10.1080/01621459.2018.1448825" TargetMode="External"/><Relationship Id="rId2" Type="http://schemas.openxmlformats.org/officeDocument/2006/relationships/image" Target="../media/image20.png"/><Relationship Id="rId16" Type="http://schemas.openxmlformats.org/officeDocument/2006/relationships/image" Target="../media/image21.png"/><Relationship Id="rId1" Type="http://schemas.openxmlformats.org/officeDocument/2006/relationships/slideLayout" Target="../slideLayouts/slideLayout9.xml"/><Relationship Id="rId6" Type="http://schemas.openxmlformats.org/officeDocument/2006/relationships/hyperlink" Target="https://otexts.com/fpp3/" TargetMode="External"/><Relationship Id="rId11" Type="http://schemas.openxmlformats.org/officeDocument/2006/relationships/hyperlink" Target="https://doi.org/10.1016/j.csda.2011.03.006" TargetMode="External"/><Relationship Id="rId5" Type="http://schemas.openxmlformats.org/officeDocument/2006/relationships/hyperlink" Target="https://www.sciencedirect.com/science/article/pii/S0022030225008239" TargetMode="External"/><Relationship Id="rId15" Type="http://schemas.openxmlformats.org/officeDocument/2006/relationships/image" Target="../media/image24.gif"/><Relationship Id="rId10" Type="http://schemas.openxmlformats.org/officeDocument/2006/relationships/hyperlink" Target="https://doi.org/10.1016/j.jafr.2024.101021" TargetMode="External"/><Relationship Id="rId4" Type="http://schemas.openxmlformats.org/officeDocument/2006/relationships/hyperlink" Target="http://doi.org/10.14202/vetworld.2016.235-244" TargetMode="External"/><Relationship Id="rId9" Type="http://schemas.openxmlformats.org/officeDocument/2006/relationships/hyperlink" Target="https://doi.org/10.1016/j.patcog.2021.108441" TargetMode="External"/><Relationship Id="rId14" Type="http://schemas.openxmlformats.org/officeDocument/2006/relationships/image" Target="../media/image23.png"/></Relationships>
</file>

<file path=ppt/slides/_rels/slide5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doi-org.ezproxy.biblio.polito.it/10.1080/01605682.2025.2566323" TargetMode="External"/><Relationship Id="rId7" Type="http://schemas.openxmlformats.org/officeDocument/2006/relationships/image" Target="../media/image24.gif"/><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doi.org/10.3390/electronics14173513"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hyperlink" Target="mailto:luca.barbierato@polito.it" TargetMode="Externa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a:extLst>
              <a:ext uri="{FF2B5EF4-FFF2-40B4-BE49-F238E27FC236}">
                <a16:creationId xmlns:a16="http://schemas.microsoft.com/office/drawing/2014/main" id="{58957977-25F6-6147-A328-F518E0A2B0CD}"/>
              </a:ext>
            </a:extLst>
          </p:cNvPr>
          <p:cNvSpPr>
            <a:spLocks noGrp="1"/>
          </p:cNvSpPr>
          <p:nvPr>
            <p:ph type="body" sz="quarter" idx="11"/>
          </p:nvPr>
        </p:nvSpPr>
        <p:spPr>
          <a:xfrm>
            <a:off x="279698" y="888227"/>
            <a:ext cx="11505901" cy="3024000"/>
          </a:xfrm>
        </p:spPr>
        <p:txBody>
          <a:bodyPr anchor="ctr">
            <a:normAutofit/>
          </a:bodyPr>
          <a:lstStyle/>
          <a:p>
            <a:r>
              <a:rPr lang="en-US" sz="4000" b="1" dirty="0"/>
              <a:t>Predictive Analytics of Climate Stress Impact on the Italian Mediterranean Buffalo</a:t>
            </a:r>
          </a:p>
          <a:p>
            <a:r>
              <a:rPr lang="en-US" sz="2400" b="1" dirty="0"/>
              <a:t>Physiological and Productive Responses</a:t>
            </a:r>
          </a:p>
        </p:txBody>
      </p:sp>
      <p:sp>
        <p:nvSpPr>
          <p:cNvPr id="3" name="Segnaposto testo 2">
            <a:extLst>
              <a:ext uri="{FF2B5EF4-FFF2-40B4-BE49-F238E27FC236}">
                <a16:creationId xmlns:a16="http://schemas.microsoft.com/office/drawing/2014/main" id="{5FFE42D3-F4C1-0542-A5D5-F64C362A9D37}"/>
              </a:ext>
            </a:extLst>
          </p:cNvPr>
          <p:cNvSpPr>
            <a:spLocks noGrp="1"/>
          </p:cNvSpPr>
          <p:nvPr>
            <p:ph type="body" sz="quarter" idx="12"/>
          </p:nvPr>
        </p:nvSpPr>
        <p:spPr>
          <a:xfrm>
            <a:off x="9275886" y="4781075"/>
            <a:ext cx="2763714" cy="722589"/>
          </a:xfrm>
        </p:spPr>
        <p:txBody>
          <a:bodyPr anchor="ctr">
            <a:normAutofit/>
          </a:bodyPr>
          <a:lstStyle/>
          <a:p>
            <a:pPr algn="ctr"/>
            <a:r>
              <a:rPr lang="it-IT" sz="2000" b="1" dirty="0"/>
              <a:t>Mohammad Sheikh</a:t>
            </a:r>
          </a:p>
        </p:txBody>
      </p:sp>
      <p:pic>
        <p:nvPicPr>
          <p:cNvPr id="9" name="Picture 8">
            <a:extLst>
              <a:ext uri="{FF2B5EF4-FFF2-40B4-BE49-F238E27FC236}">
                <a16:creationId xmlns:a16="http://schemas.microsoft.com/office/drawing/2014/main" id="{135687C7-54CD-67CF-6E2C-A748E4823F7C}"/>
              </a:ext>
            </a:extLst>
          </p:cNvPr>
          <p:cNvPicPr>
            <a:picLocks noChangeAspect="1"/>
          </p:cNvPicPr>
          <p:nvPr/>
        </p:nvPicPr>
        <p:blipFill rotWithShape="1">
          <a:blip r:embed="rId3"/>
          <a:srcRect l="55403"/>
          <a:stretch/>
        </p:blipFill>
        <p:spPr>
          <a:xfrm>
            <a:off x="5204629" y="5561039"/>
            <a:ext cx="1590839" cy="856124"/>
          </a:xfrm>
          <a:prstGeom prst="rect">
            <a:avLst/>
          </a:prstGeom>
        </p:spPr>
      </p:pic>
      <p:sp>
        <p:nvSpPr>
          <p:cNvPr id="11" name="TextBox 10">
            <a:extLst>
              <a:ext uri="{FF2B5EF4-FFF2-40B4-BE49-F238E27FC236}">
                <a16:creationId xmlns:a16="http://schemas.microsoft.com/office/drawing/2014/main" id="{3318D630-6F19-3CA6-B35B-CBADA07415D3}"/>
              </a:ext>
            </a:extLst>
          </p:cNvPr>
          <p:cNvSpPr txBox="1"/>
          <p:nvPr/>
        </p:nvSpPr>
        <p:spPr>
          <a:xfrm>
            <a:off x="6795468" y="5939576"/>
            <a:ext cx="6096000" cy="646331"/>
          </a:xfrm>
          <a:prstGeom prst="rect">
            <a:avLst/>
          </a:prstGeom>
          <a:noFill/>
        </p:spPr>
        <p:txBody>
          <a:bodyPr wrap="square">
            <a:spAutoFit/>
          </a:bodyPr>
          <a:lstStyle/>
          <a:p>
            <a:r>
              <a:rPr lang="en-GB" dirty="0" err="1">
                <a:solidFill>
                  <a:schemeClr val="accent1"/>
                </a:solidFill>
              </a:rPr>
              <a:t>Dipartimento</a:t>
            </a:r>
            <a:r>
              <a:rPr lang="en-GB" dirty="0">
                <a:solidFill>
                  <a:schemeClr val="accent1"/>
                </a:solidFill>
              </a:rPr>
              <a:t> di </a:t>
            </a:r>
            <a:r>
              <a:rPr lang="en-GB" dirty="0" err="1">
                <a:solidFill>
                  <a:schemeClr val="accent1"/>
                </a:solidFill>
              </a:rPr>
              <a:t>Automatica</a:t>
            </a:r>
            <a:r>
              <a:rPr lang="en-GB" dirty="0">
                <a:solidFill>
                  <a:schemeClr val="accent1"/>
                </a:solidFill>
              </a:rPr>
              <a:t> e Informatica</a:t>
            </a:r>
          </a:p>
          <a:p>
            <a:endParaRPr lang="en-GB" dirty="0">
              <a:solidFill>
                <a:schemeClr val="accent1"/>
              </a:solidFill>
            </a:endParaRPr>
          </a:p>
        </p:txBody>
      </p:sp>
      <p:sp>
        <p:nvSpPr>
          <p:cNvPr id="13" name="TextBox 12">
            <a:extLst>
              <a:ext uri="{FF2B5EF4-FFF2-40B4-BE49-F238E27FC236}">
                <a16:creationId xmlns:a16="http://schemas.microsoft.com/office/drawing/2014/main" id="{F209F753-137C-55E6-5518-E19AAA51D047}"/>
              </a:ext>
            </a:extLst>
          </p:cNvPr>
          <p:cNvSpPr txBox="1"/>
          <p:nvPr/>
        </p:nvSpPr>
        <p:spPr>
          <a:xfrm>
            <a:off x="6795468" y="5600441"/>
            <a:ext cx="6096000" cy="338554"/>
          </a:xfrm>
          <a:prstGeom prst="rect">
            <a:avLst/>
          </a:prstGeom>
          <a:noFill/>
        </p:spPr>
        <p:txBody>
          <a:bodyPr wrap="square">
            <a:spAutoFit/>
          </a:bodyPr>
          <a:lstStyle/>
          <a:p>
            <a:r>
              <a:rPr lang="en-GB" sz="1600" b="1" dirty="0">
                <a:solidFill>
                  <a:schemeClr val="accent1"/>
                </a:solidFill>
              </a:rPr>
              <a:t>Department of Control and Computer Engineering</a:t>
            </a:r>
          </a:p>
        </p:txBody>
      </p:sp>
      <p:cxnSp>
        <p:nvCxnSpPr>
          <p:cNvPr id="15" name="Straight Connector 14">
            <a:extLst>
              <a:ext uri="{FF2B5EF4-FFF2-40B4-BE49-F238E27FC236}">
                <a16:creationId xmlns:a16="http://schemas.microsoft.com/office/drawing/2014/main" id="{EF452FE7-E166-BF1B-2940-6137B6999FC1}"/>
              </a:ext>
            </a:extLst>
          </p:cNvPr>
          <p:cNvCxnSpPr>
            <a:cxnSpLocks/>
          </p:cNvCxnSpPr>
          <p:nvPr/>
        </p:nvCxnSpPr>
        <p:spPr>
          <a:xfrm>
            <a:off x="5287064" y="5406887"/>
            <a:ext cx="6752536"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egnaposto testo 2">
            <a:extLst>
              <a:ext uri="{FF2B5EF4-FFF2-40B4-BE49-F238E27FC236}">
                <a16:creationId xmlns:a16="http://schemas.microsoft.com/office/drawing/2014/main" id="{C6D7D03C-9B5A-1FDC-B092-BC0A1CE96270}"/>
              </a:ext>
            </a:extLst>
          </p:cNvPr>
          <p:cNvSpPr txBox="1">
            <a:spLocks/>
          </p:cNvSpPr>
          <p:nvPr/>
        </p:nvSpPr>
        <p:spPr>
          <a:xfrm>
            <a:off x="5195268" y="4163420"/>
            <a:ext cx="3200400" cy="1825681"/>
          </a:xfrm>
          <a:prstGeom prst="rect">
            <a:avLst/>
          </a:prstGeom>
        </p:spPr>
        <p:txBody>
          <a:bodyPr anchor="ctr">
            <a:normAutofit/>
          </a:bodyPr>
          <a:lstStyle>
            <a:lvl1pPr marL="0" indent="0" algn="l" defTabSz="914400" rtl="0" eaLnBrk="1" latinLnBrk="0" hangingPunct="1">
              <a:lnSpc>
                <a:spcPct val="90000"/>
              </a:lnSpc>
              <a:spcBef>
                <a:spcPts val="1000"/>
              </a:spcBef>
              <a:buFontTx/>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000" b="1" dirty="0"/>
              <a:t>Prof. Luca Barbierato</a:t>
            </a:r>
          </a:p>
          <a:p>
            <a:r>
              <a:rPr lang="it-IT" sz="2000" b="1" dirty="0"/>
              <a:t>Prof. Matteo </a:t>
            </a:r>
            <a:r>
              <a:rPr lang="it-IT" sz="2000" b="1" dirty="0" err="1"/>
              <a:t>Santinello</a:t>
            </a:r>
            <a:r>
              <a:rPr lang="it-IT" sz="2000" b="1" dirty="0"/>
              <a:t>	</a:t>
            </a:r>
          </a:p>
        </p:txBody>
      </p:sp>
    </p:spTree>
    <p:extLst>
      <p:ext uri="{BB962C8B-B14F-4D97-AF65-F5344CB8AC3E}">
        <p14:creationId xmlns:p14="http://schemas.microsoft.com/office/powerpoint/2010/main" val="413776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68B02-597A-AAFA-A259-E46F9582F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9A213-DB91-F44F-C9BD-7747155879E4}"/>
              </a:ext>
            </a:extLst>
          </p:cNvPr>
          <p:cNvSpPr>
            <a:spLocks noGrp="1"/>
          </p:cNvSpPr>
          <p:nvPr>
            <p:ph type="title"/>
          </p:nvPr>
        </p:nvSpPr>
        <p:spPr/>
        <p:txBody>
          <a:bodyPr>
            <a:normAutofit fontScale="90000"/>
          </a:bodyPr>
          <a:lstStyle/>
          <a:p>
            <a:r>
              <a:rPr lang="en-US" dirty="0"/>
              <a:t>Jiang et al. (2021)</a:t>
            </a:r>
          </a:p>
        </p:txBody>
      </p:sp>
      <p:sp>
        <p:nvSpPr>
          <p:cNvPr id="3" name="Content Placeholder 2">
            <a:extLst>
              <a:ext uri="{FF2B5EF4-FFF2-40B4-BE49-F238E27FC236}">
                <a16:creationId xmlns:a16="http://schemas.microsoft.com/office/drawing/2014/main" id="{DA4827CC-C584-1554-BEB4-1672F41388DD}"/>
              </a:ext>
            </a:extLst>
          </p:cNvPr>
          <p:cNvSpPr>
            <a:spLocks noGrp="1"/>
          </p:cNvSpPr>
          <p:nvPr>
            <p:ph idx="1"/>
          </p:nvPr>
        </p:nvSpPr>
        <p:spPr/>
        <p:txBody>
          <a:bodyPr>
            <a:normAutofit fontScale="62500" lnSpcReduction="20000"/>
          </a:bodyPr>
          <a:lstStyle/>
          <a:p>
            <a:r>
              <a:rPr lang="en-US" dirty="0">
                <a:solidFill>
                  <a:srgbClr val="002B49"/>
                </a:solidFill>
              </a:rPr>
              <a:t>They introduced a </a:t>
            </a:r>
            <a:r>
              <a:rPr lang="en-US" b="1" dirty="0">
                <a:solidFill>
                  <a:srgbClr val="002B49"/>
                </a:solidFill>
              </a:rPr>
              <a:t>hybrid dual-radio mesh network</a:t>
            </a:r>
            <a:r>
              <a:rPr lang="en-US" dirty="0">
                <a:solidFill>
                  <a:srgbClr val="002B49"/>
                </a:solidFill>
              </a:rPr>
              <a:t> that integrates </a:t>
            </a:r>
            <a:r>
              <a:rPr lang="en-US" b="1" dirty="0">
                <a:solidFill>
                  <a:srgbClr val="002B49"/>
                </a:solidFill>
              </a:rPr>
              <a:t>sub-GHz LoRa</a:t>
            </a:r>
            <a:r>
              <a:rPr lang="en-US" dirty="0">
                <a:solidFill>
                  <a:srgbClr val="002B49"/>
                </a:solidFill>
              </a:rPr>
              <a:t> for long-range communication and </a:t>
            </a:r>
            <a:r>
              <a:rPr lang="en-US" b="1" dirty="0">
                <a:solidFill>
                  <a:srgbClr val="002B49"/>
                </a:solidFill>
              </a:rPr>
              <a:t>2.4 GHz ANT</a:t>
            </a:r>
            <a:r>
              <a:rPr lang="en-US" dirty="0">
                <a:solidFill>
                  <a:srgbClr val="002B49"/>
                </a:solidFill>
              </a:rPr>
              <a:t> for local mesh connectivity. The two technologies are coupled through an </a:t>
            </a:r>
            <a:r>
              <a:rPr lang="en-US" b="1" dirty="0">
                <a:solidFill>
                  <a:srgbClr val="002B49"/>
                </a:solidFill>
              </a:rPr>
              <a:t>encapsulation mechanism</a:t>
            </a:r>
            <a:r>
              <a:rPr lang="en-US" dirty="0">
                <a:solidFill>
                  <a:srgbClr val="002B49"/>
                </a:solidFill>
              </a:rPr>
              <a:t>, where short-range mesh frames are </a:t>
            </a:r>
            <a:r>
              <a:rPr lang="en-US" b="1" dirty="0" err="1">
                <a:solidFill>
                  <a:srgbClr val="002B49"/>
                </a:solidFill>
              </a:rPr>
              <a:t>tunnelled</a:t>
            </a:r>
            <a:r>
              <a:rPr lang="en-US" b="1" dirty="0">
                <a:solidFill>
                  <a:srgbClr val="002B49"/>
                </a:solidFill>
              </a:rPr>
              <a:t> inside LoRa packets</a:t>
            </a:r>
            <a:r>
              <a:rPr lang="en-US" dirty="0">
                <a:solidFill>
                  <a:srgbClr val="002B49"/>
                </a:solidFill>
              </a:rPr>
              <a:t>, enabling seamless forwarding between tiers.</a:t>
            </a:r>
          </a:p>
          <a:p>
            <a:r>
              <a:rPr lang="en-US" b="1" dirty="0">
                <a:solidFill>
                  <a:srgbClr val="002B49"/>
                </a:solidFill>
              </a:rPr>
              <a:t>Protocol Encapsulation: </a:t>
            </a:r>
            <a:r>
              <a:rPr lang="en-US" dirty="0">
                <a:solidFill>
                  <a:srgbClr val="002B49"/>
                </a:solidFill>
              </a:rPr>
              <a:t>ANT mesh packets are encapsulated as payloads within LoRa frames. This allows data to traverse the long-range LoRa backhaul </a:t>
            </a:r>
            <a:r>
              <a:rPr lang="en-US" b="1" dirty="0">
                <a:solidFill>
                  <a:srgbClr val="002B49"/>
                </a:solidFill>
              </a:rPr>
              <a:t>without modifying the ANT protocol stack</a:t>
            </a:r>
            <a:r>
              <a:rPr lang="en-US" dirty="0">
                <a:solidFill>
                  <a:srgbClr val="002B49"/>
                </a:solidFill>
              </a:rPr>
              <a:t>.</a:t>
            </a:r>
          </a:p>
          <a:p>
            <a:r>
              <a:rPr lang="en-US" b="1" dirty="0">
                <a:solidFill>
                  <a:srgbClr val="002B49"/>
                </a:solidFill>
              </a:rPr>
              <a:t>Dual-Radio Bridging: </a:t>
            </a:r>
            <a:r>
              <a:rPr lang="en-US" dirty="0">
                <a:solidFill>
                  <a:srgbClr val="002B49"/>
                </a:solidFill>
              </a:rPr>
              <a:t>Nodes equipped with both radios manage context switching between mesh (ANT) and LPWAN (LoRa) interfaces. The gateway decapsulates incoming LoRa packets and reinjects them into the local mesh layer.</a:t>
            </a:r>
          </a:p>
          <a:p>
            <a:r>
              <a:rPr lang="en-US" b="1" dirty="0">
                <a:solidFill>
                  <a:srgbClr val="002B49"/>
                </a:solidFill>
              </a:rPr>
              <a:t>TDMA-Based Coordination: </a:t>
            </a:r>
            <a:r>
              <a:rPr lang="en-US" dirty="0">
                <a:solidFill>
                  <a:srgbClr val="002B49"/>
                </a:solidFill>
              </a:rPr>
              <a:t>Time Division Multiple Access scheduling synchronizes short-range mesh communication and LoRa transmissions, preventing collisions and improving energy efficiency.</a:t>
            </a:r>
          </a:p>
          <a:p>
            <a:r>
              <a:rPr lang="en-US" b="1" dirty="0">
                <a:solidFill>
                  <a:srgbClr val="002B49"/>
                </a:solidFill>
              </a:rPr>
              <a:t>Hybrid Routing: </a:t>
            </a:r>
            <a:r>
              <a:rPr lang="en-US" dirty="0">
                <a:solidFill>
                  <a:srgbClr val="002B49"/>
                </a:solidFill>
              </a:rPr>
              <a:t>Local data aggregation occurs within the mesh before encapsulated forwarding over LoRa to reduce channel load.</a:t>
            </a:r>
          </a:p>
          <a:p>
            <a:r>
              <a:rPr lang="en-US" b="1" dirty="0">
                <a:solidFill>
                  <a:srgbClr val="002B49"/>
                </a:solidFill>
              </a:rPr>
              <a:t>Results: </a:t>
            </a:r>
            <a:r>
              <a:rPr lang="en-US" dirty="0">
                <a:solidFill>
                  <a:srgbClr val="002B49"/>
                </a:solidFill>
              </a:rPr>
              <a:t>Achieved </a:t>
            </a:r>
            <a:r>
              <a:rPr lang="en-US" b="1" dirty="0">
                <a:solidFill>
                  <a:srgbClr val="002B49"/>
                </a:solidFill>
              </a:rPr>
              <a:t>seamless protocol interoperability</a:t>
            </a:r>
            <a:r>
              <a:rPr lang="en-US" dirty="0">
                <a:solidFill>
                  <a:srgbClr val="002B49"/>
                </a:solidFill>
              </a:rPr>
              <a:t> without redesigning either the PHY or the MAC layer. Demonstrated </a:t>
            </a:r>
            <a:r>
              <a:rPr lang="en-US" b="1" dirty="0">
                <a:solidFill>
                  <a:srgbClr val="002B49"/>
                </a:solidFill>
              </a:rPr>
              <a:t>extended coverage (≈ 15 km)</a:t>
            </a:r>
            <a:r>
              <a:rPr lang="en-US" dirty="0">
                <a:solidFill>
                  <a:srgbClr val="002B49"/>
                </a:solidFill>
              </a:rPr>
              <a:t> and </a:t>
            </a:r>
            <a:r>
              <a:rPr lang="en-US" b="1" dirty="0">
                <a:solidFill>
                  <a:srgbClr val="002B49"/>
                </a:solidFill>
              </a:rPr>
              <a:t>stable multi-hop performance</a:t>
            </a:r>
            <a:r>
              <a:rPr lang="en-US" dirty="0">
                <a:solidFill>
                  <a:srgbClr val="002B49"/>
                </a:solidFill>
              </a:rPr>
              <a:t>. Improved energy use and throughput due to efficient encapsulation and coordinated scheduling</a:t>
            </a:r>
          </a:p>
          <a:p>
            <a:endParaRPr lang="en-US" dirty="0">
              <a:solidFill>
                <a:srgbClr val="002B49"/>
              </a:solidFill>
            </a:endParaRPr>
          </a:p>
        </p:txBody>
      </p:sp>
      <p:sp>
        <p:nvSpPr>
          <p:cNvPr id="4" name="TextBox 3">
            <a:extLst>
              <a:ext uri="{FF2B5EF4-FFF2-40B4-BE49-F238E27FC236}">
                <a16:creationId xmlns:a16="http://schemas.microsoft.com/office/drawing/2014/main" id="{EA0489DA-B069-BBA7-FA01-4077BDC8F00E}"/>
              </a:ext>
            </a:extLst>
          </p:cNvPr>
          <p:cNvSpPr txBox="1"/>
          <p:nvPr/>
        </p:nvSpPr>
        <p:spPr>
          <a:xfrm>
            <a:off x="5568072" y="6374096"/>
            <a:ext cx="6623928" cy="461665"/>
          </a:xfrm>
          <a:prstGeom prst="rect">
            <a:avLst/>
          </a:prstGeom>
          <a:solidFill>
            <a:srgbClr val="002B49"/>
          </a:solidFill>
        </p:spPr>
        <p:txBody>
          <a:bodyPr wrap="none" rtlCol="0">
            <a:spAutoFit/>
          </a:bodyPr>
          <a:lstStyle/>
          <a:p>
            <a:pPr algn="r"/>
            <a:r>
              <a:rPr lang="en-US" sz="1200" dirty="0">
                <a:solidFill>
                  <a:schemeClr val="bg1">
                    <a:lumMod val="95000"/>
                  </a:schemeClr>
                </a:solidFill>
                <a:hlinkClick r:id="rId3">
                  <a:extLst>
                    <a:ext uri="{A12FA001-AC4F-418D-AE19-62706E023703}">
                      <ahyp:hlinkClr xmlns:ahyp="http://schemas.microsoft.com/office/drawing/2018/hyperlinkcolor" val="tx"/>
                    </a:ext>
                  </a:extLst>
                </a:hlinkClick>
              </a:rPr>
              <a:t>mohammad</a:t>
            </a:r>
            <a:r>
              <a:rPr lang="en-IT" sz="1200">
                <a:solidFill>
                  <a:schemeClr val="bg1">
                    <a:lumMod val="95000"/>
                  </a:schemeClr>
                </a:solidFill>
                <a:hlinkClick r:id="rId3">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3">
                  <a:extLst>
                    <a:ext uri="{A12FA001-AC4F-418D-AE19-62706E023703}">
                      <ahyp:hlinkClr xmlns:ahyp="http://schemas.microsoft.com/office/drawing/2018/hyperlinkcolor" val="tx"/>
                    </a:ext>
                  </a:extLst>
                </a:hlinkClick>
              </a:rPr>
              <a:t>sheikh</a:t>
            </a:r>
            <a:r>
              <a:rPr lang="en-IT" sz="1200">
                <a:solidFill>
                  <a:schemeClr val="bg1">
                    <a:lumMod val="95000"/>
                  </a:schemeClr>
                </a:solidFill>
                <a:hlinkClick r:id="rId3">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3">
                  <a:extLst>
                    <a:ext uri="{A12FA001-AC4F-418D-AE19-62706E023703}">
                      <ahyp:hlinkClr xmlns:ahyp="http://schemas.microsoft.com/office/drawing/2018/hyperlinkcolor" val="tx"/>
                    </a:ext>
                  </a:extLst>
                </a:hlinkClick>
              </a:rPr>
              <a:t>studenti.</a:t>
            </a:r>
            <a:r>
              <a:rPr lang="en-IT" sz="1200">
                <a:solidFill>
                  <a:schemeClr val="bg1">
                    <a:lumMod val="95000"/>
                  </a:schemeClr>
                </a:solidFill>
                <a:hlinkClick r:id="rId3">
                  <a:extLst>
                    <a:ext uri="{A12FA001-AC4F-418D-AE19-62706E023703}">
                      <ahyp:hlinkClr xmlns:ahyp="http://schemas.microsoft.com/office/drawing/2018/hyperlinkcolor" val="tx"/>
                    </a:ext>
                  </a:extLst>
                </a:hlinkClick>
              </a:rPr>
              <a:t>polito</a:t>
            </a:r>
            <a:r>
              <a:rPr lang="en-IT" sz="1200" dirty="0">
                <a:solidFill>
                  <a:schemeClr val="bg1">
                    <a:lumMod val="95000"/>
                  </a:schemeClr>
                </a:solidFill>
                <a:hlinkClick r:id="rId3">
                  <a:extLst>
                    <a:ext uri="{A12FA001-AC4F-418D-AE19-62706E023703}">
                      <ahyp:hlinkClr xmlns:ahyp="http://schemas.microsoft.com/office/drawing/2018/hyperlinkcolor" val="tx"/>
                    </a:ext>
                  </a:extLst>
                </a:hlinkClick>
              </a:rPr>
              <a:t>.it</a:t>
            </a:r>
            <a:endParaRPr lang="en-IT" sz="1200" dirty="0">
              <a:solidFill>
                <a:schemeClr val="bg1">
                  <a:lumMod val="95000"/>
                </a:schemeClr>
              </a:solidFill>
            </a:endParaRPr>
          </a:p>
          <a:p>
            <a:pPr algn="r"/>
            <a:r>
              <a:rPr lang="en-US" sz="1200" dirty="0">
                <a:solidFill>
                  <a:schemeClr val="bg1">
                    <a:lumMod val="95000"/>
                  </a:schemeClr>
                </a:solidFill>
              </a:rPr>
              <a:t>Predictive Analytics of Climate Stress Impact on the Italian Mediterranean Buffalo</a:t>
            </a:r>
          </a:p>
        </p:txBody>
      </p:sp>
      <p:sp>
        <p:nvSpPr>
          <p:cNvPr id="6" name="TextBox 5">
            <a:extLst>
              <a:ext uri="{FF2B5EF4-FFF2-40B4-BE49-F238E27FC236}">
                <a16:creationId xmlns:a16="http://schemas.microsoft.com/office/drawing/2014/main" id="{A2E57496-7311-BCCC-04E6-105D873FBDD9}"/>
              </a:ext>
            </a:extLst>
          </p:cNvPr>
          <p:cNvSpPr txBox="1"/>
          <p:nvPr/>
        </p:nvSpPr>
        <p:spPr>
          <a:xfrm>
            <a:off x="643982" y="5688736"/>
            <a:ext cx="11243217" cy="646331"/>
          </a:xfrm>
          <a:prstGeom prst="rect">
            <a:avLst/>
          </a:prstGeom>
          <a:noFill/>
        </p:spPr>
        <p:txBody>
          <a:bodyPr wrap="square">
            <a:spAutoFit/>
          </a:bodyPr>
          <a:lstStyle/>
          <a:p>
            <a:r>
              <a:rPr lang="en-US" b="0" i="0" dirty="0">
                <a:solidFill>
                  <a:srgbClr val="333333"/>
                </a:solidFill>
                <a:effectLst/>
                <a:latin typeface="HelveticaNeue Regular"/>
              </a:rPr>
              <a:t>X. Jiang </a:t>
            </a:r>
            <a:r>
              <a:rPr lang="en-US" b="0" i="1" dirty="0">
                <a:solidFill>
                  <a:srgbClr val="333333"/>
                </a:solidFill>
                <a:effectLst/>
                <a:latin typeface="HelveticaNeue Regular"/>
              </a:rPr>
              <a:t>et al</a:t>
            </a:r>
            <a:r>
              <a:rPr lang="en-US" b="0" i="0" dirty="0">
                <a:solidFill>
                  <a:srgbClr val="333333"/>
                </a:solidFill>
                <a:effectLst/>
                <a:latin typeface="HelveticaNeue Regular"/>
              </a:rPr>
              <a:t>., "Hybrid Low-Power Wide-Area Mesh Network for IoT Applications," in </a:t>
            </a:r>
            <a:r>
              <a:rPr lang="en-US" b="0" i="1" dirty="0">
                <a:solidFill>
                  <a:srgbClr val="333333"/>
                </a:solidFill>
                <a:effectLst/>
                <a:latin typeface="HelveticaNeue Regular"/>
              </a:rPr>
              <a:t>IEEE Internet of Things Journal</a:t>
            </a:r>
            <a:r>
              <a:rPr lang="en-US" b="0" i="0" dirty="0">
                <a:solidFill>
                  <a:srgbClr val="333333"/>
                </a:solidFill>
                <a:effectLst/>
                <a:latin typeface="HelveticaNeue Regular"/>
              </a:rPr>
              <a:t>, vol. 8, no. 2, pp. 901-915, 15 Jan.15, 2021, </a:t>
            </a:r>
            <a:r>
              <a:rPr lang="en-US" b="0" i="0" dirty="0" err="1">
                <a:solidFill>
                  <a:srgbClr val="333333"/>
                </a:solidFill>
                <a:effectLst/>
                <a:latin typeface="HelveticaNeue Regular"/>
              </a:rPr>
              <a:t>doi</a:t>
            </a:r>
            <a:r>
              <a:rPr lang="en-US" b="0" i="0" dirty="0">
                <a:solidFill>
                  <a:srgbClr val="333333"/>
                </a:solidFill>
                <a:effectLst/>
                <a:latin typeface="HelveticaNeue Regular"/>
              </a:rPr>
              <a:t>: 10.1109/JIOT.2020.3009228.</a:t>
            </a:r>
            <a:endParaRPr lang="en-US" dirty="0"/>
          </a:p>
        </p:txBody>
      </p:sp>
    </p:spTree>
    <p:extLst>
      <p:ext uri="{BB962C8B-B14F-4D97-AF65-F5344CB8AC3E}">
        <p14:creationId xmlns:p14="http://schemas.microsoft.com/office/powerpoint/2010/main" val="555698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F4D8-47C2-E7AD-5346-878C5F08C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EB7FB-5D26-B93D-8314-2ED8D868A7EA}"/>
              </a:ext>
            </a:extLst>
          </p:cNvPr>
          <p:cNvSpPr>
            <a:spLocks noGrp="1"/>
          </p:cNvSpPr>
          <p:nvPr>
            <p:ph type="title"/>
          </p:nvPr>
        </p:nvSpPr>
        <p:spPr/>
        <p:txBody>
          <a:bodyPr>
            <a:normAutofit fontScale="90000"/>
          </a:bodyPr>
          <a:lstStyle/>
          <a:p>
            <a:r>
              <a:rPr lang="en-US" dirty="0"/>
              <a:t>Milk predictions of buffalo</a:t>
            </a:r>
          </a:p>
        </p:txBody>
      </p:sp>
      <p:sp>
        <p:nvSpPr>
          <p:cNvPr id="3" name="Content Placeholder 2">
            <a:extLst>
              <a:ext uri="{FF2B5EF4-FFF2-40B4-BE49-F238E27FC236}">
                <a16:creationId xmlns:a16="http://schemas.microsoft.com/office/drawing/2014/main" id="{D9FF3D55-CD44-C28A-7E2F-8033248A7C6B}"/>
              </a:ext>
            </a:extLst>
          </p:cNvPr>
          <p:cNvSpPr>
            <a:spLocks noGrp="1"/>
          </p:cNvSpPr>
          <p:nvPr>
            <p:ph idx="1"/>
          </p:nvPr>
        </p:nvSpPr>
        <p:spPr/>
        <p:txBody>
          <a:bodyPr>
            <a:normAutofit fontScale="62500" lnSpcReduction="20000"/>
          </a:bodyPr>
          <a:lstStyle/>
          <a:p>
            <a:r>
              <a:rPr lang="en-US" dirty="0">
                <a:solidFill>
                  <a:srgbClr val="002B49"/>
                </a:solidFill>
              </a:rPr>
              <a:t>They introduced a </a:t>
            </a:r>
            <a:r>
              <a:rPr lang="en-US" b="1" dirty="0">
                <a:solidFill>
                  <a:srgbClr val="002B49"/>
                </a:solidFill>
              </a:rPr>
              <a:t>hybrid dual-radio mesh network</a:t>
            </a:r>
            <a:r>
              <a:rPr lang="en-US" dirty="0">
                <a:solidFill>
                  <a:srgbClr val="002B49"/>
                </a:solidFill>
              </a:rPr>
              <a:t> that integrates </a:t>
            </a:r>
            <a:r>
              <a:rPr lang="en-US" b="1" dirty="0">
                <a:solidFill>
                  <a:srgbClr val="002B49"/>
                </a:solidFill>
              </a:rPr>
              <a:t>sub-GHz LoRa</a:t>
            </a:r>
            <a:r>
              <a:rPr lang="en-US" dirty="0">
                <a:solidFill>
                  <a:srgbClr val="002B49"/>
                </a:solidFill>
              </a:rPr>
              <a:t> for long-range communication and </a:t>
            </a:r>
            <a:r>
              <a:rPr lang="en-US" b="1" dirty="0">
                <a:solidFill>
                  <a:srgbClr val="002B49"/>
                </a:solidFill>
              </a:rPr>
              <a:t>2.4 GHz ANT</a:t>
            </a:r>
            <a:r>
              <a:rPr lang="en-US" dirty="0">
                <a:solidFill>
                  <a:srgbClr val="002B49"/>
                </a:solidFill>
              </a:rPr>
              <a:t> for local mesh connectivity. The two technologies are coupled through an </a:t>
            </a:r>
            <a:r>
              <a:rPr lang="en-US" b="1" dirty="0">
                <a:solidFill>
                  <a:srgbClr val="002B49"/>
                </a:solidFill>
              </a:rPr>
              <a:t>encapsulation mechanism</a:t>
            </a:r>
            <a:r>
              <a:rPr lang="en-US" dirty="0">
                <a:solidFill>
                  <a:srgbClr val="002B49"/>
                </a:solidFill>
              </a:rPr>
              <a:t>, where short-range mesh frames are </a:t>
            </a:r>
            <a:r>
              <a:rPr lang="en-US" b="1" dirty="0" err="1">
                <a:solidFill>
                  <a:srgbClr val="002B49"/>
                </a:solidFill>
              </a:rPr>
              <a:t>tunnelled</a:t>
            </a:r>
            <a:r>
              <a:rPr lang="en-US" b="1" dirty="0">
                <a:solidFill>
                  <a:srgbClr val="002B49"/>
                </a:solidFill>
              </a:rPr>
              <a:t> inside LoRa packets</a:t>
            </a:r>
            <a:r>
              <a:rPr lang="en-US" dirty="0">
                <a:solidFill>
                  <a:srgbClr val="002B49"/>
                </a:solidFill>
              </a:rPr>
              <a:t>, enabling seamless forwarding between tiers.</a:t>
            </a:r>
          </a:p>
          <a:p>
            <a:r>
              <a:rPr lang="en-US" b="1" dirty="0">
                <a:solidFill>
                  <a:srgbClr val="002B49"/>
                </a:solidFill>
              </a:rPr>
              <a:t>Protocol Encapsulation: </a:t>
            </a:r>
            <a:r>
              <a:rPr lang="en-US" dirty="0">
                <a:solidFill>
                  <a:srgbClr val="002B49"/>
                </a:solidFill>
              </a:rPr>
              <a:t>ANT mesh packets are encapsulated as payloads within LoRa frames. This allows data to traverse the long-range LoRa backhaul </a:t>
            </a:r>
            <a:r>
              <a:rPr lang="en-US" b="1" dirty="0">
                <a:solidFill>
                  <a:srgbClr val="002B49"/>
                </a:solidFill>
              </a:rPr>
              <a:t>without modifying the ANT protocol stack</a:t>
            </a:r>
            <a:r>
              <a:rPr lang="en-US" dirty="0">
                <a:solidFill>
                  <a:srgbClr val="002B49"/>
                </a:solidFill>
              </a:rPr>
              <a:t>.</a:t>
            </a:r>
          </a:p>
          <a:p>
            <a:r>
              <a:rPr lang="en-US" b="1" dirty="0">
                <a:solidFill>
                  <a:srgbClr val="002B49"/>
                </a:solidFill>
              </a:rPr>
              <a:t>Dual-Radio Bridging: </a:t>
            </a:r>
            <a:r>
              <a:rPr lang="en-US" dirty="0">
                <a:solidFill>
                  <a:srgbClr val="002B49"/>
                </a:solidFill>
              </a:rPr>
              <a:t>Nodes equipped with both radios manage context switching between mesh (ANT) and LPWAN (LoRa) interfaces. The gateway decapsulates incoming LoRa packets and reinjects them into the local mesh layer.</a:t>
            </a:r>
          </a:p>
          <a:p>
            <a:r>
              <a:rPr lang="en-US" b="1" dirty="0">
                <a:solidFill>
                  <a:srgbClr val="002B49"/>
                </a:solidFill>
              </a:rPr>
              <a:t>TDMA-Based Coordination: </a:t>
            </a:r>
            <a:r>
              <a:rPr lang="en-US" dirty="0">
                <a:solidFill>
                  <a:srgbClr val="002B49"/>
                </a:solidFill>
              </a:rPr>
              <a:t>Time Division Multiple Access scheduling synchronizes short-range mesh communication and LoRa transmissions, preventing collisions and improving energy efficiency.</a:t>
            </a:r>
          </a:p>
          <a:p>
            <a:r>
              <a:rPr lang="en-US" b="1" dirty="0">
                <a:solidFill>
                  <a:srgbClr val="002B49"/>
                </a:solidFill>
              </a:rPr>
              <a:t>Hybrid Routing: </a:t>
            </a:r>
            <a:r>
              <a:rPr lang="en-US" dirty="0">
                <a:solidFill>
                  <a:srgbClr val="002B49"/>
                </a:solidFill>
              </a:rPr>
              <a:t>Local data aggregation occurs within the mesh before encapsulated forwarding over LoRa to reduce channel load.</a:t>
            </a:r>
          </a:p>
          <a:p>
            <a:r>
              <a:rPr lang="en-US" b="1" dirty="0">
                <a:solidFill>
                  <a:srgbClr val="002B49"/>
                </a:solidFill>
              </a:rPr>
              <a:t>Results: </a:t>
            </a:r>
            <a:r>
              <a:rPr lang="en-US" dirty="0">
                <a:solidFill>
                  <a:srgbClr val="002B49"/>
                </a:solidFill>
              </a:rPr>
              <a:t>Achieved </a:t>
            </a:r>
            <a:r>
              <a:rPr lang="en-US" b="1" dirty="0">
                <a:solidFill>
                  <a:srgbClr val="002B49"/>
                </a:solidFill>
              </a:rPr>
              <a:t>seamless protocol interoperability</a:t>
            </a:r>
            <a:r>
              <a:rPr lang="en-US" dirty="0">
                <a:solidFill>
                  <a:srgbClr val="002B49"/>
                </a:solidFill>
              </a:rPr>
              <a:t> without redesigning either the PHY or the MAC layer. Demonstrated </a:t>
            </a:r>
            <a:r>
              <a:rPr lang="en-US" b="1" dirty="0">
                <a:solidFill>
                  <a:srgbClr val="002B49"/>
                </a:solidFill>
              </a:rPr>
              <a:t>extended coverage (≈ 15 km)</a:t>
            </a:r>
            <a:r>
              <a:rPr lang="en-US" dirty="0">
                <a:solidFill>
                  <a:srgbClr val="002B49"/>
                </a:solidFill>
              </a:rPr>
              <a:t> and </a:t>
            </a:r>
            <a:r>
              <a:rPr lang="en-US" b="1" dirty="0">
                <a:solidFill>
                  <a:srgbClr val="002B49"/>
                </a:solidFill>
              </a:rPr>
              <a:t>stable multi-hop performance</a:t>
            </a:r>
            <a:r>
              <a:rPr lang="en-US" dirty="0">
                <a:solidFill>
                  <a:srgbClr val="002B49"/>
                </a:solidFill>
              </a:rPr>
              <a:t>. Improved energy use and throughput due to efficient encapsulation and coordinated scheduling</a:t>
            </a:r>
          </a:p>
          <a:p>
            <a:endParaRPr lang="en-US" dirty="0">
              <a:solidFill>
                <a:srgbClr val="002B49"/>
              </a:solidFill>
            </a:endParaRPr>
          </a:p>
        </p:txBody>
      </p:sp>
      <p:sp>
        <p:nvSpPr>
          <p:cNvPr id="6" name="TextBox 5">
            <a:extLst>
              <a:ext uri="{FF2B5EF4-FFF2-40B4-BE49-F238E27FC236}">
                <a16:creationId xmlns:a16="http://schemas.microsoft.com/office/drawing/2014/main" id="{295D543F-6FE5-D302-9103-34FC9C0AC3F4}"/>
              </a:ext>
            </a:extLst>
          </p:cNvPr>
          <p:cNvSpPr txBox="1"/>
          <p:nvPr/>
        </p:nvSpPr>
        <p:spPr>
          <a:xfrm>
            <a:off x="643982" y="5688736"/>
            <a:ext cx="11243217" cy="646331"/>
          </a:xfrm>
          <a:prstGeom prst="rect">
            <a:avLst/>
          </a:prstGeom>
          <a:noFill/>
        </p:spPr>
        <p:txBody>
          <a:bodyPr wrap="square">
            <a:spAutoFit/>
          </a:bodyPr>
          <a:lstStyle/>
          <a:p>
            <a:r>
              <a:rPr lang="en-US" b="0" i="0" dirty="0">
                <a:solidFill>
                  <a:srgbClr val="333333"/>
                </a:solidFill>
                <a:effectLst/>
                <a:latin typeface="HelveticaNeue Regular"/>
              </a:rPr>
              <a:t>X. Jiang </a:t>
            </a:r>
            <a:r>
              <a:rPr lang="en-US" b="0" i="1" dirty="0">
                <a:solidFill>
                  <a:srgbClr val="333333"/>
                </a:solidFill>
                <a:effectLst/>
                <a:latin typeface="HelveticaNeue Regular"/>
              </a:rPr>
              <a:t>et al</a:t>
            </a:r>
            <a:r>
              <a:rPr lang="en-US" b="0" i="0" dirty="0">
                <a:solidFill>
                  <a:srgbClr val="333333"/>
                </a:solidFill>
                <a:effectLst/>
                <a:latin typeface="HelveticaNeue Regular"/>
              </a:rPr>
              <a:t>., "Hybrid Low-Power Wide-Area Mesh Network for IoT Applications," in </a:t>
            </a:r>
            <a:r>
              <a:rPr lang="en-US" b="0" i="1" dirty="0">
                <a:solidFill>
                  <a:srgbClr val="333333"/>
                </a:solidFill>
                <a:effectLst/>
                <a:latin typeface="HelveticaNeue Regular"/>
              </a:rPr>
              <a:t>IEEE Internet of Things Journal</a:t>
            </a:r>
            <a:r>
              <a:rPr lang="en-US" b="0" i="0" dirty="0">
                <a:solidFill>
                  <a:srgbClr val="333333"/>
                </a:solidFill>
                <a:effectLst/>
                <a:latin typeface="HelveticaNeue Regular"/>
              </a:rPr>
              <a:t>, vol. 8, no. 2, pp. 901-915, 15 Jan.15, 2021, </a:t>
            </a:r>
            <a:r>
              <a:rPr lang="en-US" b="0" i="0" dirty="0" err="1">
                <a:solidFill>
                  <a:srgbClr val="333333"/>
                </a:solidFill>
                <a:effectLst/>
                <a:latin typeface="HelveticaNeue Regular"/>
              </a:rPr>
              <a:t>doi</a:t>
            </a:r>
            <a:r>
              <a:rPr lang="en-US" b="0" i="0" dirty="0">
                <a:solidFill>
                  <a:srgbClr val="333333"/>
                </a:solidFill>
                <a:effectLst/>
                <a:latin typeface="HelveticaNeue Regular"/>
              </a:rPr>
              <a:t>: 10.1109/JIOT.2020.3009228.</a:t>
            </a:r>
            <a:endParaRPr lang="en-US" dirty="0"/>
          </a:p>
        </p:txBody>
      </p:sp>
      <p:sp>
        <p:nvSpPr>
          <p:cNvPr id="8" name="TextBox 7">
            <a:extLst>
              <a:ext uri="{FF2B5EF4-FFF2-40B4-BE49-F238E27FC236}">
                <a16:creationId xmlns:a16="http://schemas.microsoft.com/office/drawing/2014/main" id="{1247E714-4806-8EB1-48BF-F3ED358A1C7F}"/>
              </a:ext>
            </a:extLst>
          </p:cNvPr>
          <p:cNvSpPr txBox="1"/>
          <p:nvPr/>
        </p:nvSpPr>
        <p:spPr>
          <a:xfrm>
            <a:off x="5568072" y="6374096"/>
            <a:ext cx="6623928" cy="461665"/>
          </a:xfrm>
          <a:prstGeom prst="rect">
            <a:avLst/>
          </a:prstGeom>
          <a:solidFill>
            <a:srgbClr val="002B49"/>
          </a:solidFill>
        </p:spPr>
        <p:txBody>
          <a:bodyPr wrap="none" rtlCol="0">
            <a:spAutoFit/>
          </a:bodyPr>
          <a:lstStyle/>
          <a:p>
            <a:pPr algn="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mohammad</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sheikh</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studenti.</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polito</a:t>
            </a: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.it</a:t>
            </a:r>
            <a:endParaRPr lang="en-IT" sz="1200" dirty="0">
              <a:solidFill>
                <a:schemeClr val="bg1">
                  <a:lumMod val="95000"/>
                </a:schemeClr>
              </a:solidFill>
            </a:endParaRPr>
          </a:p>
          <a:p>
            <a:pPr algn="r"/>
            <a:r>
              <a:rPr lang="en-US" sz="1200" dirty="0">
                <a:solidFill>
                  <a:schemeClr val="bg1">
                    <a:lumMod val="95000"/>
                  </a:schemeClr>
                </a:solidFill>
              </a:rPr>
              <a:t>Predictive Analytics of Climate Stress Impact on the Italian Mediterranean Buffalo</a:t>
            </a:r>
          </a:p>
        </p:txBody>
      </p:sp>
    </p:spTree>
    <p:extLst>
      <p:ext uri="{BB962C8B-B14F-4D97-AF65-F5344CB8AC3E}">
        <p14:creationId xmlns:p14="http://schemas.microsoft.com/office/powerpoint/2010/main" val="3419114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94D45-BEB9-FC7F-F0D4-8616DF269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DA30D-499D-0E52-5C99-E1078DC8A42F}"/>
              </a:ext>
            </a:extLst>
          </p:cNvPr>
          <p:cNvSpPr>
            <a:spLocks noGrp="1"/>
          </p:cNvSpPr>
          <p:nvPr>
            <p:ph type="title"/>
          </p:nvPr>
        </p:nvSpPr>
        <p:spPr/>
        <p:txBody>
          <a:bodyPr>
            <a:normAutofit/>
          </a:bodyPr>
          <a:lstStyle/>
          <a:p>
            <a:r>
              <a:rPr lang="en-US" sz="3600" dirty="0"/>
              <a:t>Precision livestock farming (PLF) </a:t>
            </a:r>
          </a:p>
        </p:txBody>
      </p:sp>
      <p:sp>
        <p:nvSpPr>
          <p:cNvPr id="3" name="Content Placeholder 2">
            <a:extLst>
              <a:ext uri="{FF2B5EF4-FFF2-40B4-BE49-F238E27FC236}">
                <a16:creationId xmlns:a16="http://schemas.microsoft.com/office/drawing/2014/main" id="{25CF0225-F36B-FA6C-12AD-062BB3944B10}"/>
              </a:ext>
            </a:extLst>
          </p:cNvPr>
          <p:cNvSpPr>
            <a:spLocks noGrp="1"/>
          </p:cNvSpPr>
          <p:nvPr>
            <p:ph idx="1"/>
          </p:nvPr>
        </p:nvSpPr>
        <p:spPr>
          <a:xfrm>
            <a:off x="180000" y="1283183"/>
            <a:ext cx="11880000" cy="3950370"/>
          </a:xfrm>
        </p:spPr>
        <p:txBody>
          <a:bodyPr>
            <a:normAutofit/>
          </a:bodyPr>
          <a:lstStyle/>
          <a:p>
            <a:r>
              <a:rPr lang="en-US" sz="2000" b="1" dirty="0"/>
              <a:t>Why:</a:t>
            </a:r>
            <a:r>
              <a:rPr lang="en-US" sz="2000" dirty="0"/>
              <a:t> increasing demand for animal-derived foods requires enhancement in increasing efficiency of farms and production.</a:t>
            </a:r>
          </a:p>
          <a:p>
            <a:endParaRPr lang="en-US" sz="2000" dirty="0"/>
          </a:p>
          <a:p>
            <a:r>
              <a:rPr lang="en-US" sz="2000" b="1" dirty="0"/>
              <a:t>How:</a:t>
            </a:r>
            <a:r>
              <a:rPr lang="en-US" sz="2000" dirty="0"/>
              <a:t> PLF represents a valuable strategy to tackle challenges in this area. PLF, uses digital technologies like sensors, IoT, AI, and data analytics to monitor and manage individual animals.</a:t>
            </a:r>
          </a:p>
          <a:p>
            <a:endParaRPr lang="en-US" sz="2000" dirty="0"/>
          </a:p>
          <a:p>
            <a:r>
              <a:rPr lang="en-US" sz="2000" b="1" dirty="0"/>
              <a:t>Gap:</a:t>
            </a:r>
            <a:r>
              <a:rPr lang="en-US" sz="2000" dirty="0"/>
              <a:t> While PLF technologies have been extensively adopted for </a:t>
            </a:r>
            <a:r>
              <a:rPr lang="en-US" sz="2000" b="1" dirty="0"/>
              <a:t>pigs</a:t>
            </a:r>
            <a:r>
              <a:rPr lang="en-US" sz="2000" dirty="0"/>
              <a:t>, </a:t>
            </a:r>
            <a:r>
              <a:rPr lang="en-US" sz="2000" b="1" dirty="0"/>
              <a:t>poultry</a:t>
            </a:r>
            <a:r>
              <a:rPr lang="en-US" sz="2000" dirty="0"/>
              <a:t>, and </a:t>
            </a:r>
            <a:r>
              <a:rPr lang="en-US" sz="2000" b="1" dirty="0"/>
              <a:t>dairy</a:t>
            </a:r>
            <a:r>
              <a:rPr lang="en-US" sz="2000" dirty="0"/>
              <a:t> </a:t>
            </a:r>
            <a:r>
              <a:rPr lang="en-US" sz="2000" b="1" dirty="0"/>
              <a:t>cattle</a:t>
            </a:r>
            <a:r>
              <a:rPr lang="en-US" sz="2000" dirty="0"/>
              <a:t>, there is a scarcity of research regarding </a:t>
            </a:r>
            <a:r>
              <a:rPr lang="en-US" sz="2000" b="1" dirty="0"/>
              <a:t>buffalo-specific</a:t>
            </a:r>
            <a:r>
              <a:rPr lang="en-US" sz="2000" dirty="0"/>
              <a:t> PLF applications.</a:t>
            </a:r>
          </a:p>
        </p:txBody>
      </p:sp>
      <p:sp>
        <p:nvSpPr>
          <p:cNvPr id="6" name="TextBox 5">
            <a:extLst>
              <a:ext uri="{FF2B5EF4-FFF2-40B4-BE49-F238E27FC236}">
                <a16:creationId xmlns:a16="http://schemas.microsoft.com/office/drawing/2014/main" id="{76EE143D-FC50-A5E0-369E-6C65C2542318}"/>
              </a:ext>
            </a:extLst>
          </p:cNvPr>
          <p:cNvSpPr txBox="1"/>
          <p:nvPr/>
        </p:nvSpPr>
        <p:spPr>
          <a:xfrm>
            <a:off x="643982" y="5688736"/>
            <a:ext cx="11243217" cy="646331"/>
          </a:xfrm>
          <a:prstGeom prst="rect">
            <a:avLst/>
          </a:prstGeom>
          <a:noFill/>
        </p:spPr>
        <p:txBody>
          <a:bodyPr wrap="square">
            <a:spAutoFit/>
          </a:bodyPr>
          <a:lstStyle/>
          <a:p>
            <a:r>
              <a:rPr lang="en-US" dirty="0">
                <a:solidFill>
                  <a:srgbClr val="333333"/>
                </a:solidFill>
                <a:latin typeface="HelveticaNeue Regular"/>
              </a:rPr>
              <a:t>G. Neglia, M. </a:t>
            </a:r>
            <a:r>
              <a:rPr lang="en-US" dirty="0" err="1">
                <a:solidFill>
                  <a:srgbClr val="333333"/>
                </a:solidFill>
                <a:latin typeface="HelveticaNeue Regular"/>
              </a:rPr>
              <a:t>Santinello</a:t>
            </a:r>
            <a:r>
              <a:rPr lang="en-US" dirty="0">
                <a:solidFill>
                  <a:srgbClr val="333333"/>
                </a:solidFill>
                <a:latin typeface="HelveticaNeue Regular"/>
              </a:rPr>
              <a:t>, </a:t>
            </a:r>
            <a:r>
              <a:rPr lang="en-US" i="1" dirty="0">
                <a:solidFill>
                  <a:srgbClr val="333333"/>
                </a:solidFill>
                <a:latin typeface="HelveticaNeue Regular"/>
              </a:rPr>
              <a:t>et al</a:t>
            </a:r>
            <a:r>
              <a:rPr lang="en-US" dirty="0">
                <a:solidFill>
                  <a:srgbClr val="333333"/>
                </a:solidFill>
                <a:latin typeface="HelveticaNeue Regular"/>
              </a:rPr>
              <a:t> "Precision livestock farming in buffalo species: a sustainable approach for the future," in </a:t>
            </a:r>
            <a:r>
              <a:rPr lang="en-US" i="1" dirty="0">
                <a:solidFill>
                  <a:srgbClr val="333333"/>
                </a:solidFill>
                <a:latin typeface="HelveticaNeue Regular"/>
              </a:rPr>
              <a:t>Revista </a:t>
            </a:r>
            <a:r>
              <a:rPr lang="en-US" i="1" dirty="0" err="1">
                <a:solidFill>
                  <a:srgbClr val="333333"/>
                </a:solidFill>
                <a:latin typeface="HelveticaNeue Regular"/>
              </a:rPr>
              <a:t>Científica</a:t>
            </a:r>
            <a:r>
              <a:rPr lang="en-US" i="1" dirty="0">
                <a:solidFill>
                  <a:srgbClr val="333333"/>
                </a:solidFill>
                <a:latin typeface="HelveticaNeue Regular"/>
              </a:rPr>
              <a:t> de la </a:t>
            </a:r>
            <a:r>
              <a:rPr lang="en-US" i="1" dirty="0" err="1">
                <a:solidFill>
                  <a:srgbClr val="333333"/>
                </a:solidFill>
                <a:latin typeface="HelveticaNeue Regular"/>
              </a:rPr>
              <a:t>Facultad</a:t>
            </a:r>
            <a:r>
              <a:rPr lang="en-US" i="1" dirty="0">
                <a:solidFill>
                  <a:srgbClr val="333333"/>
                </a:solidFill>
                <a:latin typeface="HelveticaNeue Regular"/>
              </a:rPr>
              <a:t> de </a:t>
            </a:r>
            <a:r>
              <a:rPr lang="en-US" i="1" dirty="0" err="1">
                <a:solidFill>
                  <a:srgbClr val="333333"/>
                </a:solidFill>
                <a:latin typeface="HelveticaNeue Regular"/>
              </a:rPr>
              <a:t>Ciencias</a:t>
            </a:r>
            <a:r>
              <a:rPr lang="en-US" i="1" dirty="0">
                <a:solidFill>
                  <a:srgbClr val="333333"/>
                </a:solidFill>
                <a:latin typeface="HelveticaNeue Regular"/>
              </a:rPr>
              <a:t> </a:t>
            </a:r>
            <a:r>
              <a:rPr lang="en-US" i="1" dirty="0" err="1">
                <a:solidFill>
                  <a:srgbClr val="333333"/>
                </a:solidFill>
                <a:latin typeface="HelveticaNeue Regular"/>
              </a:rPr>
              <a:t>Veterinarias</a:t>
            </a:r>
            <a:r>
              <a:rPr lang="en-US" dirty="0">
                <a:solidFill>
                  <a:srgbClr val="333333"/>
                </a:solidFill>
                <a:latin typeface="HelveticaNeue Regular"/>
              </a:rPr>
              <a:t>, 2023, </a:t>
            </a:r>
            <a:r>
              <a:rPr lang="en-US" dirty="0" err="1">
                <a:solidFill>
                  <a:srgbClr val="333333"/>
                </a:solidFill>
                <a:latin typeface="HelveticaNeue Regular"/>
              </a:rPr>
              <a:t>doi</a:t>
            </a:r>
            <a:r>
              <a:rPr lang="en-US" dirty="0">
                <a:solidFill>
                  <a:srgbClr val="333333"/>
                </a:solidFill>
                <a:latin typeface="HelveticaNeue Regular"/>
              </a:rPr>
              <a:t>: 10.52973/rcfcv-wbc019.</a:t>
            </a:r>
          </a:p>
        </p:txBody>
      </p:sp>
      <p:sp>
        <p:nvSpPr>
          <p:cNvPr id="5" name="TextBox 4">
            <a:extLst>
              <a:ext uri="{FF2B5EF4-FFF2-40B4-BE49-F238E27FC236}">
                <a16:creationId xmlns:a16="http://schemas.microsoft.com/office/drawing/2014/main" id="{85E11351-0E75-5E5C-51C3-E442C2FECB08}"/>
              </a:ext>
            </a:extLst>
          </p:cNvPr>
          <p:cNvSpPr txBox="1"/>
          <p:nvPr/>
        </p:nvSpPr>
        <p:spPr>
          <a:xfrm>
            <a:off x="5568072" y="6374096"/>
            <a:ext cx="6623928" cy="461665"/>
          </a:xfrm>
          <a:prstGeom prst="rect">
            <a:avLst/>
          </a:prstGeom>
          <a:solidFill>
            <a:srgbClr val="002B49"/>
          </a:solidFill>
        </p:spPr>
        <p:txBody>
          <a:bodyPr wrap="none" rtlCol="0">
            <a:spAutoFit/>
          </a:bodyPr>
          <a:lstStyle/>
          <a:p>
            <a:pPr algn="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mohammad</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sheikh</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studenti.</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polito</a:t>
            </a: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.it</a:t>
            </a:r>
            <a:endParaRPr lang="en-IT" sz="1200" dirty="0">
              <a:solidFill>
                <a:schemeClr val="bg1">
                  <a:lumMod val="95000"/>
                </a:schemeClr>
              </a:solidFill>
            </a:endParaRPr>
          </a:p>
          <a:p>
            <a:pPr algn="r"/>
            <a:r>
              <a:rPr lang="en-US" sz="1200" dirty="0">
                <a:solidFill>
                  <a:schemeClr val="bg1">
                    <a:lumMod val="95000"/>
                  </a:schemeClr>
                </a:solidFill>
              </a:rPr>
              <a:t>Predictive Analytics of Climate Stress Impact on the Italian Mediterranean Buffalo</a:t>
            </a:r>
          </a:p>
        </p:txBody>
      </p:sp>
    </p:spTree>
    <p:extLst>
      <p:ext uri="{BB962C8B-B14F-4D97-AF65-F5344CB8AC3E}">
        <p14:creationId xmlns:p14="http://schemas.microsoft.com/office/powerpoint/2010/main" val="118801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D7803-8D70-03D5-16FC-E0C1D63A1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FA75C-1BC1-EC81-9052-42CFA7D52DF8}"/>
              </a:ext>
            </a:extLst>
          </p:cNvPr>
          <p:cNvSpPr>
            <a:spLocks noGrp="1"/>
          </p:cNvSpPr>
          <p:nvPr>
            <p:ph type="title"/>
          </p:nvPr>
        </p:nvSpPr>
        <p:spPr/>
        <p:txBody>
          <a:bodyPr>
            <a:normAutofit/>
          </a:bodyPr>
          <a:lstStyle/>
          <a:p>
            <a:r>
              <a:rPr lang="en-US" sz="3600" dirty="0"/>
              <a:t>Heat Stress is affecting …</a:t>
            </a:r>
          </a:p>
        </p:txBody>
      </p:sp>
      <p:sp>
        <p:nvSpPr>
          <p:cNvPr id="6" name="TextBox 5">
            <a:extLst>
              <a:ext uri="{FF2B5EF4-FFF2-40B4-BE49-F238E27FC236}">
                <a16:creationId xmlns:a16="http://schemas.microsoft.com/office/drawing/2014/main" id="{CBE901FE-5020-0F30-AC32-DF5371B95D5E}"/>
              </a:ext>
            </a:extLst>
          </p:cNvPr>
          <p:cNvSpPr txBox="1"/>
          <p:nvPr/>
        </p:nvSpPr>
        <p:spPr>
          <a:xfrm>
            <a:off x="643982" y="5688736"/>
            <a:ext cx="11243217" cy="646331"/>
          </a:xfrm>
          <a:prstGeom prst="rect">
            <a:avLst/>
          </a:prstGeom>
          <a:noFill/>
        </p:spPr>
        <p:txBody>
          <a:bodyPr wrap="square">
            <a:spAutoFit/>
          </a:bodyPr>
          <a:lstStyle/>
          <a:p>
            <a:r>
              <a:rPr lang="en-US" b="0" i="0" dirty="0" err="1">
                <a:solidFill>
                  <a:srgbClr val="333333"/>
                </a:solidFill>
                <a:effectLst/>
                <a:latin typeface="HelveticaNeue Regular"/>
              </a:rPr>
              <a:t>Bernabucci</a:t>
            </a:r>
            <a:r>
              <a:rPr lang="en-US" b="0" i="0" dirty="0">
                <a:solidFill>
                  <a:srgbClr val="333333"/>
                </a:solidFill>
                <a:effectLst/>
                <a:latin typeface="HelveticaNeue Regular"/>
              </a:rPr>
              <a:t>, </a:t>
            </a:r>
            <a:r>
              <a:rPr lang="en-US" b="0" i="1" dirty="0">
                <a:solidFill>
                  <a:srgbClr val="333333"/>
                </a:solidFill>
                <a:effectLst/>
                <a:latin typeface="HelveticaNeue Regular"/>
              </a:rPr>
              <a:t>et al</a:t>
            </a:r>
            <a:r>
              <a:rPr lang="en-US" b="0" i="0" dirty="0">
                <a:solidFill>
                  <a:srgbClr val="333333"/>
                </a:solidFill>
                <a:effectLst/>
                <a:latin typeface="HelveticaNeue Regular"/>
              </a:rPr>
              <a:t>. “Metabolic and Hormonal Acclimation to Heat Stress in Domesticated Ruminants.” in  </a:t>
            </a:r>
            <a:r>
              <a:rPr lang="en-US" b="0" i="1" dirty="0">
                <a:solidFill>
                  <a:srgbClr val="333333"/>
                </a:solidFill>
                <a:effectLst/>
                <a:latin typeface="HelveticaNeue Regular"/>
              </a:rPr>
              <a:t>Animal</a:t>
            </a:r>
            <a:r>
              <a:rPr lang="en-US" b="0" i="0" dirty="0">
                <a:solidFill>
                  <a:srgbClr val="333333"/>
                </a:solidFill>
                <a:effectLst/>
                <a:latin typeface="HelveticaNeue Regular"/>
              </a:rPr>
              <a:t> 2010, 4, 1167–1183, </a:t>
            </a:r>
            <a:r>
              <a:rPr lang="en-US" b="0" i="0" dirty="0" err="1">
                <a:solidFill>
                  <a:srgbClr val="333333"/>
                </a:solidFill>
                <a:effectLst/>
                <a:latin typeface="HelveticaNeue Regular"/>
              </a:rPr>
              <a:t>doi</a:t>
            </a:r>
            <a:r>
              <a:rPr lang="en-US" b="0" i="0" dirty="0">
                <a:solidFill>
                  <a:srgbClr val="333333"/>
                </a:solidFill>
                <a:effectLst/>
                <a:latin typeface="HelveticaNeue Regular"/>
              </a:rPr>
              <a:t> : 10.1017/S175173111000090X</a:t>
            </a:r>
          </a:p>
        </p:txBody>
      </p:sp>
      <p:sp>
        <p:nvSpPr>
          <p:cNvPr id="8" name="TextBox 7">
            <a:extLst>
              <a:ext uri="{FF2B5EF4-FFF2-40B4-BE49-F238E27FC236}">
                <a16:creationId xmlns:a16="http://schemas.microsoft.com/office/drawing/2014/main" id="{0CF0DAC0-0FEC-1786-65FF-7008A5FAA2C2}"/>
              </a:ext>
            </a:extLst>
          </p:cNvPr>
          <p:cNvSpPr txBox="1"/>
          <p:nvPr/>
        </p:nvSpPr>
        <p:spPr>
          <a:xfrm>
            <a:off x="397238" y="1755465"/>
            <a:ext cx="4900475" cy="3347070"/>
          </a:xfrm>
          <a:prstGeom prst="rect">
            <a:avLst/>
          </a:prstGeom>
          <a:noFill/>
        </p:spPr>
        <p:txBody>
          <a:bodyPr wrap="square">
            <a:spAutoFit/>
          </a:bodyPr>
          <a:lstStyle/>
          <a:p>
            <a:pPr marL="571500" indent="-571500">
              <a:lnSpc>
                <a:spcPct val="150000"/>
              </a:lnSpc>
              <a:buFont typeface="System Font Regular"/>
              <a:buChar char="↓"/>
            </a:pPr>
            <a:r>
              <a:rPr lang="en-US" sz="3600" dirty="0">
                <a:solidFill>
                  <a:srgbClr val="002B49"/>
                </a:solidFill>
              </a:rPr>
              <a:t>milk</a:t>
            </a:r>
            <a:r>
              <a:rPr lang="en-US" sz="3600" dirty="0">
                <a:solidFill>
                  <a:srgbClr val="1B415D"/>
                </a:solidFill>
              </a:rPr>
              <a:t> </a:t>
            </a:r>
            <a:r>
              <a:rPr lang="en-US" sz="3600" dirty="0">
                <a:solidFill>
                  <a:srgbClr val="002B49"/>
                </a:solidFill>
              </a:rPr>
              <a:t>production</a:t>
            </a:r>
          </a:p>
          <a:p>
            <a:pPr marL="571500" indent="-571500">
              <a:lnSpc>
                <a:spcPct val="150000"/>
              </a:lnSpc>
              <a:buFont typeface="System Font Regular"/>
              <a:buChar char="↓"/>
            </a:pPr>
            <a:r>
              <a:rPr lang="en-US" sz="3600" dirty="0">
                <a:solidFill>
                  <a:srgbClr val="002B49"/>
                </a:solidFill>
              </a:rPr>
              <a:t>feed intake</a:t>
            </a:r>
          </a:p>
          <a:p>
            <a:pPr marL="571500" indent="-571500">
              <a:lnSpc>
                <a:spcPct val="150000"/>
              </a:lnSpc>
              <a:buFont typeface="System Font Regular"/>
              <a:buChar char="↓"/>
            </a:pPr>
            <a:r>
              <a:rPr lang="en-US" sz="3600" dirty="0">
                <a:solidFill>
                  <a:srgbClr val="002B49"/>
                </a:solidFill>
              </a:rPr>
              <a:t>performance.</a:t>
            </a:r>
          </a:p>
          <a:p>
            <a:pPr marL="571500" indent="-571500">
              <a:lnSpc>
                <a:spcPct val="150000"/>
              </a:lnSpc>
              <a:buFont typeface="System Font Regular"/>
              <a:buChar char="↓"/>
            </a:pPr>
            <a:endParaRPr lang="en-US" sz="3600" dirty="0">
              <a:solidFill>
                <a:srgbClr val="1B415D"/>
              </a:solidFill>
            </a:endParaRPr>
          </a:p>
        </p:txBody>
      </p:sp>
      <p:sp>
        <p:nvSpPr>
          <p:cNvPr id="9" name="TextBox 8">
            <a:extLst>
              <a:ext uri="{FF2B5EF4-FFF2-40B4-BE49-F238E27FC236}">
                <a16:creationId xmlns:a16="http://schemas.microsoft.com/office/drawing/2014/main" id="{2E859686-C0CE-317F-4316-24CCBC0A2DB3}"/>
              </a:ext>
            </a:extLst>
          </p:cNvPr>
          <p:cNvSpPr txBox="1"/>
          <p:nvPr/>
        </p:nvSpPr>
        <p:spPr>
          <a:xfrm>
            <a:off x="5499355" y="1339966"/>
            <a:ext cx="6881331" cy="4178067"/>
          </a:xfrm>
          <a:prstGeom prst="rect">
            <a:avLst/>
          </a:prstGeom>
          <a:noFill/>
        </p:spPr>
        <p:txBody>
          <a:bodyPr wrap="square">
            <a:spAutoFit/>
          </a:bodyPr>
          <a:lstStyle/>
          <a:p>
            <a:pPr marL="571500" indent="-571500">
              <a:lnSpc>
                <a:spcPct val="150000"/>
              </a:lnSpc>
              <a:buFont typeface="System Font Regular"/>
              <a:buChar char="↑"/>
            </a:pPr>
            <a:r>
              <a:rPr lang="en-US" sz="3600" dirty="0">
                <a:solidFill>
                  <a:srgbClr val="002B49"/>
                </a:solidFill>
              </a:rPr>
              <a:t>Diseases</a:t>
            </a:r>
          </a:p>
          <a:p>
            <a:pPr marL="571500" indent="-571500">
              <a:lnSpc>
                <a:spcPct val="150000"/>
              </a:lnSpc>
              <a:buFont typeface="System Font Regular"/>
              <a:buChar char="↑"/>
            </a:pPr>
            <a:r>
              <a:rPr lang="en-US" sz="3600" dirty="0">
                <a:solidFill>
                  <a:srgbClr val="002B49"/>
                </a:solidFill>
              </a:rPr>
              <a:t>Sweating</a:t>
            </a:r>
          </a:p>
          <a:p>
            <a:pPr marL="571500" indent="-571500">
              <a:lnSpc>
                <a:spcPct val="150000"/>
              </a:lnSpc>
              <a:buFont typeface="System Font Regular"/>
              <a:buChar char="↑"/>
            </a:pPr>
            <a:r>
              <a:rPr lang="en-US" sz="3600" dirty="0">
                <a:solidFill>
                  <a:srgbClr val="002B49"/>
                </a:solidFill>
              </a:rPr>
              <a:t>Blood flow to skin</a:t>
            </a:r>
          </a:p>
          <a:p>
            <a:pPr marL="571500" indent="-571500">
              <a:lnSpc>
                <a:spcPct val="150000"/>
              </a:lnSpc>
              <a:buFont typeface="System Font Regular"/>
              <a:buChar char="↑"/>
            </a:pPr>
            <a:r>
              <a:rPr lang="en-US" sz="3600" dirty="0">
                <a:solidFill>
                  <a:srgbClr val="002B49"/>
                </a:solidFill>
              </a:rPr>
              <a:t>heart and respiration rate   </a:t>
            </a:r>
          </a:p>
          <a:p>
            <a:pPr marL="571500" indent="-571500">
              <a:lnSpc>
                <a:spcPct val="150000"/>
              </a:lnSpc>
              <a:buFont typeface="System Font Regular"/>
              <a:buChar char="↑"/>
            </a:pPr>
            <a:endParaRPr lang="en-US" sz="3600" dirty="0">
              <a:solidFill>
                <a:srgbClr val="1B415D"/>
              </a:solidFill>
            </a:endParaRPr>
          </a:p>
        </p:txBody>
      </p:sp>
      <p:sp>
        <p:nvSpPr>
          <p:cNvPr id="12" name="TextBox 11">
            <a:extLst>
              <a:ext uri="{FF2B5EF4-FFF2-40B4-BE49-F238E27FC236}">
                <a16:creationId xmlns:a16="http://schemas.microsoft.com/office/drawing/2014/main" id="{150341E0-440C-F954-6BB1-006F58C24826}"/>
              </a:ext>
            </a:extLst>
          </p:cNvPr>
          <p:cNvSpPr txBox="1"/>
          <p:nvPr/>
        </p:nvSpPr>
        <p:spPr>
          <a:xfrm>
            <a:off x="5568072" y="6374096"/>
            <a:ext cx="6623928" cy="461665"/>
          </a:xfrm>
          <a:prstGeom prst="rect">
            <a:avLst/>
          </a:prstGeom>
          <a:solidFill>
            <a:srgbClr val="002B49"/>
          </a:solidFill>
        </p:spPr>
        <p:txBody>
          <a:bodyPr wrap="none" rtlCol="0">
            <a:spAutoFit/>
          </a:bodyPr>
          <a:lstStyle/>
          <a:p>
            <a:pPr algn="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mohammad</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sheikh</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studenti.</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polito</a:t>
            </a: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.it</a:t>
            </a:r>
            <a:endParaRPr lang="en-IT" sz="1200" dirty="0">
              <a:solidFill>
                <a:schemeClr val="bg1">
                  <a:lumMod val="95000"/>
                </a:schemeClr>
              </a:solidFill>
            </a:endParaRPr>
          </a:p>
          <a:p>
            <a:pPr algn="r"/>
            <a:r>
              <a:rPr lang="en-US" sz="1200" dirty="0">
                <a:solidFill>
                  <a:schemeClr val="bg1">
                    <a:lumMod val="95000"/>
                  </a:schemeClr>
                </a:solidFill>
              </a:rPr>
              <a:t>Predictive Analytics of Climate Stress Impact on the Italian Mediterranean Buffalo</a:t>
            </a:r>
          </a:p>
        </p:txBody>
      </p:sp>
    </p:spTree>
    <p:extLst>
      <p:ext uri="{BB962C8B-B14F-4D97-AF65-F5344CB8AC3E}">
        <p14:creationId xmlns:p14="http://schemas.microsoft.com/office/powerpoint/2010/main" val="2726201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B4029-043B-EDC7-FE95-0C7228159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0CDF2-450B-F5DE-0221-738DDB685BD0}"/>
              </a:ext>
            </a:extLst>
          </p:cNvPr>
          <p:cNvSpPr>
            <a:spLocks noGrp="1"/>
          </p:cNvSpPr>
          <p:nvPr>
            <p:ph type="title"/>
          </p:nvPr>
        </p:nvSpPr>
        <p:spPr/>
        <p:txBody>
          <a:bodyPr>
            <a:normAutofit/>
          </a:bodyPr>
          <a:lstStyle/>
          <a:p>
            <a:r>
              <a:rPr lang="en-US" sz="3600" dirty="0"/>
              <a:t>Temperature-Humidity Index (THI)</a:t>
            </a:r>
          </a:p>
        </p:txBody>
      </p:sp>
      <p:sp>
        <p:nvSpPr>
          <p:cNvPr id="6" name="TextBox 5">
            <a:extLst>
              <a:ext uri="{FF2B5EF4-FFF2-40B4-BE49-F238E27FC236}">
                <a16:creationId xmlns:a16="http://schemas.microsoft.com/office/drawing/2014/main" id="{80EB31C8-9029-95C4-C626-4B9D2B6D9897}"/>
              </a:ext>
            </a:extLst>
          </p:cNvPr>
          <p:cNvSpPr txBox="1"/>
          <p:nvPr/>
        </p:nvSpPr>
        <p:spPr>
          <a:xfrm>
            <a:off x="643982" y="5688736"/>
            <a:ext cx="11243217" cy="646331"/>
          </a:xfrm>
          <a:prstGeom prst="rect">
            <a:avLst/>
          </a:prstGeom>
          <a:noFill/>
        </p:spPr>
        <p:txBody>
          <a:bodyPr wrap="square">
            <a:spAutoFit/>
          </a:bodyPr>
          <a:lstStyle/>
          <a:p>
            <a:r>
              <a:rPr lang="en-US" b="0" i="0" dirty="0" err="1">
                <a:solidFill>
                  <a:srgbClr val="333333"/>
                </a:solidFill>
                <a:effectLst/>
                <a:latin typeface="HelveticaNeue Regular"/>
              </a:rPr>
              <a:t>Bohmanova</a:t>
            </a:r>
            <a:r>
              <a:rPr lang="en-US" b="0" i="0" dirty="0">
                <a:solidFill>
                  <a:srgbClr val="333333"/>
                </a:solidFill>
                <a:effectLst/>
                <a:latin typeface="HelveticaNeue Regular"/>
              </a:rPr>
              <a:t>, J, </a:t>
            </a:r>
            <a:r>
              <a:rPr lang="en-US" b="0" i="1" dirty="0">
                <a:solidFill>
                  <a:srgbClr val="333333"/>
                </a:solidFill>
                <a:effectLst/>
                <a:latin typeface="HelveticaNeue Regular"/>
              </a:rPr>
              <a:t>et al</a:t>
            </a:r>
            <a:r>
              <a:rPr lang="en-US" b="0" i="0" dirty="0">
                <a:solidFill>
                  <a:srgbClr val="333333"/>
                </a:solidFill>
                <a:effectLst/>
                <a:latin typeface="HelveticaNeue Regular"/>
              </a:rPr>
              <a:t>. “Temperature-humidity indices as indicators of milk production losses due to heat stress.” in </a:t>
            </a:r>
            <a:r>
              <a:rPr lang="en-US" b="0" i="1" dirty="0">
                <a:solidFill>
                  <a:srgbClr val="333333"/>
                </a:solidFill>
                <a:effectLst/>
                <a:latin typeface="HelveticaNeue Regular"/>
              </a:rPr>
              <a:t>Journal of Dairy Science</a:t>
            </a:r>
            <a:r>
              <a:rPr lang="en-US" b="0" i="0" dirty="0">
                <a:solidFill>
                  <a:srgbClr val="333333"/>
                </a:solidFill>
                <a:effectLst/>
                <a:latin typeface="HelveticaNeue Regular"/>
              </a:rPr>
              <a:t>, 90(4), 1947–1956. </a:t>
            </a:r>
            <a:r>
              <a:rPr lang="en-US" b="0" i="0" dirty="0" err="1">
                <a:solidFill>
                  <a:srgbClr val="333333"/>
                </a:solidFill>
                <a:effectLst/>
                <a:latin typeface="HelveticaNeue Regular"/>
              </a:rPr>
              <a:t>doi</a:t>
            </a:r>
            <a:r>
              <a:rPr lang="en-US" b="0" i="0" dirty="0">
                <a:solidFill>
                  <a:srgbClr val="333333"/>
                </a:solidFill>
                <a:effectLst/>
                <a:latin typeface="HelveticaNeue Regular"/>
              </a:rPr>
              <a:t>: 10.3168/jds.2006-513</a:t>
            </a:r>
          </a:p>
        </p:txBody>
      </p:sp>
      <p:sp>
        <p:nvSpPr>
          <p:cNvPr id="8" name="TextBox 7">
            <a:extLst>
              <a:ext uri="{FF2B5EF4-FFF2-40B4-BE49-F238E27FC236}">
                <a16:creationId xmlns:a16="http://schemas.microsoft.com/office/drawing/2014/main" id="{4FA44B63-7E31-4754-1BD8-C64D119E0FCC}"/>
              </a:ext>
            </a:extLst>
          </p:cNvPr>
          <p:cNvSpPr txBox="1"/>
          <p:nvPr/>
        </p:nvSpPr>
        <p:spPr>
          <a:xfrm>
            <a:off x="366242" y="1430001"/>
            <a:ext cx="10823534" cy="1900520"/>
          </a:xfrm>
          <a:prstGeom prst="rect">
            <a:avLst/>
          </a:prstGeom>
          <a:noFill/>
        </p:spPr>
        <p:txBody>
          <a:bodyPr wrap="square">
            <a:spAutoFit/>
          </a:bodyPr>
          <a:lstStyle/>
          <a:p>
            <a:pPr>
              <a:lnSpc>
                <a:spcPct val="150000"/>
              </a:lnSpc>
            </a:pPr>
            <a:r>
              <a:rPr lang="en-US" sz="2000" dirty="0"/>
              <a:t>A temperature-humidity index (THI) is a single value representing the combined effects of air temperature and humidity associated with the level of thermal stress.</a:t>
            </a:r>
            <a:endParaRPr lang="fa-IR" sz="2000" dirty="0"/>
          </a:p>
          <a:p>
            <a:pPr>
              <a:lnSpc>
                <a:spcPct val="150000"/>
              </a:lnSpc>
            </a:pPr>
            <a:endParaRPr lang="fa-IR" sz="2000" dirty="0">
              <a:solidFill>
                <a:srgbClr val="1B415D"/>
              </a:solidFill>
            </a:endParaRPr>
          </a:p>
          <a:p>
            <a:pPr>
              <a:lnSpc>
                <a:spcPct val="150000"/>
              </a:lnSpc>
            </a:pPr>
            <a:r>
              <a:rPr lang="en-US" sz="2000" dirty="0">
                <a:solidFill>
                  <a:srgbClr val="1B415D"/>
                </a:solidFill>
              </a:rPr>
              <a:t>Normally THI is Based on Temperature in Fahrenheit.</a:t>
            </a:r>
            <a:endParaRPr lang="en-US" sz="4000" dirty="0">
              <a:solidFill>
                <a:srgbClr val="1B415D"/>
              </a:solidFill>
            </a:endParaRPr>
          </a:p>
        </p:txBody>
      </p:sp>
      <p:sp>
        <p:nvSpPr>
          <p:cNvPr id="12" name="TextBox 11">
            <a:extLst>
              <a:ext uri="{FF2B5EF4-FFF2-40B4-BE49-F238E27FC236}">
                <a16:creationId xmlns:a16="http://schemas.microsoft.com/office/drawing/2014/main" id="{3A8FE1BB-B3D2-56C4-C718-032BE2068275}"/>
              </a:ext>
            </a:extLst>
          </p:cNvPr>
          <p:cNvSpPr txBox="1"/>
          <p:nvPr/>
        </p:nvSpPr>
        <p:spPr>
          <a:xfrm>
            <a:off x="5568072" y="6374096"/>
            <a:ext cx="6623928" cy="461665"/>
          </a:xfrm>
          <a:prstGeom prst="rect">
            <a:avLst/>
          </a:prstGeom>
          <a:solidFill>
            <a:srgbClr val="002B49"/>
          </a:solidFill>
        </p:spPr>
        <p:txBody>
          <a:bodyPr wrap="none" rtlCol="0">
            <a:spAutoFit/>
          </a:bodyPr>
          <a:lstStyle/>
          <a:p>
            <a:pPr algn="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mohammad</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sheikh</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a:t>
            </a:r>
            <a:r>
              <a:rPr lang="en-US" sz="1200" dirty="0">
                <a:solidFill>
                  <a:schemeClr val="bg1">
                    <a:lumMod val="95000"/>
                  </a:schemeClr>
                </a:solidFill>
                <a:hlinkClick r:id="rId2">
                  <a:extLst>
                    <a:ext uri="{A12FA001-AC4F-418D-AE19-62706E023703}">
                      <ahyp:hlinkClr xmlns:ahyp="http://schemas.microsoft.com/office/drawing/2018/hyperlinkcolor" val="tx"/>
                    </a:ext>
                  </a:extLst>
                </a:hlinkClick>
              </a:rPr>
              <a:t>studenti.</a:t>
            </a:r>
            <a:r>
              <a:rPr lang="en-IT" sz="1200">
                <a:solidFill>
                  <a:schemeClr val="bg1">
                    <a:lumMod val="95000"/>
                  </a:schemeClr>
                </a:solidFill>
                <a:hlinkClick r:id="rId2">
                  <a:extLst>
                    <a:ext uri="{A12FA001-AC4F-418D-AE19-62706E023703}">
                      <ahyp:hlinkClr xmlns:ahyp="http://schemas.microsoft.com/office/drawing/2018/hyperlinkcolor" val="tx"/>
                    </a:ext>
                  </a:extLst>
                </a:hlinkClick>
              </a:rPr>
              <a:t>polito</a:t>
            </a: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.it</a:t>
            </a:r>
            <a:endParaRPr lang="en-IT" sz="1200" dirty="0">
              <a:solidFill>
                <a:schemeClr val="bg1">
                  <a:lumMod val="95000"/>
                </a:schemeClr>
              </a:solidFill>
            </a:endParaRPr>
          </a:p>
          <a:p>
            <a:pPr algn="r"/>
            <a:r>
              <a:rPr lang="en-US" sz="1200" dirty="0">
                <a:solidFill>
                  <a:schemeClr val="bg1">
                    <a:lumMod val="95000"/>
                  </a:schemeClr>
                </a:solidFill>
              </a:rPr>
              <a:t>Predictive Analytics of Climate Stress Impact on the Italian Mediterranean Buffalo</a:t>
            </a:r>
          </a:p>
        </p:txBody>
      </p:sp>
      <p:pic>
        <p:nvPicPr>
          <p:cNvPr id="4" name="Picture 3">
            <a:extLst>
              <a:ext uri="{FF2B5EF4-FFF2-40B4-BE49-F238E27FC236}">
                <a16:creationId xmlns:a16="http://schemas.microsoft.com/office/drawing/2014/main" id="{A5405956-FA28-257A-EC55-977FB66398CD}"/>
              </a:ext>
            </a:extLst>
          </p:cNvPr>
          <p:cNvPicPr>
            <a:picLocks noChangeAspect="1"/>
          </p:cNvPicPr>
          <p:nvPr/>
        </p:nvPicPr>
        <p:blipFill>
          <a:blip r:embed="rId3"/>
          <a:stretch>
            <a:fillRect/>
          </a:stretch>
        </p:blipFill>
        <p:spPr>
          <a:xfrm>
            <a:off x="366242" y="3429000"/>
            <a:ext cx="6838070" cy="874039"/>
          </a:xfrm>
          <a:prstGeom prst="rect">
            <a:avLst/>
          </a:prstGeom>
        </p:spPr>
      </p:pic>
      <p:pic>
        <p:nvPicPr>
          <p:cNvPr id="5" name="Picture 4">
            <a:extLst>
              <a:ext uri="{FF2B5EF4-FFF2-40B4-BE49-F238E27FC236}">
                <a16:creationId xmlns:a16="http://schemas.microsoft.com/office/drawing/2014/main" id="{009053BE-58BD-4338-8835-AA8AA69E041E}"/>
              </a:ext>
            </a:extLst>
          </p:cNvPr>
          <p:cNvPicPr>
            <a:picLocks noChangeAspect="1"/>
          </p:cNvPicPr>
          <p:nvPr/>
        </p:nvPicPr>
        <p:blipFill>
          <a:blip r:embed="rId4"/>
          <a:stretch>
            <a:fillRect/>
          </a:stretch>
        </p:blipFill>
        <p:spPr>
          <a:xfrm>
            <a:off x="366242" y="4127659"/>
            <a:ext cx="6838062" cy="874038"/>
          </a:xfrm>
          <a:prstGeom prst="rect">
            <a:avLst/>
          </a:prstGeom>
        </p:spPr>
      </p:pic>
      <p:pic>
        <p:nvPicPr>
          <p:cNvPr id="7" name="Picture 6">
            <a:extLst>
              <a:ext uri="{FF2B5EF4-FFF2-40B4-BE49-F238E27FC236}">
                <a16:creationId xmlns:a16="http://schemas.microsoft.com/office/drawing/2014/main" id="{E4A3C353-F92E-3367-4A60-73F1D244D002}"/>
              </a:ext>
            </a:extLst>
          </p:cNvPr>
          <p:cNvPicPr>
            <a:picLocks noChangeAspect="1"/>
          </p:cNvPicPr>
          <p:nvPr/>
        </p:nvPicPr>
        <p:blipFill>
          <a:blip r:embed="rId5"/>
          <a:srcRect b="57096"/>
          <a:stretch>
            <a:fillRect/>
          </a:stretch>
        </p:blipFill>
        <p:spPr>
          <a:xfrm>
            <a:off x="7711913" y="3480113"/>
            <a:ext cx="3835400" cy="370517"/>
          </a:xfrm>
          <a:prstGeom prst="rect">
            <a:avLst/>
          </a:prstGeom>
        </p:spPr>
      </p:pic>
      <p:pic>
        <p:nvPicPr>
          <p:cNvPr id="10" name="Picture 9">
            <a:extLst>
              <a:ext uri="{FF2B5EF4-FFF2-40B4-BE49-F238E27FC236}">
                <a16:creationId xmlns:a16="http://schemas.microsoft.com/office/drawing/2014/main" id="{C16777D1-3669-1F78-E8B3-FDE8F8AECD56}"/>
              </a:ext>
            </a:extLst>
          </p:cNvPr>
          <p:cNvPicPr>
            <a:picLocks noChangeAspect="1"/>
          </p:cNvPicPr>
          <p:nvPr/>
        </p:nvPicPr>
        <p:blipFill>
          <a:blip r:embed="rId6"/>
          <a:stretch>
            <a:fillRect/>
          </a:stretch>
        </p:blipFill>
        <p:spPr>
          <a:xfrm>
            <a:off x="7711913" y="4017560"/>
            <a:ext cx="3835400" cy="863600"/>
          </a:xfrm>
          <a:prstGeom prst="rect">
            <a:avLst/>
          </a:prstGeom>
        </p:spPr>
      </p:pic>
    </p:spTree>
    <p:extLst>
      <p:ext uri="{BB962C8B-B14F-4D97-AF65-F5344CB8AC3E}">
        <p14:creationId xmlns:p14="http://schemas.microsoft.com/office/powerpoint/2010/main" val="108651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D26E-3235-FAAE-C90C-7672FDC257DF}"/>
              </a:ext>
            </a:extLst>
          </p:cNvPr>
          <p:cNvSpPr>
            <a:spLocks noGrp="1"/>
          </p:cNvSpPr>
          <p:nvPr>
            <p:ph type="title"/>
          </p:nvPr>
        </p:nvSpPr>
        <p:spPr>
          <a:xfrm>
            <a:off x="188965" y="90864"/>
            <a:ext cx="12153249" cy="890444"/>
          </a:xfrm>
        </p:spPr>
        <p:txBody>
          <a:bodyPr>
            <a:normAutofit/>
          </a:bodyPr>
          <a:lstStyle/>
          <a:p>
            <a:r>
              <a:rPr lang="en-US" sz="3600" dirty="0"/>
              <a:t>THI refers to be an important KPI in milk production.</a:t>
            </a:r>
          </a:p>
        </p:txBody>
      </p:sp>
      <p:pic>
        <p:nvPicPr>
          <p:cNvPr id="3" name="Picture 2" descr="A chart showing different levels of stress&#10;&#10;AI-generated content may be incorrect.">
            <a:extLst>
              <a:ext uri="{FF2B5EF4-FFF2-40B4-BE49-F238E27FC236}">
                <a16:creationId xmlns:a16="http://schemas.microsoft.com/office/drawing/2014/main" id="{32FF6511-BCBC-B016-2A00-51334A583079}"/>
              </a:ext>
            </a:extLst>
          </p:cNvPr>
          <p:cNvPicPr>
            <a:picLocks noChangeAspect="1"/>
          </p:cNvPicPr>
          <p:nvPr/>
        </p:nvPicPr>
        <p:blipFill>
          <a:blip r:embed="rId2">
            <a:clrChange>
              <a:clrFrom>
                <a:srgbClr val="FDFDFD"/>
              </a:clrFrom>
              <a:clrTo>
                <a:srgbClr val="FDFDFD">
                  <a:alpha val="0"/>
                </a:srgbClr>
              </a:clrTo>
            </a:clrChange>
          </a:blip>
          <a:srcRect t="33723" b="32546"/>
          <a:stretch>
            <a:fillRect/>
          </a:stretch>
        </p:blipFill>
        <p:spPr>
          <a:xfrm>
            <a:off x="1186036" y="2336799"/>
            <a:ext cx="9867927" cy="1857829"/>
          </a:xfrm>
          <a:prstGeom prst="rect">
            <a:avLst/>
          </a:prstGeom>
        </p:spPr>
      </p:pic>
      <p:pic>
        <p:nvPicPr>
          <p:cNvPr id="4" name="Picture 3" descr="A chart showing different levels of stress&#10;&#10;AI-generated content may be incorrect.">
            <a:extLst>
              <a:ext uri="{FF2B5EF4-FFF2-40B4-BE49-F238E27FC236}">
                <a16:creationId xmlns:a16="http://schemas.microsoft.com/office/drawing/2014/main" id="{0B00387F-10B3-5590-8BE8-9BA588D72951}"/>
              </a:ext>
            </a:extLst>
          </p:cNvPr>
          <p:cNvPicPr>
            <a:picLocks noChangeAspect="1"/>
          </p:cNvPicPr>
          <p:nvPr/>
        </p:nvPicPr>
        <p:blipFill>
          <a:blip r:embed="rId2">
            <a:clrChange>
              <a:clrFrom>
                <a:srgbClr val="FDFDFD"/>
              </a:clrFrom>
              <a:clrTo>
                <a:srgbClr val="FDFDFD">
                  <a:alpha val="0"/>
                </a:srgbClr>
              </a:clrTo>
            </a:clrChange>
          </a:blip>
          <a:srcRect t="83662" b="5007"/>
          <a:stretch>
            <a:fillRect/>
          </a:stretch>
        </p:blipFill>
        <p:spPr>
          <a:xfrm>
            <a:off x="1138037" y="4020457"/>
            <a:ext cx="9867927" cy="624114"/>
          </a:xfrm>
          <a:prstGeom prst="rect">
            <a:avLst/>
          </a:prstGeom>
        </p:spPr>
      </p:pic>
      <p:sp>
        <p:nvSpPr>
          <p:cNvPr id="7" name="TextBox 6">
            <a:extLst>
              <a:ext uri="{FF2B5EF4-FFF2-40B4-BE49-F238E27FC236}">
                <a16:creationId xmlns:a16="http://schemas.microsoft.com/office/drawing/2014/main" id="{E38FC03A-7AC7-D37E-C2FB-22AB14315213}"/>
              </a:ext>
            </a:extLst>
          </p:cNvPr>
          <p:cNvSpPr txBox="1"/>
          <p:nvPr/>
        </p:nvSpPr>
        <p:spPr>
          <a:xfrm>
            <a:off x="643982" y="5688736"/>
            <a:ext cx="11243217" cy="646331"/>
          </a:xfrm>
          <a:prstGeom prst="rect">
            <a:avLst/>
          </a:prstGeom>
          <a:noFill/>
        </p:spPr>
        <p:txBody>
          <a:bodyPr wrap="square">
            <a:spAutoFit/>
          </a:bodyPr>
          <a:lstStyle/>
          <a:p>
            <a:r>
              <a:rPr lang="en-US" dirty="0">
                <a:solidFill>
                  <a:srgbClr val="333333"/>
                </a:solidFill>
                <a:latin typeface="HelveticaNeue Regular"/>
              </a:rPr>
              <a:t>S. Dash, </a:t>
            </a:r>
            <a:r>
              <a:rPr lang="en-US" i="1" dirty="0">
                <a:solidFill>
                  <a:srgbClr val="333333"/>
                </a:solidFill>
                <a:latin typeface="HelveticaNeue Regular"/>
              </a:rPr>
              <a:t>et al</a:t>
            </a:r>
            <a:r>
              <a:rPr lang="en-US" dirty="0">
                <a:solidFill>
                  <a:srgbClr val="333333"/>
                </a:solidFill>
                <a:latin typeface="HelveticaNeue Regular"/>
              </a:rPr>
              <a:t>, "Effect of heat stress on reproductive performances of dairy cattle and buffaloes: A review," in </a:t>
            </a:r>
            <a:r>
              <a:rPr lang="en-US" i="1" dirty="0">
                <a:solidFill>
                  <a:srgbClr val="333333"/>
                </a:solidFill>
                <a:latin typeface="HelveticaNeue Regular"/>
              </a:rPr>
              <a:t>Veterinary World</a:t>
            </a:r>
            <a:r>
              <a:rPr lang="en-US" dirty="0">
                <a:solidFill>
                  <a:srgbClr val="333333"/>
                </a:solidFill>
                <a:latin typeface="HelveticaNeue Regular"/>
              </a:rPr>
              <a:t>, vol. 9, no. 3, pp. 235–244, Mar. 2016, </a:t>
            </a:r>
            <a:r>
              <a:rPr lang="en-US" dirty="0" err="1">
                <a:solidFill>
                  <a:srgbClr val="333333"/>
                </a:solidFill>
                <a:latin typeface="HelveticaNeue Regular"/>
              </a:rPr>
              <a:t>doi</a:t>
            </a:r>
            <a:r>
              <a:rPr lang="en-US" dirty="0">
                <a:solidFill>
                  <a:srgbClr val="333333"/>
                </a:solidFill>
                <a:latin typeface="HelveticaNeue Regular"/>
              </a:rPr>
              <a:t>: 10.14202/vetworld.2016.235-244.</a:t>
            </a:r>
          </a:p>
        </p:txBody>
      </p:sp>
      <p:sp>
        <p:nvSpPr>
          <p:cNvPr id="8" name="TextBox 7">
            <a:extLst>
              <a:ext uri="{FF2B5EF4-FFF2-40B4-BE49-F238E27FC236}">
                <a16:creationId xmlns:a16="http://schemas.microsoft.com/office/drawing/2014/main" id="{6FA7E73B-1175-12EE-B7CF-42B7C70D0DE2}"/>
              </a:ext>
            </a:extLst>
          </p:cNvPr>
          <p:cNvSpPr txBox="1"/>
          <p:nvPr/>
        </p:nvSpPr>
        <p:spPr>
          <a:xfrm>
            <a:off x="643982" y="5042405"/>
            <a:ext cx="11243217" cy="646331"/>
          </a:xfrm>
          <a:prstGeom prst="rect">
            <a:avLst/>
          </a:prstGeom>
          <a:noFill/>
        </p:spPr>
        <p:txBody>
          <a:bodyPr wrap="square">
            <a:spAutoFit/>
          </a:bodyPr>
          <a:lstStyle/>
          <a:p>
            <a:r>
              <a:rPr lang="en-US" dirty="0">
                <a:solidFill>
                  <a:srgbClr val="333333"/>
                </a:solidFill>
                <a:latin typeface="HelveticaNeue Regular"/>
              </a:rPr>
              <a:t>V. L. de Araujo </a:t>
            </a:r>
            <a:r>
              <a:rPr lang="en-US" i="1" dirty="0">
                <a:solidFill>
                  <a:srgbClr val="333333"/>
                </a:solidFill>
                <a:latin typeface="HelveticaNeue Regular"/>
              </a:rPr>
              <a:t>et al</a:t>
            </a:r>
            <a:r>
              <a:rPr lang="en-US" dirty="0">
                <a:solidFill>
                  <a:srgbClr val="333333"/>
                </a:solidFill>
                <a:latin typeface="HelveticaNeue Regular"/>
              </a:rPr>
              <a:t>, "Responses of dairy buffalo to heat stress conditions and mitigation strategies: A review," in </a:t>
            </a:r>
            <a:r>
              <a:rPr lang="en-US" i="1" dirty="0">
                <a:solidFill>
                  <a:srgbClr val="333333"/>
                </a:solidFill>
                <a:latin typeface="HelveticaNeue Regular"/>
              </a:rPr>
              <a:t>Animals</a:t>
            </a:r>
            <a:r>
              <a:rPr lang="en-US" dirty="0">
                <a:solidFill>
                  <a:srgbClr val="333333"/>
                </a:solidFill>
                <a:latin typeface="HelveticaNeue Regular"/>
              </a:rPr>
              <a:t>, vol. 14, no. 5, Art. no. 731, Feb. 2024, </a:t>
            </a:r>
            <a:r>
              <a:rPr lang="en-US" dirty="0" err="1">
                <a:solidFill>
                  <a:srgbClr val="333333"/>
                </a:solidFill>
                <a:latin typeface="HelveticaNeue Regular"/>
              </a:rPr>
              <a:t>doi</a:t>
            </a:r>
            <a:r>
              <a:rPr lang="en-US" dirty="0">
                <a:solidFill>
                  <a:srgbClr val="333333"/>
                </a:solidFill>
                <a:latin typeface="HelveticaNeue Regular"/>
              </a:rPr>
              <a:t>: 1</a:t>
            </a:r>
            <a:r>
              <a:rPr lang="en-US" dirty="0"/>
              <a:t>0.3390/ani13071260</a:t>
            </a:r>
            <a:endParaRPr lang="en-US" dirty="0">
              <a:solidFill>
                <a:srgbClr val="333333"/>
              </a:solidFill>
              <a:latin typeface="HelveticaNeue Regular"/>
            </a:endParaRPr>
          </a:p>
        </p:txBody>
      </p:sp>
    </p:spTree>
    <p:extLst>
      <p:ext uri="{BB962C8B-B14F-4D97-AF65-F5344CB8AC3E}">
        <p14:creationId xmlns:p14="http://schemas.microsoft.com/office/powerpoint/2010/main" val="4086497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5222-19B4-6B09-8703-062C5FE5B01D}"/>
              </a:ext>
            </a:extLst>
          </p:cNvPr>
          <p:cNvSpPr>
            <a:spLocks noGrp="1"/>
          </p:cNvSpPr>
          <p:nvPr>
            <p:ph type="title"/>
          </p:nvPr>
        </p:nvSpPr>
        <p:spPr>
          <a:xfrm>
            <a:off x="180000" y="180000"/>
            <a:ext cx="11880000" cy="648000"/>
          </a:xfrm>
        </p:spPr>
        <p:txBody>
          <a:bodyPr>
            <a:normAutofit fontScale="90000"/>
          </a:bodyPr>
          <a:lstStyle/>
          <a:p>
            <a:r>
              <a:rPr lang="en-US" dirty="0"/>
              <a:t>Studies on Milk Prediction</a:t>
            </a:r>
          </a:p>
        </p:txBody>
      </p:sp>
      <p:sp>
        <p:nvSpPr>
          <p:cNvPr id="3" name="TextBox 2">
            <a:extLst>
              <a:ext uri="{FF2B5EF4-FFF2-40B4-BE49-F238E27FC236}">
                <a16:creationId xmlns:a16="http://schemas.microsoft.com/office/drawing/2014/main" id="{52F2B243-E716-63AA-5F62-ED627F0F9633}"/>
              </a:ext>
            </a:extLst>
          </p:cNvPr>
          <p:cNvSpPr txBox="1"/>
          <p:nvPr/>
        </p:nvSpPr>
        <p:spPr>
          <a:xfrm>
            <a:off x="551936" y="2488101"/>
            <a:ext cx="11272634" cy="267765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solidFill>
                  <a:srgbClr val="1B415D"/>
                </a:solidFill>
                <a:sym typeface="Wingdings" pitchFamily="2" charset="2"/>
              </a:rPr>
              <a:t>Effect of HS on cow milk yield</a:t>
            </a:r>
            <a:r>
              <a:rPr lang="fa-IR" sz="2400" dirty="0">
                <a:solidFill>
                  <a:srgbClr val="1B415D"/>
                </a:solidFill>
                <a:sym typeface="Wingdings" pitchFamily="2" charset="2"/>
              </a:rPr>
              <a:t> </a:t>
            </a:r>
            <a:r>
              <a:rPr lang="en-US" sz="2400" dirty="0">
                <a:solidFill>
                  <a:srgbClr val="1B415D"/>
                </a:solidFill>
                <a:sym typeface="Wingdings" pitchFamily="2" charset="2"/>
              </a:rPr>
              <a:t>,by Hassan, 2025</a:t>
            </a:r>
          </a:p>
          <a:p>
            <a:pPr marL="342900" indent="-342900">
              <a:lnSpc>
                <a:spcPct val="150000"/>
              </a:lnSpc>
              <a:buFont typeface="Arial" panose="020B0604020202020204" pitchFamily="34" charset="0"/>
              <a:buChar char="•"/>
            </a:pPr>
            <a:r>
              <a:rPr lang="en-US" sz="2400" dirty="0">
                <a:solidFill>
                  <a:srgbClr val="1B415D"/>
                </a:solidFill>
                <a:sym typeface="Wingdings" pitchFamily="2" charset="2"/>
              </a:rPr>
              <a:t>individual models for predicting cow milk production in Korea, by Song,2025</a:t>
            </a:r>
          </a:p>
          <a:p>
            <a:pPr marL="342900" indent="-342900">
              <a:lnSpc>
                <a:spcPct val="150000"/>
              </a:lnSpc>
              <a:buFont typeface="Arial" panose="020B0604020202020204" pitchFamily="34" charset="0"/>
              <a:buChar char="•"/>
            </a:pPr>
            <a:r>
              <a:rPr lang="en-US" sz="2400" dirty="0">
                <a:solidFill>
                  <a:srgbClr val="1B415D"/>
                </a:solidFill>
                <a:sym typeface="Wingdings" pitchFamily="2" charset="2"/>
              </a:rPr>
              <a:t>predict the next month's daily cow milk yield in Australia by Ji,2022</a:t>
            </a:r>
          </a:p>
          <a:p>
            <a:pPr marL="342900" indent="-342900">
              <a:lnSpc>
                <a:spcPct val="150000"/>
              </a:lnSpc>
              <a:buFont typeface="Arial" panose="020B0604020202020204" pitchFamily="34" charset="0"/>
              <a:buChar char="•"/>
            </a:pPr>
            <a:r>
              <a:rPr lang="en-US" sz="2400" dirty="0">
                <a:solidFill>
                  <a:srgbClr val="1B415D"/>
                </a:solidFill>
                <a:sym typeface="Wingdings" pitchFamily="2" charset="2"/>
              </a:rPr>
              <a:t>predict SCC in the Italian Mediterranean Buffaloes by Bobbo, 2022</a:t>
            </a:r>
          </a:p>
          <a:p>
            <a:pPr marL="342900" indent="-342900">
              <a:buFont typeface="Arial" panose="020B0604020202020204" pitchFamily="34" charset="0"/>
              <a:buChar char="•"/>
            </a:pPr>
            <a:endParaRPr lang="en-US" sz="2400" dirty="0">
              <a:solidFill>
                <a:srgbClr val="1B415D"/>
              </a:solidFill>
              <a:sym typeface="Wingdings" pitchFamily="2" charset="2"/>
            </a:endParaRPr>
          </a:p>
        </p:txBody>
      </p:sp>
    </p:spTree>
    <p:extLst>
      <p:ext uri="{BB962C8B-B14F-4D97-AF65-F5344CB8AC3E}">
        <p14:creationId xmlns:p14="http://schemas.microsoft.com/office/powerpoint/2010/main" val="4030576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B8191-6858-AD0F-847A-A6918CE6E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83EA6-C17E-EC7E-F616-5F56B9A52058}"/>
              </a:ext>
            </a:extLst>
          </p:cNvPr>
          <p:cNvSpPr>
            <a:spLocks noGrp="1"/>
          </p:cNvSpPr>
          <p:nvPr>
            <p:ph type="title"/>
          </p:nvPr>
        </p:nvSpPr>
        <p:spPr>
          <a:xfrm>
            <a:off x="180000" y="180000"/>
            <a:ext cx="11880000" cy="648000"/>
          </a:xfrm>
        </p:spPr>
        <p:txBody>
          <a:bodyPr>
            <a:normAutofit fontScale="90000"/>
          </a:bodyPr>
          <a:lstStyle/>
          <a:p>
            <a:r>
              <a:rPr lang="en-US" dirty="0"/>
              <a:t>Effect of HS on cow milk yield by Hassan, 2025</a:t>
            </a:r>
          </a:p>
        </p:txBody>
      </p:sp>
      <p:sp>
        <p:nvSpPr>
          <p:cNvPr id="3" name="TextBox 2">
            <a:extLst>
              <a:ext uri="{FF2B5EF4-FFF2-40B4-BE49-F238E27FC236}">
                <a16:creationId xmlns:a16="http://schemas.microsoft.com/office/drawing/2014/main" id="{64C3717F-B5CC-6962-F00B-8E13EDE1357B}"/>
              </a:ext>
            </a:extLst>
          </p:cNvPr>
          <p:cNvSpPr txBox="1"/>
          <p:nvPr/>
        </p:nvSpPr>
        <p:spPr>
          <a:xfrm>
            <a:off x="643982" y="5688736"/>
            <a:ext cx="11416018" cy="584775"/>
          </a:xfrm>
          <a:prstGeom prst="rect">
            <a:avLst/>
          </a:prstGeom>
          <a:noFill/>
        </p:spPr>
        <p:txBody>
          <a:bodyPr wrap="square">
            <a:spAutoFit/>
          </a:bodyPr>
          <a:lstStyle/>
          <a:p>
            <a:r>
              <a:rPr lang="en-US" sz="1600" dirty="0">
                <a:solidFill>
                  <a:srgbClr val="333333"/>
                </a:solidFill>
                <a:latin typeface="HelveticaNeue Regular"/>
              </a:rPr>
              <a:t>M. F. Hasan, </a:t>
            </a:r>
            <a:r>
              <a:rPr lang="en-US" sz="1600" i="1" dirty="0">
                <a:solidFill>
                  <a:srgbClr val="333333"/>
                </a:solidFill>
                <a:latin typeface="HelveticaNeue Regular"/>
              </a:rPr>
              <a:t>et al</a:t>
            </a:r>
            <a:r>
              <a:rPr lang="en-US" sz="1600" dirty="0">
                <a:solidFill>
                  <a:srgbClr val="333333"/>
                </a:solidFill>
                <a:latin typeface="HelveticaNeue Regular"/>
              </a:rPr>
              <a:t> "An effective way to incorporate temperature–humidity index to study effect of heat stress on milk yield by an </a:t>
            </a:r>
            <a:r>
              <a:rPr lang="en-US" sz="1600" dirty="0" err="1">
                <a:solidFill>
                  <a:srgbClr val="333333"/>
                </a:solidFill>
                <a:latin typeface="HelveticaNeue Regular"/>
              </a:rPr>
              <a:t>XGBoost</a:t>
            </a:r>
            <a:r>
              <a:rPr lang="en-US" sz="1600" dirty="0">
                <a:solidFill>
                  <a:srgbClr val="333333"/>
                </a:solidFill>
                <a:latin typeface="HelveticaNeue Regular"/>
              </a:rPr>
              <a:t> machine learning model," in </a:t>
            </a:r>
            <a:r>
              <a:rPr lang="en-US" sz="1600" i="1" dirty="0">
                <a:solidFill>
                  <a:srgbClr val="333333"/>
                </a:solidFill>
                <a:latin typeface="HelveticaNeue Regular"/>
              </a:rPr>
              <a:t>Journal of Dairy Science</a:t>
            </a:r>
            <a:r>
              <a:rPr lang="en-US" sz="1600" dirty="0">
                <a:solidFill>
                  <a:srgbClr val="333333"/>
                </a:solidFill>
                <a:latin typeface="HelveticaNeue Regular"/>
              </a:rPr>
              <a:t>, vol. 108, no. 12, 2025, </a:t>
            </a:r>
            <a:r>
              <a:rPr lang="en-US" sz="1600" dirty="0" err="1">
                <a:solidFill>
                  <a:srgbClr val="333333"/>
                </a:solidFill>
                <a:latin typeface="HelveticaNeue Regular"/>
              </a:rPr>
              <a:t>doi</a:t>
            </a:r>
            <a:r>
              <a:rPr lang="en-US" sz="1600" dirty="0">
                <a:solidFill>
                  <a:srgbClr val="333333"/>
                </a:solidFill>
                <a:latin typeface="HelveticaNeue Regular"/>
              </a:rPr>
              <a:t>: 10.3168/jds.2025-27193.</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F1D6CDFA-2457-7A5E-E76C-4C81913FAD2A}"/>
                  </a:ext>
                </a:extLst>
              </p:cNvPr>
              <p:cNvSpPr txBox="1">
                <a:spLocks/>
              </p:cNvSpPr>
              <p:nvPr/>
            </p:nvSpPr>
            <p:spPr>
              <a:xfrm>
                <a:off x="180000" y="1008528"/>
                <a:ext cx="11880000" cy="4680207"/>
              </a:xfrm>
              <a:prstGeom prst="rect">
                <a:avLst/>
              </a:prstGeom>
            </p:spPr>
            <p:txBody>
              <a:bodyPr>
                <a:normAutofit fontScale="77500" lnSpcReduction="20000"/>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2000" kern="1200" spc="300">
                    <a:solidFill>
                      <a:schemeClr val="tx1"/>
                    </a:solidFill>
                    <a:latin typeface="Poppins" panose="00000500000000000000" pitchFamily="2"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Case Study:</a:t>
                </a:r>
                <a:r>
                  <a:rPr lang="en-US" sz="2000" dirty="0"/>
                  <a:t> </a:t>
                </a:r>
                <a:r>
                  <a:rPr lang="en-US" sz="2000" u="sng" dirty="0"/>
                  <a:t>10</a:t>
                </a:r>
                <a:r>
                  <a:rPr lang="en-US" sz="2000" dirty="0"/>
                  <a:t> commercial dairy farms in Australia involving </a:t>
                </a:r>
                <a:r>
                  <a:rPr lang="en-US" sz="2000" u="sng" dirty="0"/>
                  <a:t>3,369</a:t>
                </a:r>
                <a:r>
                  <a:rPr lang="en-US" sz="2000" dirty="0"/>
                  <a:t> lactating cows (primarily Holstein Friesian).</a:t>
                </a:r>
              </a:p>
              <a:p>
                <a:r>
                  <a:rPr lang="en-US" sz="2000" b="1" dirty="0"/>
                  <a:t>Data:</a:t>
                </a:r>
              </a:p>
              <a:p>
                <a:r>
                  <a:rPr lang="en-US" sz="2000" b="1" dirty="0"/>
                  <a:t>	Timeframe:</a:t>
                </a:r>
                <a:r>
                  <a:rPr lang="en-US" sz="2000" dirty="0"/>
                  <a:t> from early 2019 to mid-2023</a:t>
                </a:r>
                <a:endParaRPr lang="en-US" sz="2000" b="1" dirty="0"/>
              </a:p>
              <a:p>
                <a:r>
                  <a:rPr lang="en-US" sz="2000" b="1" dirty="0"/>
                  <a:t>	Milk Data:</a:t>
                </a:r>
                <a:r>
                  <a:rPr lang="en-US" sz="2000" dirty="0"/>
                  <a:t> Daily total yield, milking time, duration, etc.</a:t>
                </a:r>
              </a:p>
              <a:p>
                <a:r>
                  <a:rPr lang="en-US" sz="2000" dirty="0"/>
                  <a:t>	</a:t>
                </a:r>
                <a:r>
                  <a:rPr lang="en-US" sz="2000" b="1" dirty="0"/>
                  <a:t>Cow Info:</a:t>
                </a:r>
                <a:r>
                  <a:rPr lang="en-US" sz="2000" dirty="0"/>
                  <a:t> National ID, birth date, calving date, etc.</a:t>
                </a:r>
              </a:p>
              <a:p>
                <a:r>
                  <a:rPr lang="en-US" sz="2000" dirty="0"/>
                  <a:t>	</a:t>
                </a:r>
                <a:r>
                  <a:rPr lang="en-US" sz="2000" b="1" dirty="0"/>
                  <a:t>Weather Data:</a:t>
                </a:r>
                <a:r>
                  <a:rPr lang="en-US" sz="2000" dirty="0"/>
                  <a:t> a station </a:t>
                </a:r>
                <a:r>
                  <a:rPr lang="en-US" sz="2000" b="1" dirty="0"/>
                  <a:t>&lt;65 km</a:t>
                </a:r>
                <a:r>
                  <a:rPr lang="en-US" sz="2000" dirty="0"/>
                  <a:t> from the farm.</a:t>
                </a:r>
              </a:p>
              <a:p>
                <a:r>
                  <a:rPr lang="en-US" sz="2000" b="1" dirty="0"/>
                  <a:t>Novelty: </a:t>
                </a:r>
                <a:r>
                  <a:rPr lang="en-US" sz="2000" dirty="0"/>
                  <a:t>Replaced standard daily THI with </a:t>
                </a:r>
                <a:r>
                  <a:rPr lang="en-US" sz="2000" b="1" dirty="0"/>
                  <a:t>THI Composite</a:t>
                </a:r>
              </a:p>
              <a:p>
                <a:r>
                  <a:rPr lang="en-US" sz="2000" dirty="0"/>
                  <a:t>	</a:t>
                </a:r>
                <a:r>
                  <a:rPr lang="en-US" sz="2000" b="1" dirty="0"/>
                  <a:t>THI Composite</a:t>
                </a:r>
                <a:r>
                  <a:rPr lang="en-US" sz="2000" dirty="0"/>
                  <a:t> is average of 5-day window of THI=</a:t>
                </a:r>
              </a:p>
              <a:p>
                <a:endParaRPr lang="en-US" sz="2000" dirty="0"/>
              </a:p>
              <a:p>
                <a:r>
                  <a:rPr lang="en-US" sz="2000" b="1" dirty="0"/>
                  <a:t>Methodology:</a:t>
                </a:r>
                <a:r>
                  <a:rPr lang="en-US" sz="2000" dirty="0"/>
                  <a:t> Developed an </a:t>
                </a:r>
                <a:r>
                  <a:rPr lang="en-US" sz="2000" b="1" dirty="0" err="1"/>
                  <a:t>eXtreme</a:t>
                </a:r>
                <a:r>
                  <a:rPr lang="en-US" sz="2000" b="1" dirty="0"/>
                  <a:t> Gradient Boosting (</a:t>
                </a:r>
                <a:r>
                  <a:rPr lang="en-US" sz="2000" b="1" dirty="0" err="1"/>
                  <a:t>XGBoost</a:t>
                </a:r>
                <a:r>
                  <a:rPr lang="en-US" sz="2000" b="1" dirty="0"/>
                  <a:t>)</a:t>
                </a:r>
                <a:r>
                  <a:rPr lang="en-US" sz="2000" dirty="0"/>
                  <a:t> model to predict daily milk </a:t>
                </a:r>
              </a:p>
              <a:p>
                <a:r>
                  <a:rPr lang="en-US" sz="2000" b="1" dirty="0"/>
                  <a:t>Performance &amp; Metrics: </a:t>
                </a:r>
                <a:endParaRPr lang="en-US" sz="2000" i="1" dirty="0">
                  <a:latin typeface="Cambria Math" panose="02040503050406030204" pitchFamily="18" charset="0"/>
                </a:endParaRPr>
              </a:p>
              <a:p>
                <a:r>
                  <a:rPr lang="en-US" sz="2000" dirty="0"/>
                  <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2</m:t>
                        </m:r>
                      </m:sup>
                    </m:sSup>
                    <m:r>
                      <a:rPr lang="en-US" sz="2000" b="0" i="0" smtClean="0">
                        <a:latin typeface="Cambria Math" panose="02040503050406030204" pitchFamily="18" charset="0"/>
                      </a:rPr>
                      <m:t>= </m:t>
                    </m:r>
                  </m:oMath>
                </a14:m>
                <a:r>
                  <a:rPr lang="en-US" sz="2000" dirty="0"/>
                  <a:t>0.73 </a:t>
                </a:r>
              </a:p>
              <a:p>
                <a:r>
                  <a:rPr lang="en-US" sz="2000" dirty="0"/>
                  <a:t>	Lin’s Concordance Correlation Coefficient (LCCC) = 0.846.</a:t>
                </a:r>
              </a:p>
              <a:p>
                <a:r>
                  <a:rPr lang="en-US" sz="2000" dirty="0"/>
                  <a:t>	</a:t>
                </a:r>
                <a:r>
                  <a:rPr lang="en-US" sz="2000" b="1" dirty="0"/>
                  <a:t>THI composite</a:t>
                </a:r>
                <a:r>
                  <a:rPr lang="en-US" sz="2000" dirty="0"/>
                  <a:t> improved prediction accuracy by up to </a:t>
                </a:r>
                <a:r>
                  <a:rPr lang="en-US" sz="2000" b="1" dirty="0"/>
                  <a:t>21%</a:t>
                </a:r>
                <a:endParaRPr lang="en-US" sz="2000" dirty="0"/>
              </a:p>
            </p:txBody>
          </p:sp>
        </mc:Choice>
        <mc:Fallback>
          <p:sp>
            <p:nvSpPr>
              <p:cNvPr id="4" name="Content Placeholder 2">
                <a:extLst>
                  <a:ext uri="{FF2B5EF4-FFF2-40B4-BE49-F238E27FC236}">
                    <a16:creationId xmlns:a16="http://schemas.microsoft.com/office/drawing/2014/main" id="{F1D6CDFA-2457-7A5E-E76C-4C81913FAD2A}"/>
                  </a:ext>
                </a:extLst>
              </p:cNvPr>
              <p:cNvSpPr txBox="1">
                <a:spLocks noRot="1" noChangeAspect="1" noMove="1" noResize="1" noEditPoints="1" noAdjustHandles="1" noChangeArrowheads="1" noChangeShapeType="1" noTextEdit="1"/>
              </p:cNvSpPr>
              <p:nvPr/>
            </p:nvSpPr>
            <p:spPr>
              <a:xfrm>
                <a:off x="180000" y="1008528"/>
                <a:ext cx="11880000" cy="4680207"/>
              </a:xfrm>
              <a:prstGeom prst="rect">
                <a:avLst/>
              </a:prstGeom>
              <a:blipFill>
                <a:blip r:embed="rId2"/>
                <a:stretch>
                  <a:fillRect l="-321" t="-108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35DE1CA6-5CD5-FE41-E0A6-724816D77EE8}"/>
              </a:ext>
            </a:extLst>
          </p:cNvPr>
          <p:cNvPicPr>
            <a:picLocks noChangeAspect="1"/>
          </p:cNvPicPr>
          <p:nvPr/>
        </p:nvPicPr>
        <p:blipFill>
          <a:blip r:embed="rId3"/>
          <a:stretch>
            <a:fillRect/>
          </a:stretch>
        </p:blipFill>
        <p:spPr>
          <a:xfrm>
            <a:off x="6323527" y="2995617"/>
            <a:ext cx="5723594" cy="691863"/>
          </a:xfrm>
          <a:prstGeom prst="rect">
            <a:avLst/>
          </a:prstGeom>
        </p:spPr>
      </p:pic>
    </p:spTree>
    <p:extLst>
      <p:ext uri="{BB962C8B-B14F-4D97-AF65-F5344CB8AC3E}">
        <p14:creationId xmlns:p14="http://schemas.microsoft.com/office/powerpoint/2010/main" val="60426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831D-D18D-68DB-7E59-845DF911A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F2257-21B4-F396-C546-08F14F169CA2}"/>
              </a:ext>
            </a:extLst>
          </p:cNvPr>
          <p:cNvSpPr>
            <a:spLocks noGrp="1"/>
          </p:cNvSpPr>
          <p:nvPr>
            <p:ph type="title"/>
          </p:nvPr>
        </p:nvSpPr>
        <p:spPr>
          <a:xfrm>
            <a:off x="180000" y="180000"/>
            <a:ext cx="11880000" cy="1532686"/>
          </a:xfrm>
        </p:spPr>
        <p:txBody>
          <a:bodyPr>
            <a:normAutofit fontScale="90000"/>
          </a:bodyPr>
          <a:lstStyle/>
          <a:p>
            <a:r>
              <a:rPr lang="en-US" dirty="0"/>
              <a:t>individual models for predicting cow milk production in Korea, by Song,2025</a:t>
            </a:r>
            <a:br>
              <a:rPr lang="en-US" dirty="0"/>
            </a:br>
            <a:endParaRPr lang="en-US" dirty="0"/>
          </a:p>
        </p:txBody>
      </p:sp>
    </p:spTree>
    <p:extLst>
      <p:ext uri="{BB962C8B-B14F-4D97-AF65-F5344CB8AC3E}">
        <p14:creationId xmlns:p14="http://schemas.microsoft.com/office/powerpoint/2010/main" val="1219352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FBC5E-AA9F-E0B3-86DC-F1AAF9CB2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ED0AF-1052-2FCD-5190-540085366D4C}"/>
              </a:ext>
            </a:extLst>
          </p:cNvPr>
          <p:cNvSpPr>
            <a:spLocks noGrp="1"/>
          </p:cNvSpPr>
          <p:nvPr>
            <p:ph type="title"/>
          </p:nvPr>
        </p:nvSpPr>
        <p:spPr>
          <a:xfrm>
            <a:off x="180000" y="180000"/>
            <a:ext cx="11880000" cy="1663314"/>
          </a:xfrm>
        </p:spPr>
        <p:txBody>
          <a:bodyPr>
            <a:normAutofit fontScale="90000"/>
          </a:bodyPr>
          <a:lstStyle/>
          <a:p>
            <a:r>
              <a:rPr lang="en-US" dirty="0"/>
              <a:t>predict the next month's daily cow milk yield in Australia by Ji,2022</a:t>
            </a:r>
            <a:br>
              <a:rPr lang="en-US" dirty="0"/>
            </a:br>
            <a:endParaRPr lang="en-US" dirty="0"/>
          </a:p>
        </p:txBody>
      </p:sp>
    </p:spTree>
    <p:extLst>
      <p:ext uri="{BB962C8B-B14F-4D97-AF65-F5344CB8AC3E}">
        <p14:creationId xmlns:p14="http://schemas.microsoft.com/office/powerpoint/2010/main" val="2651640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34AF6-26B6-1BE1-ADBC-B2D79A18B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F2FBE-F5D5-4C58-50BB-E84D3DFA97F5}"/>
              </a:ext>
            </a:extLst>
          </p:cNvPr>
          <p:cNvSpPr>
            <a:spLocks noGrp="1"/>
          </p:cNvSpPr>
          <p:nvPr>
            <p:ph type="title"/>
          </p:nvPr>
        </p:nvSpPr>
        <p:spPr>
          <a:xfrm>
            <a:off x="180000" y="179999"/>
            <a:ext cx="11880000" cy="1605257"/>
          </a:xfrm>
        </p:spPr>
        <p:txBody>
          <a:bodyPr>
            <a:normAutofit fontScale="90000"/>
          </a:bodyPr>
          <a:lstStyle/>
          <a:p>
            <a:r>
              <a:rPr lang="en-US" dirty="0"/>
              <a:t>predict SCC in the Italian Mediterranean Buffaloes by Bobbo, 2022</a:t>
            </a:r>
            <a:br>
              <a:rPr lang="en-US" dirty="0"/>
            </a:br>
            <a:endParaRPr lang="en-US" dirty="0"/>
          </a:p>
        </p:txBody>
      </p:sp>
    </p:spTree>
    <p:extLst>
      <p:ext uri="{BB962C8B-B14F-4D97-AF65-F5344CB8AC3E}">
        <p14:creationId xmlns:p14="http://schemas.microsoft.com/office/powerpoint/2010/main" val="905775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84BF0-D328-97B4-BD00-6BACE7EC5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F1542-AF06-2670-2D78-9B5708F30D63}"/>
              </a:ext>
            </a:extLst>
          </p:cNvPr>
          <p:cNvSpPr>
            <a:spLocks noGrp="1"/>
          </p:cNvSpPr>
          <p:nvPr>
            <p:ph type="title"/>
          </p:nvPr>
        </p:nvSpPr>
        <p:spPr>
          <a:xfrm>
            <a:off x="180000" y="180000"/>
            <a:ext cx="11880000" cy="648000"/>
          </a:xfrm>
        </p:spPr>
        <p:txBody>
          <a:bodyPr>
            <a:normAutofit/>
          </a:bodyPr>
          <a:lstStyle/>
          <a:p>
            <a:r>
              <a:rPr lang="en-US" sz="3600" dirty="0"/>
              <a:t>Matteo’s work slide 1</a:t>
            </a:r>
          </a:p>
        </p:txBody>
      </p:sp>
    </p:spTree>
    <p:extLst>
      <p:ext uri="{BB962C8B-B14F-4D97-AF65-F5344CB8AC3E}">
        <p14:creationId xmlns:p14="http://schemas.microsoft.com/office/powerpoint/2010/main" val="1904954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7399C-66C7-BA31-F885-982E18A05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D0F4F-5F00-B158-92F8-BE610A988DAA}"/>
              </a:ext>
            </a:extLst>
          </p:cNvPr>
          <p:cNvSpPr>
            <a:spLocks noGrp="1"/>
          </p:cNvSpPr>
          <p:nvPr>
            <p:ph type="title"/>
          </p:nvPr>
        </p:nvSpPr>
        <p:spPr>
          <a:xfrm>
            <a:off x="180000" y="180000"/>
            <a:ext cx="11880000" cy="648000"/>
          </a:xfrm>
        </p:spPr>
        <p:txBody>
          <a:bodyPr>
            <a:normAutofit/>
          </a:bodyPr>
          <a:lstStyle/>
          <a:p>
            <a:r>
              <a:rPr lang="en-US" sz="3600" dirty="0"/>
              <a:t>Matteo’s work slide 2</a:t>
            </a:r>
          </a:p>
        </p:txBody>
      </p:sp>
    </p:spTree>
    <p:extLst>
      <p:ext uri="{BB962C8B-B14F-4D97-AF65-F5344CB8AC3E}">
        <p14:creationId xmlns:p14="http://schemas.microsoft.com/office/powerpoint/2010/main" val="1563766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1745-22F4-A2F3-E043-5DC581714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7AE21-8C95-9EAC-376F-D748AD286B7A}"/>
              </a:ext>
            </a:extLst>
          </p:cNvPr>
          <p:cNvSpPr>
            <a:spLocks noGrp="1"/>
          </p:cNvSpPr>
          <p:nvPr>
            <p:ph type="title"/>
          </p:nvPr>
        </p:nvSpPr>
        <p:spPr>
          <a:xfrm>
            <a:off x="180000" y="180000"/>
            <a:ext cx="11880000" cy="648000"/>
          </a:xfrm>
        </p:spPr>
        <p:txBody>
          <a:bodyPr>
            <a:normAutofit/>
          </a:bodyPr>
          <a:lstStyle/>
          <a:p>
            <a:r>
              <a:rPr lang="en-US" sz="3600" dirty="0"/>
              <a:t>Matteo’s work slide 3</a:t>
            </a:r>
          </a:p>
        </p:txBody>
      </p:sp>
    </p:spTree>
    <p:extLst>
      <p:ext uri="{BB962C8B-B14F-4D97-AF65-F5344CB8AC3E}">
        <p14:creationId xmlns:p14="http://schemas.microsoft.com/office/powerpoint/2010/main" val="3725198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B49"/>
        </a:solidFill>
        <a:effectLst/>
      </p:bgPr>
    </p:bg>
    <p:spTree>
      <p:nvGrpSpPr>
        <p:cNvPr id="1" name="">
          <a:extLst>
            <a:ext uri="{FF2B5EF4-FFF2-40B4-BE49-F238E27FC236}">
              <a16:creationId xmlns:a16="http://schemas.microsoft.com/office/drawing/2014/main" id="{BFC0B032-353C-D9A9-694D-B1F13C39909B}"/>
            </a:ext>
          </a:extLst>
        </p:cNvPr>
        <p:cNvGrpSpPr/>
        <p:nvPr/>
      </p:nvGrpSpPr>
      <p:grpSpPr>
        <a:xfrm>
          <a:off x="0" y="0"/>
          <a:ext cx="0" cy="0"/>
          <a:chOff x="0" y="0"/>
          <a:chExt cx="0" cy="0"/>
        </a:xfrm>
      </p:grpSpPr>
      <p:sp>
        <p:nvSpPr>
          <p:cNvPr id="2" name="Segnaposto testo 1">
            <a:extLst>
              <a:ext uri="{FF2B5EF4-FFF2-40B4-BE49-F238E27FC236}">
                <a16:creationId xmlns:a16="http://schemas.microsoft.com/office/drawing/2014/main" id="{05494884-6E58-B123-4AD0-B0341A24162C}"/>
              </a:ext>
            </a:extLst>
          </p:cNvPr>
          <p:cNvSpPr>
            <a:spLocks noGrp="1"/>
          </p:cNvSpPr>
          <p:nvPr>
            <p:ph type="body" sz="quarter" idx="11"/>
          </p:nvPr>
        </p:nvSpPr>
        <p:spPr>
          <a:xfrm>
            <a:off x="5548393" y="1917000"/>
            <a:ext cx="6300557" cy="3024000"/>
          </a:xfrm>
        </p:spPr>
        <p:txBody>
          <a:bodyPr anchor="ctr">
            <a:normAutofit/>
          </a:bodyPr>
          <a:lstStyle/>
          <a:p>
            <a:pPr algn="ctr"/>
            <a:r>
              <a:rPr lang="en-US" sz="4400" b="1" dirty="0"/>
              <a:t>Literature Review</a:t>
            </a:r>
          </a:p>
        </p:txBody>
      </p:sp>
      <p:sp>
        <p:nvSpPr>
          <p:cNvPr id="12" name="Rectangle 11">
            <a:extLst>
              <a:ext uri="{FF2B5EF4-FFF2-40B4-BE49-F238E27FC236}">
                <a16:creationId xmlns:a16="http://schemas.microsoft.com/office/drawing/2014/main" id="{5ED6A22C-3BA3-0274-0BA9-87B112011B1B}"/>
              </a:ext>
            </a:extLst>
          </p:cNvPr>
          <p:cNvSpPr/>
          <p:nvPr/>
        </p:nvSpPr>
        <p:spPr bwMode="auto">
          <a:xfrm>
            <a:off x="6574971" y="5036457"/>
            <a:ext cx="2220686" cy="653143"/>
          </a:xfrm>
          <a:prstGeom prst="rect">
            <a:avLst/>
          </a:prstGeom>
          <a:solidFill>
            <a:srgbClr val="002B49"/>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2027930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0A032-D838-B0BA-9BB4-7C5E3C077E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BB642-8C2A-361F-9CB0-0F3E10376E58}"/>
              </a:ext>
            </a:extLst>
          </p:cNvPr>
          <p:cNvSpPr>
            <a:spLocks noGrp="1"/>
          </p:cNvSpPr>
          <p:nvPr>
            <p:ph type="title"/>
          </p:nvPr>
        </p:nvSpPr>
        <p:spPr>
          <a:xfrm>
            <a:off x="180000" y="180000"/>
            <a:ext cx="11880000" cy="648000"/>
          </a:xfrm>
        </p:spPr>
        <p:txBody>
          <a:bodyPr>
            <a:normAutofit/>
          </a:bodyPr>
          <a:lstStyle/>
          <a:p>
            <a:r>
              <a:rPr lang="en-US" sz="3600" dirty="0"/>
              <a:t>Hierarchy in time series (HTS)</a:t>
            </a:r>
          </a:p>
        </p:txBody>
      </p:sp>
      <p:sp>
        <p:nvSpPr>
          <p:cNvPr id="4" name="TextBox 3">
            <a:extLst>
              <a:ext uri="{FF2B5EF4-FFF2-40B4-BE49-F238E27FC236}">
                <a16:creationId xmlns:a16="http://schemas.microsoft.com/office/drawing/2014/main" id="{FD9C2676-9125-A5D2-F9BA-FEC9B3B5F067}"/>
              </a:ext>
            </a:extLst>
          </p:cNvPr>
          <p:cNvSpPr txBox="1"/>
          <p:nvPr/>
        </p:nvSpPr>
        <p:spPr>
          <a:xfrm>
            <a:off x="551542" y="1151234"/>
            <a:ext cx="10740571" cy="4293483"/>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800" dirty="0">
                <a:solidFill>
                  <a:srgbClr val="002B49"/>
                </a:solidFill>
                <a:sym typeface="Wingdings" pitchFamily="2" charset="2"/>
              </a:rPr>
              <a:t>Time series data can be naturally hierarchical.</a:t>
            </a:r>
          </a:p>
          <a:p>
            <a:pPr marL="342900" indent="-342900">
              <a:lnSpc>
                <a:spcPct val="200000"/>
              </a:lnSpc>
              <a:buFont typeface="Arial" panose="020B0604020202020204" pitchFamily="34" charset="0"/>
              <a:buChar char="•"/>
            </a:pPr>
            <a:r>
              <a:rPr lang="en-US" sz="2800" dirty="0">
                <a:solidFill>
                  <a:srgbClr val="002B49"/>
                </a:solidFill>
              </a:rPr>
              <a:t>Data can be aggregated or disaggregated based on:</a:t>
            </a:r>
          </a:p>
          <a:p>
            <a:pPr marL="800100" lvl="1" indent="-342900">
              <a:lnSpc>
                <a:spcPct val="200000"/>
              </a:lnSpc>
              <a:buFont typeface="Arial" panose="020B0604020202020204" pitchFamily="34" charset="0"/>
              <a:buChar char="•"/>
            </a:pPr>
            <a:r>
              <a:rPr lang="en-US" sz="2800" dirty="0">
                <a:solidFill>
                  <a:srgbClr val="002B49"/>
                </a:solidFill>
              </a:rPr>
              <a:t>Types</a:t>
            </a:r>
          </a:p>
          <a:p>
            <a:pPr marL="800100" lvl="1" indent="-342900">
              <a:lnSpc>
                <a:spcPct val="200000"/>
              </a:lnSpc>
              <a:buFont typeface="Arial" panose="020B0604020202020204" pitchFamily="34" charset="0"/>
              <a:buChar char="•"/>
            </a:pPr>
            <a:r>
              <a:rPr lang="en-US" sz="2800" dirty="0">
                <a:solidFill>
                  <a:srgbClr val="002B49"/>
                </a:solidFill>
              </a:rPr>
              <a:t>Features</a:t>
            </a:r>
          </a:p>
          <a:p>
            <a:pPr marL="800100" lvl="1" indent="-342900">
              <a:lnSpc>
                <a:spcPct val="200000"/>
              </a:lnSpc>
              <a:buFont typeface="Arial" panose="020B0604020202020204" pitchFamily="34" charset="0"/>
              <a:buChar char="•"/>
            </a:pPr>
            <a:r>
              <a:rPr lang="en-US" sz="2800" dirty="0">
                <a:solidFill>
                  <a:srgbClr val="002B49"/>
                </a:solidFill>
              </a:rPr>
              <a:t>geographic division. [4]</a:t>
            </a:r>
          </a:p>
        </p:txBody>
      </p:sp>
      <p:pic>
        <p:nvPicPr>
          <p:cNvPr id="5" name="Graphic 4">
            <a:extLst>
              <a:ext uri="{FF2B5EF4-FFF2-40B4-BE49-F238E27FC236}">
                <a16:creationId xmlns:a16="http://schemas.microsoft.com/office/drawing/2014/main" id="{EC80AD20-4F7C-D640-06DC-AD41E4BF78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8366" y="3612370"/>
            <a:ext cx="2121857" cy="2121857"/>
          </a:xfrm>
          <a:prstGeom prst="rect">
            <a:avLst/>
          </a:prstGeom>
        </p:spPr>
      </p:pic>
    </p:spTree>
    <p:extLst>
      <p:ext uri="{BB962C8B-B14F-4D97-AF65-F5344CB8AC3E}">
        <p14:creationId xmlns:p14="http://schemas.microsoft.com/office/powerpoint/2010/main" val="1122171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1D1F2-972C-75A7-96EB-0E9110FFE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44992-0371-24E0-6B2D-3686F78F1F42}"/>
              </a:ext>
            </a:extLst>
          </p:cNvPr>
          <p:cNvSpPr>
            <a:spLocks noGrp="1"/>
          </p:cNvSpPr>
          <p:nvPr>
            <p:ph type="title"/>
          </p:nvPr>
        </p:nvSpPr>
        <p:spPr>
          <a:xfrm>
            <a:off x="180000" y="180000"/>
            <a:ext cx="11880000" cy="648000"/>
          </a:xfrm>
        </p:spPr>
        <p:txBody>
          <a:bodyPr>
            <a:normAutofit/>
          </a:bodyPr>
          <a:lstStyle/>
          <a:p>
            <a:r>
              <a:rPr lang="en-US" sz="3600" dirty="0"/>
              <a:t>Hierarchy in time series (HTS)</a:t>
            </a:r>
          </a:p>
        </p:txBody>
      </p:sp>
      <p:pic>
        <p:nvPicPr>
          <p:cNvPr id="3" name="Picture 2">
            <a:extLst>
              <a:ext uri="{FF2B5EF4-FFF2-40B4-BE49-F238E27FC236}">
                <a16:creationId xmlns:a16="http://schemas.microsoft.com/office/drawing/2014/main" id="{5F15DD5C-9F9D-A1E0-B978-CF0799B69E3A}"/>
              </a:ext>
            </a:extLst>
          </p:cNvPr>
          <p:cNvPicPr>
            <a:picLocks noChangeAspect="1"/>
          </p:cNvPicPr>
          <p:nvPr/>
        </p:nvPicPr>
        <p:blipFill>
          <a:blip r:embed="rId2"/>
          <a:stretch>
            <a:fillRect/>
          </a:stretch>
        </p:blipFill>
        <p:spPr>
          <a:xfrm>
            <a:off x="6095998" y="2384609"/>
            <a:ext cx="4837058" cy="3229465"/>
          </a:xfrm>
          <a:prstGeom prst="rect">
            <a:avLst/>
          </a:prstGeom>
        </p:spPr>
      </p:pic>
      <p:sp>
        <p:nvSpPr>
          <p:cNvPr id="6" name="TextBox 5">
            <a:extLst>
              <a:ext uri="{FF2B5EF4-FFF2-40B4-BE49-F238E27FC236}">
                <a16:creationId xmlns:a16="http://schemas.microsoft.com/office/drawing/2014/main" id="{17843FB1-5D63-AAB3-5701-B6F998D94A18}"/>
              </a:ext>
            </a:extLst>
          </p:cNvPr>
          <p:cNvSpPr txBox="1"/>
          <p:nvPr/>
        </p:nvSpPr>
        <p:spPr>
          <a:xfrm>
            <a:off x="549314" y="901695"/>
            <a:ext cx="7201315" cy="5139869"/>
          </a:xfrm>
          <a:prstGeom prst="rect">
            <a:avLst/>
          </a:prstGeom>
          <a:noFill/>
        </p:spPr>
        <p:txBody>
          <a:bodyPr wrap="square" rtlCol="0">
            <a:spAutoFit/>
          </a:bodyPr>
          <a:lstStyle/>
          <a:p>
            <a:r>
              <a:rPr lang="en-US" sz="2800" dirty="0">
                <a:solidFill>
                  <a:srgbClr val="002B49"/>
                </a:solidFill>
              </a:rPr>
              <a:t>The value of parent is always equals to </a:t>
            </a:r>
          </a:p>
          <a:p>
            <a:r>
              <a:rPr lang="en-US" sz="2800" dirty="0">
                <a:solidFill>
                  <a:srgbClr val="002B49"/>
                </a:solidFill>
              </a:rPr>
              <a:t>the sum of the values of its children.</a:t>
            </a:r>
          </a:p>
          <a:p>
            <a:endParaRPr lang="en-US" sz="2800" dirty="0">
              <a:solidFill>
                <a:srgbClr val="002B49"/>
              </a:solidFill>
            </a:endParaRPr>
          </a:p>
          <a:p>
            <a:r>
              <a:rPr lang="en-US" sz="2800" dirty="0">
                <a:solidFill>
                  <a:srgbClr val="002B49"/>
                </a:solidFill>
              </a:rPr>
              <a:t>So, if        equals The value of j at time t, then, we have : </a:t>
            </a:r>
          </a:p>
          <a:p>
            <a:endParaRPr lang="en-US" sz="2800" dirty="0">
              <a:solidFill>
                <a:srgbClr val="002B49"/>
              </a:solidFill>
            </a:endParaRPr>
          </a:p>
          <a:p>
            <a:endParaRPr lang="en-US" sz="2800" dirty="0">
              <a:solidFill>
                <a:srgbClr val="002B49"/>
              </a:solidFill>
            </a:endParaRPr>
          </a:p>
          <a:p>
            <a:endParaRPr lang="en-US" sz="2800" dirty="0">
              <a:solidFill>
                <a:srgbClr val="002B49"/>
              </a:solidFill>
            </a:endParaRPr>
          </a:p>
          <a:p>
            <a:endParaRPr lang="en-US" sz="2800" dirty="0">
              <a:solidFill>
                <a:srgbClr val="002B49"/>
              </a:solidFill>
            </a:endParaRPr>
          </a:p>
          <a:p>
            <a:r>
              <a:rPr lang="en-US" sz="2800" dirty="0">
                <a:solidFill>
                  <a:srgbClr val="002B49"/>
                </a:solidFill>
              </a:rPr>
              <a:t>Finally, we can say our data is Coherent. [4]</a:t>
            </a:r>
          </a:p>
          <a:p>
            <a:endParaRPr lang="en-US" sz="2000" b="1" dirty="0">
              <a:solidFill>
                <a:srgbClr val="1B415D"/>
              </a:solidFill>
            </a:endParaRPr>
          </a:p>
        </p:txBody>
      </p:sp>
      <p:pic>
        <p:nvPicPr>
          <p:cNvPr id="7" name="Picture 6">
            <a:extLst>
              <a:ext uri="{FF2B5EF4-FFF2-40B4-BE49-F238E27FC236}">
                <a16:creationId xmlns:a16="http://schemas.microsoft.com/office/drawing/2014/main" id="{6EDD386E-D164-E5C4-AC28-889BE3D2A0B8}"/>
              </a:ext>
            </a:extLst>
          </p:cNvPr>
          <p:cNvPicPr>
            <a:picLocks noChangeAspect="1"/>
          </p:cNvPicPr>
          <p:nvPr/>
        </p:nvPicPr>
        <p:blipFill>
          <a:blip r:embed="rId3"/>
          <a:srcRect t="20575" b="28424"/>
          <a:stretch>
            <a:fillRect/>
          </a:stretch>
        </p:blipFill>
        <p:spPr>
          <a:xfrm>
            <a:off x="675170" y="3178334"/>
            <a:ext cx="2277848" cy="450276"/>
          </a:xfrm>
          <a:prstGeom prst="rect">
            <a:avLst/>
          </a:prstGeom>
        </p:spPr>
      </p:pic>
      <p:pic>
        <p:nvPicPr>
          <p:cNvPr id="8" name="Picture 7">
            <a:extLst>
              <a:ext uri="{FF2B5EF4-FFF2-40B4-BE49-F238E27FC236}">
                <a16:creationId xmlns:a16="http://schemas.microsoft.com/office/drawing/2014/main" id="{DA002513-E7A0-63C7-B6E7-799FB2FB0506}"/>
              </a:ext>
            </a:extLst>
          </p:cNvPr>
          <p:cNvPicPr>
            <a:picLocks noChangeAspect="1"/>
          </p:cNvPicPr>
          <p:nvPr/>
        </p:nvPicPr>
        <p:blipFill>
          <a:blip r:embed="rId4"/>
          <a:stretch>
            <a:fillRect/>
          </a:stretch>
        </p:blipFill>
        <p:spPr>
          <a:xfrm>
            <a:off x="1554320" y="2126406"/>
            <a:ext cx="519548" cy="450276"/>
          </a:xfrm>
          <a:prstGeom prst="rect">
            <a:avLst/>
          </a:prstGeom>
        </p:spPr>
      </p:pic>
      <p:pic>
        <p:nvPicPr>
          <p:cNvPr id="9" name="Picture 8">
            <a:extLst>
              <a:ext uri="{FF2B5EF4-FFF2-40B4-BE49-F238E27FC236}">
                <a16:creationId xmlns:a16="http://schemas.microsoft.com/office/drawing/2014/main" id="{DE81C42B-67BC-FB3D-EC17-3D9C80A7BAB4}"/>
              </a:ext>
            </a:extLst>
          </p:cNvPr>
          <p:cNvPicPr>
            <a:picLocks noChangeAspect="1"/>
          </p:cNvPicPr>
          <p:nvPr/>
        </p:nvPicPr>
        <p:blipFill>
          <a:blip r:embed="rId5"/>
          <a:stretch>
            <a:fillRect/>
          </a:stretch>
        </p:blipFill>
        <p:spPr>
          <a:xfrm>
            <a:off x="549314" y="3551902"/>
            <a:ext cx="4220303" cy="588075"/>
          </a:xfrm>
          <a:prstGeom prst="rect">
            <a:avLst/>
          </a:prstGeom>
        </p:spPr>
      </p:pic>
      <p:pic>
        <p:nvPicPr>
          <p:cNvPr id="10" name="Picture 9">
            <a:extLst>
              <a:ext uri="{FF2B5EF4-FFF2-40B4-BE49-F238E27FC236}">
                <a16:creationId xmlns:a16="http://schemas.microsoft.com/office/drawing/2014/main" id="{48A042C0-803E-87CA-645F-0C46BB54A6B7}"/>
              </a:ext>
            </a:extLst>
          </p:cNvPr>
          <p:cNvPicPr>
            <a:picLocks noChangeAspect="1"/>
          </p:cNvPicPr>
          <p:nvPr/>
        </p:nvPicPr>
        <p:blipFill>
          <a:blip r:embed="rId6"/>
          <a:stretch>
            <a:fillRect/>
          </a:stretch>
        </p:blipFill>
        <p:spPr>
          <a:xfrm>
            <a:off x="564816" y="4033687"/>
            <a:ext cx="2957932" cy="595087"/>
          </a:xfrm>
          <a:prstGeom prst="rect">
            <a:avLst/>
          </a:prstGeom>
        </p:spPr>
      </p:pic>
    </p:spTree>
    <p:extLst>
      <p:ext uri="{BB962C8B-B14F-4D97-AF65-F5344CB8AC3E}">
        <p14:creationId xmlns:p14="http://schemas.microsoft.com/office/powerpoint/2010/main" val="2226190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F31A-9CB9-4DBA-F853-B6C101099A8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EC72B149-A132-3974-0860-C3ED4540BDFF}"/>
              </a:ext>
            </a:extLst>
          </p:cNvPr>
          <p:cNvSpPr txBox="1"/>
          <p:nvPr/>
        </p:nvSpPr>
        <p:spPr>
          <a:xfrm>
            <a:off x="566684" y="2096970"/>
            <a:ext cx="11150035" cy="33719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800" b="1" dirty="0">
                <a:solidFill>
                  <a:srgbClr val="1B415D"/>
                </a:solidFill>
              </a:rPr>
              <a:t>Tourism</a:t>
            </a:r>
            <a:endParaRPr lang="en-US" sz="2000" b="1" dirty="0">
              <a:solidFill>
                <a:srgbClr val="1B415D"/>
              </a:solidFill>
            </a:endParaRPr>
          </a:p>
          <a:p>
            <a:pPr marL="800100" lvl="1" indent="-342900">
              <a:lnSpc>
                <a:spcPct val="150000"/>
              </a:lnSpc>
              <a:buFont typeface="Arial" panose="020B0604020202020204" pitchFamily="34" charset="0"/>
              <a:buChar char="•"/>
            </a:pPr>
            <a:r>
              <a:rPr lang="en-US" sz="2000" b="1" dirty="0">
                <a:solidFill>
                  <a:srgbClr val="1B415D"/>
                </a:solidFill>
              </a:rPr>
              <a:t>Forecasting number of tourists going to visit a country divided by region, city, season. [4]</a:t>
            </a:r>
          </a:p>
          <a:p>
            <a:pPr marL="342900" indent="-342900">
              <a:lnSpc>
                <a:spcPct val="150000"/>
              </a:lnSpc>
              <a:buFont typeface="Arial" panose="020B0604020202020204" pitchFamily="34" charset="0"/>
              <a:buChar char="•"/>
            </a:pPr>
            <a:r>
              <a:rPr lang="en-US" sz="2800" b="1" dirty="0">
                <a:solidFill>
                  <a:srgbClr val="1B415D"/>
                </a:solidFill>
              </a:rPr>
              <a:t>supply chain</a:t>
            </a:r>
          </a:p>
          <a:p>
            <a:pPr marL="800100" lvl="1" indent="-342900">
              <a:lnSpc>
                <a:spcPct val="150000"/>
              </a:lnSpc>
              <a:buFont typeface="Arial" panose="020B0604020202020204" pitchFamily="34" charset="0"/>
              <a:buChar char="•"/>
            </a:pPr>
            <a:r>
              <a:rPr lang="en-US" sz="2000" b="1" dirty="0">
                <a:solidFill>
                  <a:srgbClr val="1B415D"/>
                </a:solidFill>
              </a:rPr>
              <a:t>Forecasting sales of products based on type, location. [11]</a:t>
            </a:r>
          </a:p>
          <a:p>
            <a:pPr marL="342900" indent="-342900">
              <a:lnSpc>
                <a:spcPct val="150000"/>
              </a:lnSpc>
              <a:buFont typeface="Arial" panose="020B0604020202020204" pitchFamily="34" charset="0"/>
              <a:buChar char="•"/>
            </a:pPr>
            <a:r>
              <a:rPr lang="en-US" sz="2800" b="1" dirty="0">
                <a:solidFill>
                  <a:srgbClr val="1B415D"/>
                </a:solidFill>
              </a:rPr>
              <a:t>Energy Consumption</a:t>
            </a:r>
          </a:p>
          <a:p>
            <a:pPr marL="342900" indent="-342900">
              <a:lnSpc>
                <a:spcPct val="150000"/>
              </a:lnSpc>
              <a:buFont typeface="Arial" panose="020B0604020202020204" pitchFamily="34" charset="0"/>
              <a:buChar char="•"/>
            </a:pPr>
            <a:r>
              <a:rPr lang="en-US" sz="2000" b="1" dirty="0">
                <a:solidFill>
                  <a:srgbClr val="1B415D"/>
                </a:solidFill>
              </a:rPr>
              <a:t>Forecasting energy consumption based on region, city, hour. [12] </a:t>
            </a:r>
            <a:endParaRPr lang="en-US" b="1" dirty="0">
              <a:solidFill>
                <a:srgbClr val="1B415D"/>
              </a:solidFill>
            </a:endParaRPr>
          </a:p>
        </p:txBody>
      </p:sp>
      <p:pic>
        <p:nvPicPr>
          <p:cNvPr id="5" name="Picture 4">
            <a:extLst>
              <a:ext uri="{FF2B5EF4-FFF2-40B4-BE49-F238E27FC236}">
                <a16:creationId xmlns:a16="http://schemas.microsoft.com/office/drawing/2014/main" id="{35EAC5C6-BF96-496C-66B3-A94B08C90FC0}"/>
              </a:ext>
            </a:extLst>
          </p:cNvPr>
          <p:cNvPicPr>
            <a:picLocks/>
          </p:cNvPicPr>
          <p:nvPr/>
        </p:nvPicPr>
        <p:blipFill>
          <a:blip r:embed="rId2"/>
          <a:stretch>
            <a:fillRect/>
          </a:stretch>
        </p:blipFill>
        <p:spPr>
          <a:xfrm>
            <a:off x="-68921" y="5929314"/>
            <a:ext cx="12308114" cy="1063680"/>
          </a:xfrm>
          <a:prstGeom prst="rect">
            <a:avLst/>
          </a:prstGeom>
        </p:spPr>
      </p:pic>
      <p:sp>
        <p:nvSpPr>
          <p:cNvPr id="9" name="TextBox 8">
            <a:extLst>
              <a:ext uri="{FF2B5EF4-FFF2-40B4-BE49-F238E27FC236}">
                <a16:creationId xmlns:a16="http://schemas.microsoft.com/office/drawing/2014/main" id="{D12224ED-CB1A-0D4E-D806-0BE4E430D503}"/>
              </a:ext>
            </a:extLst>
          </p:cNvPr>
          <p:cNvSpPr txBox="1"/>
          <p:nvPr/>
        </p:nvSpPr>
        <p:spPr>
          <a:xfrm>
            <a:off x="338601" y="1389610"/>
            <a:ext cx="6449657" cy="646331"/>
          </a:xfrm>
          <a:prstGeom prst="rect">
            <a:avLst/>
          </a:prstGeom>
          <a:noFill/>
        </p:spPr>
        <p:txBody>
          <a:bodyPr wrap="square" rtlCol="0">
            <a:spAutoFit/>
          </a:bodyPr>
          <a:lstStyle/>
          <a:p>
            <a:r>
              <a:rPr lang="en-US" sz="3600" b="1" dirty="0">
                <a:solidFill>
                  <a:srgbClr val="1B415D"/>
                </a:solidFill>
              </a:rPr>
              <a:t>Applications on HTS</a:t>
            </a:r>
          </a:p>
        </p:txBody>
      </p:sp>
      <p:pic>
        <p:nvPicPr>
          <p:cNvPr id="3074" name="Picture 2" descr="Predict PNG Transparent Images Free Download | Vector Files | Pngtree">
            <a:extLst>
              <a:ext uri="{FF2B5EF4-FFF2-40B4-BE49-F238E27FC236}">
                <a16:creationId xmlns:a16="http://schemas.microsoft.com/office/drawing/2014/main" id="{1C854987-14F2-CABA-7FFF-3F4AFDACC1F1}"/>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325392B-5DDF-AD80-A435-6665D909E761}"/>
              </a:ext>
            </a:extLst>
          </p:cNvPr>
          <p:cNvPicPr>
            <a:picLocks/>
          </p:cNvPicPr>
          <p:nvPr/>
        </p:nvPicPr>
        <p:blipFill>
          <a:blip r:embed="rId2"/>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FCECFB49-413A-B632-BFBB-C63876417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41BE8CE3-CE95-2846-6B3A-241A6B8A4346}"/>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0A5F73AF-941F-71EF-1C6B-C693AA25692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3BFE0D7D-1177-07ED-F9A3-70EF04F1D8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B2A7D7E2-9861-30F0-0009-07A63C8DCFDF}"/>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1485707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6F100-D4CD-079E-5FD6-9329F303AE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845C89-F0E6-4BF1-747C-5EFE47E1FEFB}"/>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B7D05CD6-2800-5AE6-4114-FAD826AB232C}"/>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1717339-1263-1A78-927E-C39627AA2437}"/>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DBF2226F-5970-030D-1131-8E380DB17B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C07A5AAD-458B-FA8A-C2ED-C6E1D6F925E8}"/>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8C041789-6EC8-3CDE-55B6-F5F4CBF5FCB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ABED5E50-1866-C635-C244-B827D47F9E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9B4C5F0B-6E44-5EA4-D84A-1D444C850555}"/>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24" name="Picture 23">
            <a:extLst>
              <a:ext uri="{FF2B5EF4-FFF2-40B4-BE49-F238E27FC236}">
                <a16:creationId xmlns:a16="http://schemas.microsoft.com/office/drawing/2014/main" id="{CB3C10EA-C9A6-751E-2FF8-26E4C04FE71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3452704" y="4149228"/>
            <a:ext cx="851605" cy="686497"/>
          </a:xfrm>
          <a:prstGeom prst="rect">
            <a:avLst/>
          </a:prstGeom>
        </p:spPr>
      </p:pic>
      <p:pic>
        <p:nvPicPr>
          <p:cNvPr id="28" name="Picture 27">
            <a:extLst>
              <a:ext uri="{FF2B5EF4-FFF2-40B4-BE49-F238E27FC236}">
                <a16:creationId xmlns:a16="http://schemas.microsoft.com/office/drawing/2014/main" id="{936EA86C-AEC8-6F87-36D9-F59C08A1E049}"/>
              </a:ext>
            </a:extLst>
          </p:cNvPr>
          <p:cNvPicPr>
            <a:picLocks noChangeAspect="1"/>
          </p:cNvPicPr>
          <p:nvPr/>
        </p:nvPicPr>
        <p:blipFill>
          <a:blip r:embed="rId10"/>
          <a:srcRect l="22961" t="57864" r="62119" b="30040"/>
          <a:stretch>
            <a:fillRect/>
          </a:stretch>
        </p:blipFill>
        <p:spPr>
          <a:xfrm>
            <a:off x="3059750" y="5385988"/>
            <a:ext cx="829706" cy="366508"/>
          </a:xfrm>
          <a:prstGeom prst="rect">
            <a:avLst/>
          </a:prstGeom>
        </p:spPr>
      </p:pic>
      <p:pic>
        <p:nvPicPr>
          <p:cNvPr id="29" name="Picture 28">
            <a:extLst>
              <a:ext uri="{FF2B5EF4-FFF2-40B4-BE49-F238E27FC236}">
                <a16:creationId xmlns:a16="http://schemas.microsoft.com/office/drawing/2014/main" id="{8EFCD739-38EE-8DC0-7149-22E668C384A9}"/>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4158344" y="2626062"/>
            <a:ext cx="1098105" cy="702134"/>
          </a:xfrm>
          <a:prstGeom prst="rect">
            <a:avLst/>
          </a:prstGeom>
        </p:spPr>
      </p:pic>
      <p:pic>
        <p:nvPicPr>
          <p:cNvPr id="30" name="Picture 29">
            <a:extLst>
              <a:ext uri="{FF2B5EF4-FFF2-40B4-BE49-F238E27FC236}">
                <a16:creationId xmlns:a16="http://schemas.microsoft.com/office/drawing/2014/main" id="{1E0A7F1D-BE06-F9F5-D53A-7E5DDDFE4456}"/>
              </a:ext>
            </a:extLst>
          </p:cNvPr>
          <p:cNvPicPr>
            <a:picLocks noChangeAspect="1"/>
          </p:cNvPicPr>
          <p:nvPr/>
        </p:nvPicPr>
        <p:blipFill>
          <a:blip r:embed="rId8">
            <a:extLst>
              <a:ext uri="{BEBA8EAE-BF5A-486C-A8C5-ECC9F3942E4B}">
                <a14:imgProps xmlns:a14="http://schemas.microsoft.com/office/drawing/2010/main">
                  <a14:imgLayer r:embed="rId12">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5088181" y="4149227"/>
            <a:ext cx="851605" cy="686497"/>
          </a:xfrm>
          <a:prstGeom prst="rect">
            <a:avLst/>
          </a:prstGeom>
        </p:spPr>
      </p:pic>
      <p:cxnSp>
        <p:nvCxnSpPr>
          <p:cNvPr id="35" name="Straight Arrow Connector 34">
            <a:extLst>
              <a:ext uri="{FF2B5EF4-FFF2-40B4-BE49-F238E27FC236}">
                <a16:creationId xmlns:a16="http://schemas.microsoft.com/office/drawing/2014/main" id="{6E7DC95F-D6D9-4DAD-66B2-7E4367F1C769}"/>
              </a:ext>
            </a:extLst>
          </p:cNvPr>
          <p:cNvCxnSpPr>
            <a:cxnSpLocks/>
            <a:stCxn id="29" idx="2"/>
            <a:endCxn id="30" idx="0"/>
          </p:cNvCxnSpPr>
          <p:nvPr/>
        </p:nvCxnSpPr>
        <p:spPr>
          <a:xfrm>
            <a:off x="4707397" y="3328196"/>
            <a:ext cx="806587" cy="8210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018A27AE-1E1B-E2FA-32CC-32D2143CC0DD}"/>
              </a:ext>
            </a:extLst>
          </p:cNvPr>
          <p:cNvCxnSpPr>
            <a:cxnSpLocks/>
            <a:endCxn id="24" idx="0"/>
          </p:cNvCxnSpPr>
          <p:nvPr/>
        </p:nvCxnSpPr>
        <p:spPr>
          <a:xfrm flipH="1">
            <a:off x="3878507" y="3328196"/>
            <a:ext cx="795709" cy="8210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0" name="Picture 39">
            <a:extLst>
              <a:ext uri="{FF2B5EF4-FFF2-40B4-BE49-F238E27FC236}">
                <a16:creationId xmlns:a16="http://schemas.microsoft.com/office/drawing/2014/main" id="{F748A5DB-FFFF-4D77-5AC8-01F866442B7D}"/>
              </a:ext>
            </a:extLst>
          </p:cNvPr>
          <p:cNvPicPr>
            <a:picLocks noChangeAspect="1"/>
          </p:cNvPicPr>
          <p:nvPr/>
        </p:nvPicPr>
        <p:blipFill>
          <a:blip r:embed="rId10"/>
          <a:srcRect l="22961" t="57864" r="62119" b="30040"/>
          <a:stretch>
            <a:fillRect/>
          </a:stretch>
        </p:blipFill>
        <p:spPr>
          <a:xfrm>
            <a:off x="3889456" y="5385988"/>
            <a:ext cx="829706" cy="366508"/>
          </a:xfrm>
          <a:prstGeom prst="rect">
            <a:avLst/>
          </a:prstGeom>
        </p:spPr>
      </p:pic>
      <p:pic>
        <p:nvPicPr>
          <p:cNvPr id="43" name="Picture 42">
            <a:extLst>
              <a:ext uri="{FF2B5EF4-FFF2-40B4-BE49-F238E27FC236}">
                <a16:creationId xmlns:a16="http://schemas.microsoft.com/office/drawing/2014/main" id="{D26A9D4B-C652-F74E-5D6D-C6281B93893E}"/>
              </a:ext>
            </a:extLst>
          </p:cNvPr>
          <p:cNvPicPr>
            <a:picLocks noChangeAspect="1"/>
          </p:cNvPicPr>
          <p:nvPr/>
        </p:nvPicPr>
        <p:blipFill>
          <a:blip r:embed="rId10"/>
          <a:srcRect l="22961" t="57864" r="62119" b="30040"/>
          <a:stretch>
            <a:fillRect/>
          </a:stretch>
        </p:blipFill>
        <p:spPr>
          <a:xfrm>
            <a:off x="4719162" y="5385987"/>
            <a:ext cx="829706" cy="366508"/>
          </a:xfrm>
          <a:prstGeom prst="rect">
            <a:avLst/>
          </a:prstGeom>
        </p:spPr>
      </p:pic>
      <p:pic>
        <p:nvPicPr>
          <p:cNvPr id="44" name="Picture 43">
            <a:extLst>
              <a:ext uri="{FF2B5EF4-FFF2-40B4-BE49-F238E27FC236}">
                <a16:creationId xmlns:a16="http://schemas.microsoft.com/office/drawing/2014/main" id="{20C6FB19-9DE6-64E5-F593-406A01D0C5A6}"/>
              </a:ext>
            </a:extLst>
          </p:cNvPr>
          <p:cNvPicPr>
            <a:picLocks noChangeAspect="1"/>
          </p:cNvPicPr>
          <p:nvPr/>
        </p:nvPicPr>
        <p:blipFill>
          <a:blip r:embed="rId10"/>
          <a:srcRect l="22961" t="57864" r="62119" b="30040"/>
          <a:stretch>
            <a:fillRect/>
          </a:stretch>
        </p:blipFill>
        <p:spPr>
          <a:xfrm>
            <a:off x="5548868" y="5385987"/>
            <a:ext cx="829706" cy="366508"/>
          </a:xfrm>
          <a:prstGeom prst="rect">
            <a:avLst/>
          </a:prstGeom>
        </p:spPr>
      </p:pic>
      <p:cxnSp>
        <p:nvCxnSpPr>
          <p:cNvPr id="45" name="Straight Arrow Connector 44">
            <a:extLst>
              <a:ext uri="{FF2B5EF4-FFF2-40B4-BE49-F238E27FC236}">
                <a16:creationId xmlns:a16="http://schemas.microsoft.com/office/drawing/2014/main" id="{846021B2-C7DF-BC41-4539-8C5925D93273}"/>
              </a:ext>
            </a:extLst>
          </p:cNvPr>
          <p:cNvCxnSpPr>
            <a:cxnSpLocks/>
            <a:endCxn id="28" idx="0"/>
          </p:cNvCxnSpPr>
          <p:nvPr/>
        </p:nvCxnSpPr>
        <p:spPr>
          <a:xfrm flipH="1">
            <a:off x="3474603" y="4873712"/>
            <a:ext cx="380856"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F823148D-4505-9C8A-E2A5-57136D39CA39}"/>
              </a:ext>
            </a:extLst>
          </p:cNvPr>
          <p:cNvCxnSpPr>
            <a:cxnSpLocks/>
          </p:cNvCxnSpPr>
          <p:nvPr/>
        </p:nvCxnSpPr>
        <p:spPr>
          <a:xfrm flipH="1">
            <a:off x="5134015" y="4866010"/>
            <a:ext cx="380856"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EC806F1C-D4F9-6712-DEA5-74574409D51B}"/>
              </a:ext>
            </a:extLst>
          </p:cNvPr>
          <p:cNvCxnSpPr>
            <a:cxnSpLocks/>
            <a:endCxn id="40" idx="0"/>
          </p:cNvCxnSpPr>
          <p:nvPr/>
        </p:nvCxnSpPr>
        <p:spPr>
          <a:xfrm>
            <a:off x="3889456" y="4873712"/>
            <a:ext cx="414853"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2" name="Straight Arrow Connector 51">
            <a:extLst>
              <a:ext uri="{FF2B5EF4-FFF2-40B4-BE49-F238E27FC236}">
                <a16:creationId xmlns:a16="http://schemas.microsoft.com/office/drawing/2014/main" id="{C17150B7-564B-F584-A23A-2CE5EC4BE26F}"/>
              </a:ext>
            </a:extLst>
          </p:cNvPr>
          <p:cNvCxnSpPr>
            <a:cxnSpLocks/>
          </p:cNvCxnSpPr>
          <p:nvPr/>
        </p:nvCxnSpPr>
        <p:spPr>
          <a:xfrm>
            <a:off x="5548868" y="4854717"/>
            <a:ext cx="414853"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53" name="Picture 52">
            <a:extLst>
              <a:ext uri="{FF2B5EF4-FFF2-40B4-BE49-F238E27FC236}">
                <a16:creationId xmlns:a16="http://schemas.microsoft.com/office/drawing/2014/main" id="{96F7F3A1-7F28-AF87-2DB7-1095787A8CD4}"/>
              </a:ext>
            </a:extLst>
          </p:cNvPr>
          <p:cNvPicPr>
            <a:picLocks noChangeAspect="1"/>
          </p:cNvPicPr>
          <p:nvPr/>
        </p:nvPicPr>
        <p:blipFill>
          <a:blip r:embed="rId8">
            <a:extLst>
              <a:ext uri="{BEBA8EAE-BF5A-486C-A8C5-ECC9F3942E4B}">
                <a14:imgProps xmlns:a14="http://schemas.microsoft.com/office/drawing/2010/main">
                  <a14:imgLayer r:embed="rId13">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7791626" y="4149229"/>
            <a:ext cx="851605" cy="686497"/>
          </a:xfrm>
          <a:prstGeom prst="rect">
            <a:avLst/>
          </a:prstGeom>
        </p:spPr>
      </p:pic>
      <p:pic>
        <p:nvPicPr>
          <p:cNvPr id="54" name="Picture 53">
            <a:extLst>
              <a:ext uri="{FF2B5EF4-FFF2-40B4-BE49-F238E27FC236}">
                <a16:creationId xmlns:a16="http://schemas.microsoft.com/office/drawing/2014/main" id="{20FB935A-F4F8-39F4-9F5B-213364400D28}"/>
              </a:ext>
            </a:extLst>
          </p:cNvPr>
          <p:cNvPicPr>
            <a:picLocks noChangeAspect="1"/>
          </p:cNvPicPr>
          <p:nvPr/>
        </p:nvPicPr>
        <p:blipFill>
          <a:blip r:embed="rId10"/>
          <a:srcRect l="22961" t="57864" r="62119" b="30040"/>
          <a:stretch>
            <a:fillRect/>
          </a:stretch>
        </p:blipFill>
        <p:spPr>
          <a:xfrm>
            <a:off x="7398672" y="5385989"/>
            <a:ext cx="829706" cy="366508"/>
          </a:xfrm>
          <a:prstGeom prst="rect">
            <a:avLst/>
          </a:prstGeom>
        </p:spPr>
      </p:pic>
      <p:pic>
        <p:nvPicPr>
          <p:cNvPr id="55" name="Picture 54">
            <a:extLst>
              <a:ext uri="{FF2B5EF4-FFF2-40B4-BE49-F238E27FC236}">
                <a16:creationId xmlns:a16="http://schemas.microsoft.com/office/drawing/2014/main" id="{E182088B-69AD-D953-81A2-D060BF590AF3}"/>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8497266" y="2626063"/>
            <a:ext cx="1098105" cy="702134"/>
          </a:xfrm>
          <a:prstGeom prst="rect">
            <a:avLst/>
          </a:prstGeom>
        </p:spPr>
      </p:pic>
      <p:pic>
        <p:nvPicPr>
          <p:cNvPr id="56" name="Picture 55">
            <a:extLst>
              <a:ext uri="{FF2B5EF4-FFF2-40B4-BE49-F238E27FC236}">
                <a16:creationId xmlns:a16="http://schemas.microsoft.com/office/drawing/2014/main" id="{43B4837B-7578-C2FE-BCB0-D2F024AFA6B9}"/>
              </a:ext>
            </a:extLst>
          </p:cNvPr>
          <p:cNvPicPr>
            <a:picLocks noChangeAspect="1"/>
          </p:cNvPicPr>
          <p:nvPr/>
        </p:nvPicPr>
        <p:blipFill>
          <a:blip r:embed="rId8">
            <a:extLst>
              <a:ext uri="{BEBA8EAE-BF5A-486C-A8C5-ECC9F3942E4B}">
                <a14:imgProps xmlns:a14="http://schemas.microsoft.com/office/drawing/2010/main">
                  <a14:imgLayer r:embed="rId14">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9427103" y="4149228"/>
            <a:ext cx="851605" cy="686497"/>
          </a:xfrm>
          <a:prstGeom prst="rect">
            <a:avLst/>
          </a:prstGeom>
        </p:spPr>
      </p:pic>
      <p:cxnSp>
        <p:nvCxnSpPr>
          <p:cNvPr id="57" name="Straight Arrow Connector 56">
            <a:extLst>
              <a:ext uri="{FF2B5EF4-FFF2-40B4-BE49-F238E27FC236}">
                <a16:creationId xmlns:a16="http://schemas.microsoft.com/office/drawing/2014/main" id="{3BCCEEC6-5F1A-6A5A-2BBB-06BA0338884D}"/>
              </a:ext>
            </a:extLst>
          </p:cNvPr>
          <p:cNvCxnSpPr>
            <a:cxnSpLocks/>
            <a:stCxn id="55" idx="2"/>
            <a:endCxn id="56" idx="0"/>
          </p:cNvCxnSpPr>
          <p:nvPr/>
        </p:nvCxnSpPr>
        <p:spPr>
          <a:xfrm>
            <a:off x="9046319" y="3328197"/>
            <a:ext cx="806587" cy="8210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a:extLst>
              <a:ext uri="{FF2B5EF4-FFF2-40B4-BE49-F238E27FC236}">
                <a16:creationId xmlns:a16="http://schemas.microsoft.com/office/drawing/2014/main" id="{1CBEA06F-0C9B-FD3E-0EE3-4F76572E640B}"/>
              </a:ext>
            </a:extLst>
          </p:cNvPr>
          <p:cNvCxnSpPr>
            <a:cxnSpLocks/>
            <a:endCxn id="53" idx="0"/>
          </p:cNvCxnSpPr>
          <p:nvPr/>
        </p:nvCxnSpPr>
        <p:spPr>
          <a:xfrm flipH="1">
            <a:off x="8217429" y="3328197"/>
            <a:ext cx="795709" cy="8210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59" name="Picture 58">
            <a:extLst>
              <a:ext uri="{FF2B5EF4-FFF2-40B4-BE49-F238E27FC236}">
                <a16:creationId xmlns:a16="http://schemas.microsoft.com/office/drawing/2014/main" id="{3E07BD25-AC74-CAD6-1FC4-F260AAAF7D7C}"/>
              </a:ext>
            </a:extLst>
          </p:cNvPr>
          <p:cNvPicPr>
            <a:picLocks noChangeAspect="1"/>
          </p:cNvPicPr>
          <p:nvPr/>
        </p:nvPicPr>
        <p:blipFill>
          <a:blip r:embed="rId10"/>
          <a:srcRect l="22961" t="57864" r="62119" b="30040"/>
          <a:stretch>
            <a:fillRect/>
          </a:stretch>
        </p:blipFill>
        <p:spPr>
          <a:xfrm>
            <a:off x="8228378" y="5385989"/>
            <a:ext cx="829706" cy="366508"/>
          </a:xfrm>
          <a:prstGeom prst="rect">
            <a:avLst/>
          </a:prstGeom>
        </p:spPr>
      </p:pic>
      <p:pic>
        <p:nvPicPr>
          <p:cNvPr id="60" name="Picture 59">
            <a:extLst>
              <a:ext uri="{FF2B5EF4-FFF2-40B4-BE49-F238E27FC236}">
                <a16:creationId xmlns:a16="http://schemas.microsoft.com/office/drawing/2014/main" id="{86CDD36B-3057-E2C6-B857-5C2B8F53596C}"/>
              </a:ext>
            </a:extLst>
          </p:cNvPr>
          <p:cNvPicPr>
            <a:picLocks noChangeAspect="1"/>
          </p:cNvPicPr>
          <p:nvPr/>
        </p:nvPicPr>
        <p:blipFill>
          <a:blip r:embed="rId10"/>
          <a:srcRect l="22961" t="57864" r="62119" b="30040"/>
          <a:stretch>
            <a:fillRect/>
          </a:stretch>
        </p:blipFill>
        <p:spPr>
          <a:xfrm>
            <a:off x="9058084" y="5385988"/>
            <a:ext cx="829706" cy="366508"/>
          </a:xfrm>
          <a:prstGeom prst="rect">
            <a:avLst/>
          </a:prstGeom>
        </p:spPr>
      </p:pic>
      <p:pic>
        <p:nvPicPr>
          <p:cNvPr id="61" name="Picture 60">
            <a:extLst>
              <a:ext uri="{FF2B5EF4-FFF2-40B4-BE49-F238E27FC236}">
                <a16:creationId xmlns:a16="http://schemas.microsoft.com/office/drawing/2014/main" id="{F206C54D-6E29-1A9F-A9DF-59028DD0A33D}"/>
              </a:ext>
            </a:extLst>
          </p:cNvPr>
          <p:cNvPicPr>
            <a:picLocks noChangeAspect="1"/>
          </p:cNvPicPr>
          <p:nvPr/>
        </p:nvPicPr>
        <p:blipFill>
          <a:blip r:embed="rId10"/>
          <a:srcRect l="22961" t="57864" r="62119" b="30040"/>
          <a:stretch>
            <a:fillRect/>
          </a:stretch>
        </p:blipFill>
        <p:spPr>
          <a:xfrm>
            <a:off x="9887790" y="5385988"/>
            <a:ext cx="829706" cy="366508"/>
          </a:xfrm>
          <a:prstGeom prst="rect">
            <a:avLst/>
          </a:prstGeom>
        </p:spPr>
      </p:pic>
      <p:cxnSp>
        <p:nvCxnSpPr>
          <p:cNvPr id="62" name="Straight Arrow Connector 61">
            <a:extLst>
              <a:ext uri="{FF2B5EF4-FFF2-40B4-BE49-F238E27FC236}">
                <a16:creationId xmlns:a16="http://schemas.microsoft.com/office/drawing/2014/main" id="{B7FD4159-9A35-215F-8B0C-71A8024C6B87}"/>
              </a:ext>
            </a:extLst>
          </p:cNvPr>
          <p:cNvCxnSpPr>
            <a:cxnSpLocks/>
            <a:endCxn id="54" idx="0"/>
          </p:cNvCxnSpPr>
          <p:nvPr/>
        </p:nvCxnSpPr>
        <p:spPr>
          <a:xfrm flipH="1">
            <a:off x="7813525" y="4873713"/>
            <a:ext cx="380856"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92A0139F-4CBD-FC29-12CB-D74735AC7843}"/>
              </a:ext>
            </a:extLst>
          </p:cNvPr>
          <p:cNvCxnSpPr>
            <a:cxnSpLocks/>
          </p:cNvCxnSpPr>
          <p:nvPr/>
        </p:nvCxnSpPr>
        <p:spPr>
          <a:xfrm flipH="1">
            <a:off x="9472937" y="4866011"/>
            <a:ext cx="380856"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72" name="Straight Arrow Connector 3071">
            <a:extLst>
              <a:ext uri="{FF2B5EF4-FFF2-40B4-BE49-F238E27FC236}">
                <a16:creationId xmlns:a16="http://schemas.microsoft.com/office/drawing/2014/main" id="{6E5E459B-D177-6F7D-50F4-EC38D8AC225E}"/>
              </a:ext>
            </a:extLst>
          </p:cNvPr>
          <p:cNvCxnSpPr>
            <a:cxnSpLocks/>
            <a:endCxn id="59" idx="0"/>
          </p:cNvCxnSpPr>
          <p:nvPr/>
        </p:nvCxnSpPr>
        <p:spPr>
          <a:xfrm>
            <a:off x="8228378" y="4873713"/>
            <a:ext cx="414853"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73" name="Straight Arrow Connector 3072">
            <a:extLst>
              <a:ext uri="{FF2B5EF4-FFF2-40B4-BE49-F238E27FC236}">
                <a16:creationId xmlns:a16="http://schemas.microsoft.com/office/drawing/2014/main" id="{5C2CF40E-36AD-9EE6-1BEF-00A23CF683C6}"/>
              </a:ext>
            </a:extLst>
          </p:cNvPr>
          <p:cNvCxnSpPr>
            <a:cxnSpLocks/>
          </p:cNvCxnSpPr>
          <p:nvPr/>
        </p:nvCxnSpPr>
        <p:spPr>
          <a:xfrm>
            <a:off x="9887790" y="4854718"/>
            <a:ext cx="414853" cy="51227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75" name="Straight Arrow Connector 3074">
            <a:extLst>
              <a:ext uri="{FF2B5EF4-FFF2-40B4-BE49-F238E27FC236}">
                <a16:creationId xmlns:a16="http://schemas.microsoft.com/office/drawing/2014/main" id="{FA28BCD3-4079-6A15-D580-A22C45AAEC6F}"/>
              </a:ext>
            </a:extLst>
          </p:cNvPr>
          <p:cNvCxnSpPr>
            <a:cxnSpLocks/>
          </p:cNvCxnSpPr>
          <p:nvPr/>
        </p:nvCxnSpPr>
        <p:spPr>
          <a:xfrm>
            <a:off x="2361760" y="3017400"/>
            <a:ext cx="69799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77" name="TextBox 3076">
            <a:extLst>
              <a:ext uri="{FF2B5EF4-FFF2-40B4-BE49-F238E27FC236}">
                <a16:creationId xmlns:a16="http://schemas.microsoft.com/office/drawing/2014/main" id="{ACB96581-1E21-8818-0070-EF35DDFADB5B}"/>
              </a:ext>
            </a:extLst>
          </p:cNvPr>
          <p:cNvSpPr txBox="1"/>
          <p:nvPr/>
        </p:nvSpPr>
        <p:spPr>
          <a:xfrm>
            <a:off x="1093399" y="2832734"/>
            <a:ext cx="1268361" cy="369332"/>
          </a:xfrm>
          <a:prstGeom prst="rect">
            <a:avLst/>
          </a:prstGeom>
          <a:noFill/>
        </p:spPr>
        <p:txBody>
          <a:bodyPr wrap="none" rtlCol="0">
            <a:spAutoFit/>
          </a:bodyPr>
          <a:lstStyle/>
          <a:p>
            <a:r>
              <a:rPr lang="en-US" dirty="0"/>
              <a:t>Farm Level</a:t>
            </a:r>
          </a:p>
        </p:txBody>
      </p:sp>
      <p:cxnSp>
        <p:nvCxnSpPr>
          <p:cNvPr id="3078" name="Straight Arrow Connector 3077">
            <a:extLst>
              <a:ext uri="{FF2B5EF4-FFF2-40B4-BE49-F238E27FC236}">
                <a16:creationId xmlns:a16="http://schemas.microsoft.com/office/drawing/2014/main" id="{61A4926A-0307-C629-5129-A5ABA02017B0}"/>
              </a:ext>
            </a:extLst>
          </p:cNvPr>
          <p:cNvCxnSpPr>
            <a:cxnSpLocks/>
          </p:cNvCxnSpPr>
          <p:nvPr/>
        </p:nvCxnSpPr>
        <p:spPr>
          <a:xfrm>
            <a:off x="2361760" y="4498467"/>
            <a:ext cx="69799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79" name="TextBox 3078">
            <a:extLst>
              <a:ext uri="{FF2B5EF4-FFF2-40B4-BE49-F238E27FC236}">
                <a16:creationId xmlns:a16="http://schemas.microsoft.com/office/drawing/2014/main" id="{5AE00EE5-6A54-AD83-09C7-4A4823993FD2}"/>
              </a:ext>
            </a:extLst>
          </p:cNvPr>
          <p:cNvSpPr txBox="1"/>
          <p:nvPr/>
        </p:nvSpPr>
        <p:spPr>
          <a:xfrm>
            <a:off x="926310" y="4314668"/>
            <a:ext cx="1449115" cy="369332"/>
          </a:xfrm>
          <a:prstGeom prst="rect">
            <a:avLst/>
          </a:prstGeom>
          <a:noFill/>
        </p:spPr>
        <p:txBody>
          <a:bodyPr wrap="none" rtlCol="0">
            <a:spAutoFit/>
          </a:bodyPr>
          <a:lstStyle/>
          <a:p>
            <a:r>
              <a:rPr lang="en-US" dirty="0"/>
              <a:t>Animal Level</a:t>
            </a:r>
          </a:p>
        </p:txBody>
      </p:sp>
      <p:cxnSp>
        <p:nvCxnSpPr>
          <p:cNvPr id="3080" name="Straight Arrow Connector 3079">
            <a:extLst>
              <a:ext uri="{FF2B5EF4-FFF2-40B4-BE49-F238E27FC236}">
                <a16:creationId xmlns:a16="http://schemas.microsoft.com/office/drawing/2014/main" id="{673B5A05-0865-37DF-9E88-683871C4355C}"/>
              </a:ext>
            </a:extLst>
          </p:cNvPr>
          <p:cNvCxnSpPr>
            <a:cxnSpLocks/>
          </p:cNvCxnSpPr>
          <p:nvPr/>
        </p:nvCxnSpPr>
        <p:spPr>
          <a:xfrm>
            <a:off x="2337895" y="5508916"/>
            <a:ext cx="69799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81" name="TextBox 3080">
            <a:extLst>
              <a:ext uri="{FF2B5EF4-FFF2-40B4-BE49-F238E27FC236}">
                <a16:creationId xmlns:a16="http://schemas.microsoft.com/office/drawing/2014/main" id="{5ABAF1D7-9F6A-D851-6CFE-8CE7BC4116EF}"/>
              </a:ext>
            </a:extLst>
          </p:cNvPr>
          <p:cNvSpPr txBox="1"/>
          <p:nvPr/>
        </p:nvSpPr>
        <p:spPr>
          <a:xfrm>
            <a:off x="1069534" y="5324250"/>
            <a:ext cx="1160574" cy="369332"/>
          </a:xfrm>
          <a:prstGeom prst="rect">
            <a:avLst/>
          </a:prstGeom>
          <a:noFill/>
        </p:spPr>
        <p:txBody>
          <a:bodyPr wrap="none" rtlCol="0">
            <a:spAutoFit/>
          </a:bodyPr>
          <a:lstStyle/>
          <a:p>
            <a:r>
              <a:rPr lang="en-US" dirty="0"/>
              <a:t>Milk Level</a:t>
            </a:r>
          </a:p>
        </p:txBody>
      </p:sp>
      <p:sp>
        <p:nvSpPr>
          <p:cNvPr id="3082" name="TextBox 3081">
            <a:extLst>
              <a:ext uri="{FF2B5EF4-FFF2-40B4-BE49-F238E27FC236}">
                <a16:creationId xmlns:a16="http://schemas.microsoft.com/office/drawing/2014/main" id="{BFFD96CD-71E1-FEA5-BEB1-898C4FE86E38}"/>
              </a:ext>
            </a:extLst>
          </p:cNvPr>
          <p:cNvSpPr txBox="1"/>
          <p:nvPr/>
        </p:nvSpPr>
        <p:spPr>
          <a:xfrm>
            <a:off x="6493565" y="1638689"/>
            <a:ext cx="80272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TOTAL</a:t>
            </a:r>
          </a:p>
        </p:txBody>
      </p:sp>
      <p:cxnSp>
        <p:nvCxnSpPr>
          <p:cNvPr id="3083" name="Straight Arrow Connector 3082">
            <a:extLst>
              <a:ext uri="{FF2B5EF4-FFF2-40B4-BE49-F238E27FC236}">
                <a16:creationId xmlns:a16="http://schemas.microsoft.com/office/drawing/2014/main" id="{B7C40D95-E819-1DA9-A301-0137B3EEA652}"/>
              </a:ext>
            </a:extLst>
          </p:cNvPr>
          <p:cNvCxnSpPr>
            <a:cxnSpLocks/>
            <a:stCxn id="3082" idx="2"/>
            <a:endCxn id="29" idx="0"/>
          </p:cNvCxnSpPr>
          <p:nvPr/>
        </p:nvCxnSpPr>
        <p:spPr>
          <a:xfrm flipH="1">
            <a:off x="4707397" y="2008021"/>
            <a:ext cx="2187528" cy="6180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5" name="Straight Arrow Connector 3084">
            <a:extLst>
              <a:ext uri="{FF2B5EF4-FFF2-40B4-BE49-F238E27FC236}">
                <a16:creationId xmlns:a16="http://schemas.microsoft.com/office/drawing/2014/main" id="{B557A9DD-8406-3054-0CF7-E2ED49785126}"/>
              </a:ext>
            </a:extLst>
          </p:cNvPr>
          <p:cNvCxnSpPr>
            <a:cxnSpLocks/>
            <a:stCxn id="3082" idx="2"/>
            <a:endCxn id="55" idx="0"/>
          </p:cNvCxnSpPr>
          <p:nvPr/>
        </p:nvCxnSpPr>
        <p:spPr>
          <a:xfrm>
            <a:off x="6894925" y="2008021"/>
            <a:ext cx="2151394" cy="6180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8" name="Straight Arrow Connector 3087">
            <a:extLst>
              <a:ext uri="{FF2B5EF4-FFF2-40B4-BE49-F238E27FC236}">
                <a16:creationId xmlns:a16="http://schemas.microsoft.com/office/drawing/2014/main" id="{4B2F97AF-7B7E-76BA-211C-D5C302DE181F}"/>
              </a:ext>
            </a:extLst>
          </p:cNvPr>
          <p:cNvCxnSpPr>
            <a:cxnSpLocks/>
          </p:cNvCxnSpPr>
          <p:nvPr/>
        </p:nvCxnSpPr>
        <p:spPr>
          <a:xfrm>
            <a:off x="2337895" y="1930469"/>
            <a:ext cx="69799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89" name="TextBox 3088">
            <a:extLst>
              <a:ext uri="{FF2B5EF4-FFF2-40B4-BE49-F238E27FC236}">
                <a16:creationId xmlns:a16="http://schemas.microsoft.com/office/drawing/2014/main" id="{8C4D994B-3C38-C98F-E642-A0A6DDF6506D}"/>
              </a:ext>
            </a:extLst>
          </p:cNvPr>
          <p:cNvSpPr txBox="1"/>
          <p:nvPr/>
        </p:nvSpPr>
        <p:spPr>
          <a:xfrm>
            <a:off x="1069534" y="1745803"/>
            <a:ext cx="875240" cy="369332"/>
          </a:xfrm>
          <a:prstGeom prst="rect">
            <a:avLst/>
          </a:prstGeom>
          <a:noFill/>
        </p:spPr>
        <p:txBody>
          <a:bodyPr wrap="none" rtlCol="0">
            <a:spAutoFit/>
          </a:bodyPr>
          <a:lstStyle/>
          <a:p>
            <a:r>
              <a:rPr lang="en-US" dirty="0"/>
              <a:t>Level 0</a:t>
            </a:r>
          </a:p>
        </p:txBody>
      </p:sp>
    </p:spTree>
    <p:extLst>
      <p:ext uri="{BB962C8B-B14F-4D97-AF65-F5344CB8AC3E}">
        <p14:creationId xmlns:p14="http://schemas.microsoft.com/office/powerpoint/2010/main" val="240462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A2C8-6759-840E-1A5D-B6C67C6905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99BE0F-89A0-EDFB-C688-BF9FBD83096A}"/>
              </a:ext>
            </a:extLst>
          </p:cNvPr>
          <p:cNvPicPr>
            <a:picLocks/>
          </p:cNvPicPr>
          <p:nvPr/>
        </p:nvPicPr>
        <p:blipFill>
          <a:blip r:embed="rId2"/>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3E07D802-06FB-AEE0-7C63-0B025D396A48}"/>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3074F0D-5545-42FC-8D1E-F7C7B85E3DAB}"/>
              </a:ext>
            </a:extLst>
          </p:cNvPr>
          <p:cNvPicPr>
            <a:picLocks/>
          </p:cNvPicPr>
          <p:nvPr/>
        </p:nvPicPr>
        <p:blipFill>
          <a:blip r:embed="rId2"/>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550361CB-0237-32F2-C7B7-EC2A80495F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7A6496D2-ECEF-49CD-DE6B-DE6E02773A23}"/>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8FE42638-AFF1-1842-6FE6-B0CBBF4C962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8300147A-0D04-9463-0B7B-2BBD75CD4E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A66FD157-8066-122E-44E1-1E8B81456BDC}"/>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graphicFrame>
        <p:nvGraphicFramePr>
          <p:cNvPr id="2" name="Table 1">
            <a:extLst>
              <a:ext uri="{FF2B5EF4-FFF2-40B4-BE49-F238E27FC236}">
                <a16:creationId xmlns:a16="http://schemas.microsoft.com/office/drawing/2014/main" id="{4B479C28-EC72-7986-2151-FD94273489F6}"/>
              </a:ext>
            </a:extLst>
          </p:cNvPr>
          <p:cNvGraphicFramePr>
            <a:graphicFrameLocks noGrp="1"/>
          </p:cNvGraphicFramePr>
          <p:nvPr/>
        </p:nvGraphicFramePr>
        <p:xfrm>
          <a:off x="1428800" y="1790540"/>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err="1"/>
                        <a:t>Animal_ID</a:t>
                      </a:r>
                      <a:endParaRPr lang="en-US" sz="1400" dirty="0"/>
                    </a:p>
                  </a:txBody>
                  <a:tcPr/>
                </a:tc>
                <a:tc>
                  <a:txBody>
                    <a:bodyPr/>
                    <a:lstStyle/>
                    <a:p>
                      <a:pPr algn="ctr"/>
                      <a:r>
                        <a:rPr lang="en-US" sz="1400" dirty="0" err="1"/>
                        <a:t>Farm_ID</a:t>
                      </a:r>
                      <a:endParaRPr lang="en-US" sz="1400" dirty="0"/>
                    </a:p>
                  </a:txBody>
                  <a:tcPr/>
                </a:tc>
                <a:tc>
                  <a:txBody>
                    <a:bodyPr/>
                    <a:lstStyle/>
                    <a:p>
                      <a:pPr algn="ctr"/>
                      <a:r>
                        <a:rPr lang="en-US" sz="1400" dirty="0"/>
                        <a:t>Date</a:t>
                      </a:r>
                    </a:p>
                  </a:txBody>
                  <a:tcPr/>
                </a:tc>
                <a:tc>
                  <a:txBody>
                    <a:bodyPr/>
                    <a:lstStyle/>
                    <a:p>
                      <a:pPr algn="ctr"/>
                      <a:r>
                        <a:rPr lang="en-US" sz="1400" dirty="0"/>
                        <a:t>Age</a:t>
                      </a:r>
                    </a:p>
                  </a:txBody>
                  <a:tcPr/>
                </a:tc>
                <a:tc>
                  <a:txBody>
                    <a:bodyPr/>
                    <a:lstStyle/>
                    <a:p>
                      <a:pPr algn="ctr"/>
                      <a:r>
                        <a:rPr lang="en-US" sz="1400" dirty="0"/>
                        <a:t>MILK</a:t>
                      </a:r>
                    </a:p>
                  </a:txBody>
                  <a:tcPr/>
                </a:tc>
                <a:tc>
                  <a:txBody>
                    <a:bodyPr/>
                    <a:lstStyle/>
                    <a:p>
                      <a:pPr algn="ctr"/>
                      <a:r>
                        <a:rPr lang="en-US" sz="1400" dirty="0"/>
                        <a:t>DIM</a:t>
                      </a:r>
                    </a:p>
                  </a:txBody>
                  <a:tcPr/>
                </a:tc>
                <a:tc>
                  <a:txBody>
                    <a:bodyPr/>
                    <a:lstStyle/>
                    <a:p>
                      <a:pPr algn="ctr"/>
                      <a:r>
                        <a:rPr lang="en-US" sz="1400" dirty="0"/>
                        <a:t>Protein</a:t>
                      </a:r>
                    </a:p>
                  </a:txBody>
                  <a:tcPr/>
                </a:tc>
                <a:tc>
                  <a:txBody>
                    <a:bodyPr/>
                    <a:lstStyle/>
                    <a:p>
                      <a:pPr algn="ctr"/>
                      <a:r>
                        <a:rPr lang="en-US" sz="1400" dirty="0"/>
                        <a:t>Fat</a:t>
                      </a:r>
                    </a:p>
                  </a:txBody>
                  <a:tcPr/>
                </a:tc>
                <a:tc>
                  <a:txBody>
                    <a:bodyPr/>
                    <a:lstStyle/>
                    <a:p>
                      <a:pPr algn="ctr"/>
                      <a:r>
                        <a:rPr lang="en-US" sz="1400" dirty="0"/>
                        <a:t>SCC</a:t>
                      </a:r>
                    </a:p>
                  </a:txBody>
                  <a:tcPr/>
                </a:tc>
                <a:extLst>
                  <a:ext uri="{0D108BD9-81ED-4DB2-BD59-A6C34878D82A}">
                    <a16:rowId xmlns:a16="http://schemas.microsoft.com/office/drawing/2014/main" val="4040833211"/>
                  </a:ext>
                </a:extLst>
              </a:tr>
            </a:tbl>
          </a:graphicData>
        </a:graphic>
      </p:graphicFrame>
      <p:graphicFrame>
        <p:nvGraphicFramePr>
          <p:cNvPr id="3" name="Table 2">
            <a:extLst>
              <a:ext uri="{FF2B5EF4-FFF2-40B4-BE49-F238E27FC236}">
                <a16:creationId xmlns:a16="http://schemas.microsoft.com/office/drawing/2014/main" id="{CC85836B-AA04-E8C7-C08A-F07EB4DBD77B}"/>
              </a:ext>
            </a:extLst>
          </p:cNvPr>
          <p:cNvGraphicFramePr>
            <a:graphicFrameLocks noGrp="1"/>
          </p:cNvGraphicFramePr>
          <p:nvPr/>
        </p:nvGraphicFramePr>
        <p:xfrm>
          <a:off x="1428799" y="2159330"/>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4</a:t>
                      </a:r>
                    </a:p>
                  </a:txBody>
                  <a:tcPr/>
                </a:tc>
                <a:tc>
                  <a:txBody>
                    <a:bodyPr/>
                    <a:lstStyle/>
                    <a:p>
                      <a:pPr algn="ctr"/>
                      <a:r>
                        <a:rPr lang="en-US" sz="1400" dirty="0"/>
                        <a:t>20 Kg</a:t>
                      </a:r>
                    </a:p>
                  </a:txBody>
                  <a:tcPr/>
                </a:tc>
                <a:tc>
                  <a:txBody>
                    <a:bodyPr/>
                    <a:lstStyle/>
                    <a:p>
                      <a:pPr algn="ctr"/>
                      <a:r>
                        <a:rPr lang="en-US" sz="1400" dirty="0"/>
                        <a:t>154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4" name="Table 3">
            <a:extLst>
              <a:ext uri="{FF2B5EF4-FFF2-40B4-BE49-F238E27FC236}">
                <a16:creationId xmlns:a16="http://schemas.microsoft.com/office/drawing/2014/main" id="{6B0F1585-9803-4B11-74DF-1524C75D48FC}"/>
              </a:ext>
            </a:extLst>
          </p:cNvPr>
          <p:cNvGraphicFramePr>
            <a:graphicFrameLocks noGrp="1"/>
          </p:cNvGraphicFramePr>
          <p:nvPr/>
        </p:nvGraphicFramePr>
        <p:xfrm>
          <a:off x="1428799" y="2535057"/>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6</a:t>
                      </a:r>
                    </a:p>
                  </a:txBody>
                  <a:tcPr/>
                </a:tc>
                <a:tc>
                  <a:txBody>
                    <a:bodyPr/>
                    <a:lstStyle/>
                    <a:p>
                      <a:pPr algn="ctr"/>
                      <a:r>
                        <a:rPr lang="en-US" sz="1400" dirty="0"/>
                        <a:t>35 Kg</a:t>
                      </a:r>
                    </a:p>
                  </a:txBody>
                  <a:tcPr/>
                </a:tc>
                <a:tc>
                  <a:txBody>
                    <a:bodyPr/>
                    <a:lstStyle/>
                    <a:p>
                      <a:pPr algn="ctr"/>
                      <a:r>
                        <a:rPr lang="en-US" sz="1400" dirty="0"/>
                        <a:t>114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7" name="Table 6">
            <a:extLst>
              <a:ext uri="{FF2B5EF4-FFF2-40B4-BE49-F238E27FC236}">
                <a16:creationId xmlns:a16="http://schemas.microsoft.com/office/drawing/2014/main" id="{B9C3C1DF-537E-02CA-4F5F-96751F713D5B}"/>
              </a:ext>
            </a:extLst>
          </p:cNvPr>
          <p:cNvGraphicFramePr>
            <a:graphicFrameLocks noGrp="1"/>
          </p:cNvGraphicFramePr>
          <p:nvPr/>
        </p:nvGraphicFramePr>
        <p:xfrm>
          <a:off x="1428802" y="2903456"/>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5</a:t>
                      </a:r>
                    </a:p>
                  </a:txBody>
                  <a:tcPr/>
                </a:tc>
                <a:tc>
                  <a:txBody>
                    <a:bodyPr/>
                    <a:lstStyle/>
                    <a:p>
                      <a:pPr algn="ctr"/>
                      <a:r>
                        <a:rPr lang="en-US" sz="1400" dirty="0"/>
                        <a:t>15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8" name="Table 7">
            <a:extLst>
              <a:ext uri="{FF2B5EF4-FFF2-40B4-BE49-F238E27FC236}">
                <a16:creationId xmlns:a16="http://schemas.microsoft.com/office/drawing/2014/main" id="{0D3EC7D8-7CC0-E29C-6D70-6E93015DBDFE}"/>
              </a:ext>
            </a:extLst>
          </p:cNvPr>
          <p:cNvGraphicFramePr>
            <a:graphicFrameLocks noGrp="1"/>
          </p:cNvGraphicFramePr>
          <p:nvPr/>
        </p:nvGraphicFramePr>
        <p:xfrm>
          <a:off x="1428802" y="3272246"/>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7</a:t>
                      </a:r>
                    </a:p>
                  </a:txBody>
                  <a:tcPr/>
                </a:tc>
                <a:tc>
                  <a:txBody>
                    <a:bodyPr/>
                    <a:lstStyle/>
                    <a:p>
                      <a:pPr algn="ctr"/>
                      <a:r>
                        <a:rPr lang="en-US" sz="1400" dirty="0"/>
                        <a:t>30 Kg</a:t>
                      </a:r>
                    </a:p>
                  </a:txBody>
                  <a:tcPr/>
                </a:tc>
                <a:tc>
                  <a:txBody>
                    <a:bodyPr/>
                    <a:lstStyle/>
                    <a:p>
                      <a:pPr algn="ctr"/>
                      <a:r>
                        <a:rPr lang="en-US" sz="1400" dirty="0"/>
                        <a:t>94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0" name="Table 9">
            <a:extLst>
              <a:ext uri="{FF2B5EF4-FFF2-40B4-BE49-F238E27FC236}">
                <a16:creationId xmlns:a16="http://schemas.microsoft.com/office/drawing/2014/main" id="{35DBCA64-ADF0-C2EB-B4C9-0508C4FE590C}"/>
              </a:ext>
            </a:extLst>
          </p:cNvPr>
          <p:cNvGraphicFramePr>
            <a:graphicFrameLocks noGrp="1"/>
          </p:cNvGraphicFramePr>
          <p:nvPr/>
        </p:nvGraphicFramePr>
        <p:xfrm>
          <a:off x="1428799" y="3628112"/>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5</a:t>
                      </a:r>
                    </a:p>
                  </a:txBody>
                  <a:tcPr/>
                </a:tc>
                <a:tc>
                  <a:txBody>
                    <a:bodyPr/>
                    <a:lstStyle/>
                    <a:p>
                      <a:pPr algn="ctr"/>
                      <a:r>
                        <a:rPr lang="en-US" sz="1400" dirty="0"/>
                        <a:t>20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6" name="Table 15">
            <a:extLst>
              <a:ext uri="{FF2B5EF4-FFF2-40B4-BE49-F238E27FC236}">
                <a16:creationId xmlns:a16="http://schemas.microsoft.com/office/drawing/2014/main" id="{40F73878-1D80-6079-0559-F6608385FED7}"/>
              </a:ext>
            </a:extLst>
          </p:cNvPr>
          <p:cNvGraphicFramePr>
            <a:graphicFrameLocks noGrp="1"/>
          </p:cNvGraphicFramePr>
          <p:nvPr/>
        </p:nvGraphicFramePr>
        <p:xfrm>
          <a:off x="1428799" y="3991868"/>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25 Kg</a:t>
                      </a:r>
                    </a:p>
                  </a:txBody>
                  <a:tcPr/>
                </a:tc>
                <a:tc>
                  <a:txBody>
                    <a:bodyPr/>
                    <a:lstStyle/>
                    <a:p>
                      <a:pPr algn="ctr"/>
                      <a:r>
                        <a:rPr lang="en-US" sz="1400" dirty="0"/>
                        <a:t>155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7" name="Table 16">
            <a:extLst>
              <a:ext uri="{FF2B5EF4-FFF2-40B4-BE49-F238E27FC236}">
                <a16:creationId xmlns:a16="http://schemas.microsoft.com/office/drawing/2014/main" id="{C319D6AA-AB32-A4FF-7110-1E6424D3180C}"/>
              </a:ext>
            </a:extLst>
          </p:cNvPr>
          <p:cNvGraphicFramePr>
            <a:graphicFrameLocks noGrp="1"/>
          </p:cNvGraphicFramePr>
          <p:nvPr/>
        </p:nvGraphicFramePr>
        <p:xfrm>
          <a:off x="1428802" y="4361087"/>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35 Kg</a:t>
                      </a:r>
                    </a:p>
                  </a:txBody>
                  <a:tcPr/>
                </a:tc>
                <a:tc>
                  <a:txBody>
                    <a:bodyPr/>
                    <a:lstStyle/>
                    <a:p>
                      <a:pPr algn="ctr"/>
                      <a:r>
                        <a:rPr lang="en-US" sz="1400" dirty="0"/>
                        <a:t>115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8" name="Table 17">
            <a:extLst>
              <a:ext uri="{FF2B5EF4-FFF2-40B4-BE49-F238E27FC236}">
                <a16:creationId xmlns:a16="http://schemas.microsoft.com/office/drawing/2014/main" id="{61F9F7A0-69A5-FD0B-49A3-1E7744465B51}"/>
              </a:ext>
            </a:extLst>
          </p:cNvPr>
          <p:cNvGraphicFramePr>
            <a:graphicFrameLocks noGrp="1"/>
          </p:cNvGraphicFramePr>
          <p:nvPr/>
        </p:nvGraphicFramePr>
        <p:xfrm>
          <a:off x="1428802" y="4729877"/>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7</a:t>
                      </a:r>
                    </a:p>
                  </a:txBody>
                  <a:tcPr/>
                </a:tc>
                <a:tc>
                  <a:txBody>
                    <a:bodyPr/>
                    <a:lstStyle/>
                    <a:p>
                      <a:pPr algn="ctr"/>
                      <a:r>
                        <a:rPr lang="en-US" sz="1400" dirty="0"/>
                        <a:t>15 Kg</a:t>
                      </a:r>
                    </a:p>
                  </a:txBody>
                  <a:tcPr/>
                </a:tc>
                <a:tc>
                  <a:txBody>
                    <a:bodyPr/>
                    <a:lstStyle/>
                    <a:p>
                      <a:pPr algn="ctr"/>
                      <a:r>
                        <a:rPr lang="en-US" sz="1400" dirty="0"/>
                        <a:t>93</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pic>
        <p:nvPicPr>
          <p:cNvPr id="6" name="Picture 5">
            <a:extLst>
              <a:ext uri="{FF2B5EF4-FFF2-40B4-BE49-F238E27FC236}">
                <a16:creationId xmlns:a16="http://schemas.microsoft.com/office/drawing/2014/main" id="{93D833F0-B023-B105-C01F-7F650B256180}"/>
              </a:ext>
            </a:extLst>
          </p:cNvPr>
          <p:cNvPicPr>
            <a:picLocks noChangeAspect="1"/>
          </p:cNvPicPr>
          <p:nvPr/>
        </p:nvPicPr>
        <p:blipFill>
          <a:blip r:embed="rId7"/>
          <a:srcRect l="22961" t="57864" r="62119" b="30040"/>
          <a:stretch>
            <a:fillRect/>
          </a:stretch>
        </p:blipFill>
        <p:spPr>
          <a:xfrm>
            <a:off x="3059750" y="5385988"/>
            <a:ext cx="829706" cy="366508"/>
          </a:xfrm>
          <a:prstGeom prst="rect">
            <a:avLst/>
          </a:prstGeom>
        </p:spPr>
      </p:pic>
    </p:spTree>
    <p:extLst>
      <p:ext uri="{BB962C8B-B14F-4D97-AF65-F5344CB8AC3E}">
        <p14:creationId xmlns:p14="http://schemas.microsoft.com/office/powerpoint/2010/main" val="4009782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6839-4FD6-9339-F7A0-688AAB43D3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1050279-66DA-A8F2-4351-0687F5B2EEE7}"/>
              </a:ext>
            </a:extLst>
          </p:cNvPr>
          <p:cNvPicPr>
            <a:picLocks/>
          </p:cNvPicPr>
          <p:nvPr/>
        </p:nvPicPr>
        <p:blipFill>
          <a:blip r:embed="rId2"/>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052B2569-CD86-EBE1-8FCC-58F9B6A68D4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62DEA33-04BF-5937-A37C-AC0607A6CA00}"/>
              </a:ext>
            </a:extLst>
          </p:cNvPr>
          <p:cNvPicPr>
            <a:picLocks/>
          </p:cNvPicPr>
          <p:nvPr/>
        </p:nvPicPr>
        <p:blipFill>
          <a:blip r:embed="rId2"/>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53AFF5D1-0426-5007-2C71-6F85F6BC4B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799B76B7-F67B-5110-FD72-43BF46B96ABD}"/>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6FE10AD0-B36D-2B79-4869-FD504A7C993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80DF00ED-48A1-668F-E8C8-0F635F44A1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E06024C7-398C-7873-1B71-07CF46CC428B}"/>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graphicFrame>
        <p:nvGraphicFramePr>
          <p:cNvPr id="2" name="Table 1">
            <a:extLst>
              <a:ext uri="{FF2B5EF4-FFF2-40B4-BE49-F238E27FC236}">
                <a16:creationId xmlns:a16="http://schemas.microsoft.com/office/drawing/2014/main" id="{A190711F-6D0E-2BC5-D513-FBDB27AA2E21}"/>
              </a:ext>
            </a:extLst>
          </p:cNvPr>
          <p:cNvGraphicFramePr>
            <a:graphicFrameLocks noGrp="1"/>
          </p:cNvGraphicFramePr>
          <p:nvPr/>
        </p:nvGraphicFramePr>
        <p:xfrm>
          <a:off x="1428800" y="1930276"/>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err="1"/>
                        <a:t>Animal_ID</a:t>
                      </a:r>
                      <a:endParaRPr lang="en-US" sz="1400" dirty="0"/>
                    </a:p>
                  </a:txBody>
                  <a:tcPr/>
                </a:tc>
                <a:tc>
                  <a:txBody>
                    <a:bodyPr/>
                    <a:lstStyle/>
                    <a:p>
                      <a:pPr algn="ctr"/>
                      <a:r>
                        <a:rPr lang="en-US" sz="1400" dirty="0" err="1"/>
                        <a:t>Farm_ID</a:t>
                      </a:r>
                      <a:endParaRPr lang="en-US" sz="1400" dirty="0"/>
                    </a:p>
                  </a:txBody>
                  <a:tcPr/>
                </a:tc>
                <a:tc>
                  <a:txBody>
                    <a:bodyPr/>
                    <a:lstStyle/>
                    <a:p>
                      <a:pPr algn="ctr"/>
                      <a:r>
                        <a:rPr lang="en-US" sz="1400" dirty="0"/>
                        <a:t>Date</a:t>
                      </a:r>
                    </a:p>
                  </a:txBody>
                  <a:tcPr/>
                </a:tc>
                <a:tc>
                  <a:txBody>
                    <a:bodyPr/>
                    <a:lstStyle/>
                    <a:p>
                      <a:pPr algn="ctr"/>
                      <a:r>
                        <a:rPr lang="en-US" sz="1400" dirty="0"/>
                        <a:t>Age</a:t>
                      </a:r>
                    </a:p>
                  </a:txBody>
                  <a:tcPr/>
                </a:tc>
                <a:tc>
                  <a:txBody>
                    <a:bodyPr/>
                    <a:lstStyle/>
                    <a:p>
                      <a:pPr algn="ctr"/>
                      <a:r>
                        <a:rPr lang="en-US" sz="1400" dirty="0"/>
                        <a:t>MILK</a:t>
                      </a:r>
                    </a:p>
                  </a:txBody>
                  <a:tcPr/>
                </a:tc>
                <a:tc>
                  <a:txBody>
                    <a:bodyPr/>
                    <a:lstStyle/>
                    <a:p>
                      <a:pPr algn="ctr"/>
                      <a:r>
                        <a:rPr lang="en-US" sz="1400" dirty="0"/>
                        <a:t>DIM</a:t>
                      </a:r>
                    </a:p>
                  </a:txBody>
                  <a:tcPr/>
                </a:tc>
                <a:tc>
                  <a:txBody>
                    <a:bodyPr/>
                    <a:lstStyle/>
                    <a:p>
                      <a:pPr algn="ctr"/>
                      <a:r>
                        <a:rPr lang="en-US" sz="1400" dirty="0"/>
                        <a:t>Protein</a:t>
                      </a:r>
                    </a:p>
                  </a:txBody>
                  <a:tcPr/>
                </a:tc>
                <a:tc>
                  <a:txBody>
                    <a:bodyPr/>
                    <a:lstStyle/>
                    <a:p>
                      <a:pPr algn="ctr"/>
                      <a:r>
                        <a:rPr lang="en-US" sz="1400" dirty="0"/>
                        <a:t>Fat</a:t>
                      </a:r>
                    </a:p>
                  </a:txBody>
                  <a:tcPr/>
                </a:tc>
                <a:tc>
                  <a:txBody>
                    <a:bodyPr/>
                    <a:lstStyle/>
                    <a:p>
                      <a:pPr algn="ctr"/>
                      <a:r>
                        <a:rPr lang="en-US" sz="1400" dirty="0"/>
                        <a:t>SCC</a:t>
                      </a:r>
                    </a:p>
                  </a:txBody>
                  <a:tcPr/>
                </a:tc>
                <a:extLst>
                  <a:ext uri="{0D108BD9-81ED-4DB2-BD59-A6C34878D82A}">
                    <a16:rowId xmlns:a16="http://schemas.microsoft.com/office/drawing/2014/main" val="4040833211"/>
                  </a:ext>
                </a:extLst>
              </a:tr>
            </a:tbl>
          </a:graphicData>
        </a:graphic>
      </p:graphicFrame>
      <p:graphicFrame>
        <p:nvGraphicFramePr>
          <p:cNvPr id="3" name="Table 2">
            <a:extLst>
              <a:ext uri="{FF2B5EF4-FFF2-40B4-BE49-F238E27FC236}">
                <a16:creationId xmlns:a16="http://schemas.microsoft.com/office/drawing/2014/main" id="{BB842D63-E953-9355-8E5E-EA2A76982E7D}"/>
              </a:ext>
            </a:extLst>
          </p:cNvPr>
          <p:cNvGraphicFramePr>
            <a:graphicFrameLocks noGrp="1"/>
          </p:cNvGraphicFramePr>
          <p:nvPr/>
        </p:nvGraphicFramePr>
        <p:xfrm>
          <a:off x="1428799" y="2299066"/>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4</a:t>
                      </a:r>
                    </a:p>
                  </a:txBody>
                  <a:tcPr/>
                </a:tc>
                <a:tc>
                  <a:txBody>
                    <a:bodyPr/>
                    <a:lstStyle/>
                    <a:p>
                      <a:pPr algn="ctr"/>
                      <a:r>
                        <a:rPr lang="en-US" sz="1400" dirty="0"/>
                        <a:t>20 Kg</a:t>
                      </a:r>
                    </a:p>
                  </a:txBody>
                  <a:tcPr/>
                </a:tc>
                <a:tc>
                  <a:txBody>
                    <a:bodyPr/>
                    <a:lstStyle/>
                    <a:p>
                      <a:pPr algn="ctr"/>
                      <a:r>
                        <a:rPr lang="en-US" sz="1400" dirty="0"/>
                        <a:t>154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4" name="Table 3">
            <a:extLst>
              <a:ext uri="{FF2B5EF4-FFF2-40B4-BE49-F238E27FC236}">
                <a16:creationId xmlns:a16="http://schemas.microsoft.com/office/drawing/2014/main" id="{1256F301-6FCD-D325-CDAA-6D4433927061}"/>
              </a:ext>
            </a:extLst>
          </p:cNvPr>
          <p:cNvGraphicFramePr>
            <a:graphicFrameLocks noGrp="1"/>
          </p:cNvGraphicFramePr>
          <p:nvPr/>
        </p:nvGraphicFramePr>
        <p:xfrm>
          <a:off x="1428799" y="2674793"/>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6</a:t>
                      </a:r>
                    </a:p>
                  </a:txBody>
                  <a:tcPr/>
                </a:tc>
                <a:tc>
                  <a:txBody>
                    <a:bodyPr/>
                    <a:lstStyle/>
                    <a:p>
                      <a:pPr algn="ctr"/>
                      <a:r>
                        <a:rPr lang="en-US" sz="1400" dirty="0"/>
                        <a:t>35 Kg</a:t>
                      </a:r>
                    </a:p>
                  </a:txBody>
                  <a:tcPr/>
                </a:tc>
                <a:tc>
                  <a:txBody>
                    <a:bodyPr/>
                    <a:lstStyle/>
                    <a:p>
                      <a:pPr algn="ctr"/>
                      <a:r>
                        <a:rPr lang="en-US" sz="1400" dirty="0"/>
                        <a:t>114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7" name="Table 6">
            <a:extLst>
              <a:ext uri="{FF2B5EF4-FFF2-40B4-BE49-F238E27FC236}">
                <a16:creationId xmlns:a16="http://schemas.microsoft.com/office/drawing/2014/main" id="{4578DD3B-3E1D-3EBB-13E6-E6F76E8582F9}"/>
              </a:ext>
            </a:extLst>
          </p:cNvPr>
          <p:cNvGraphicFramePr>
            <a:graphicFrameLocks noGrp="1"/>
          </p:cNvGraphicFramePr>
          <p:nvPr/>
        </p:nvGraphicFramePr>
        <p:xfrm>
          <a:off x="1428802" y="3043192"/>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5</a:t>
                      </a:r>
                    </a:p>
                  </a:txBody>
                  <a:tcPr/>
                </a:tc>
                <a:tc>
                  <a:txBody>
                    <a:bodyPr/>
                    <a:lstStyle/>
                    <a:p>
                      <a:pPr algn="ctr"/>
                      <a:r>
                        <a:rPr lang="en-US" sz="1400" dirty="0"/>
                        <a:t>15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8" name="Table 7">
            <a:extLst>
              <a:ext uri="{FF2B5EF4-FFF2-40B4-BE49-F238E27FC236}">
                <a16:creationId xmlns:a16="http://schemas.microsoft.com/office/drawing/2014/main" id="{811EEF54-82C5-3399-3C70-180B5934A668}"/>
              </a:ext>
            </a:extLst>
          </p:cNvPr>
          <p:cNvGraphicFramePr>
            <a:graphicFrameLocks noGrp="1"/>
          </p:cNvGraphicFramePr>
          <p:nvPr/>
        </p:nvGraphicFramePr>
        <p:xfrm>
          <a:off x="1428802" y="3411982"/>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7</a:t>
                      </a:r>
                    </a:p>
                  </a:txBody>
                  <a:tcPr/>
                </a:tc>
                <a:tc>
                  <a:txBody>
                    <a:bodyPr/>
                    <a:lstStyle/>
                    <a:p>
                      <a:pPr algn="ctr"/>
                      <a:r>
                        <a:rPr lang="en-US" sz="1400" dirty="0"/>
                        <a:t>30 Kg</a:t>
                      </a:r>
                    </a:p>
                  </a:txBody>
                  <a:tcPr/>
                </a:tc>
                <a:tc>
                  <a:txBody>
                    <a:bodyPr/>
                    <a:lstStyle/>
                    <a:p>
                      <a:pPr algn="ctr"/>
                      <a:r>
                        <a:rPr lang="en-US" sz="1400" dirty="0"/>
                        <a:t>94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0" name="Table 9">
            <a:extLst>
              <a:ext uri="{FF2B5EF4-FFF2-40B4-BE49-F238E27FC236}">
                <a16:creationId xmlns:a16="http://schemas.microsoft.com/office/drawing/2014/main" id="{71F225AF-041E-E9E8-0ED8-29B7FE06A21D}"/>
              </a:ext>
            </a:extLst>
          </p:cNvPr>
          <p:cNvGraphicFramePr>
            <a:graphicFrameLocks noGrp="1"/>
          </p:cNvGraphicFramePr>
          <p:nvPr/>
        </p:nvGraphicFramePr>
        <p:xfrm>
          <a:off x="1428799" y="3767848"/>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5</a:t>
                      </a:r>
                    </a:p>
                  </a:txBody>
                  <a:tcPr/>
                </a:tc>
                <a:tc>
                  <a:txBody>
                    <a:bodyPr/>
                    <a:lstStyle/>
                    <a:p>
                      <a:pPr algn="ctr"/>
                      <a:r>
                        <a:rPr lang="en-US" sz="1400" dirty="0"/>
                        <a:t>20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6" name="Table 15">
            <a:extLst>
              <a:ext uri="{FF2B5EF4-FFF2-40B4-BE49-F238E27FC236}">
                <a16:creationId xmlns:a16="http://schemas.microsoft.com/office/drawing/2014/main" id="{E3A2E539-8C32-6138-95FC-4B5A50E21D23}"/>
              </a:ext>
            </a:extLst>
          </p:cNvPr>
          <p:cNvGraphicFramePr>
            <a:graphicFrameLocks noGrp="1"/>
          </p:cNvGraphicFramePr>
          <p:nvPr/>
        </p:nvGraphicFramePr>
        <p:xfrm>
          <a:off x="1428799" y="4131604"/>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25 Kg</a:t>
                      </a:r>
                    </a:p>
                  </a:txBody>
                  <a:tcPr/>
                </a:tc>
                <a:tc>
                  <a:txBody>
                    <a:bodyPr/>
                    <a:lstStyle/>
                    <a:p>
                      <a:pPr algn="ctr"/>
                      <a:r>
                        <a:rPr lang="en-US" sz="1400" dirty="0"/>
                        <a:t>155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7" name="Table 16">
            <a:extLst>
              <a:ext uri="{FF2B5EF4-FFF2-40B4-BE49-F238E27FC236}">
                <a16:creationId xmlns:a16="http://schemas.microsoft.com/office/drawing/2014/main" id="{F582B2D0-E0F6-A306-9A8B-AF040CF4D0A5}"/>
              </a:ext>
            </a:extLst>
          </p:cNvPr>
          <p:cNvGraphicFramePr>
            <a:graphicFrameLocks noGrp="1"/>
          </p:cNvGraphicFramePr>
          <p:nvPr/>
        </p:nvGraphicFramePr>
        <p:xfrm>
          <a:off x="1428802" y="4500823"/>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35 Kg</a:t>
                      </a:r>
                    </a:p>
                  </a:txBody>
                  <a:tcPr/>
                </a:tc>
                <a:tc>
                  <a:txBody>
                    <a:bodyPr/>
                    <a:lstStyle/>
                    <a:p>
                      <a:pPr algn="ctr"/>
                      <a:r>
                        <a:rPr lang="en-US" sz="1400" dirty="0"/>
                        <a:t>115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8" name="Table 17">
            <a:extLst>
              <a:ext uri="{FF2B5EF4-FFF2-40B4-BE49-F238E27FC236}">
                <a16:creationId xmlns:a16="http://schemas.microsoft.com/office/drawing/2014/main" id="{4A89309E-0F07-513C-731D-F169011A8EBF}"/>
              </a:ext>
            </a:extLst>
          </p:cNvPr>
          <p:cNvGraphicFramePr>
            <a:graphicFrameLocks noGrp="1"/>
          </p:cNvGraphicFramePr>
          <p:nvPr/>
        </p:nvGraphicFramePr>
        <p:xfrm>
          <a:off x="1428802" y="4869613"/>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7</a:t>
                      </a:r>
                    </a:p>
                  </a:txBody>
                  <a:tcPr/>
                </a:tc>
                <a:tc>
                  <a:txBody>
                    <a:bodyPr/>
                    <a:lstStyle/>
                    <a:p>
                      <a:pPr algn="ctr"/>
                      <a:r>
                        <a:rPr lang="en-US" sz="1400" dirty="0"/>
                        <a:t>15 Kg</a:t>
                      </a:r>
                    </a:p>
                  </a:txBody>
                  <a:tcPr/>
                </a:tc>
                <a:tc>
                  <a:txBody>
                    <a:bodyPr/>
                    <a:lstStyle/>
                    <a:p>
                      <a:pPr algn="ctr"/>
                      <a:r>
                        <a:rPr lang="en-US" sz="1400" dirty="0"/>
                        <a:t>93</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pic>
        <p:nvPicPr>
          <p:cNvPr id="6" name="Picture 5">
            <a:extLst>
              <a:ext uri="{FF2B5EF4-FFF2-40B4-BE49-F238E27FC236}">
                <a16:creationId xmlns:a16="http://schemas.microsoft.com/office/drawing/2014/main" id="{A523E2F8-5221-52E9-BFEA-F7499CB9EBF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178526" y="1497230"/>
            <a:ext cx="851605" cy="686497"/>
          </a:xfrm>
          <a:prstGeom prst="rect">
            <a:avLst/>
          </a:prstGeom>
        </p:spPr>
      </p:pic>
    </p:spTree>
    <p:extLst>
      <p:ext uri="{BB962C8B-B14F-4D97-AF65-F5344CB8AC3E}">
        <p14:creationId xmlns:p14="http://schemas.microsoft.com/office/powerpoint/2010/main" val="4141906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6B3E0-F09F-7ABE-1CA5-431F07BCA7C6}"/>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571722C8-01CC-69C6-633A-6F143271F5AE}"/>
              </a:ext>
            </a:extLst>
          </p:cNvPr>
          <p:cNvGraphicFramePr>
            <a:graphicFrameLocks noGrp="1"/>
          </p:cNvGraphicFramePr>
          <p:nvPr/>
        </p:nvGraphicFramePr>
        <p:xfrm>
          <a:off x="1417938" y="3736948"/>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5</a:t>
                      </a:r>
                    </a:p>
                  </a:txBody>
                  <a:tcPr/>
                </a:tc>
                <a:tc>
                  <a:txBody>
                    <a:bodyPr/>
                    <a:lstStyle/>
                    <a:p>
                      <a:pPr algn="ctr"/>
                      <a:r>
                        <a:rPr lang="en-US" sz="1400" dirty="0"/>
                        <a:t>20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pic>
        <p:nvPicPr>
          <p:cNvPr id="5" name="Picture 4">
            <a:extLst>
              <a:ext uri="{FF2B5EF4-FFF2-40B4-BE49-F238E27FC236}">
                <a16:creationId xmlns:a16="http://schemas.microsoft.com/office/drawing/2014/main" id="{31D8B228-2369-3231-E840-F7B9E56BA45B}"/>
              </a:ext>
            </a:extLst>
          </p:cNvPr>
          <p:cNvPicPr>
            <a:picLocks/>
          </p:cNvPicPr>
          <p:nvPr/>
        </p:nvPicPr>
        <p:blipFill>
          <a:blip r:embed="rId2"/>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ED891685-A93F-6192-3789-C5A62D8C059A}"/>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4CE43E4-9B9E-FC1B-46C5-9CF171C13BBC}"/>
              </a:ext>
            </a:extLst>
          </p:cNvPr>
          <p:cNvPicPr>
            <a:picLocks/>
          </p:cNvPicPr>
          <p:nvPr/>
        </p:nvPicPr>
        <p:blipFill>
          <a:blip r:embed="rId2"/>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26560006-C828-DACA-5C17-B6FA34E686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2D041334-0D81-E56E-95F6-BAE85A76D7BB}"/>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A2F5B088-7F21-D152-BED0-2FF1B8FF2DD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6A10CFBA-C706-5D08-FBA4-6D6AF274C5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8EF350FA-97CF-7F2B-CD57-B93F03BF2CCA}"/>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graphicFrame>
        <p:nvGraphicFramePr>
          <p:cNvPr id="2" name="Table 1">
            <a:extLst>
              <a:ext uri="{FF2B5EF4-FFF2-40B4-BE49-F238E27FC236}">
                <a16:creationId xmlns:a16="http://schemas.microsoft.com/office/drawing/2014/main" id="{D0584D7A-E53A-C410-B8C2-3653F685DF88}"/>
              </a:ext>
            </a:extLst>
          </p:cNvPr>
          <p:cNvGraphicFramePr>
            <a:graphicFrameLocks noGrp="1"/>
          </p:cNvGraphicFramePr>
          <p:nvPr/>
        </p:nvGraphicFramePr>
        <p:xfrm>
          <a:off x="1428800" y="1768038"/>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err="1"/>
                        <a:t>Animal_ID</a:t>
                      </a:r>
                      <a:endParaRPr lang="en-US" sz="1400" dirty="0"/>
                    </a:p>
                  </a:txBody>
                  <a:tcPr/>
                </a:tc>
                <a:tc>
                  <a:txBody>
                    <a:bodyPr/>
                    <a:lstStyle/>
                    <a:p>
                      <a:pPr algn="ctr"/>
                      <a:r>
                        <a:rPr lang="en-US" sz="1400" dirty="0" err="1"/>
                        <a:t>Farm_ID</a:t>
                      </a:r>
                      <a:endParaRPr lang="en-US" sz="1400" dirty="0"/>
                    </a:p>
                  </a:txBody>
                  <a:tcPr/>
                </a:tc>
                <a:tc>
                  <a:txBody>
                    <a:bodyPr/>
                    <a:lstStyle/>
                    <a:p>
                      <a:pPr algn="ctr"/>
                      <a:r>
                        <a:rPr lang="en-US" sz="1400" dirty="0"/>
                        <a:t>Date</a:t>
                      </a:r>
                    </a:p>
                  </a:txBody>
                  <a:tcPr/>
                </a:tc>
                <a:tc>
                  <a:txBody>
                    <a:bodyPr/>
                    <a:lstStyle/>
                    <a:p>
                      <a:pPr algn="ctr"/>
                      <a:r>
                        <a:rPr lang="en-US" sz="1400" dirty="0"/>
                        <a:t>Age</a:t>
                      </a:r>
                    </a:p>
                  </a:txBody>
                  <a:tcPr/>
                </a:tc>
                <a:tc>
                  <a:txBody>
                    <a:bodyPr/>
                    <a:lstStyle/>
                    <a:p>
                      <a:pPr algn="ctr"/>
                      <a:r>
                        <a:rPr lang="en-US" sz="1400" dirty="0"/>
                        <a:t>MILK</a:t>
                      </a:r>
                    </a:p>
                  </a:txBody>
                  <a:tcPr/>
                </a:tc>
                <a:tc>
                  <a:txBody>
                    <a:bodyPr/>
                    <a:lstStyle/>
                    <a:p>
                      <a:pPr algn="ctr"/>
                      <a:r>
                        <a:rPr lang="en-US" sz="1400" dirty="0"/>
                        <a:t>DIM</a:t>
                      </a:r>
                    </a:p>
                  </a:txBody>
                  <a:tcPr/>
                </a:tc>
                <a:tc>
                  <a:txBody>
                    <a:bodyPr/>
                    <a:lstStyle/>
                    <a:p>
                      <a:pPr algn="ctr"/>
                      <a:r>
                        <a:rPr lang="en-US" sz="1400" dirty="0"/>
                        <a:t>Protein</a:t>
                      </a:r>
                    </a:p>
                  </a:txBody>
                  <a:tcPr/>
                </a:tc>
                <a:tc>
                  <a:txBody>
                    <a:bodyPr/>
                    <a:lstStyle/>
                    <a:p>
                      <a:pPr algn="ctr"/>
                      <a:r>
                        <a:rPr lang="en-US" sz="1400" dirty="0"/>
                        <a:t>Fat</a:t>
                      </a:r>
                    </a:p>
                  </a:txBody>
                  <a:tcPr/>
                </a:tc>
                <a:tc>
                  <a:txBody>
                    <a:bodyPr/>
                    <a:lstStyle/>
                    <a:p>
                      <a:pPr algn="ctr"/>
                      <a:r>
                        <a:rPr lang="en-US" sz="1400" dirty="0"/>
                        <a:t>SCC</a:t>
                      </a:r>
                    </a:p>
                  </a:txBody>
                  <a:tcPr/>
                </a:tc>
                <a:extLst>
                  <a:ext uri="{0D108BD9-81ED-4DB2-BD59-A6C34878D82A}">
                    <a16:rowId xmlns:a16="http://schemas.microsoft.com/office/drawing/2014/main" val="4040833211"/>
                  </a:ext>
                </a:extLst>
              </a:tr>
            </a:tbl>
          </a:graphicData>
        </a:graphic>
      </p:graphicFrame>
      <p:graphicFrame>
        <p:nvGraphicFramePr>
          <p:cNvPr id="3" name="Table 2">
            <a:extLst>
              <a:ext uri="{FF2B5EF4-FFF2-40B4-BE49-F238E27FC236}">
                <a16:creationId xmlns:a16="http://schemas.microsoft.com/office/drawing/2014/main" id="{0E73EB17-9AD2-B8E4-0E0D-3126C5123910}"/>
              </a:ext>
            </a:extLst>
          </p:cNvPr>
          <p:cNvGraphicFramePr>
            <a:graphicFrameLocks noGrp="1"/>
          </p:cNvGraphicFramePr>
          <p:nvPr/>
        </p:nvGraphicFramePr>
        <p:xfrm>
          <a:off x="1428799" y="2136828"/>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4</a:t>
                      </a:r>
                    </a:p>
                  </a:txBody>
                  <a:tcPr/>
                </a:tc>
                <a:tc>
                  <a:txBody>
                    <a:bodyPr/>
                    <a:lstStyle/>
                    <a:p>
                      <a:pPr algn="ctr"/>
                      <a:r>
                        <a:rPr lang="en-US" sz="1400" dirty="0"/>
                        <a:t>20 Kg</a:t>
                      </a:r>
                    </a:p>
                  </a:txBody>
                  <a:tcPr/>
                </a:tc>
                <a:tc>
                  <a:txBody>
                    <a:bodyPr/>
                    <a:lstStyle/>
                    <a:p>
                      <a:pPr algn="ctr"/>
                      <a:r>
                        <a:rPr lang="en-US" sz="1400" dirty="0"/>
                        <a:t>154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4" name="Table 3">
            <a:extLst>
              <a:ext uri="{FF2B5EF4-FFF2-40B4-BE49-F238E27FC236}">
                <a16:creationId xmlns:a16="http://schemas.microsoft.com/office/drawing/2014/main" id="{81984DF2-C5DB-ACA6-95D0-BBF147BC9C0C}"/>
              </a:ext>
            </a:extLst>
          </p:cNvPr>
          <p:cNvGraphicFramePr>
            <a:graphicFrameLocks noGrp="1"/>
          </p:cNvGraphicFramePr>
          <p:nvPr/>
        </p:nvGraphicFramePr>
        <p:xfrm>
          <a:off x="1428799" y="4919299"/>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6</a:t>
                      </a:r>
                    </a:p>
                  </a:txBody>
                  <a:tcPr/>
                </a:tc>
                <a:tc>
                  <a:txBody>
                    <a:bodyPr/>
                    <a:lstStyle/>
                    <a:p>
                      <a:pPr algn="ctr"/>
                      <a:r>
                        <a:rPr lang="en-US" sz="1400" dirty="0"/>
                        <a:t>35 Kg</a:t>
                      </a:r>
                    </a:p>
                  </a:txBody>
                  <a:tcPr/>
                </a:tc>
                <a:tc>
                  <a:txBody>
                    <a:bodyPr/>
                    <a:lstStyle/>
                    <a:p>
                      <a:pPr algn="ctr"/>
                      <a:r>
                        <a:rPr lang="en-US" sz="1400" dirty="0"/>
                        <a:t>114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7" name="Table 6">
            <a:extLst>
              <a:ext uri="{FF2B5EF4-FFF2-40B4-BE49-F238E27FC236}">
                <a16:creationId xmlns:a16="http://schemas.microsoft.com/office/drawing/2014/main" id="{05501705-38B1-6E70-7A31-7CDF16197FB0}"/>
              </a:ext>
            </a:extLst>
          </p:cNvPr>
          <p:cNvGraphicFramePr>
            <a:graphicFrameLocks noGrp="1"/>
          </p:cNvGraphicFramePr>
          <p:nvPr/>
        </p:nvGraphicFramePr>
        <p:xfrm>
          <a:off x="1417937" y="4100695"/>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5</a:t>
                      </a:r>
                    </a:p>
                  </a:txBody>
                  <a:tcPr/>
                </a:tc>
                <a:tc>
                  <a:txBody>
                    <a:bodyPr/>
                    <a:lstStyle/>
                    <a:p>
                      <a:pPr algn="ctr"/>
                      <a:r>
                        <a:rPr lang="en-US" sz="1400" dirty="0"/>
                        <a:t>15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8" name="Table 7">
            <a:extLst>
              <a:ext uri="{FF2B5EF4-FFF2-40B4-BE49-F238E27FC236}">
                <a16:creationId xmlns:a16="http://schemas.microsoft.com/office/drawing/2014/main" id="{1A096C84-E28D-F837-9340-FFBD9B499598}"/>
              </a:ext>
            </a:extLst>
          </p:cNvPr>
          <p:cNvGraphicFramePr>
            <a:graphicFrameLocks noGrp="1"/>
          </p:cNvGraphicFramePr>
          <p:nvPr/>
        </p:nvGraphicFramePr>
        <p:xfrm>
          <a:off x="1428799" y="2937354"/>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7</a:t>
                      </a:r>
                    </a:p>
                  </a:txBody>
                  <a:tcPr/>
                </a:tc>
                <a:tc>
                  <a:txBody>
                    <a:bodyPr/>
                    <a:lstStyle/>
                    <a:p>
                      <a:pPr algn="ctr"/>
                      <a:r>
                        <a:rPr lang="en-US" sz="1400" dirty="0"/>
                        <a:t>30 Kg</a:t>
                      </a:r>
                    </a:p>
                  </a:txBody>
                  <a:tcPr/>
                </a:tc>
                <a:tc>
                  <a:txBody>
                    <a:bodyPr/>
                    <a:lstStyle/>
                    <a:p>
                      <a:pPr algn="ctr"/>
                      <a:r>
                        <a:rPr lang="en-US" sz="1400" dirty="0"/>
                        <a:t>94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6" name="Table 15">
            <a:extLst>
              <a:ext uri="{FF2B5EF4-FFF2-40B4-BE49-F238E27FC236}">
                <a16:creationId xmlns:a16="http://schemas.microsoft.com/office/drawing/2014/main" id="{634D7B07-2699-9ED8-A681-1C0C12274942}"/>
              </a:ext>
            </a:extLst>
          </p:cNvPr>
          <p:cNvGraphicFramePr>
            <a:graphicFrameLocks noGrp="1"/>
          </p:cNvGraphicFramePr>
          <p:nvPr/>
        </p:nvGraphicFramePr>
        <p:xfrm>
          <a:off x="1428799" y="2508053"/>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25 Kg</a:t>
                      </a:r>
                    </a:p>
                  </a:txBody>
                  <a:tcPr/>
                </a:tc>
                <a:tc>
                  <a:txBody>
                    <a:bodyPr/>
                    <a:lstStyle/>
                    <a:p>
                      <a:pPr algn="ctr"/>
                      <a:r>
                        <a:rPr lang="en-US" sz="1400" dirty="0"/>
                        <a:t>155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7" name="Table 16">
            <a:extLst>
              <a:ext uri="{FF2B5EF4-FFF2-40B4-BE49-F238E27FC236}">
                <a16:creationId xmlns:a16="http://schemas.microsoft.com/office/drawing/2014/main" id="{7921A330-4B46-5C12-3B34-E9189EF11268}"/>
              </a:ext>
            </a:extLst>
          </p:cNvPr>
          <p:cNvGraphicFramePr>
            <a:graphicFrameLocks noGrp="1"/>
          </p:cNvGraphicFramePr>
          <p:nvPr/>
        </p:nvGraphicFramePr>
        <p:xfrm>
          <a:off x="1428799" y="4523758"/>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35 Kg</a:t>
                      </a:r>
                    </a:p>
                  </a:txBody>
                  <a:tcPr/>
                </a:tc>
                <a:tc>
                  <a:txBody>
                    <a:bodyPr/>
                    <a:lstStyle/>
                    <a:p>
                      <a:pPr algn="ctr"/>
                      <a:r>
                        <a:rPr lang="en-US" sz="1400" dirty="0"/>
                        <a:t>115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8" name="Table 17">
            <a:extLst>
              <a:ext uri="{FF2B5EF4-FFF2-40B4-BE49-F238E27FC236}">
                <a16:creationId xmlns:a16="http://schemas.microsoft.com/office/drawing/2014/main" id="{258F445C-FA1A-E418-294C-D772457CE42B}"/>
              </a:ext>
            </a:extLst>
          </p:cNvPr>
          <p:cNvGraphicFramePr>
            <a:graphicFrameLocks noGrp="1"/>
          </p:cNvGraphicFramePr>
          <p:nvPr/>
        </p:nvGraphicFramePr>
        <p:xfrm>
          <a:off x="1429089" y="3306235"/>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7</a:t>
                      </a:r>
                    </a:p>
                  </a:txBody>
                  <a:tcPr/>
                </a:tc>
                <a:tc>
                  <a:txBody>
                    <a:bodyPr/>
                    <a:lstStyle/>
                    <a:p>
                      <a:pPr algn="ctr"/>
                      <a:r>
                        <a:rPr lang="en-US" sz="1400" dirty="0"/>
                        <a:t>15 Kg</a:t>
                      </a:r>
                    </a:p>
                  </a:txBody>
                  <a:tcPr/>
                </a:tc>
                <a:tc>
                  <a:txBody>
                    <a:bodyPr/>
                    <a:lstStyle/>
                    <a:p>
                      <a:pPr algn="ctr"/>
                      <a:r>
                        <a:rPr lang="en-US" sz="1400" dirty="0"/>
                        <a:t>93</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sp>
        <p:nvSpPr>
          <p:cNvPr id="6" name="Left Brace 5">
            <a:extLst>
              <a:ext uri="{FF2B5EF4-FFF2-40B4-BE49-F238E27FC236}">
                <a16:creationId xmlns:a16="http://schemas.microsoft.com/office/drawing/2014/main" id="{810D13B9-FCD3-0FD0-109F-FE6A89DE3402}"/>
              </a:ext>
            </a:extLst>
          </p:cNvPr>
          <p:cNvSpPr/>
          <p:nvPr/>
        </p:nvSpPr>
        <p:spPr>
          <a:xfrm>
            <a:off x="1148576" y="2186334"/>
            <a:ext cx="192544" cy="6144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F9634308-D1A9-023C-94EA-062FF678E747}"/>
              </a:ext>
            </a:extLst>
          </p:cNvPr>
          <p:cNvSpPr txBox="1"/>
          <p:nvPr/>
        </p:nvSpPr>
        <p:spPr>
          <a:xfrm>
            <a:off x="178526" y="2154454"/>
            <a:ext cx="902421" cy="646331"/>
          </a:xfrm>
          <a:prstGeom prst="rect">
            <a:avLst/>
          </a:prstGeom>
          <a:noFill/>
        </p:spPr>
        <p:txBody>
          <a:bodyPr wrap="square" rtlCol="0">
            <a:spAutoFit/>
          </a:bodyPr>
          <a:lstStyle/>
          <a:p>
            <a:pPr algn="ctr"/>
            <a:r>
              <a:rPr lang="en-US" dirty="0"/>
              <a:t>Animal 1001</a:t>
            </a:r>
          </a:p>
        </p:txBody>
      </p:sp>
      <p:sp>
        <p:nvSpPr>
          <p:cNvPr id="19" name="Left Brace 18">
            <a:extLst>
              <a:ext uri="{FF2B5EF4-FFF2-40B4-BE49-F238E27FC236}">
                <a16:creationId xmlns:a16="http://schemas.microsoft.com/office/drawing/2014/main" id="{7A104237-5511-E377-1119-F9D77B3872D6}"/>
              </a:ext>
            </a:extLst>
          </p:cNvPr>
          <p:cNvSpPr/>
          <p:nvPr/>
        </p:nvSpPr>
        <p:spPr>
          <a:xfrm>
            <a:off x="1140956" y="3009294"/>
            <a:ext cx="192544" cy="6144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93C5D4F3-BDB7-5A65-1877-E114A0BA107E}"/>
              </a:ext>
            </a:extLst>
          </p:cNvPr>
          <p:cNvSpPr txBox="1"/>
          <p:nvPr/>
        </p:nvSpPr>
        <p:spPr>
          <a:xfrm>
            <a:off x="132806" y="2977414"/>
            <a:ext cx="902421" cy="646331"/>
          </a:xfrm>
          <a:prstGeom prst="rect">
            <a:avLst/>
          </a:prstGeom>
          <a:noFill/>
        </p:spPr>
        <p:txBody>
          <a:bodyPr wrap="square" rtlCol="0">
            <a:spAutoFit/>
          </a:bodyPr>
          <a:lstStyle/>
          <a:p>
            <a:pPr algn="ctr"/>
            <a:r>
              <a:rPr lang="en-US" dirty="0"/>
              <a:t>Animal 1002</a:t>
            </a:r>
          </a:p>
        </p:txBody>
      </p:sp>
      <p:sp>
        <p:nvSpPr>
          <p:cNvPr id="22" name="Left Brace 21">
            <a:extLst>
              <a:ext uri="{FF2B5EF4-FFF2-40B4-BE49-F238E27FC236}">
                <a16:creationId xmlns:a16="http://schemas.microsoft.com/office/drawing/2014/main" id="{65124001-DEC5-6471-462F-9F1B2C1B34F1}"/>
              </a:ext>
            </a:extLst>
          </p:cNvPr>
          <p:cNvSpPr/>
          <p:nvPr/>
        </p:nvSpPr>
        <p:spPr>
          <a:xfrm>
            <a:off x="1156196" y="3809394"/>
            <a:ext cx="192544" cy="6144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107CBD04-07FB-3074-0C3E-4D7A90AFADDE}"/>
              </a:ext>
            </a:extLst>
          </p:cNvPr>
          <p:cNvSpPr txBox="1"/>
          <p:nvPr/>
        </p:nvSpPr>
        <p:spPr>
          <a:xfrm>
            <a:off x="231866" y="3777514"/>
            <a:ext cx="902421" cy="646331"/>
          </a:xfrm>
          <a:prstGeom prst="rect">
            <a:avLst/>
          </a:prstGeom>
          <a:noFill/>
        </p:spPr>
        <p:txBody>
          <a:bodyPr wrap="square" rtlCol="0">
            <a:spAutoFit/>
          </a:bodyPr>
          <a:lstStyle/>
          <a:p>
            <a:pPr algn="ctr"/>
            <a:r>
              <a:rPr lang="en-US" dirty="0"/>
              <a:t>Animal 1003</a:t>
            </a:r>
          </a:p>
        </p:txBody>
      </p:sp>
      <p:sp>
        <p:nvSpPr>
          <p:cNvPr id="24" name="Left Brace 23">
            <a:extLst>
              <a:ext uri="{FF2B5EF4-FFF2-40B4-BE49-F238E27FC236}">
                <a16:creationId xmlns:a16="http://schemas.microsoft.com/office/drawing/2014/main" id="{DCF38F57-A137-EBD1-CA0A-88608C79E40C}"/>
              </a:ext>
            </a:extLst>
          </p:cNvPr>
          <p:cNvSpPr/>
          <p:nvPr/>
        </p:nvSpPr>
        <p:spPr>
          <a:xfrm>
            <a:off x="1156196" y="4632354"/>
            <a:ext cx="192544" cy="61445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C4BF563A-723B-31A9-CA8F-2B124BA364A7}"/>
              </a:ext>
            </a:extLst>
          </p:cNvPr>
          <p:cNvSpPr txBox="1"/>
          <p:nvPr/>
        </p:nvSpPr>
        <p:spPr>
          <a:xfrm>
            <a:off x="186146" y="4600474"/>
            <a:ext cx="902421" cy="646331"/>
          </a:xfrm>
          <a:prstGeom prst="rect">
            <a:avLst/>
          </a:prstGeom>
          <a:noFill/>
        </p:spPr>
        <p:txBody>
          <a:bodyPr wrap="square" rtlCol="0">
            <a:spAutoFit/>
          </a:bodyPr>
          <a:lstStyle/>
          <a:p>
            <a:pPr algn="ctr"/>
            <a:r>
              <a:rPr lang="en-US" dirty="0"/>
              <a:t>Animal 1004</a:t>
            </a:r>
          </a:p>
        </p:txBody>
      </p:sp>
      <p:pic>
        <p:nvPicPr>
          <p:cNvPr id="26" name="Picture 25">
            <a:extLst>
              <a:ext uri="{FF2B5EF4-FFF2-40B4-BE49-F238E27FC236}">
                <a16:creationId xmlns:a16="http://schemas.microsoft.com/office/drawing/2014/main" id="{0B8D50E7-92CF-7164-FEA8-D4932F984754}"/>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178526" y="1497230"/>
            <a:ext cx="851605" cy="686497"/>
          </a:xfrm>
          <a:prstGeom prst="rect">
            <a:avLst/>
          </a:prstGeom>
        </p:spPr>
      </p:pic>
    </p:spTree>
    <p:extLst>
      <p:ext uri="{BB962C8B-B14F-4D97-AF65-F5344CB8AC3E}">
        <p14:creationId xmlns:p14="http://schemas.microsoft.com/office/powerpoint/2010/main" val="2706091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27969-29D0-518A-BFC8-ABAEB6AC1017}"/>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AD8BA056-6324-2CDC-74C3-39A5437E35B9}"/>
              </a:ext>
            </a:extLst>
          </p:cNvPr>
          <p:cNvGraphicFramePr>
            <a:graphicFrameLocks noGrp="1"/>
          </p:cNvGraphicFramePr>
          <p:nvPr/>
        </p:nvGraphicFramePr>
        <p:xfrm>
          <a:off x="1428799" y="2458749"/>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5</a:t>
                      </a:r>
                    </a:p>
                  </a:txBody>
                  <a:tcPr/>
                </a:tc>
                <a:tc>
                  <a:txBody>
                    <a:bodyPr/>
                    <a:lstStyle/>
                    <a:p>
                      <a:pPr algn="ctr"/>
                      <a:r>
                        <a:rPr lang="en-US" sz="1400" dirty="0"/>
                        <a:t>20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pic>
        <p:nvPicPr>
          <p:cNvPr id="5" name="Picture 4">
            <a:extLst>
              <a:ext uri="{FF2B5EF4-FFF2-40B4-BE49-F238E27FC236}">
                <a16:creationId xmlns:a16="http://schemas.microsoft.com/office/drawing/2014/main" id="{1ADA5592-C966-405B-154C-7EDF8DA1822A}"/>
              </a:ext>
            </a:extLst>
          </p:cNvPr>
          <p:cNvPicPr>
            <a:picLocks/>
          </p:cNvPicPr>
          <p:nvPr/>
        </p:nvPicPr>
        <p:blipFill>
          <a:blip r:embed="rId2"/>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1D1E5B87-0588-7A82-8075-299F6DBAEB8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F2C79FC-260C-ADDC-ADF0-F696202ABD0E}"/>
              </a:ext>
            </a:extLst>
          </p:cNvPr>
          <p:cNvPicPr>
            <a:picLocks/>
          </p:cNvPicPr>
          <p:nvPr/>
        </p:nvPicPr>
        <p:blipFill>
          <a:blip r:embed="rId2"/>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0C51BF47-C1F9-E41B-CF94-FD6E99A9B6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3D5C287B-F66F-41DA-302B-511E6646B4BB}"/>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6B8549BE-F81B-7FF8-22E3-69C2FE4E03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908B9AFA-6465-FB54-2446-B752E9D745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4E7B7B1B-D07D-CF38-25B0-8A844FD14CDA}"/>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graphicFrame>
        <p:nvGraphicFramePr>
          <p:cNvPr id="2" name="Table 1">
            <a:extLst>
              <a:ext uri="{FF2B5EF4-FFF2-40B4-BE49-F238E27FC236}">
                <a16:creationId xmlns:a16="http://schemas.microsoft.com/office/drawing/2014/main" id="{2C5E88DB-85D5-318B-13AD-428E10A3B29D}"/>
              </a:ext>
            </a:extLst>
          </p:cNvPr>
          <p:cNvGraphicFramePr>
            <a:graphicFrameLocks noGrp="1"/>
          </p:cNvGraphicFramePr>
          <p:nvPr/>
        </p:nvGraphicFramePr>
        <p:xfrm>
          <a:off x="1428800" y="1325592"/>
          <a:ext cx="9334395" cy="370840"/>
        </p:xfrm>
        <a:graphic>
          <a:graphicData uri="http://schemas.openxmlformats.org/drawingml/2006/table">
            <a:tbl>
              <a:tblPr firstRow="1" bandRow="1">
                <a:tableStyleId>{5C22544A-7EE6-4342-B048-85BDC9FD1C3A}</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err="1"/>
                        <a:t>Animal_ID</a:t>
                      </a:r>
                      <a:endParaRPr lang="en-US" sz="1400" dirty="0"/>
                    </a:p>
                  </a:txBody>
                  <a:tcPr/>
                </a:tc>
                <a:tc>
                  <a:txBody>
                    <a:bodyPr/>
                    <a:lstStyle/>
                    <a:p>
                      <a:pPr algn="ctr"/>
                      <a:r>
                        <a:rPr lang="en-US" sz="1400" dirty="0" err="1"/>
                        <a:t>Farm_ID</a:t>
                      </a:r>
                      <a:endParaRPr lang="en-US" sz="1400" dirty="0"/>
                    </a:p>
                  </a:txBody>
                  <a:tcPr/>
                </a:tc>
                <a:tc>
                  <a:txBody>
                    <a:bodyPr/>
                    <a:lstStyle/>
                    <a:p>
                      <a:pPr algn="ctr"/>
                      <a:r>
                        <a:rPr lang="en-US" sz="1400" dirty="0"/>
                        <a:t>Date</a:t>
                      </a:r>
                    </a:p>
                  </a:txBody>
                  <a:tcPr/>
                </a:tc>
                <a:tc>
                  <a:txBody>
                    <a:bodyPr/>
                    <a:lstStyle/>
                    <a:p>
                      <a:pPr algn="ctr"/>
                      <a:r>
                        <a:rPr lang="en-US" sz="1400" dirty="0"/>
                        <a:t>Age</a:t>
                      </a:r>
                    </a:p>
                  </a:txBody>
                  <a:tcPr/>
                </a:tc>
                <a:tc>
                  <a:txBody>
                    <a:bodyPr/>
                    <a:lstStyle/>
                    <a:p>
                      <a:pPr algn="ctr"/>
                      <a:r>
                        <a:rPr lang="en-US" sz="1400" dirty="0"/>
                        <a:t>MILK</a:t>
                      </a:r>
                    </a:p>
                  </a:txBody>
                  <a:tcPr/>
                </a:tc>
                <a:tc>
                  <a:txBody>
                    <a:bodyPr/>
                    <a:lstStyle/>
                    <a:p>
                      <a:pPr algn="ctr"/>
                      <a:r>
                        <a:rPr lang="en-US" sz="1400" dirty="0"/>
                        <a:t>DIM</a:t>
                      </a:r>
                    </a:p>
                  </a:txBody>
                  <a:tcPr/>
                </a:tc>
                <a:tc>
                  <a:txBody>
                    <a:bodyPr/>
                    <a:lstStyle/>
                    <a:p>
                      <a:pPr algn="ctr"/>
                      <a:r>
                        <a:rPr lang="en-US" sz="1400" dirty="0"/>
                        <a:t>Protein</a:t>
                      </a:r>
                    </a:p>
                  </a:txBody>
                  <a:tcPr/>
                </a:tc>
                <a:tc>
                  <a:txBody>
                    <a:bodyPr/>
                    <a:lstStyle/>
                    <a:p>
                      <a:pPr algn="ctr"/>
                      <a:r>
                        <a:rPr lang="en-US" sz="1400" dirty="0"/>
                        <a:t>Fat</a:t>
                      </a:r>
                    </a:p>
                  </a:txBody>
                  <a:tcPr/>
                </a:tc>
                <a:tc>
                  <a:txBody>
                    <a:bodyPr/>
                    <a:lstStyle/>
                    <a:p>
                      <a:pPr algn="ctr"/>
                      <a:r>
                        <a:rPr lang="en-US" sz="1400" dirty="0"/>
                        <a:t>SCC</a:t>
                      </a:r>
                    </a:p>
                  </a:txBody>
                  <a:tcPr/>
                </a:tc>
                <a:extLst>
                  <a:ext uri="{0D108BD9-81ED-4DB2-BD59-A6C34878D82A}">
                    <a16:rowId xmlns:a16="http://schemas.microsoft.com/office/drawing/2014/main" val="4040833211"/>
                  </a:ext>
                </a:extLst>
              </a:tr>
            </a:tbl>
          </a:graphicData>
        </a:graphic>
      </p:graphicFrame>
      <p:graphicFrame>
        <p:nvGraphicFramePr>
          <p:cNvPr id="3" name="Table 2">
            <a:extLst>
              <a:ext uri="{FF2B5EF4-FFF2-40B4-BE49-F238E27FC236}">
                <a16:creationId xmlns:a16="http://schemas.microsoft.com/office/drawing/2014/main" id="{7E285EF7-A2C2-91DE-82C0-44F251870241}"/>
              </a:ext>
            </a:extLst>
          </p:cNvPr>
          <p:cNvGraphicFramePr>
            <a:graphicFrameLocks noGrp="1"/>
          </p:cNvGraphicFramePr>
          <p:nvPr/>
        </p:nvGraphicFramePr>
        <p:xfrm>
          <a:off x="1428799" y="1694382"/>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4</a:t>
                      </a:r>
                    </a:p>
                  </a:txBody>
                  <a:tcPr/>
                </a:tc>
                <a:tc>
                  <a:txBody>
                    <a:bodyPr/>
                    <a:lstStyle/>
                    <a:p>
                      <a:pPr algn="ctr"/>
                      <a:r>
                        <a:rPr lang="en-US" sz="1400" dirty="0"/>
                        <a:t>20 Kg</a:t>
                      </a:r>
                    </a:p>
                  </a:txBody>
                  <a:tcPr/>
                </a:tc>
                <a:tc>
                  <a:txBody>
                    <a:bodyPr/>
                    <a:lstStyle/>
                    <a:p>
                      <a:pPr algn="ctr"/>
                      <a:r>
                        <a:rPr lang="en-US" sz="1400" dirty="0"/>
                        <a:t>154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4" name="Table 3">
            <a:extLst>
              <a:ext uri="{FF2B5EF4-FFF2-40B4-BE49-F238E27FC236}">
                <a16:creationId xmlns:a16="http://schemas.microsoft.com/office/drawing/2014/main" id="{1A55A298-4F52-FED4-5EDE-DAB18122D968}"/>
              </a:ext>
            </a:extLst>
          </p:cNvPr>
          <p:cNvGraphicFramePr>
            <a:graphicFrameLocks noGrp="1"/>
          </p:cNvGraphicFramePr>
          <p:nvPr/>
        </p:nvGraphicFramePr>
        <p:xfrm>
          <a:off x="1428799" y="4476853"/>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6</a:t>
                      </a:r>
                    </a:p>
                  </a:txBody>
                  <a:tcPr/>
                </a:tc>
                <a:tc>
                  <a:txBody>
                    <a:bodyPr/>
                    <a:lstStyle/>
                    <a:p>
                      <a:pPr algn="ctr"/>
                      <a:r>
                        <a:rPr lang="en-US" sz="1400" dirty="0"/>
                        <a:t>35 Kg</a:t>
                      </a:r>
                    </a:p>
                  </a:txBody>
                  <a:tcPr/>
                </a:tc>
                <a:tc>
                  <a:txBody>
                    <a:bodyPr/>
                    <a:lstStyle/>
                    <a:p>
                      <a:pPr algn="ctr"/>
                      <a:r>
                        <a:rPr lang="en-US" sz="1400" dirty="0"/>
                        <a:t>114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7" name="Table 6">
            <a:extLst>
              <a:ext uri="{FF2B5EF4-FFF2-40B4-BE49-F238E27FC236}">
                <a16:creationId xmlns:a16="http://schemas.microsoft.com/office/drawing/2014/main" id="{FF43A6E7-7DF9-764B-5A50-3D265D5E7669}"/>
              </a:ext>
            </a:extLst>
          </p:cNvPr>
          <p:cNvGraphicFramePr>
            <a:graphicFrameLocks noGrp="1"/>
          </p:cNvGraphicFramePr>
          <p:nvPr/>
        </p:nvGraphicFramePr>
        <p:xfrm>
          <a:off x="1428798" y="2822496"/>
          <a:ext cx="9334395" cy="370840"/>
        </p:xfrm>
        <a:graphic>
          <a:graphicData uri="http://schemas.openxmlformats.org/drawingml/2006/table">
            <a:tbl>
              <a:tblPr firstRow="1" bandRow="1">
                <a:tableStyleId>{F5AB1C69-6EDB-4FF4-983F-18BD219EF322}</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1003</a:t>
                      </a:r>
                    </a:p>
                  </a:txBody>
                  <a:tcPr/>
                </a:tc>
                <a:tc>
                  <a:txBody>
                    <a:bodyPr/>
                    <a:lstStyle/>
                    <a:p>
                      <a:pPr algn="ctr"/>
                      <a:r>
                        <a:rPr lang="en-US" sz="1400" dirty="0"/>
                        <a:t>102</a:t>
                      </a:r>
                    </a:p>
                  </a:txBody>
                  <a:tcPr/>
                </a:tc>
                <a:tc>
                  <a:txBody>
                    <a:bodyPr/>
                    <a:lstStyle/>
                    <a:p>
                      <a:pPr algn="ctr"/>
                      <a:r>
                        <a:rPr lang="en-US" sz="1400" dirty="0"/>
                        <a:t>25-01-01</a:t>
                      </a:r>
                    </a:p>
                  </a:txBody>
                  <a:tcPr/>
                </a:tc>
                <a:tc>
                  <a:txBody>
                    <a:bodyPr/>
                    <a:lstStyle/>
                    <a:p>
                      <a:pPr algn="ctr"/>
                      <a:r>
                        <a:rPr lang="en-US" sz="1400" dirty="0"/>
                        <a:t>5</a:t>
                      </a:r>
                    </a:p>
                  </a:txBody>
                  <a:tcPr/>
                </a:tc>
                <a:tc>
                  <a:txBody>
                    <a:bodyPr/>
                    <a:lstStyle/>
                    <a:p>
                      <a:pPr algn="ctr"/>
                      <a:r>
                        <a:rPr lang="en-US" sz="1400" dirty="0"/>
                        <a:t>15 Kg</a:t>
                      </a:r>
                    </a:p>
                  </a:txBody>
                  <a:tcPr/>
                </a:tc>
                <a:tc>
                  <a:txBody>
                    <a:bodyPr/>
                    <a:lstStyle/>
                    <a:p>
                      <a:pPr algn="ctr"/>
                      <a:r>
                        <a:rPr lang="en-US" sz="1400" dirty="0"/>
                        <a:t>204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8" name="Table 7">
            <a:extLst>
              <a:ext uri="{FF2B5EF4-FFF2-40B4-BE49-F238E27FC236}">
                <a16:creationId xmlns:a16="http://schemas.microsoft.com/office/drawing/2014/main" id="{5259FFBE-CF69-96EF-A160-0262A61730ED}"/>
              </a:ext>
            </a:extLst>
          </p:cNvPr>
          <p:cNvGraphicFramePr>
            <a:graphicFrameLocks noGrp="1"/>
          </p:cNvGraphicFramePr>
          <p:nvPr/>
        </p:nvGraphicFramePr>
        <p:xfrm>
          <a:off x="1428798" y="3300930"/>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7</a:t>
                      </a:r>
                    </a:p>
                  </a:txBody>
                  <a:tcPr/>
                </a:tc>
                <a:tc>
                  <a:txBody>
                    <a:bodyPr/>
                    <a:lstStyle/>
                    <a:p>
                      <a:pPr algn="ctr"/>
                      <a:r>
                        <a:rPr lang="en-US" sz="1400" dirty="0"/>
                        <a:t>30 Kg</a:t>
                      </a:r>
                    </a:p>
                  </a:txBody>
                  <a:tcPr/>
                </a:tc>
                <a:tc>
                  <a:txBody>
                    <a:bodyPr/>
                    <a:lstStyle/>
                    <a:p>
                      <a:pPr algn="ctr"/>
                      <a:r>
                        <a:rPr lang="en-US" sz="1400" dirty="0"/>
                        <a:t>94</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6" name="Table 15">
            <a:extLst>
              <a:ext uri="{FF2B5EF4-FFF2-40B4-BE49-F238E27FC236}">
                <a16:creationId xmlns:a16="http://schemas.microsoft.com/office/drawing/2014/main" id="{71E3ADB7-C34D-9CAE-B768-D886D16B34B0}"/>
              </a:ext>
            </a:extLst>
          </p:cNvPr>
          <p:cNvGraphicFramePr>
            <a:graphicFrameLocks noGrp="1"/>
          </p:cNvGraphicFramePr>
          <p:nvPr/>
        </p:nvGraphicFramePr>
        <p:xfrm>
          <a:off x="1428799" y="2065607"/>
          <a:ext cx="9334395" cy="370840"/>
        </p:xfrm>
        <a:graphic>
          <a:graphicData uri="http://schemas.openxmlformats.org/drawingml/2006/table">
            <a:tbl>
              <a:tblPr firstRow="1" bandRow="1">
                <a:tableStyleId>{93296810-A885-4BE3-A3E7-6D5BEEA58F35}</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1001</a:t>
                      </a:r>
                    </a:p>
                  </a:txBody>
                  <a:tcPr/>
                </a:tc>
                <a:tc>
                  <a:txBody>
                    <a:bodyPr/>
                    <a:lstStyle/>
                    <a:p>
                      <a:pPr algn="ctr"/>
                      <a:r>
                        <a:rPr lang="en-US" sz="1400" dirty="0"/>
                        <a:t>102</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25 Kg</a:t>
                      </a:r>
                    </a:p>
                  </a:txBody>
                  <a:tcPr/>
                </a:tc>
                <a:tc>
                  <a:txBody>
                    <a:bodyPr/>
                    <a:lstStyle/>
                    <a:p>
                      <a:pPr algn="ctr"/>
                      <a:r>
                        <a:rPr lang="en-US" sz="1400" dirty="0"/>
                        <a:t>155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7" name="Table 16">
            <a:extLst>
              <a:ext uri="{FF2B5EF4-FFF2-40B4-BE49-F238E27FC236}">
                <a16:creationId xmlns:a16="http://schemas.microsoft.com/office/drawing/2014/main" id="{8A608E57-C253-EBF5-6785-72194219CC9F}"/>
              </a:ext>
            </a:extLst>
          </p:cNvPr>
          <p:cNvGraphicFramePr>
            <a:graphicFrameLocks noGrp="1"/>
          </p:cNvGraphicFramePr>
          <p:nvPr/>
        </p:nvGraphicFramePr>
        <p:xfrm>
          <a:off x="1428799" y="4081312"/>
          <a:ext cx="9334395" cy="370840"/>
        </p:xfrm>
        <a:graphic>
          <a:graphicData uri="http://schemas.openxmlformats.org/drawingml/2006/table">
            <a:tbl>
              <a:tblPr firstRow="1" bandRow="1">
                <a:tableStyleId>{0505E3EF-67EA-436B-97B2-0124C06EBD24}</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1004</a:t>
                      </a:r>
                    </a:p>
                  </a:txBody>
                  <a:tcPr/>
                </a:tc>
                <a:tc>
                  <a:txBody>
                    <a:bodyPr/>
                    <a:lstStyle/>
                    <a:p>
                      <a:pPr algn="ctr"/>
                      <a:r>
                        <a:rPr lang="en-US" sz="1400" dirty="0"/>
                        <a:t>103</a:t>
                      </a:r>
                    </a:p>
                  </a:txBody>
                  <a:tcPr/>
                </a:tc>
                <a:tc>
                  <a:txBody>
                    <a:bodyPr/>
                    <a:lstStyle/>
                    <a:p>
                      <a:pPr algn="ctr"/>
                      <a:r>
                        <a:rPr lang="en-US" sz="1400" dirty="0"/>
                        <a:t>25-01-02</a:t>
                      </a:r>
                    </a:p>
                  </a:txBody>
                  <a:tcPr/>
                </a:tc>
                <a:tc>
                  <a:txBody>
                    <a:bodyPr/>
                    <a:lstStyle/>
                    <a:p>
                      <a:pPr algn="ctr"/>
                      <a:r>
                        <a:rPr lang="en-US" sz="1400" dirty="0"/>
                        <a:t>4</a:t>
                      </a:r>
                    </a:p>
                  </a:txBody>
                  <a:tcPr/>
                </a:tc>
                <a:tc>
                  <a:txBody>
                    <a:bodyPr/>
                    <a:lstStyle/>
                    <a:p>
                      <a:pPr algn="ctr"/>
                      <a:r>
                        <a:rPr lang="en-US" sz="1400" dirty="0"/>
                        <a:t>35 Kg</a:t>
                      </a:r>
                    </a:p>
                  </a:txBody>
                  <a:tcPr/>
                </a:tc>
                <a:tc>
                  <a:txBody>
                    <a:bodyPr/>
                    <a:lstStyle/>
                    <a:p>
                      <a:pPr algn="ctr"/>
                      <a:r>
                        <a:rPr lang="en-US" sz="1400" dirty="0"/>
                        <a:t>115</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graphicFrame>
        <p:nvGraphicFramePr>
          <p:cNvPr id="18" name="Table 17">
            <a:extLst>
              <a:ext uri="{FF2B5EF4-FFF2-40B4-BE49-F238E27FC236}">
                <a16:creationId xmlns:a16="http://schemas.microsoft.com/office/drawing/2014/main" id="{30C83294-A122-B0DA-C9BC-1A662DF9DEF6}"/>
              </a:ext>
            </a:extLst>
          </p:cNvPr>
          <p:cNvGraphicFramePr>
            <a:graphicFrameLocks noGrp="1"/>
          </p:cNvGraphicFramePr>
          <p:nvPr/>
        </p:nvGraphicFramePr>
        <p:xfrm>
          <a:off x="1429088" y="3669811"/>
          <a:ext cx="9334395" cy="370840"/>
        </p:xfrm>
        <a:graphic>
          <a:graphicData uri="http://schemas.openxmlformats.org/drawingml/2006/table">
            <a:tbl>
              <a:tblPr firstRow="1" bandRow="1">
                <a:tableStyleId>{00A15C55-8517-42AA-B614-E9B94910E393}</a:tableStyleId>
              </a:tblPr>
              <a:tblGrid>
                <a:gridCol w="1037155">
                  <a:extLst>
                    <a:ext uri="{9D8B030D-6E8A-4147-A177-3AD203B41FA5}">
                      <a16:colId xmlns:a16="http://schemas.microsoft.com/office/drawing/2014/main" val="1146569955"/>
                    </a:ext>
                  </a:extLst>
                </a:gridCol>
                <a:gridCol w="1037155">
                  <a:extLst>
                    <a:ext uri="{9D8B030D-6E8A-4147-A177-3AD203B41FA5}">
                      <a16:colId xmlns:a16="http://schemas.microsoft.com/office/drawing/2014/main" val="2660197149"/>
                    </a:ext>
                  </a:extLst>
                </a:gridCol>
                <a:gridCol w="1037155">
                  <a:extLst>
                    <a:ext uri="{9D8B030D-6E8A-4147-A177-3AD203B41FA5}">
                      <a16:colId xmlns:a16="http://schemas.microsoft.com/office/drawing/2014/main" val="2331023951"/>
                    </a:ext>
                  </a:extLst>
                </a:gridCol>
                <a:gridCol w="1037155">
                  <a:extLst>
                    <a:ext uri="{9D8B030D-6E8A-4147-A177-3AD203B41FA5}">
                      <a16:colId xmlns:a16="http://schemas.microsoft.com/office/drawing/2014/main" val="424160495"/>
                    </a:ext>
                  </a:extLst>
                </a:gridCol>
                <a:gridCol w="1037155">
                  <a:extLst>
                    <a:ext uri="{9D8B030D-6E8A-4147-A177-3AD203B41FA5}">
                      <a16:colId xmlns:a16="http://schemas.microsoft.com/office/drawing/2014/main" val="2471762769"/>
                    </a:ext>
                  </a:extLst>
                </a:gridCol>
                <a:gridCol w="1037155">
                  <a:extLst>
                    <a:ext uri="{9D8B030D-6E8A-4147-A177-3AD203B41FA5}">
                      <a16:colId xmlns:a16="http://schemas.microsoft.com/office/drawing/2014/main" val="322357064"/>
                    </a:ext>
                  </a:extLst>
                </a:gridCol>
                <a:gridCol w="1037155">
                  <a:extLst>
                    <a:ext uri="{9D8B030D-6E8A-4147-A177-3AD203B41FA5}">
                      <a16:colId xmlns:a16="http://schemas.microsoft.com/office/drawing/2014/main" val="3817627946"/>
                    </a:ext>
                  </a:extLst>
                </a:gridCol>
                <a:gridCol w="1037155">
                  <a:extLst>
                    <a:ext uri="{9D8B030D-6E8A-4147-A177-3AD203B41FA5}">
                      <a16:colId xmlns:a16="http://schemas.microsoft.com/office/drawing/2014/main" val="3989732445"/>
                    </a:ext>
                  </a:extLst>
                </a:gridCol>
                <a:gridCol w="1037155">
                  <a:extLst>
                    <a:ext uri="{9D8B030D-6E8A-4147-A177-3AD203B41FA5}">
                      <a16:colId xmlns:a16="http://schemas.microsoft.com/office/drawing/2014/main" val="1897397491"/>
                    </a:ext>
                  </a:extLst>
                </a:gridCol>
              </a:tblGrid>
              <a:tr h="370840">
                <a:tc>
                  <a:txBody>
                    <a:bodyPr/>
                    <a:lstStyle/>
                    <a:p>
                      <a:pPr algn="ctr"/>
                      <a:r>
                        <a:rPr lang="en-US" sz="1400" dirty="0"/>
                        <a:t>1002</a:t>
                      </a:r>
                    </a:p>
                  </a:txBody>
                  <a:tcPr/>
                </a:tc>
                <a:tc>
                  <a:txBody>
                    <a:bodyPr/>
                    <a:lstStyle/>
                    <a:p>
                      <a:pPr algn="ctr"/>
                      <a:r>
                        <a:rPr lang="en-US" sz="1400" dirty="0"/>
                        <a:t>103</a:t>
                      </a:r>
                    </a:p>
                  </a:txBody>
                  <a:tcPr/>
                </a:tc>
                <a:tc>
                  <a:txBody>
                    <a:bodyPr/>
                    <a:lstStyle/>
                    <a:p>
                      <a:pPr algn="ctr"/>
                      <a:r>
                        <a:rPr lang="en-US" sz="1400" dirty="0"/>
                        <a:t>25-01-01</a:t>
                      </a:r>
                    </a:p>
                  </a:txBody>
                  <a:tcPr/>
                </a:tc>
                <a:tc>
                  <a:txBody>
                    <a:bodyPr/>
                    <a:lstStyle/>
                    <a:p>
                      <a:pPr algn="ctr"/>
                      <a:r>
                        <a:rPr lang="en-US" sz="1400" dirty="0"/>
                        <a:t>7</a:t>
                      </a:r>
                    </a:p>
                  </a:txBody>
                  <a:tcPr/>
                </a:tc>
                <a:tc>
                  <a:txBody>
                    <a:bodyPr/>
                    <a:lstStyle/>
                    <a:p>
                      <a:pPr algn="ctr"/>
                      <a:r>
                        <a:rPr lang="en-US" sz="1400" dirty="0"/>
                        <a:t>15 Kg</a:t>
                      </a:r>
                    </a:p>
                  </a:txBody>
                  <a:tcPr/>
                </a:tc>
                <a:tc>
                  <a:txBody>
                    <a:bodyPr/>
                    <a:lstStyle/>
                    <a:p>
                      <a:pPr algn="ctr"/>
                      <a:r>
                        <a:rPr lang="en-US" sz="1400" dirty="0"/>
                        <a:t>93</a:t>
                      </a:r>
                    </a:p>
                  </a:txBody>
                  <a:tcPr/>
                </a:tc>
                <a:tc>
                  <a:txBody>
                    <a:bodyPr/>
                    <a:lstStyle/>
                    <a:p>
                      <a:pPr algn="ctr"/>
                      <a:r>
                        <a:rPr lang="en-US" sz="1400" dirty="0"/>
                        <a:t>10%</a:t>
                      </a:r>
                    </a:p>
                  </a:txBody>
                  <a:tcPr/>
                </a:tc>
                <a:tc>
                  <a:txBody>
                    <a:bodyPr/>
                    <a:lstStyle/>
                    <a:p>
                      <a:pPr algn="ctr"/>
                      <a:r>
                        <a:rPr lang="en-US" sz="1400" dirty="0"/>
                        <a:t>12%</a:t>
                      </a:r>
                    </a:p>
                  </a:txBody>
                  <a:tcPr/>
                </a:tc>
                <a:tc>
                  <a:txBody>
                    <a:bodyPr/>
                    <a:lstStyle/>
                    <a:p>
                      <a:pPr algn="ctr"/>
                      <a:r>
                        <a:rPr lang="en-US" sz="1400" dirty="0"/>
                        <a:t>200K/mm</a:t>
                      </a:r>
                    </a:p>
                  </a:txBody>
                  <a:tcPr/>
                </a:tc>
                <a:extLst>
                  <a:ext uri="{0D108BD9-81ED-4DB2-BD59-A6C34878D82A}">
                    <a16:rowId xmlns:a16="http://schemas.microsoft.com/office/drawing/2014/main" val="4040833211"/>
                  </a:ext>
                </a:extLst>
              </a:tr>
            </a:tbl>
          </a:graphicData>
        </a:graphic>
      </p:graphicFrame>
      <p:sp>
        <p:nvSpPr>
          <p:cNvPr id="6" name="Left Brace 5">
            <a:extLst>
              <a:ext uri="{FF2B5EF4-FFF2-40B4-BE49-F238E27FC236}">
                <a16:creationId xmlns:a16="http://schemas.microsoft.com/office/drawing/2014/main" id="{521FF41A-ED90-172D-A94B-1243C193E53E}"/>
              </a:ext>
            </a:extLst>
          </p:cNvPr>
          <p:cNvSpPr/>
          <p:nvPr/>
        </p:nvSpPr>
        <p:spPr>
          <a:xfrm>
            <a:off x="1148576" y="1694382"/>
            <a:ext cx="144965" cy="14989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2BEB5CFE-ACD8-C656-AE8F-201CB5AFEDC9}"/>
              </a:ext>
            </a:extLst>
          </p:cNvPr>
          <p:cNvSpPr txBox="1"/>
          <p:nvPr/>
        </p:nvSpPr>
        <p:spPr>
          <a:xfrm>
            <a:off x="310801" y="2003470"/>
            <a:ext cx="770146" cy="646331"/>
          </a:xfrm>
          <a:prstGeom prst="rect">
            <a:avLst/>
          </a:prstGeom>
          <a:noFill/>
        </p:spPr>
        <p:txBody>
          <a:bodyPr wrap="square" rtlCol="0">
            <a:spAutoFit/>
          </a:bodyPr>
          <a:lstStyle/>
          <a:p>
            <a:pPr algn="ctr"/>
            <a:r>
              <a:rPr lang="en-US" dirty="0"/>
              <a:t>Farm 102</a:t>
            </a:r>
          </a:p>
        </p:txBody>
      </p:sp>
      <p:sp>
        <p:nvSpPr>
          <p:cNvPr id="19" name="Left Brace 18">
            <a:extLst>
              <a:ext uri="{FF2B5EF4-FFF2-40B4-BE49-F238E27FC236}">
                <a16:creationId xmlns:a16="http://schemas.microsoft.com/office/drawing/2014/main" id="{8BC27AA1-BFC9-99CB-9407-DBC5BE9E95F1}"/>
              </a:ext>
            </a:extLst>
          </p:cNvPr>
          <p:cNvSpPr/>
          <p:nvPr/>
        </p:nvSpPr>
        <p:spPr>
          <a:xfrm>
            <a:off x="1148576" y="3376539"/>
            <a:ext cx="144965" cy="14989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9B71F911-0755-FCD3-928B-A3B124819055}"/>
              </a:ext>
            </a:extLst>
          </p:cNvPr>
          <p:cNvSpPr txBox="1"/>
          <p:nvPr/>
        </p:nvSpPr>
        <p:spPr>
          <a:xfrm>
            <a:off x="310801" y="3685627"/>
            <a:ext cx="770146" cy="646331"/>
          </a:xfrm>
          <a:prstGeom prst="rect">
            <a:avLst/>
          </a:prstGeom>
          <a:noFill/>
        </p:spPr>
        <p:txBody>
          <a:bodyPr wrap="square" rtlCol="0">
            <a:spAutoFit/>
          </a:bodyPr>
          <a:lstStyle/>
          <a:p>
            <a:pPr algn="ctr"/>
            <a:r>
              <a:rPr lang="en-US" dirty="0"/>
              <a:t>Farm 103</a:t>
            </a:r>
          </a:p>
        </p:txBody>
      </p:sp>
      <p:pic>
        <p:nvPicPr>
          <p:cNvPr id="22" name="Picture 21">
            <a:extLst>
              <a:ext uri="{FF2B5EF4-FFF2-40B4-BE49-F238E27FC236}">
                <a16:creationId xmlns:a16="http://schemas.microsoft.com/office/drawing/2014/main" id="{F291432E-49B1-7077-2739-36EC49FAA761}"/>
              </a:ext>
            </a:extLst>
          </p:cNvPr>
          <p:cNvPicPr>
            <a:picLocks noChangeAspect="1"/>
          </p:cNvPicPr>
          <p:nvPr/>
        </p:nvPicPr>
        <p:blipFill>
          <a:blip r:embed="rId7">
            <a:clrChange>
              <a:clrFrom>
                <a:srgbClr val="FEFEFC"/>
              </a:clrFrom>
              <a:clrTo>
                <a:srgbClr val="FEFEFC">
                  <a:alpha val="0"/>
                </a:srgbClr>
              </a:clrTo>
            </a:clrChange>
          </a:blip>
          <a:srcRect l="44569" t="30016" r="44627" b="57306"/>
          <a:stretch>
            <a:fillRect/>
          </a:stretch>
        </p:blipFill>
        <p:spPr>
          <a:xfrm>
            <a:off x="50470" y="1282539"/>
            <a:ext cx="1098105" cy="702134"/>
          </a:xfrm>
          <a:prstGeom prst="rect">
            <a:avLst/>
          </a:prstGeom>
        </p:spPr>
      </p:pic>
    </p:spTree>
    <p:extLst>
      <p:ext uri="{BB962C8B-B14F-4D97-AF65-F5344CB8AC3E}">
        <p14:creationId xmlns:p14="http://schemas.microsoft.com/office/powerpoint/2010/main" val="2571434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3736-AE64-408B-BB1A-53803F22CD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837152-0B00-7829-F232-D19050DE5552}"/>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85513C30-8368-4B05-5053-4E08560688B2}"/>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F68DC70-D9A8-E799-0A30-562278509356}"/>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5EC14B0A-DBFE-AE64-FE87-CD04473B18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A9A06F9D-62B4-7C05-4E24-A5EAD5756D2E}"/>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0098CA71-7A5D-791C-F777-2AD1AEB17E0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F989F71E-73DB-1007-C201-6C5F77D833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D1563CEB-E966-F7B5-30EC-A8007F4FC62E}"/>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0A77BE81-CF58-6053-8A18-5BF114378C71}"/>
              </a:ext>
            </a:extLst>
          </p:cNvPr>
          <p:cNvSpPr txBox="1"/>
          <p:nvPr/>
        </p:nvSpPr>
        <p:spPr>
          <a:xfrm>
            <a:off x="178526" y="1339396"/>
            <a:ext cx="9854704" cy="646331"/>
          </a:xfrm>
          <a:prstGeom prst="rect">
            <a:avLst/>
          </a:prstGeom>
          <a:noFill/>
        </p:spPr>
        <p:txBody>
          <a:bodyPr wrap="square" rtlCol="0">
            <a:spAutoFit/>
          </a:bodyPr>
          <a:lstStyle/>
          <a:p>
            <a:r>
              <a:rPr lang="en-US" sz="3600" b="1" dirty="0">
                <a:solidFill>
                  <a:srgbClr val="1B415D"/>
                </a:solidFill>
              </a:rPr>
              <a:t>Approaches of Implementation </a:t>
            </a:r>
            <a:r>
              <a:rPr lang="en-US" b="1" dirty="0">
                <a:solidFill>
                  <a:srgbClr val="1B415D"/>
                </a:solidFill>
              </a:rPr>
              <a:t>[9]</a:t>
            </a:r>
            <a:r>
              <a:rPr lang="en-US" sz="3600" b="1" dirty="0">
                <a:solidFill>
                  <a:srgbClr val="1B415D"/>
                </a:solidFill>
              </a:rPr>
              <a:t> : Top Down</a:t>
            </a:r>
          </a:p>
        </p:txBody>
      </p:sp>
      <p:pic>
        <p:nvPicPr>
          <p:cNvPr id="51" name="Picture 50">
            <a:extLst>
              <a:ext uri="{FF2B5EF4-FFF2-40B4-BE49-F238E27FC236}">
                <a16:creationId xmlns:a16="http://schemas.microsoft.com/office/drawing/2014/main" id="{A2AF90CA-B8A3-1774-12D6-48F04B5E35AC}"/>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3216267" y="4331676"/>
            <a:ext cx="945088" cy="608375"/>
          </a:xfrm>
          <a:prstGeom prst="rect">
            <a:avLst/>
          </a:prstGeom>
        </p:spPr>
      </p:pic>
      <p:pic>
        <p:nvPicPr>
          <p:cNvPr id="52" name="Picture 51">
            <a:extLst>
              <a:ext uri="{FF2B5EF4-FFF2-40B4-BE49-F238E27FC236}">
                <a16:creationId xmlns:a16="http://schemas.microsoft.com/office/drawing/2014/main" id="{78C703F7-7D94-A87F-9ABD-BC9B364809AF}"/>
              </a:ext>
            </a:extLst>
          </p:cNvPr>
          <p:cNvPicPr>
            <a:picLocks noChangeAspect="1"/>
          </p:cNvPicPr>
          <p:nvPr/>
        </p:nvPicPr>
        <p:blipFill>
          <a:blip r:embed="rId10"/>
          <a:srcRect l="22961" t="57864" r="62119" b="30040"/>
          <a:stretch>
            <a:fillRect/>
          </a:stretch>
        </p:blipFill>
        <p:spPr>
          <a:xfrm>
            <a:off x="2780177" y="5427696"/>
            <a:ext cx="920785" cy="324800"/>
          </a:xfrm>
          <a:prstGeom prst="rect">
            <a:avLst/>
          </a:prstGeom>
        </p:spPr>
      </p:pic>
      <p:pic>
        <p:nvPicPr>
          <p:cNvPr id="53" name="Picture 52">
            <a:extLst>
              <a:ext uri="{FF2B5EF4-FFF2-40B4-BE49-F238E27FC236}">
                <a16:creationId xmlns:a16="http://schemas.microsoft.com/office/drawing/2014/main" id="{E7D74209-1147-82C8-0903-A6F642AB5AD3}"/>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3999367" y="2981843"/>
            <a:ext cx="1218647" cy="622233"/>
          </a:xfrm>
          <a:prstGeom prst="rect">
            <a:avLst/>
          </a:prstGeom>
        </p:spPr>
      </p:pic>
      <p:pic>
        <p:nvPicPr>
          <p:cNvPr id="54" name="Picture 53">
            <a:extLst>
              <a:ext uri="{FF2B5EF4-FFF2-40B4-BE49-F238E27FC236}">
                <a16:creationId xmlns:a16="http://schemas.microsoft.com/office/drawing/2014/main" id="{731BD3E7-802E-8C96-D336-666C87D700F8}"/>
              </a:ext>
            </a:extLst>
          </p:cNvPr>
          <p:cNvPicPr>
            <a:picLocks noChangeAspect="1"/>
          </p:cNvPicPr>
          <p:nvPr/>
        </p:nvPicPr>
        <p:blipFill>
          <a:blip r:embed="rId8">
            <a:extLst>
              <a:ext uri="{BEBA8EAE-BF5A-486C-A8C5-ECC9F3942E4B}">
                <a14:imgProps xmlns:a14="http://schemas.microsoft.com/office/drawing/2010/main">
                  <a14:imgLayer r:embed="rId12">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5031274" y="4331675"/>
            <a:ext cx="945088" cy="608375"/>
          </a:xfrm>
          <a:prstGeom prst="rect">
            <a:avLst/>
          </a:prstGeom>
        </p:spPr>
      </p:pic>
      <p:cxnSp>
        <p:nvCxnSpPr>
          <p:cNvPr id="55" name="Straight Arrow Connector 54">
            <a:extLst>
              <a:ext uri="{FF2B5EF4-FFF2-40B4-BE49-F238E27FC236}">
                <a16:creationId xmlns:a16="http://schemas.microsoft.com/office/drawing/2014/main" id="{92704778-56CA-CD67-4876-CE39CEA24E6B}"/>
              </a:ext>
            </a:extLst>
          </p:cNvPr>
          <p:cNvCxnSpPr>
            <a:cxnSpLocks/>
            <a:stCxn id="53" idx="2"/>
            <a:endCxn id="54" idx="0"/>
          </p:cNvCxnSpPr>
          <p:nvPr/>
        </p:nvCxnSpPr>
        <p:spPr>
          <a:xfrm>
            <a:off x="4608690" y="3604076"/>
            <a:ext cx="895128" cy="727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a:extLst>
              <a:ext uri="{FF2B5EF4-FFF2-40B4-BE49-F238E27FC236}">
                <a16:creationId xmlns:a16="http://schemas.microsoft.com/office/drawing/2014/main" id="{CF7A83C4-87B4-B83E-85D0-37853901A969}"/>
              </a:ext>
            </a:extLst>
          </p:cNvPr>
          <p:cNvCxnSpPr>
            <a:cxnSpLocks/>
            <a:endCxn id="51" idx="0"/>
          </p:cNvCxnSpPr>
          <p:nvPr/>
        </p:nvCxnSpPr>
        <p:spPr>
          <a:xfrm flipH="1">
            <a:off x="3688811" y="3604076"/>
            <a:ext cx="883056" cy="727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57" name="Picture 56">
            <a:extLst>
              <a:ext uri="{FF2B5EF4-FFF2-40B4-BE49-F238E27FC236}">
                <a16:creationId xmlns:a16="http://schemas.microsoft.com/office/drawing/2014/main" id="{128434F8-08C7-874F-CE6D-A4B87BCA7EFC}"/>
              </a:ext>
            </a:extLst>
          </p:cNvPr>
          <p:cNvPicPr>
            <a:picLocks noChangeAspect="1"/>
          </p:cNvPicPr>
          <p:nvPr/>
        </p:nvPicPr>
        <p:blipFill>
          <a:blip r:embed="rId10"/>
          <a:srcRect l="22961" t="57864" r="62119" b="30040"/>
          <a:stretch>
            <a:fillRect/>
          </a:stretch>
        </p:blipFill>
        <p:spPr>
          <a:xfrm>
            <a:off x="3700962" y="5427696"/>
            <a:ext cx="920785" cy="324800"/>
          </a:xfrm>
          <a:prstGeom prst="rect">
            <a:avLst/>
          </a:prstGeom>
        </p:spPr>
      </p:pic>
      <p:pic>
        <p:nvPicPr>
          <p:cNvPr id="58" name="Picture 57">
            <a:extLst>
              <a:ext uri="{FF2B5EF4-FFF2-40B4-BE49-F238E27FC236}">
                <a16:creationId xmlns:a16="http://schemas.microsoft.com/office/drawing/2014/main" id="{8007E261-1F9D-1EA6-8984-00CD66E01D2B}"/>
              </a:ext>
            </a:extLst>
          </p:cNvPr>
          <p:cNvPicPr>
            <a:picLocks noChangeAspect="1"/>
          </p:cNvPicPr>
          <p:nvPr/>
        </p:nvPicPr>
        <p:blipFill>
          <a:blip r:embed="rId10"/>
          <a:srcRect l="22961" t="57864" r="62119" b="30040"/>
          <a:stretch>
            <a:fillRect/>
          </a:stretch>
        </p:blipFill>
        <p:spPr>
          <a:xfrm>
            <a:off x="4621747" y="5427695"/>
            <a:ext cx="920785" cy="324800"/>
          </a:xfrm>
          <a:prstGeom prst="rect">
            <a:avLst/>
          </a:prstGeom>
        </p:spPr>
      </p:pic>
      <p:pic>
        <p:nvPicPr>
          <p:cNvPr id="59" name="Picture 58">
            <a:extLst>
              <a:ext uri="{FF2B5EF4-FFF2-40B4-BE49-F238E27FC236}">
                <a16:creationId xmlns:a16="http://schemas.microsoft.com/office/drawing/2014/main" id="{0FDBD862-59EF-8A92-B4AE-EC1B80959C94}"/>
              </a:ext>
            </a:extLst>
          </p:cNvPr>
          <p:cNvPicPr>
            <a:picLocks noChangeAspect="1"/>
          </p:cNvPicPr>
          <p:nvPr/>
        </p:nvPicPr>
        <p:blipFill>
          <a:blip r:embed="rId10"/>
          <a:srcRect l="22961" t="57864" r="62119" b="30040"/>
          <a:stretch>
            <a:fillRect/>
          </a:stretch>
        </p:blipFill>
        <p:spPr>
          <a:xfrm>
            <a:off x="5542532" y="5427695"/>
            <a:ext cx="920785" cy="324800"/>
          </a:xfrm>
          <a:prstGeom prst="rect">
            <a:avLst/>
          </a:prstGeom>
        </p:spPr>
      </p:pic>
      <p:cxnSp>
        <p:nvCxnSpPr>
          <p:cNvPr id="60" name="Straight Arrow Connector 59">
            <a:extLst>
              <a:ext uri="{FF2B5EF4-FFF2-40B4-BE49-F238E27FC236}">
                <a16:creationId xmlns:a16="http://schemas.microsoft.com/office/drawing/2014/main" id="{1425DA29-3901-6561-2EF7-2F92FF850C91}"/>
              </a:ext>
            </a:extLst>
          </p:cNvPr>
          <p:cNvCxnSpPr>
            <a:cxnSpLocks/>
            <a:endCxn id="52" idx="0"/>
          </p:cNvCxnSpPr>
          <p:nvPr/>
        </p:nvCxnSpPr>
        <p:spPr>
          <a:xfrm flipH="1">
            <a:off x="3240570" y="4973716"/>
            <a:ext cx="422664"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082FE7A9-00A0-D452-D40A-D24E5E615C08}"/>
              </a:ext>
            </a:extLst>
          </p:cNvPr>
          <p:cNvCxnSpPr>
            <a:cxnSpLocks/>
          </p:cNvCxnSpPr>
          <p:nvPr/>
        </p:nvCxnSpPr>
        <p:spPr>
          <a:xfrm flipH="1">
            <a:off x="5082139" y="4966890"/>
            <a:ext cx="422664"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3F6093A8-5FF2-700A-9D52-3E347281923A}"/>
              </a:ext>
            </a:extLst>
          </p:cNvPr>
          <p:cNvCxnSpPr>
            <a:cxnSpLocks/>
            <a:endCxn id="57" idx="0"/>
          </p:cNvCxnSpPr>
          <p:nvPr/>
        </p:nvCxnSpPr>
        <p:spPr>
          <a:xfrm>
            <a:off x="3700962" y="4973716"/>
            <a:ext cx="460392"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40AC8D58-CFBC-9779-FE75-C0C914D9691B}"/>
              </a:ext>
            </a:extLst>
          </p:cNvPr>
          <p:cNvCxnSpPr>
            <a:cxnSpLocks/>
          </p:cNvCxnSpPr>
          <p:nvPr/>
        </p:nvCxnSpPr>
        <p:spPr>
          <a:xfrm>
            <a:off x="5542532" y="4956882"/>
            <a:ext cx="460392"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2" name="Picture 3071">
            <a:extLst>
              <a:ext uri="{FF2B5EF4-FFF2-40B4-BE49-F238E27FC236}">
                <a16:creationId xmlns:a16="http://schemas.microsoft.com/office/drawing/2014/main" id="{5E591B66-23BF-FB72-BF0B-92F2E7651464}"/>
              </a:ext>
            </a:extLst>
          </p:cNvPr>
          <p:cNvPicPr>
            <a:picLocks noChangeAspect="1"/>
          </p:cNvPicPr>
          <p:nvPr/>
        </p:nvPicPr>
        <p:blipFill>
          <a:blip r:embed="rId8">
            <a:extLst>
              <a:ext uri="{BEBA8EAE-BF5A-486C-A8C5-ECC9F3942E4B}">
                <a14:imgProps xmlns:a14="http://schemas.microsoft.com/office/drawing/2010/main">
                  <a14:imgLayer r:embed="rId13">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8031483" y="4331677"/>
            <a:ext cx="945088" cy="608375"/>
          </a:xfrm>
          <a:prstGeom prst="rect">
            <a:avLst/>
          </a:prstGeom>
        </p:spPr>
      </p:pic>
      <p:pic>
        <p:nvPicPr>
          <p:cNvPr id="3073" name="Picture 3072">
            <a:extLst>
              <a:ext uri="{FF2B5EF4-FFF2-40B4-BE49-F238E27FC236}">
                <a16:creationId xmlns:a16="http://schemas.microsoft.com/office/drawing/2014/main" id="{65AED1A4-4990-250E-4745-7ED81777A9E5}"/>
              </a:ext>
            </a:extLst>
          </p:cNvPr>
          <p:cNvPicPr>
            <a:picLocks noChangeAspect="1"/>
          </p:cNvPicPr>
          <p:nvPr/>
        </p:nvPicPr>
        <p:blipFill>
          <a:blip r:embed="rId10"/>
          <a:srcRect l="22961" t="57864" r="62119" b="30040"/>
          <a:stretch>
            <a:fillRect/>
          </a:stretch>
        </p:blipFill>
        <p:spPr>
          <a:xfrm>
            <a:off x="7595393" y="5427697"/>
            <a:ext cx="920785" cy="324800"/>
          </a:xfrm>
          <a:prstGeom prst="rect">
            <a:avLst/>
          </a:prstGeom>
        </p:spPr>
      </p:pic>
      <p:pic>
        <p:nvPicPr>
          <p:cNvPr id="3075" name="Picture 3074">
            <a:extLst>
              <a:ext uri="{FF2B5EF4-FFF2-40B4-BE49-F238E27FC236}">
                <a16:creationId xmlns:a16="http://schemas.microsoft.com/office/drawing/2014/main" id="{FA114540-F6D5-7B0E-CF37-0D24CE23A44F}"/>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8814583" y="2981844"/>
            <a:ext cx="1218647" cy="622233"/>
          </a:xfrm>
          <a:prstGeom prst="rect">
            <a:avLst/>
          </a:prstGeom>
        </p:spPr>
      </p:pic>
      <p:pic>
        <p:nvPicPr>
          <p:cNvPr id="3076" name="Picture 3075">
            <a:extLst>
              <a:ext uri="{FF2B5EF4-FFF2-40B4-BE49-F238E27FC236}">
                <a16:creationId xmlns:a16="http://schemas.microsoft.com/office/drawing/2014/main" id="{BA7FEBFE-8562-E8E9-E527-A4899AA2A5F8}"/>
              </a:ext>
            </a:extLst>
          </p:cNvPr>
          <p:cNvPicPr>
            <a:picLocks noChangeAspect="1"/>
          </p:cNvPicPr>
          <p:nvPr/>
        </p:nvPicPr>
        <p:blipFill>
          <a:blip r:embed="rId8">
            <a:extLst>
              <a:ext uri="{BEBA8EAE-BF5A-486C-A8C5-ECC9F3942E4B}">
                <a14:imgProps xmlns:a14="http://schemas.microsoft.com/office/drawing/2010/main">
                  <a14:imgLayer r:embed="rId14">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9846490" y="4331676"/>
            <a:ext cx="945088" cy="608375"/>
          </a:xfrm>
          <a:prstGeom prst="rect">
            <a:avLst/>
          </a:prstGeom>
        </p:spPr>
      </p:pic>
      <p:cxnSp>
        <p:nvCxnSpPr>
          <p:cNvPr id="3077" name="Straight Arrow Connector 3076">
            <a:extLst>
              <a:ext uri="{FF2B5EF4-FFF2-40B4-BE49-F238E27FC236}">
                <a16:creationId xmlns:a16="http://schemas.microsoft.com/office/drawing/2014/main" id="{E474FEBF-8BFC-FEC4-B36A-9EDB6362922B}"/>
              </a:ext>
            </a:extLst>
          </p:cNvPr>
          <p:cNvCxnSpPr>
            <a:cxnSpLocks/>
            <a:stCxn id="3075" idx="2"/>
            <a:endCxn id="3076" idx="0"/>
          </p:cNvCxnSpPr>
          <p:nvPr/>
        </p:nvCxnSpPr>
        <p:spPr>
          <a:xfrm>
            <a:off x="9423907" y="3604077"/>
            <a:ext cx="895128" cy="727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78" name="Straight Arrow Connector 3077">
            <a:extLst>
              <a:ext uri="{FF2B5EF4-FFF2-40B4-BE49-F238E27FC236}">
                <a16:creationId xmlns:a16="http://schemas.microsoft.com/office/drawing/2014/main" id="{B303F1C0-A75D-B020-9690-838E56EFA24C}"/>
              </a:ext>
            </a:extLst>
          </p:cNvPr>
          <p:cNvCxnSpPr>
            <a:cxnSpLocks/>
            <a:endCxn id="3072" idx="0"/>
          </p:cNvCxnSpPr>
          <p:nvPr/>
        </p:nvCxnSpPr>
        <p:spPr>
          <a:xfrm flipH="1">
            <a:off x="8504027" y="3604077"/>
            <a:ext cx="883056" cy="7276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9" name="Picture 3078">
            <a:extLst>
              <a:ext uri="{FF2B5EF4-FFF2-40B4-BE49-F238E27FC236}">
                <a16:creationId xmlns:a16="http://schemas.microsoft.com/office/drawing/2014/main" id="{3CD49717-5742-7B33-9A5B-EBB076EA2EF0}"/>
              </a:ext>
            </a:extLst>
          </p:cNvPr>
          <p:cNvPicPr>
            <a:picLocks noChangeAspect="1"/>
          </p:cNvPicPr>
          <p:nvPr/>
        </p:nvPicPr>
        <p:blipFill>
          <a:blip r:embed="rId10"/>
          <a:srcRect l="22961" t="57864" r="62119" b="30040"/>
          <a:stretch>
            <a:fillRect/>
          </a:stretch>
        </p:blipFill>
        <p:spPr>
          <a:xfrm>
            <a:off x="8516178" y="5427697"/>
            <a:ext cx="920785" cy="324800"/>
          </a:xfrm>
          <a:prstGeom prst="rect">
            <a:avLst/>
          </a:prstGeom>
        </p:spPr>
      </p:pic>
      <p:pic>
        <p:nvPicPr>
          <p:cNvPr id="3080" name="Picture 3079">
            <a:extLst>
              <a:ext uri="{FF2B5EF4-FFF2-40B4-BE49-F238E27FC236}">
                <a16:creationId xmlns:a16="http://schemas.microsoft.com/office/drawing/2014/main" id="{4EF31FC0-A868-16EF-1544-E47436394BA0}"/>
              </a:ext>
            </a:extLst>
          </p:cNvPr>
          <p:cNvPicPr>
            <a:picLocks noChangeAspect="1"/>
          </p:cNvPicPr>
          <p:nvPr/>
        </p:nvPicPr>
        <p:blipFill>
          <a:blip r:embed="rId10"/>
          <a:srcRect l="22961" t="57864" r="62119" b="30040"/>
          <a:stretch>
            <a:fillRect/>
          </a:stretch>
        </p:blipFill>
        <p:spPr>
          <a:xfrm>
            <a:off x="9436963" y="5427696"/>
            <a:ext cx="920785" cy="324800"/>
          </a:xfrm>
          <a:prstGeom prst="rect">
            <a:avLst/>
          </a:prstGeom>
        </p:spPr>
      </p:pic>
      <p:pic>
        <p:nvPicPr>
          <p:cNvPr id="3081" name="Picture 3080">
            <a:extLst>
              <a:ext uri="{FF2B5EF4-FFF2-40B4-BE49-F238E27FC236}">
                <a16:creationId xmlns:a16="http://schemas.microsoft.com/office/drawing/2014/main" id="{EEE71F8C-623F-EC04-603B-A06D67FD9309}"/>
              </a:ext>
            </a:extLst>
          </p:cNvPr>
          <p:cNvPicPr>
            <a:picLocks noChangeAspect="1"/>
          </p:cNvPicPr>
          <p:nvPr/>
        </p:nvPicPr>
        <p:blipFill>
          <a:blip r:embed="rId10"/>
          <a:srcRect l="22961" t="57864" r="62119" b="30040"/>
          <a:stretch>
            <a:fillRect/>
          </a:stretch>
        </p:blipFill>
        <p:spPr>
          <a:xfrm>
            <a:off x="10357748" y="5427696"/>
            <a:ext cx="920785" cy="324800"/>
          </a:xfrm>
          <a:prstGeom prst="rect">
            <a:avLst/>
          </a:prstGeom>
        </p:spPr>
      </p:pic>
      <p:cxnSp>
        <p:nvCxnSpPr>
          <p:cNvPr id="3082" name="Straight Arrow Connector 3081">
            <a:extLst>
              <a:ext uri="{FF2B5EF4-FFF2-40B4-BE49-F238E27FC236}">
                <a16:creationId xmlns:a16="http://schemas.microsoft.com/office/drawing/2014/main" id="{9B9DC83D-57DA-5AC2-7852-A90A9BE83708}"/>
              </a:ext>
            </a:extLst>
          </p:cNvPr>
          <p:cNvCxnSpPr>
            <a:cxnSpLocks/>
            <a:endCxn id="3073" idx="0"/>
          </p:cNvCxnSpPr>
          <p:nvPr/>
        </p:nvCxnSpPr>
        <p:spPr>
          <a:xfrm flipH="1">
            <a:off x="8055786" y="4973717"/>
            <a:ext cx="422664"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3" name="Straight Arrow Connector 3082">
            <a:extLst>
              <a:ext uri="{FF2B5EF4-FFF2-40B4-BE49-F238E27FC236}">
                <a16:creationId xmlns:a16="http://schemas.microsoft.com/office/drawing/2014/main" id="{BA414EAC-B93B-79F3-6361-6BDAF2A6FF53}"/>
              </a:ext>
            </a:extLst>
          </p:cNvPr>
          <p:cNvCxnSpPr>
            <a:cxnSpLocks/>
          </p:cNvCxnSpPr>
          <p:nvPr/>
        </p:nvCxnSpPr>
        <p:spPr>
          <a:xfrm flipH="1">
            <a:off x="9897356" y="4966891"/>
            <a:ext cx="422664"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4" name="Straight Arrow Connector 3083">
            <a:extLst>
              <a:ext uri="{FF2B5EF4-FFF2-40B4-BE49-F238E27FC236}">
                <a16:creationId xmlns:a16="http://schemas.microsoft.com/office/drawing/2014/main" id="{482F1909-A3BE-79B6-B2F0-9B10B7C66003}"/>
              </a:ext>
            </a:extLst>
          </p:cNvPr>
          <p:cNvCxnSpPr>
            <a:cxnSpLocks/>
            <a:endCxn id="3079" idx="0"/>
          </p:cNvCxnSpPr>
          <p:nvPr/>
        </p:nvCxnSpPr>
        <p:spPr>
          <a:xfrm>
            <a:off x="8516178" y="4973717"/>
            <a:ext cx="460392"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5" name="Straight Arrow Connector 3084">
            <a:extLst>
              <a:ext uri="{FF2B5EF4-FFF2-40B4-BE49-F238E27FC236}">
                <a16:creationId xmlns:a16="http://schemas.microsoft.com/office/drawing/2014/main" id="{A66634B2-AD6A-D3B8-8FDB-B2E693D601E6}"/>
              </a:ext>
            </a:extLst>
          </p:cNvPr>
          <p:cNvCxnSpPr>
            <a:cxnSpLocks/>
          </p:cNvCxnSpPr>
          <p:nvPr/>
        </p:nvCxnSpPr>
        <p:spPr>
          <a:xfrm>
            <a:off x="10357748" y="4956883"/>
            <a:ext cx="460392" cy="4539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92" name="TextBox 3091">
            <a:extLst>
              <a:ext uri="{FF2B5EF4-FFF2-40B4-BE49-F238E27FC236}">
                <a16:creationId xmlns:a16="http://schemas.microsoft.com/office/drawing/2014/main" id="{5EC21389-014F-5396-80EF-4D4F38160338}"/>
              </a:ext>
            </a:extLst>
          </p:cNvPr>
          <p:cNvSpPr txBox="1"/>
          <p:nvPr/>
        </p:nvSpPr>
        <p:spPr>
          <a:xfrm>
            <a:off x="6590931" y="2106831"/>
            <a:ext cx="890837" cy="32730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TOTAL</a:t>
            </a:r>
          </a:p>
        </p:txBody>
      </p:sp>
      <p:cxnSp>
        <p:nvCxnSpPr>
          <p:cNvPr id="3093" name="Straight Arrow Connector 3092">
            <a:extLst>
              <a:ext uri="{FF2B5EF4-FFF2-40B4-BE49-F238E27FC236}">
                <a16:creationId xmlns:a16="http://schemas.microsoft.com/office/drawing/2014/main" id="{E843DCBF-AEF3-574B-3F48-94A034794D9E}"/>
              </a:ext>
            </a:extLst>
          </p:cNvPr>
          <p:cNvCxnSpPr>
            <a:cxnSpLocks/>
            <a:stCxn id="3092" idx="2"/>
            <a:endCxn id="53" idx="0"/>
          </p:cNvCxnSpPr>
          <p:nvPr/>
        </p:nvCxnSpPr>
        <p:spPr>
          <a:xfrm flipH="1">
            <a:off x="4608690" y="2434134"/>
            <a:ext cx="2427658" cy="54770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94" name="Straight Arrow Connector 3093">
            <a:extLst>
              <a:ext uri="{FF2B5EF4-FFF2-40B4-BE49-F238E27FC236}">
                <a16:creationId xmlns:a16="http://schemas.microsoft.com/office/drawing/2014/main" id="{184EE433-7CC1-E6AB-4550-A4CC7FCE7B0A}"/>
              </a:ext>
            </a:extLst>
          </p:cNvPr>
          <p:cNvCxnSpPr>
            <a:cxnSpLocks/>
            <a:stCxn id="3092" idx="2"/>
            <a:endCxn id="3075" idx="0"/>
          </p:cNvCxnSpPr>
          <p:nvPr/>
        </p:nvCxnSpPr>
        <p:spPr>
          <a:xfrm>
            <a:off x="7036349" y="2434134"/>
            <a:ext cx="2387558" cy="5477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95" name="Straight Arrow Connector 3094">
            <a:extLst>
              <a:ext uri="{FF2B5EF4-FFF2-40B4-BE49-F238E27FC236}">
                <a16:creationId xmlns:a16="http://schemas.microsoft.com/office/drawing/2014/main" id="{CF6B3656-4850-4478-7636-604E95ABAD6A}"/>
              </a:ext>
            </a:extLst>
          </p:cNvPr>
          <p:cNvCxnSpPr>
            <a:cxnSpLocks/>
          </p:cNvCxnSpPr>
          <p:nvPr/>
        </p:nvCxnSpPr>
        <p:spPr>
          <a:xfrm>
            <a:off x="1474501" y="2365407"/>
            <a:ext cx="2226462" cy="0"/>
          </a:xfrm>
          <a:prstGeom prst="straightConnector1">
            <a:avLst/>
          </a:prstGeom>
          <a:ln w="508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99" name="TextBox 3098">
            <a:extLst>
              <a:ext uri="{FF2B5EF4-FFF2-40B4-BE49-F238E27FC236}">
                <a16:creationId xmlns:a16="http://schemas.microsoft.com/office/drawing/2014/main" id="{6D37D692-42F0-9D68-E281-722641A748E3}"/>
              </a:ext>
            </a:extLst>
          </p:cNvPr>
          <p:cNvSpPr txBox="1"/>
          <p:nvPr/>
        </p:nvSpPr>
        <p:spPr>
          <a:xfrm>
            <a:off x="1819380" y="1912149"/>
            <a:ext cx="1536703" cy="523220"/>
          </a:xfrm>
          <a:prstGeom prst="rect">
            <a:avLst/>
          </a:prstGeom>
          <a:noFill/>
        </p:spPr>
        <p:txBody>
          <a:bodyPr wrap="none" rtlCol="0">
            <a:spAutoFit/>
          </a:bodyPr>
          <a:lstStyle/>
          <a:p>
            <a:r>
              <a:rPr lang="en-US" sz="2800" dirty="0">
                <a:solidFill>
                  <a:srgbClr val="1B415D"/>
                </a:solidFill>
              </a:rPr>
              <a:t>Forecast</a:t>
            </a:r>
          </a:p>
        </p:txBody>
      </p:sp>
      <p:sp>
        <p:nvSpPr>
          <p:cNvPr id="3102" name="TextBox 3101">
            <a:extLst>
              <a:ext uri="{FF2B5EF4-FFF2-40B4-BE49-F238E27FC236}">
                <a16:creationId xmlns:a16="http://schemas.microsoft.com/office/drawing/2014/main" id="{5E5792D3-F603-0AE2-51C6-5FE61E2E8BBD}"/>
              </a:ext>
            </a:extLst>
          </p:cNvPr>
          <p:cNvSpPr txBox="1"/>
          <p:nvPr/>
        </p:nvSpPr>
        <p:spPr>
          <a:xfrm>
            <a:off x="5682861" y="2696587"/>
            <a:ext cx="587002" cy="369332"/>
          </a:xfrm>
          <a:prstGeom prst="rect">
            <a:avLst/>
          </a:prstGeom>
          <a:noFill/>
        </p:spPr>
        <p:txBody>
          <a:bodyPr wrap="square" rtlCol="0">
            <a:spAutoFit/>
          </a:bodyPr>
          <a:lstStyle/>
          <a:p>
            <a:r>
              <a:rPr lang="en-US" b="1" dirty="0">
                <a:solidFill>
                  <a:srgbClr val="1B415D"/>
                </a:solidFill>
              </a:rPr>
              <a:t>2/3</a:t>
            </a:r>
          </a:p>
        </p:txBody>
      </p:sp>
      <p:sp>
        <p:nvSpPr>
          <p:cNvPr id="3103" name="TextBox 3102">
            <a:extLst>
              <a:ext uri="{FF2B5EF4-FFF2-40B4-BE49-F238E27FC236}">
                <a16:creationId xmlns:a16="http://schemas.microsoft.com/office/drawing/2014/main" id="{E8B723EA-3C1C-7C31-ABC2-9867A093B0E0}"/>
              </a:ext>
            </a:extLst>
          </p:cNvPr>
          <p:cNvSpPr txBox="1"/>
          <p:nvPr/>
        </p:nvSpPr>
        <p:spPr>
          <a:xfrm>
            <a:off x="7853119" y="2707988"/>
            <a:ext cx="587002" cy="369332"/>
          </a:xfrm>
          <a:prstGeom prst="rect">
            <a:avLst/>
          </a:prstGeom>
          <a:noFill/>
        </p:spPr>
        <p:txBody>
          <a:bodyPr wrap="square" rtlCol="0">
            <a:spAutoFit/>
          </a:bodyPr>
          <a:lstStyle/>
          <a:p>
            <a:r>
              <a:rPr lang="en-US" b="1" dirty="0">
                <a:solidFill>
                  <a:srgbClr val="1B415D"/>
                </a:solidFill>
              </a:rPr>
              <a:t>1/3</a:t>
            </a:r>
          </a:p>
        </p:txBody>
      </p:sp>
      <p:sp>
        <p:nvSpPr>
          <p:cNvPr id="3104" name="TextBox 3103">
            <a:extLst>
              <a:ext uri="{FF2B5EF4-FFF2-40B4-BE49-F238E27FC236}">
                <a16:creationId xmlns:a16="http://schemas.microsoft.com/office/drawing/2014/main" id="{8183FF61-090A-896D-A8F5-43759D41AE22}"/>
              </a:ext>
            </a:extLst>
          </p:cNvPr>
          <p:cNvSpPr txBox="1"/>
          <p:nvPr/>
        </p:nvSpPr>
        <p:spPr>
          <a:xfrm>
            <a:off x="3671863" y="3723301"/>
            <a:ext cx="587002" cy="369332"/>
          </a:xfrm>
          <a:prstGeom prst="rect">
            <a:avLst/>
          </a:prstGeom>
          <a:noFill/>
        </p:spPr>
        <p:txBody>
          <a:bodyPr wrap="square" rtlCol="0">
            <a:spAutoFit/>
          </a:bodyPr>
          <a:lstStyle/>
          <a:p>
            <a:r>
              <a:rPr lang="en-US" b="1" dirty="0">
                <a:solidFill>
                  <a:srgbClr val="1B415D"/>
                </a:solidFill>
              </a:rPr>
              <a:t>3/8</a:t>
            </a:r>
          </a:p>
        </p:txBody>
      </p:sp>
      <p:sp>
        <p:nvSpPr>
          <p:cNvPr id="3105" name="TextBox 3104">
            <a:extLst>
              <a:ext uri="{FF2B5EF4-FFF2-40B4-BE49-F238E27FC236}">
                <a16:creationId xmlns:a16="http://schemas.microsoft.com/office/drawing/2014/main" id="{B0ED0EE2-3C89-23B8-4952-ADB5153D879E}"/>
              </a:ext>
            </a:extLst>
          </p:cNvPr>
          <p:cNvSpPr txBox="1"/>
          <p:nvPr/>
        </p:nvSpPr>
        <p:spPr>
          <a:xfrm>
            <a:off x="5082139" y="3752799"/>
            <a:ext cx="587002" cy="369332"/>
          </a:xfrm>
          <a:prstGeom prst="rect">
            <a:avLst/>
          </a:prstGeom>
          <a:noFill/>
        </p:spPr>
        <p:txBody>
          <a:bodyPr wrap="square" rtlCol="0">
            <a:spAutoFit/>
          </a:bodyPr>
          <a:lstStyle/>
          <a:p>
            <a:r>
              <a:rPr lang="en-US" b="1" dirty="0">
                <a:solidFill>
                  <a:srgbClr val="1B415D"/>
                </a:solidFill>
              </a:rPr>
              <a:t>5/8</a:t>
            </a:r>
          </a:p>
        </p:txBody>
      </p:sp>
      <p:sp>
        <p:nvSpPr>
          <p:cNvPr id="3106" name="TextBox 3105">
            <a:extLst>
              <a:ext uri="{FF2B5EF4-FFF2-40B4-BE49-F238E27FC236}">
                <a16:creationId xmlns:a16="http://schemas.microsoft.com/office/drawing/2014/main" id="{EF0F453C-5E81-6CF5-D8B2-1879D6556057}"/>
              </a:ext>
            </a:extLst>
          </p:cNvPr>
          <p:cNvSpPr txBox="1"/>
          <p:nvPr/>
        </p:nvSpPr>
        <p:spPr>
          <a:xfrm>
            <a:off x="8524992" y="3694781"/>
            <a:ext cx="587002" cy="369332"/>
          </a:xfrm>
          <a:prstGeom prst="rect">
            <a:avLst/>
          </a:prstGeom>
          <a:noFill/>
        </p:spPr>
        <p:txBody>
          <a:bodyPr wrap="square" rtlCol="0">
            <a:spAutoFit/>
          </a:bodyPr>
          <a:lstStyle/>
          <a:p>
            <a:r>
              <a:rPr lang="en-US" b="1" dirty="0">
                <a:solidFill>
                  <a:srgbClr val="1B415D"/>
                </a:solidFill>
              </a:rPr>
              <a:t>2/5</a:t>
            </a:r>
          </a:p>
        </p:txBody>
      </p:sp>
      <p:sp>
        <p:nvSpPr>
          <p:cNvPr id="3107" name="TextBox 3106">
            <a:extLst>
              <a:ext uri="{FF2B5EF4-FFF2-40B4-BE49-F238E27FC236}">
                <a16:creationId xmlns:a16="http://schemas.microsoft.com/office/drawing/2014/main" id="{C8C0332E-9CC6-B1FA-8138-D501B8A66E32}"/>
              </a:ext>
            </a:extLst>
          </p:cNvPr>
          <p:cNvSpPr txBox="1"/>
          <p:nvPr/>
        </p:nvSpPr>
        <p:spPr>
          <a:xfrm>
            <a:off x="9871471" y="3718522"/>
            <a:ext cx="587002" cy="369332"/>
          </a:xfrm>
          <a:prstGeom prst="rect">
            <a:avLst/>
          </a:prstGeom>
          <a:noFill/>
        </p:spPr>
        <p:txBody>
          <a:bodyPr wrap="square" rtlCol="0">
            <a:spAutoFit/>
          </a:bodyPr>
          <a:lstStyle/>
          <a:p>
            <a:r>
              <a:rPr lang="en-US" b="1" dirty="0">
                <a:solidFill>
                  <a:srgbClr val="1B415D"/>
                </a:solidFill>
              </a:rPr>
              <a:t>3/5</a:t>
            </a:r>
          </a:p>
        </p:txBody>
      </p:sp>
      <p:sp>
        <p:nvSpPr>
          <p:cNvPr id="3108" name="TextBox 3107">
            <a:extLst>
              <a:ext uri="{FF2B5EF4-FFF2-40B4-BE49-F238E27FC236}">
                <a16:creationId xmlns:a16="http://schemas.microsoft.com/office/drawing/2014/main" id="{EA8A8EA4-7E83-C038-E3D2-0A5C1511B47C}"/>
              </a:ext>
            </a:extLst>
          </p:cNvPr>
          <p:cNvSpPr txBox="1"/>
          <p:nvPr/>
        </p:nvSpPr>
        <p:spPr>
          <a:xfrm>
            <a:off x="3071619" y="4973716"/>
            <a:ext cx="587002" cy="307777"/>
          </a:xfrm>
          <a:prstGeom prst="rect">
            <a:avLst/>
          </a:prstGeom>
          <a:noFill/>
        </p:spPr>
        <p:txBody>
          <a:bodyPr wrap="square" rtlCol="0">
            <a:spAutoFit/>
          </a:bodyPr>
          <a:lstStyle/>
          <a:p>
            <a:r>
              <a:rPr lang="en-US" sz="1400" b="1" dirty="0">
                <a:solidFill>
                  <a:srgbClr val="1B415D"/>
                </a:solidFill>
              </a:rPr>
              <a:t>1/3</a:t>
            </a:r>
          </a:p>
        </p:txBody>
      </p:sp>
      <p:sp>
        <p:nvSpPr>
          <p:cNvPr id="3109" name="TextBox 3108">
            <a:extLst>
              <a:ext uri="{FF2B5EF4-FFF2-40B4-BE49-F238E27FC236}">
                <a16:creationId xmlns:a16="http://schemas.microsoft.com/office/drawing/2014/main" id="{25158AA5-3BA6-E5FE-9D9C-00749B4BCA88}"/>
              </a:ext>
            </a:extLst>
          </p:cNvPr>
          <p:cNvSpPr txBox="1"/>
          <p:nvPr/>
        </p:nvSpPr>
        <p:spPr>
          <a:xfrm>
            <a:off x="3883583" y="5006195"/>
            <a:ext cx="587002" cy="307777"/>
          </a:xfrm>
          <a:prstGeom prst="rect">
            <a:avLst/>
          </a:prstGeom>
          <a:noFill/>
        </p:spPr>
        <p:txBody>
          <a:bodyPr wrap="square" rtlCol="0">
            <a:spAutoFit/>
          </a:bodyPr>
          <a:lstStyle/>
          <a:p>
            <a:r>
              <a:rPr lang="en-US" sz="1400" b="1" dirty="0">
                <a:solidFill>
                  <a:srgbClr val="1B415D"/>
                </a:solidFill>
              </a:rPr>
              <a:t>2/3</a:t>
            </a:r>
          </a:p>
        </p:txBody>
      </p:sp>
      <p:sp>
        <p:nvSpPr>
          <p:cNvPr id="3110" name="TextBox 3109">
            <a:extLst>
              <a:ext uri="{FF2B5EF4-FFF2-40B4-BE49-F238E27FC236}">
                <a16:creationId xmlns:a16="http://schemas.microsoft.com/office/drawing/2014/main" id="{1AE5E6D6-EF87-AF66-EA9C-644EA8028750}"/>
              </a:ext>
            </a:extLst>
          </p:cNvPr>
          <p:cNvSpPr txBox="1"/>
          <p:nvPr/>
        </p:nvSpPr>
        <p:spPr>
          <a:xfrm>
            <a:off x="4857942" y="4976215"/>
            <a:ext cx="587002" cy="307777"/>
          </a:xfrm>
          <a:prstGeom prst="rect">
            <a:avLst/>
          </a:prstGeom>
          <a:noFill/>
        </p:spPr>
        <p:txBody>
          <a:bodyPr wrap="square" rtlCol="0">
            <a:spAutoFit/>
          </a:bodyPr>
          <a:lstStyle/>
          <a:p>
            <a:r>
              <a:rPr lang="en-US" sz="1400" b="1" dirty="0">
                <a:solidFill>
                  <a:srgbClr val="1B415D"/>
                </a:solidFill>
              </a:rPr>
              <a:t>2/5</a:t>
            </a:r>
          </a:p>
        </p:txBody>
      </p:sp>
      <p:sp>
        <p:nvSpPr>
          <p:cNvPr id="3111" name="TextBox 3110">
            <a:extLst>
              <a:ext uri="{FF2B5EF4-FFF2-40B4-BE49-F238E27FC236}">
                <a16:creationId xmlns:a16="http://schemas.microsoft.com/office/drawing/2014/main" id="{0CE07C6C-A82F-585A-A4DB-5A413397E244}"/>
              </a:ext>
            </a:extLst>
          </p:cNvPr>
          <p:cNvSpPr txBox="1"/>
          <p:nvPr/>
        </p:nvSpPr>
        <p:spPr>
          <a:xfrm>
            <a:off x="5774839" y="4948734"/>
            <a:ext cx="587002" cy="307777"/>
          </a:xfrm>
          <a:prstGeom prst="rect">
            <a:avLst/>
          </a:prstGeom>
          <a:noFill/>
        </p:spPr>
        <p:txBody>
          <a:bodyPr wrap="square" rtlCol="0">
            <a:spAutoFit/>
          </a:bodyPr>
          <a:lstStyle/>
          <a:p>
            <a:r>
              <a:rPr lang="en-US" sz="1400" b="1" dirty="0">
                <a:solidFill>
                  <a:srgbClr val="1B415D"/>
                </a:solidFill>
              </a:rPr>
              <a:t>3/5</a:t>
            </a:r>
          </a:p>
        </p:txBody>
      </p:sp>
      <p:sp>
        <p:nvSpPr>
          <p:cNvPr id="3112" name="TextBox 3111">
            <a:extLst>
              <a:ext uri="{FF2B5EF4-FFF2-40B4-BE49-F238E27FC236}">
                <a16:creationId xmlns:a16="http://schemas.microsoft.com/office/drawing/2014/main" id="{E7B7D0C8-DC2C-F1D9-FA1E-146926B9365B}"/>
              </a:ext>
            </a:extLst>
          </p:cNvPr>
          <p:cNvSpPr txBox="1"/>
          <p:nvPr/>
        </p:nvSpPr>
        <p:spPr>
          <a:xfrm>
            <a:off x="7875955" y="4951233"/>
            <a:ext cx="587002" cy="307777"/>
          </a:xfrm>
          <a:prstGeom prst="rect">
            <a:avLst/>
          </a:prstGeom>
          <a:noFill/>
        </p:spPr>
        <p:txBody>
          <a:bodyPr wrap="square" rtlCol="0">
            <a:spAutoFit/>
          </a:bodyPr>
          <a:lstStyle/>
          <a:p>
            <a:r>
              <a:rPr lang="en-US" sz="1400" b="1" dirty="0">
                <a:solidFill>
                  <a:srgbClr val="1B415D"/>
                </a:solidFill>
              </a:rPr>
              <a:t>1/3</a:t>
            </a:r>
          </a:p>
        </p:txBody>
      </p:sp>
      <p:sp>
        <p:nvSpPr>
          <p:cNvPr id="3113" name="TextBox 3112">
            <a:extLst>
              <a:ext uri="{FF2B5EF4-FFF2-40B4-BE49-F238E27FC236}">
                <a16:creationId xmlns:a16="http://schemas.microsoft.com/office/drawing/2014/main" id="{7F0EBA4F-15C5-1097-10F3-7873CFF8D2E9}"/>
              </a:ext>
            </a:extLst>
          </p:cNvPr>
          <p:cNvSpPr txBox="1"/>
          <p:nvPr/>
        </p:nvSpPr>
        <p:spPr>
          <a:xfrm>
            <a:off x="8702909" y="4998702"/>
            <a:ext cx="587002" cy="307777"/>
          </a:xfrm>
          <a:prstGeom prst="rect">
            <a:avLst/>
          </a:prstGeom>
          <a:noFill/>
        </p:spPr>
        <p:txBody>
          <a:bodyPr wrap="square" rtlCol="0">
            <a:spAutoFit/>
          </a:bodyPr>
          <a:lstStyle/>
          <a:p>
            <a:r>
              <a:rPr lang="en-US" sz="1400" b="1" dirty="0">
                <a:solidFill>
                  <a:srgbClr val="1B415D"/>
                </a:solidFill>
              </a:rPr>
              <a:t>2/3</a:t>
            </a:r>
          </a:p>
        </p:txBody>
      </p:sp>
      <p:sp>
        <p:nvSpPr>
          <p:cNvPr id="3114" name="TextBox 3113">
            <a:extLst>
              <a:ext uri="{FF2B5EF4-FFF2-40B4-BE49-F238E27FC236}">
                <a16:creationId xmlns:a16="http://schemas.microsoft.com/office/drawing/2014/main" id="{5B69B6EE-B48D-44FE-DC83-CBB4A02C13F1}"/>
              </a:ext>
            </a:extLst>
          </p:cNvPr>
          <p:cNvSpPr txBox="1"/>
          <p:nvPr/>
        </p:nvSpPr>
        <p:spPr>
          <a:xfrm>
            <a:off x="9724737" y="4986211"/>
            <a:ext cx="587002" cy="307777"/>
          </a:xfrm>
          <a:prstGeom prst="rect">
            <a:avLst/>
          </a:prstGeom>
          <a:noFill/>
        </p:spPr>
        <p:txBody>
          <a:bodyPr wrap="square" rtlCol="0">
            <a:spAutoFit/>
          </a:bodyPr>
          <a:lstStyle/>
          <a:p>
            <a:r>
              <a:rPr lang="en-US" sz="1400" b="1" dirty="0">
                <a:solidFill>
                  <a:srgbClr val="1B415D"/>
                </a:solidFill>
              </a:rPr>
              <a:t>1/2</a:t>
            </a:r>
          </a:p>
        </p:txBody>
      </p:sp>
      <p:sp>
        <p:nvSpPr>
          <p:cNvPr id="3115" name="TextBox 3114">
            <a:extLst>
              <a:ext uri="{FF2B5EF4-FFF2-40B4-BE49-F238E27FC236}">
                <a16:creationId xmlns:a16="http://schemas.microsoft.com/office/drawing/2014/main" id="{94606727-4C4F-2D86-1BC3-37B0149C009C}"/>
              </a:ext>
            </a:extLst>
          </p:cNvPr>
          <p:cNvSpPr txBox="1"/>
          <p:nvPr/>
        </p:nvSpPr>
        <p:spPr>
          <a:xfrm>
            <a:off x="10536701" y="4988710"/>
            <a:ext cx="587002" cy="307777"/>
          </a:xfrm>
          <a:prstGeom prst="rect">
            <a:avLst/>
          </a:prstGeom>
          <a:noFill/>
        </p:spPr>
        <p:txBody>
          <a:bodyPr wrap="square" rtlCol="0">
            <a:spAutoFit/>
          </a:bodyPr>
          <a:lstStyle/>
          <a:p>
            <a:r>
              <a:rPr lang="en-US" sz="1400" b="1" dirty="0">
                <a:solidFill>
                  <a:srgbClr val="1B415D"/>
                </a:solidFill>
              </a:rPr>
              <a:t>1/2</a:t>
            </a:r>
          </a:p>
        </p:txBody>
      </p:sp>
    </p:spTree>
    <p:extLst>
      <p:ext uri="{BB962C8B-B14F-4D97-AF65-F5344CB8AC3E}">
        <p14:creationId xmlns:p14="http://schemas.microsoft.com/office/powerpoint/2010/main" val="2239703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A67D6-8B9B-2108-C732-53CCDAF434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2A45F9-C2DD-C913-DDC8-D0E3888B7841}"/>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2DC0099F-8AD5-445D-E5EB-27507DD35646}"/>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9D0F9AF7-2F55-5A93-02DE-D126992131B1}"/>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E76CD968-B076-2FE0-EA88-CB40C4A38A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B888331-EAE0-5D80-2BD7-0C97A600AF60}"/>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90CFCF8F-54CB-76DF-B1CA-4D6F086CFFE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F0CE2587-9770-5715-1025-766813F219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E0C8A251-2203-63AE-7627-82C16E2D1380}"/>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41E3BEB7-E8A8-0E8B-7683-AC476F70E5A5}"/>
              </a:ext>
            </a:extLst>
          </p:cNvPr>
          <p:cNvSpPr txBox="1"/>
          <p:nvPr/>
        </p:nvSpPr>
        <p:spPr>
          <a:xfrm>
            <a:off x="178526" y="1339396"/>
            <a:ext cx="9650028" cy="646331"/>
          </a:xfrm>
          <a:prstGeom prst="rect">
            <a:avLst/>
          </a:prstGeom>
          <a:noFill/>
        </p:spPr>
        <p:txBody>
          <a:bodyPr wrap="square" rtlCol="0">
            <a:spAutoFit/>
          </a:bodyPr>
          <a:lstStyle/>
          <a:p>
            <a:r>
              <a:rPr lang="en-US" sz="3600" b="1" dirty="0">
                <a:solidFill>
                  <a:srgbClr val="1B415D"/>
                </a:solidFill>
              </a:rPr>
              <a:t>Approaches of Implementation </a:t>
            </a:r>
            <a:r>
              <a:rPr lang="en-US" b="1" dirty="0">
                <a:solidFill>
                  <a:srgbClr val="1B415D"/>
                </a:solidFill>
              </a:rPr>
              <a:t>[9] </a:t>
            </a:r>
            <a:r>
              <a:rPr lang="en-US" sz="3600" b="1" dirty="0">
                <a:solidFill>
                  <a:srgbClr val="1B415D"/>
                </a:solidFill>
              </a:rPr>
              <a:t>: Optimal</a:t>
            </a:r>
          </a:p>
        </p:txBody>
      </p:sp>
      <p:pic>
        <p:nvPicPr>
          <p:cNvPr id="51" name="Picture 50">
            <a:extLst>
              <a:ext uri="{FF2B5EF4-FFF2-40B4-BE49-F238E27FC236}">
                <a16:creationId xmlns:a16="http://schemas.microsoft.com/office/drawing/2014/main" id="{CFCDE129-5494-E17E-AD24-89EB9011960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3216267" y="4331676"/>
            <a:ext cx="945088" cy="608375"/>
          </a:xfrm>
          <a:prstGeom prst="rect">
            <a:avLst/>
          </a:prstGeom>
        </p:spPr>
      </p:pic>
      <p:pic>
        <p:nvPicPr>
          <p:cNvPr id="52" name="Picture 51">
            <a:extLst>
              <a:ext uri="{FF2B5EF4-FFF2-40B4-BE49-F238E27FC236}">
                <a16:creationId xmlns:a16="http://schemas.microsoft.com/office/drawing/2014/main" id="{1704745C-3208-5F65-D0F3-1591AF2E4A8C}"/>
              </a:ext>
            </a:extLst>
          </p:cNvPr>
          <p:cNvPicPr>
            <a:picLocks noChangeAspect="1"/>
          </p:cNvPicPr>
          <p:nvPr/>
        </p:nvPicPr>
        <p:blipFill>
          <a:blip r:embed="rId10"/>
          <a:srcRect l="22961" t="57864" r="62119" b="30040"/>
          <a:stretch>
            <a:fillRect/>
          </a:stretch>
        </p:blipFill>
        <p:spPr>
          <a:xfrm>
            <a:off x="2780178" y="5427696"/>
            <a:ext cx="920785" cy="324800"/>
          </a:xfrm>
          <a:prstGeom prst="rect">
            <a:avLst/>
          </a:prstGeom>
        </p:spPr>
      </p:pic>
      <p:pic>
        <p:nvPicPr>
          <p:cNvPr id="53" name="Picture 52">
            <a:extLst>
              <a:ext uri="{FF2B5EF4-FFF2-40B4-BE49-F238E27FC236}">
                <a16:creationId xmlns:a16="http://schemas.microsoft.com/office/drawing/2014/main" id="{5BC97AD1-D9E9-65F9-7652-D9B14756FE7F}"/>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3999367" y="2981843"/>
            <a:ext cx="1218647" cy="622233"/>
          </a:xfrm>
          <a:prstGeom prst="rect">
            <a:avLst/>
          </a:prstGeom>
        </p:spPr>
      </p:pic>
      <p:pic>
        <p:nvPicPr>
          <p:cNvPr id="54" name="Picture 53">
            <a:extLst>
              <a:ext uri="{FF2B5EF4-FFF2-40B4-BE49-F238E27FC236}">
                <a16:creationId xmlns:a16="http://schemas.microsoft.com/office/drawing/2014/main" id="{F73E67B8-FD25-88D4-C125-54C31AF6649C}"/>
              </a:ext>
            </a:extLst>
          </p:cNvPr>
          <p:cNvPicPr>
            <a:picLocks noChangeAspect="1"/>
          </p:cNvPicPr>
          <p:nvPr/>
        </p:nvPicPr>
        <p:blipFill>
          <a:blip r:embed="rId8">
            <a:extLst>
              <a:ext uri="{BEBA8EAE-BF5A-486C-A8C5-ECC9F3942E4B}">
                <a14:imgProps xmlns:a14="http://schemas.microsoft.com/office/drawing/2010/main">
                  <a14:imgLayer r:embed="rId12">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5031275" y="4331675"/>
            <a:ext cx="945088" cy="608375"/>
          </a:xfrm>
          <a:prstGeom prst="rect">
            <a:avLst/>
          </a:prstGeom>
        </p:spPr>
      </p:pic>
      <p:cxnSp>
        <p:nvCxnSpPr>
          <p:cNvPr id="55" name="Straight Arrow Connector 54">
            <a:extLst>
              <a:ext uri="{FF2B5EF4-FFF2-40B4-BE49-F238E27FC236}">
                <a16:creationId xmlns:a16="http://schemas.microsoft.com/office/drawing/2014/main" id="{FA8994FD-38CA-B65C-45DC-7FA0E4CC4CCF}"/>
              </a:ext>
            </a:extLst>
          </p:cNvPr>
          <p:cNvCxnSpPr>
            <a:cxnSpLocks/>
            <a:stCxn id="54" idx="0"/>
            <a:endCxn id="53" idx="2"/>
          </p:cNvCxnSpPr>
          <p:nvPr/>
        </p:nvCxnSpPr>
        <p:spPr>
          <a:xfrm flipH="1" flipV="1">
            <a:off x="4608691" y="3604076"/>
            <a:ext cx="895128" cy="7275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a:extLst>
              <a:ext uri="{FF2B5EF4-FFF2-40B4-BE49-F238E27FC236}">
                <a16:creationId xmlns:a16="http://schemas.microsoft.com/office/drawing/2014/main" id="{3A3E9A68-2592-FF8D-0929-7D850C0814EB}"/>
              </a:ext>
            </a:extLst>
          </p:cNvPr>
          <p:cNvCxnSpPr>
            <a:cxnSpLocks/>
            <a:stCxn id="51" idx="0"/>
            <a:endCxn id="53" idx="2"/>
          </p:cNvCxnSpPr>
          <p:nvPr/>
        </p:nvCxnSpPr>
        <p:spPr>
          <a:xfrm flipV="1">
            <a:off x="3688811" y="3604076"/>
            <a:ext cx="919880" cy="72760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pic>
        <p:nvPicPr>
          <p:cNvPr id="57" name="Picture 56">
            <a:extLst>
              <a:ext uri="{FF2B5EF4-FFF2-40B4-BE49-F238E27FC236}">
                <a16:creationId xmlns:a16="http://schemas.microsoft.com/office/drawing/2014/main" id="{4829D5EE-0CF3-AA40-00E0-2BE91214B302}"/>
              </a:ext>
            </a:extLst>
          </p:cNvPr>
          <p:cNvPicPr>
            <a:picLocks noChangeAspect="1"/>
          </p:cNvPicPr>
          <p:nvPr/>
        </p:nvPicPr>
        <p:blipFill>
          <a:blip r:embed="rId10"/>
          <a:srcRect l="22961" t="57864" r="62119" b="30040"/>
          <a:stretch>
            <a:fillRect/>
          </a:stretch>
        </p:blipFill>
        <p:spPr>
          <a:xfrm>
            <a:off x="3700963" y="5427696"/>
            <a:ext cx="920785" cy="324800"/>
          </a:xfrm>
          <a:prstGeom prst="rect">
            <a:avLst/>
          </a:prstGeom>
        </p:spPr>
      </p:pic>
      <p:pic>
        <p:nvPicPr>
          <p:cNvPr id="58" name="Picture 57">
            <a:extLst>
              <a:ext uri="{FF2B5EF4-FFF2-40B4-BE49-F238E27FC236}">
                <a16:creationId xmlns:a16="http://schemas.microsoft.com/office/drawing/2014/main" id="{C617CF3B-4B3B-01B3-B66B-FBCACDEFFA15}"/>
              </a:ext>
            </a:extLst>
          </p:cNvPr>
          <p:cNvPicPr>
            <a:picLocks noChangeAspect="1"/>
          </p:cNvPicPr>
          <p:nvPr/>
        </p:nvPicPr>
        <p:blipFill>
          <a:blip r:embed="rId10"/>
          <a:srcRect l="22961" t="57864" r="62119" b="30040"/>
          <a:stretch>
            <a:fillRect/>
          </a:stretch>
        </p:blipFill>
        <p:spPr>
          <a:xfrm>
            <a:off x="4621748" y="5427695"/>
            <a:ext cx="920785" cy="324800"/>
          </a:xfrm>
          <a:prstGeom prst="rect">
            <a:avLst/>
          </a:prstGeom>
        </p:spPr>
      </p:pic>
      <p:pic>
        <p:nvPicPr>
          <p:cNvPr id="59" name="Picture 58">
            <a:extLst>
              <a:ext uri="{FF2B5EF4-FFF2-40B4-BE49-F238E27FC236}">
                <a16:creationId xmlns:a16="http://schemas.microsoft.com/office/drawing/2014/main" id="{31DC5ADB-9AC2-8FB2-9D87-F0B07CB0F86D}"/>
              </a:ext>
            </a:extLst>
          </p:cNvPr>
          <p:cNvPicPr>
            <a:picLocks noChangeAspect="1"/>
          </p:cNvPicPr>
          <p:nvPr/>
        </p:nvPicPr>
        <p:blipFill>
          <a:blip r:embed="rId10"/>
          <a:srcRect l="22961" t="57864" r="62119" b="30040"/>
          <a:stretch>
            <a:fillRect/>
          </a:stretch>
        </p:blipFill>
        <p:spPr>
          <a:xfrm>
            <a:off x="5542533" y="5427695"/>
            <a:ext cx="920785" cy="324800"/>
          </a:xfrm>
          <a:prstGeom prst="rect">
            <a:avLst/>
          </a:prstGeom>
        </p:spPr>
      </p:pic>
      <p:cxnSp>
        <p:nvCxnSpPr>
          <p:cNvPr id="60" name="Straight Arrow Connector 59">
            <a:extLst>
              <a:ext uri="{FF2B5EF4-FFF2-40B4-BE49-F238E27FC236}">
                <a16:creationId xmlns:a16="http://schemas.microsoft.com/office/drawing/2014/main" id="{A352E00F-776E-E2B1-359D-FF1822669938}"/>
              </a:ext>
            </a:extLst>
          </p:cNvPr>
          <p:cNvCxnSpPr>
            <a:cxnSpLocks/>
            <a:stCxn id="51" idx="2"/>
            <a:endCxn id="52" idx="0"/>
          </p:cNvCxnSpPr>
          <p:nvPr/>
        </p:nvCxnSpPr>
        <p:spPr>
          <a:xfrm flipH="1">
            <a:off x="3240571" y="4940051"/>
            <a:ext cx="448240"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7E90432C-004D-C635-563A-A49FD092F381}"/>
              </a:ext>
            </a:extLst>
          </p:cNvPr>
          <p:cNvCxnSpPr>
            <a:cxnSpLocks/>
            <a:stCxn id="54" idx="2"/>
            <a:endCxn id="58" idx="0"/>
          </p:cNvCxnSpPr>
          <p:nvPr/>
        </p:nvCxnSpPr>
        <p:spPr>
          <a:xfrm flipH="1">
            <a:off x="5082141" y="4940050"/>
            <a:ext cx="421678"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EA404A17-28C2-061B-0F46-DFCEB812978B}"/>
              </a:ext>
            </a:extLst>
          </p:cNvPr>
          <p:cNvCxnSpPr>
            <a:cxnSpLocks/>
            <a:stCxn id="51" idx="2"/>
            <a:endCxn id="57" idx="0"/>
          </p:cNvCxnSpPr>
          <p:nvPr/>
        </p:nvCxnSpPr>
        <p:spPr>
          <a:xfrm>
            <a:off x="3688811" y="4940051"/>
            <a:ext cx="472545"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F09AFE3E-118A-9C57-CC6F-7EA631E77D33}"/>
              </a:ext>
            </a:extLst>
          </p:cNvPr>
          <p:cNvCxnSpPr>
            <a:cxnSpLocks/>
            <a:stCxn id="54" idx="2"/>
            <a:endCxn id="59" idx="0"/>
          </p:cNvCxnSpPr>
          <p:nvPr/>
        </p:nvCxnSpPr>
        <p:spPr>
          <a:xfrm>
            <a:off x="5503819" y="4940050"/>
            <a:ext cx="499107"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2" name="Picture 3071">
            <a:extLst>
              <a:ext uri="{FF2B5EF4-FFF2-40B4-BE49-F238E27FC236}">
                <a16:creationId xmlns:a16="http://schemas.microsoft.com/office/drawing/2014/main" id="{0C098D6B-4AEA-F297-BD63-8EB4A864BD7E}"/>
              </a:ext>
            </a:extLst>
          </p:cNvPr>
          <p:cNvPicPr>
            <a:picLocks noChangeAspect="1"/>
          </p:cNvPicPr>
          <p:nvPr/>
        </p:nvPicPr>
        <p:blipFill>
          <a:blip r:embed="rId8">
            <a:extLst>
              <a:ext uri="{BEBA8EAE-BF5A-486C-A8C5-ECC9F3942E4B}">
                <a14:imgProps xmlns:a14="http://schemas.microsoft.com/office/drawing/2010/main">
                  <a14:imgLayer r:embed="rId13">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8031484" y="4331677"/>
            <a:ext cx="945088" cy="608375"/>
          </a:xfrm>
          <a:prstGeom prst="rect">
            <a:avLst/>
          </a:prstGeom>
        </p:spPr>
      </p:pic>
      <p:pic>
        <p:nvPicPr>
          <p:cNvPr id="3073" name="Picture 3072">
            <a:extLst>
              <a:ext uri="{FF2B5EF4-FFF2-40B4-BE49-F238E27FC236}">
                <a16:creationId xmlns:a16="http://schemas.microsoft.com/office/drawing/2014/main" id="{E500C299-6788-7175-AE86-CBE84DA6E190}"/>
              </a:ext>
            </a:extLst>
          </p:cNvPr>
          <p:cNvPicPr>
            <a:picLocks noChangeAspect="1"/>
          </p:cNvPicPr>
          <p:nvPr/>
        </p:nvPicPr>
        <p:blipFill>
          <a:blip r:embed="rId10"/>
          <a:srcRect l="22961" t="57864" r="62119" b="30040"/>
          <a:stretch>
            <a:fillRect/>
          </a:stretch>
        </p:blipFill>
        <p:spPr>
          <a:xfrm>
            <a:off x="7595394" y="5427697"/>
            <a:ext cx="920785" cy="324800"/>
          </a:xfrm>
          <a:prstGeom prst="rect">
            <a:avLst/>
          </a:prstGeom>
        </p:spPr>
      </p:pic>
      <p:pic>
        <p:nvPicPr>
          <p:cNvPr id="3075" name="Picture 3074">
            <a:extLst>
              <a:ext uri="{FF2B5EF4-FFF2-40B4-BE49-F238E27FC236}">
                <a16:creationId xmlns:a16="http://schemas.microsoft.com/office/drawing/2014/main" id="{9CB2A48D-D4B4-8748-F326-2160083E9B9D}"/>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8814584" y="2981844"/>
            <a:ext cx="1218647" cy="622233"/>
          </a:xfrm>
          <a:prstGeom prst="rect">
            <a:avLst/>
          </a:prstGeom>
        </p:spPr>
      </p:pic>
      <p:pic>
        <p:nvPicPr>
          <p:cNvPr id="3076" name="Picture 3075">
            <a:extLst>
              <a:ext uri="{FF2B5EF4-FFF2-40B4-BE49-F238E27FC236}">
                <a16:creationId xmlns:a16="http://schemas.microsoft.com/office/drawing/2014/main" id="{D99FA006-EADD-E881-5856-2DADC19F5067}"/>
              </a:ext>
            </a:extLst>
          </p:cNvPr>
          <p:cNvPicPr>
            <a:picLocks noChangeAspect="1"/>
          </p:cNvPicPr>
          <p:nvPr/>
        </p:nvPicPr>
        <p:blipFill>
          <a:blip r:embed="rId8">
            <a:extLst>
              <a:ext uri="{BEBA8EAE-BF5A-486C-A8C5-ECC9F3942E4B}">
                <a14:imgProps xmlns:a14="http://schemas.microsoft.com/office/drawing/2010/main">
                  <a14:imgLayer r:embed="rId14">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9846491" y="4331676"/>
            <a:ext cx="945088" cy="608375"/>
          </a:xfrm>
          <a:prstGeom prst="rect">
            <a:avLst/>
          </a:prstGeom>
        </p:spPr>
      </p:pic>
      <p:cxnSp>
        <p:nvCxnSpPr>
          <p:cNvPr id="3077" name="Straight Arrow Connector 3076">
            <a:extLst>
              <a:ext uri="{FF2B5EF4-FFF2-40B4-BE49-F238E27FC236}">
                <a16:creationId xmlns:a16="http://schemas.microsoft.com/office/drawing/2014/main" id="{B94E6A97-1BDB-C8C9-CF01-3BFDEB1AACC3}"/>
              </a:ext>
            </a:extLst>
          </p:cNvPr>
          <p:cNvCxnSpPr>
            <a:cxnSpLocks/>
            <a:stCxn id="3076" idx="0"/>
            <a:endCxn id="3075" idx="2"/>
          </p:cNvCxnSpPr>
          <p:nvPr/>
        </p:nvCxnSpPr>
        <p:spPr>
          <a:xfrm flipH="1" flipV="1">
            <a:off x="9423908" y="3604077"/>
            <a:ext cx="895127" cy="7275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78" name="Straight Arrow Connector 3077">
            <a:extLst>
              <a:ext uri="{FF2B5EF4-FFF2-40B4-BE49-F238E27FC236}">
                <a16:creationId xmlns:a16="http://schemas.microsoft.com/office/drawing/2014/main" id="{2EBB983C-8F66-5CD1-880A-C1B2A1AE0645}"/>
              </a:ext>
            </a:extLst>
          </p:cNvPr>
          <p:cNvCxnSpPr>
            <a:cxnSpLocks/>
            <a:stCxn id="3072" idx="0"/>
            <a:endCxn id="3075" idx="2"/>
          </p:cNvCxnSpPr>
          <p:nvPr/>
        </p:nvCxnSpPr>
        <p:spPr>
          <a:xfrm flipV="1">
            <a:off x="8504028" y="3604077"/>
            <a:ext cx="919880" cy="72760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pic>
        <p:nvPicPr>
          <p:cNvPr id="3079" name="Picture 3078">
            <a:extLst>
              <a:ext uri="{FF2B5EF4-FFF2-40B4-BE49-F238E27FC236}">
                <a16:creationId xmlns:a16="http://schemas.microsoft.com/office/drawing/2014/main" id="{C99D2792-CE4D-5527-2FBE-EDD19EA71E44}"/>
              </a:ext>
            </a:extLst>
          </p:cNvPr>
          <p:cNvPicPr>
            <a:picLocks noChangeAspect="1"/>
          </p:cNvPicPr>
          <p:nvPr/>
        </p:nvPicPr>
        <p:blipFill>
          <a:blip r:embed="rId10"/>
          <a:srcRect l="22961" t="57864" r="62119" b="30040"/>
          <a:stretch>
            <a:fillRect/>
          </a:stretch>
        </p:blipFill>
        <p:spPr>
          <a:xfrm>
            <a:off x="8516179" y="5427697"/>
            <a:ext cx="920785" cy="324800"/>
          </a:xfrm>
          <a:prstGeom prst="rect">
            <a:avLst/>
          </a:prstGeom>
        </p:spPr>
      </p:pic>
      <p:pic>
        <p:nvPicPr>
          <p:cNvPr id="3080" name="Picture 3079">
            <a:extLst>
              <a:ext uri="{FF2B5EF4-FFF2-40B4-BE49-F238E27FC236}">
                <a16:creationId xmlns:a16="http://schemas.microsoft.com/office/drawing/2014/main" id="{98B655B0-CFC5-04EC-F34F-DE1C54181892}"/>
              </a:ext>
            </a:extLst>
          </p:cNvPr>
          <p:cNvPicPr>
            <a:picLocks noChangeAspect="1"/>
          </p:cNvPicPr>
          <p:nvPr/>
        </p:nvPicPr>
        <p:blipFill>
          <a:blip r:embed="rId10"/>
          <a:srcRect l="22961" t="57864" r="62119" b="30040"/>
          <a:stretch>
            <a:fillRect/>
          </a:stretch>
        </p:blipFill>
        <p:spPr>
          <a:xfrm>
            <a:off x="9436964" y="5427696"/>
            <a:ext cx="920785" cy="324800"/>
          </a:xfrm>
          <a:prstGeom prst="rect">
            <a:avLst/>
          </a:prstGeom>
        </p:spPr>
      </p:pic>
      <p:pic>
        <p:nvPicPr>
          <p:cNvPr id="3081" name="Picture 3080">
            <a:extLst>
              <a:ext uri="{FF2B5EF4-FFF2-40B4-BE49-F238E27FC236}">
                <a16:creationId xmlns:a16="http://schemas.microsoft.com/office/drawing/2014/main" id="{4F3EE232-55B7-0F5F-2052-2517ED82998D}"/>
              </a:ext>
            </a:extLst>
          </p:cNvPr>
          <p:cNvPicPr>
            <a:picLocks noChangeAspect="1"/>
          </p:cNvPicPr>
          <p:nvPr/>
        </p:nvPicPr>
        <p:blipFill>
          <a:blip r:embed="rId10"/>
          <a:srcRect l="22961" t="57864" r="62119" b="30040"/>
          <a:stretch>
            <a:fillRect/>
          </a:stretch>
        </p:blipFill>
        <p:spPr>
          <a:xfrm>
            <a:off x="10357749" y="5427696"/>
            <a:ext cx="920785" cy="324800"/>
          </a:xfrm>
          <a:prstGeom prst="rect">
            <a:avLst/>
          </a:prstGeom>
        </p:spPr>
      </p:pic>
      <p:cxnSp>
        <p:nvCxnSpPr>
          <p:cNvPr id="3082" name="Straight Arrow Connector 3081">
            <a:extLst>
              <a:ext uri="{FF2B5EF4-FFF2-40B4-BE49-F238E27FC236}">
                <a16:creationId xmlns:a16="http://schemas.microsoft.com/office/drawing/2014/main" id="{07B31CEA-16EA-2BE0-41B2-2EF5027E138F}"/>
              </a:ext>
            </a:extLst>
          </p:cNvPr>
          <p:cNvCxnSpPr>
            <a:cxnSpLocks/>
            <a:stCxn id="3072" idx="2"/>
            <a:endCxn id="3073" idx="0"/>
          </p:cNvCxnSpPr>
          <p:nvPr/>
        </p:nvCxnSpPr>
        <p:spPr>
          <a:xfrm flipH="1">
            <a:off x="8055787" y="4940052"/>
            <a:ext cx="448241"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3" name="Straight Arrow Connector 3082">
            <a:extLst>
              <a:ext uri="{FF2B5EF4-FFF2-40B4-BE49-F238E27FC236}">
                <a16:creationId xmlns:a16="http://schemas.microsoft.com/office/drawing/2014/main" id="{27FBA0FC-DEA7-2828-988B-4FB78DB2DE98}"/>
              </a:ext>
            </a:extLst>
          </p:cNvPr>
          <p:cNvCxnSpPr>
            <a:cxnSpLocks/>
            <a:stCxn id="3076" idx="2"/>
            <a:endCxn id="3080" idx="0"/>
          </p:cNvCxnSpPr>
          <p:nvPr/>
        </p:nvCxnSpPr>
        <p:spPr>
          <a:xfrm flipH="1">
            <a:off x="9897357" y="4940051"/>
            <a:ext cx="421678"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4" name="Straight Arrow Connector 3083">
            <a:extLst>
              <a:ext uri="{FF2B5EF4-FFF2-40B4-BE49-F238E27FC236}">
                <a16:creationId xmlns:a16="http://schemas.microsoft.com/office/drawing/2014/main" id="{4D1E0BC4-33F4-6EAF-0300-82A1ED3D97D3}"/>
              </a:ext>
            </a:extLst>
          </p:cNvPr>
          <p:cNvCxnSpPr>
            <a:cxnSpLocks/>
            <a:stCxn id="3072" idx="2"/>
            <a:endCxn id="3079" idx="0"/>
          </p:cNvCxnSpPr>
          <p:nvPr/>
        </p:nvCxnSpPr>
        <p:spPr>
          <a:xfrm>
            <a:off x="8504028" y="4940052"/>
            <a:ext cx="472544"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5" name="Straight Arrow Connector 3084">
            <a:extLst>
              <a:ext uri="{FF2B5EF4-FFF2-40B4-BE49-F238E27FC236}">
                <a16:creationId xmlns:a16="http://schemas.microsoft.com/office/drawing/2014/main" id="{C89C9BA7-9271-3F13-D517-50921DFC3A79}"/>
              </a:ext>
            </a:extLst>
          </p:cNvPr>
          <p:cNvCxnSpPr>
            <a:cxnSpLocks/>
            <a:stCxn id="3076" idx="2"/>
            <a:endCxn id="3081" idx="0"/>
          </p:cNvCxnSpPr>
          <p:nvPr/>
        </p:nvCxnSpPr>
        <p:spPr>
          <a:xfrm>
            <a:off x="10319035" y="4940051"/>
            <a:ext cx="499107"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92" name="TextBox 3091">
            <a:extLst>
              <a:ext uri="{FF2B5EF4-FFF2-40B4-BE49-F238E27FC236}">
                <a16:creationId xmlns:a16="http://schemas.microsoft.com/office/drawing/2014/main" id="{A8FD345B-D4D4-32BA-9682-A99B55FD1818}"/>
              </a:ext>
            </a:extLst>
          </p:cNvPr>
          <p:cNvSpPr txBox="1"/>
          <p:nvPr/>
        </p:nvSpPr>
        <p:spPr>
          <a:xfrm>
            <a:off x="6590931" y="2106831"/>
            <a:ext cx="890837" cy="32730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TOTAL</a:t>
            </a:r>
          </a:p>
        </p:txBody>
      </p:sp>
      <p:cxnSp>
        <p:nvCxnSpPr>
          <p:cNvPr id="3093" name="Straight Arrow Connector 3092">
            <a:extLst>
              <a:ext uri="{FF2B5EF4-FFF2-40B4-BE49-F238E27FC236}">
                <a16:creationId xmlns:a16="http://schemas.microsoft.com/office/drawing/2014/main" id="{4A5F9B5E-9F43-A6A2-68D6-FEBBB50B7A29}"/>
              </a:ext>
            </a:extLst>
          </p:cNvPr>
          <p:cNvCxnSpPr>
            <a:cxnSpLocks/>
            <a:stCxn id="53" idx="0"/>
            <a:endCxn id="3092" idx="2"/>
          </p:cNvCxnSpPr>
          <p:nvPr/>
        </p:nvCxnSpPr>
        <p:spPr>
          <a:xfrm flipV="1">
            <a:off x="4608691" y="2434134"/>
            <a:ext cx="2427659" cy="54770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94" name="Straight Arrow Connector 3093">
            <a:extLst>
              <a:ext uri="{FF2B5EF4-FFF2-40B4-BE49-F238E27FC236}">
                <a16:creationId xmlns:a16="http://schemas.microsoft.com/office/drawing/2014/main" id="{67F2DB60-5790-F786-D596-55E6A41FEAD0}"/>
              </a:ext>
            </a:extLst>
          </p:cNvPr>
          <p:cNvCxnSpPr>
            <a:cxnSpLocks/>
            <a:stCxn id="3075" idx="0"/>
            <a:endCxn id="3092" idx="2"/>
          </p:cNvCxnSpPr>
          <p:nvPr/>
        </p:nvCxnSpPr>
        <p:spPr>
          <a:xfrm flipH="1" flipV="1">
            <a:off x="7036350" y="2434134"/>
            <a:ext cx="2387558" cy="5477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95" name="Straight Arrow Connector 3094">
            <a:extLst>
              <a:ext uri="{FF2B5EF4-FFF2-40B4-BE49-F238E27FC236}">
                <a16:creationId xmlns:a16="http://schemas.microsoft.com/office/drawing/2014/main" id="{5F1D70A3-96B3-BC4B-6767-3E72AFC85192}"/>
              </a:ext>
            </a:extLst>
          </p:cNvPr>
          <p:cNvCxnSpPr>
            <a:cxnSpLocks/>
          </p:cNvCxnSpPr>
          <p:nvPr/>
        </p:nvCxnSpPr>
        <p:spPr>
          <a:xfrm>
            <a:off x="370806" y="4717541"/>
            <a:ext cx="2226462" cy="0"/>
          </a:xfrm>
          <a:prstGeom prst="straightConnector1">
            <a:avLst/>
          </a:prstGeom>
          <a:ln w="508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99" name="TextBox 3098">
            <a:extLst>
              <a:ext uri="{FF2B5EF4-FFF2-40B4-BE49-F238E27FC236}">
                <a16:creationId xmlns:a16="http://schemas.microsoft.com/office/drawing/2014/main" id="{BEB1F6AF-A200-1688-AA34-6E6A174E1BD4}"/>
              </a:ext>
            </a:extLst>
          </p:cNvPr>
          <p:cNvSpPr txBox="1"/>
          <p:nvPr/>
        </p:nvSpPr>
        <p:spPr>
          <a:xfrm>
            <a:off x="632069" y="4193969"/>
            <a:ext cx="1536703" cy="523220"/>
          </a:xfrm>
          <a:prstGeom prst="rect">
            <a:avLst/>
          </a:prstGeom>
          <a:noFill/>
        </p:spPr>
        <p:txBody>
          <a:bodyPr wrap="none" rtlCol="0">
            <a:spAutoFit/>
          </a:bodyPr>
          <a:lstStyle/>
          <a:p>
            <a:r>
              <a:rPr lang="en-US" sz="2800" dirty="0">
                <a:solidFill>
                  <a:srgbClr val="1B415D"/>
                </a:solidFill>
              </a:rPr>
              <a:t>Forecast</a:t>
            </a:r>
          </a:p>
        </p:txBody>
      </p:sp>
      <p:sp>
        <p:nvSpPr>
          <p:cNvPr id="3088" name="TextBox 3087">
            <a:extLst>
              <a:ext uri="{FF2B5EF4-FFF2-40B4-BE49-F238E27FC236}">
                <a16:creationId xmlns:a16="http://schemas.microsoft.com/office/drawing/2014/main" id="{462ABB72-0226-4E23-A593-A7812330FECC}"/>
              </a:ext>
            </a:extLst>
          </p:cNvPr>
          <p:cNvSpPr txBox="1"/>
          <p:nvPr/>
        </p:nvSpPr>
        <p:spPr>
          <a:xfrm>
            <a:off x="4443495" y="3602780"/>
            <a:ext cx="308098" cy="369332"/>
          </a:xfrm>
          <a:prstGeom prst="rect">
            <a:avLst/>
          </a:prstGeom>
          <a:noFill/>
        </p:spPr>
        <p:txBody>
          <a:bodyPr wrap="none" rtlCol="0">
            <a:spAutoFit/>
          </a:bodyPr>
          <a:lstStyle/>
          <a:p>
            <a:r>
              <a:rPr lang="en-US" dirty="0"/>
              <a:t>+</a:t>
            </a:r>
          </a:p>
        </p:txBody>
      </p:sp>
      <p:sp>
        <p:nvSpPr>
          <p:cNvPr id="3098" name="TextBox 3097">
            <a:extLst>
              <a:ext uri="{FF2B5EF4-FFF2-40B4-BE49-F238E27FC236}">
                <a16:creationId xmlns:a16="http://schemas.microsoft.com/office/drawing/2014/main" id="{305B50AB-EEDA-FBD2-B3D3-C459B6439A66}"/>
              </a:ext>
            </a:extLst>
          </p:cNvPr>
          <p:cNvSpPr txBox="1"/>
          <p:nvPr/>
        </p:nvSpPr>
        <p:spPr>
          <a:xfrm>
            <a:off x="9282915" y="3602780"/>
            <a:ext cx="308098" cy="369332"/>
          </a:xfrm>
          <a:prstGeom prst="rect">
            <a:avLst/>
          </a:prstGeom>
          <a:noFill/>
        </p:spPr>
        <p:txBody>
          <a:bodyPr wrap="none" rtlCol="0">
            <a:spAutoFit/>
          </a:bodyPr>
          <a:lstStyle/>
          <a:p>
            <a:r>
              <a:rPr lang="en-US" dirty="0"/>
              <a:t>+</a:t>
            </a:r>
          </a:p>
        </p:txBody>
      </p:sp>
      <p:sp>
        <p:nvSpPr>
          <p:cNvPr id="3100" name="TextBox 3099">
            <a:extLst>
              <a:ext uri="{FF2B5EF4-FFF2-40B4-BE49-F238E27FC236}">
                <a16:creationId xmlns:a16="http://schemas.microsoft.com/office/drawing/2014/main" id="{2BEB42FC-E202-F4C6-91AB-B3310EC4CF5B}"/>
              </a:ext>
            </a:extLst>
          </p:cNvPr>
          <p:cNvSpPr txBox="1"/>
          <p:nvPr/>
        </p:nvSpPr>
        <p:spPr>
          <a:xfrm>
            <a:off x="6878864" y="2405652"/>
            <a:ext cx="308098"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4204119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A81F-1A90-B0E8-1347-2370CF3ABC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2B9174-AB4B-533D-A4AE-BBC2A78471B1}"/>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A7FBCEA3-83E7-CBC9-DD36-3FEA4760C888}"/>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FE39BD8-6CDB-F5A2-7ECF-5167BBC5BF8F}"/>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9DF14D52-3BC7-4D3F-D726-47168E6FBC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8CB61959-928D-B34A-600A-3F0B85B443B0}"/>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A201CADA-4D43-DDF0-6B12-459F47416BB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1A9A0CD1-AF4C-4062-DE92-E19905003C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8F3B058F-B0CB-A9F1-8236-74153A14346A}"/>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A44AEE1C-5540-BA0F-79F5-2D8239411FC4}"/>
              </a:ext>
            </a:extLst>
          </p:cNvPr>
          <p:cNvSpPr txBox="1"/>
          <p:nvPr/>
        </p:nvSpPr>
        <p:spPr>
          <a:xfrm>
            <a:off x="178525" y="1339396"/>
            <a:ext cx="11307325" cy="646331"/>
          </a:xfrm>
          <a:prstGeom prst="rect">
            <a:avLst/>
          </a:prstGeom>
          <a:noFill/>
        </p:spPr>
        <p:txBody>
          <a:bodyPr wrap="square" rtlCol="0">
            <a:spAutoFit/>
          </a:bodyPr>
          <a:lstStyle/>
          <a:p>
            <a:r>
              <a:rPr lang="en-US" sz="3600" b="1" dirty="0">
                <a:solidFill>
                  <a:srgbClr val="1B415D"/>
                </a:solidFill>
              </a:rPr>
              <a:t>Approaches of Implementation </a:t>
            </a:r>
            <a:r>
              <a:rPr lang="en-US" b="1" dirty="0">
                <a:solidFill>
                  <a:srgbClr val="1B415D"/>
                </a:solidFill>
              </a:rPr>
              <a:t>[10]</a:t>
            </a:r>
            <a:r>
              <a:rPr lang="en-US" sz="3600" b="1" dirty="0">
                <a:solidFill>
                  <a:srgbClr val="1B415D"/>
                </a:solidFill>
              </a:rPr>
              <a:t> : Optimal Solution</a:t>
            </a:r>
          </a:p>
        </p:txBody>
      </p:sp>
      <p:pic>
        <p:nvPicPr>
          <p:cNvPr id="51" name="Picture 50">
            <a:extLst>
              <a:ext uri="{FF2B5EF4-FFF2-40B4-BE49-F238E27FC236}">
                <a16:creationId xmlns:a16="http://schemas.microsoft.com/office/drawing/2014/main" id="{AB86641E-4DBD-344C-AB51-7BD29566429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3216267" y="4331676"/>
            <a:ext cx="945088" cy="608375"/>
          </a:xfrm>
          <a:prstGeom prst="rect">
            <a:avLst/>
          </a:prstGeom>
        </p:spPr>
      </p:pic>
      <p:pic>
        <p:nvPicPr>
          <p:cNvPr id="52" name="Picture 51">
            <a:extLst>
              <a:ext uri="{FF2B5EF4-FFF2-40B4-BE49-F238E27FC236}">
                <a16:creationId xmlns:a16="http://schemas.microsoft.com/office/drawing/2014/main" id="{F086249B-A787-B95C-FDE3-5D1FBC813B2A}"/>
              </a:ext>
            </a:extLst>
          </p:cNvPr>
          <p:cNvPicPr>
            <a:picLocks noChangeAspect="1"/>
          </p:cNvPicPr>
          <p:nvPr/>
        </p:nvPicPr>
        <p:blipFill>
          <a:blip r:embed="rId10"/>
          <a:srcRect l="22961" t="57864" r="62119" b="30040"/>
          <a:stretch>
            <a:fillRect/>
          </a:stretch>
        </p:blipFill>
        <p:spPr>
          <a:xfrm>
            <a:off x="2780178" y="5427696"/>
            <a:ext cx="920785" cy="324800"/>
          </a:xfrm>
          <a:prstGeom prst="rect">
            <a:avLst/>
          </a:prstGeom>
        </p:spPr>
      </p:pic>
      <p:pic>
        <p:nvPicPr>
          <p:cNvPr id="53" name="Picture 52">
            <a:extLst>
              <a:ext uri="{FF2B5EF4-FFF2-40B4-BE49-F238E27FC236}">
                <a16:creationId xmlns:a16="http://schemas.microsoft.com/office/drawing/2014/main" id="{88D01243-5CFE-CF20-8BC1-D7672364DB4C}"/>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3999367" y="2981843"/>
            <a:ext cx="1218647" cy="622233"/>
          </a:xfrm>
          <a:prstGeom prst="rect">
            <a:avLst/>
          </a:prstGeom>
        </p:spPr>
      </p:pic>
      <p:pic>
        <p:nvPicPr>
          <p:cNvPr id="54" name="Picture 53">
            <a:extLst>
              <a:ext uri="{FF2B5EF4-FFF2-40B4-BE49-F238E27FC236}">
                <a16:creationId xmlns:a16="http://schemas.microsoft.com/office/drawing/2014/main" id="{2C7F056F-F8BB-0405-63CB-AEEB32AD5754}"/>
              </a:ext>
            </a:extLst>
          </p:cNvPr>
          <p:cNvPicPr>
            <a:picLocks noChangeAspect="1"/>
          </p:cNvPicPr>
          <p:nvPr/>
        </p:nvPicPr>
        <p:blipFill>
          <a:blip r:embed="rId8">
            <a:extLst>
              <a:ext uri="{BEBA8EAE-BF5A-486C-A8C5-ECC9F3942E4B}">
                <a14:imgProps xmlns:a14="http://schemas.microsoft.com/office/drawing/2010/main">
                  <a14:imgLayer r:embed="rId12">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5031275" y="4331675"/>
            <a:ext cx="945088" cy="608375"/>
          </a:xfrm>
          <a:prstGeom prst="rect">
            <a:avLst/>
          </a:prstGeom>
        </p:spPr>
      </p:pic>
      <p:cxnSp>
        <p:nvCxnSpPr>
          <p:cNvPr id="55" name="Straight Arrow Connector 54">
            <a:extLst>
              <a:ext uri="{FF2B5EF4-FFF2-40B4-BE49-F238E27FC236}">
                <a16:creationId xmlns:a16="http://schemas.microsoft.com/office/drawing/2014/main" id="{FB3EEC17-8C20-A393-F9DB-B95104AE8FC3}"/>
              </a:ext>
            </a:extLst>
          </p:cNvPr>
          <p:cNvCxnSpPr>
            <a:cxnSpLocks/>
            <a:stCxn id="54" idx="0"/>
            <a:endCxn id="53" idx="2"/>
          </p:cNvCxnSpPr>
          <p:nvPr/>
        </p:nvCxnSpPr>
        <p:spPr>
          <a:xfrm flipH="1" flipV="1">
            <a:off x="4608691" y="3604076"/>
            <a:ext cx="895128" cy="7275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6" name="Straight Arrow Connector 55">
            <a:extLst>
              <a:ext uri="{FF2B5EF4-FFF2-40B4-BE49-F238E27FC236}">
                <a16:creationId xmlns:a16="http://schemas.microsoft.com/office/drawing/2014/main" id="{F2A0B03F-7E6B-A8DB-229D-7941DFDE7A4A}"/>
              </a:ext>
            </a:extLst>
          </p:cNvPr>
          <p:cNvCxnSpPr>
            <a:cxnSpLocks/>
          </p:cNvCxnSpPr>
          <p:nvPr/>
        </p:nvCxnSpPr>
        <p:spPr>
          <a:xfrm flipV="1">
            <a:off x="3589955" y="3628790"/>
            <a:ext cx="919880" cy="72760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pic>
        <p:nvPicPr>
          <p:cNvPr id="57" name="Picture 56">
            <a:extLst>
              <a:ext uri="{FF2B5EF4-FFF2-40B4-BE49-F238E27FC236}">
                <a16:creationId xmlns:a16="http://schemas.microsoft.com/office/drawing/2014/main" id="{9DDBEDA5-D02F-FDE9-5D06-2467FC093581}"/>
              </a:ext>
            </a:extLst>
          </p:cNvPr>
          <p:cNvPicPr>
            <a:picLocks noChangeAspect="1"/>
          </p:cNvPicPr>
          <p:nvPr/>
        </p:nvPicPr>
        <p:blipFill>
          <a:blip r:embed="rId10"/>
          <a:srcRect l="22961" t="57864" r="62119" b="30040"/>
          <a:stretch>
            <a:fillRect/>
          </a:stretch>
        </p:blipFill>
        <p:spPr>
          <a:xfrm>
            <a:off x="3700963" y="5427696"/>
            <a:ext cx="920785" cy="324800"/>
          </a:xfrm>
          <a:prstGeom prst="rect">
            <a:avLst/>
          </a:prstGeom>
        </p:spPr>
      </p:pic>
      <p:pic>
        <p:nvPicPr>
          <p:cNvPr id="58" name="Picture 57">
            <a:extLst>
              <a:ext uri="{FF2B5EF4-FFF2-40B4-BE49-F238E27FC236}">
                <a16:creationId xmlns:a16="http://schemas.microsoft.com/office/drawing/2014/main" id="{42730D43-9E5F-DF02-B223-73EA287B28EF}"/>
              </a:ext>
            </a:extLst>
          </p:cNvPr>
          <p:cNvPicPr>
            <a:picLocks noChangeAspect="1"/>
          </p:cNvPicPr>
          <p:nvPr/>
        </p:nvPicPr>
        <p:blipFill>
          <a:blip r:embed="rId10"/>
          <a:srcRect l="22961" t="57864" r="62119" b="30040"/>
          <a:stretch>
            <a:fillRect/>
          </a:stretch>
        </p:blipFill>
        <p:spPr>
          <a:xfrm>
            <a:off x="4621748" y="5427695"/>
            <a:ext cx="920785" cy="324800"/>
          </a:xfrm>
          <a:prstGeom prst="rect">
            <a:avLst/>
          </a:prstGeom>
        </p:spPr>
      </p:pic>
      <p:pic>
        <p:nvPicPr>
          <p:cNvPr id="59" name="Picture 58">
            <a:extLst>
              <a:ext uri="{FF2B5EF4-FFF2-40B4-BE49-F238E27FC236}">
                <a16:creationId xmlns:a16="http://schemas.microsoft.com/office/drawing/2014/main" id="{B387A384-716C-65C7-E111-DE0D2C076529}"/>
              </a:ext>
            </a:extLst>
          </p:cNvPr>
          <p:cNvPicPr>
            <a:picLocks noChangeAspect="1"/>
          </p:cNvPicPr>
          <p:nvPr/>
        </p:nvPicPr>
        <p:blipFill>
          <a:blip r:embed="rId10"/>
          <a:srcRect l="22961" t="57864" r="62119" b="30040"/>
          <a:stretch>
            <a:fillRect/>
          </a:stretch>
        </p:blipFill>
        <p:spPr>
          <a:xfrm>
            <a:off x="5542533" y="5427695"/>
            <a:ext cx="920785" cy="324800"/>
          </a:xfrm>
          <a:prstGeom prst="rect">
            <a:avLst/>
          </a:prstGeom>
        </p:spPr>
      </p:pic>
      <p:cxnSp>
        <p:nvCxnSpPr>
          <p:cNvPr id="60" name="Straight Arrow Connector 59">
            <a:extLst>
              <a:ext uri="{FF2B5EF4-FFF2-40B4-BE49-F238E27FC236}">
                <a16:creationId xmlns:a16="http://schemas.microsoft.com/office/drawing/2014/main" id="{0E79ACE0-22BB-ACF9-E243-5816812F2DFC}"/>
              </a:ext>
            </a:extLst>
          </p:cNvPr>
          <p:cNvCxnSpPr>
            <a:cxnSpLocks/>
            <a:stCxn id="51" idx="2"/>
            <a:endCxn id="52" idx="0"/>
          </p:cNvCxnSpPr>
          <p:nvPr/>
        </p:nvCxnSpPr>
        <p:spPr>
          <a:xfrm flipH="1">
            <a:off x="3240571" y="4940051"/>
            <a:ext cx="448240"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a:extLst>
              <a:ext uri="{FF2B5EF4-FFF2-40B4-BE49-F238E27FC236}">
                <a16:creationId xmlns:a16="http://schemas.microsoft.com/office/drawing/2014/main" id="{2145A9C4-2A5B-B2CC-1DA5-22D7D96A5ACD}"/>
              </a:ext>
            </a:extLst>
          </p:cNvPr>
          <p:cNvCxnSpPr>
            <a:cxnSpLocks/>
            <a:stCxn id="54" idx="2"/>
            <a:endCxn id="58" idx="0"/>
          </p:cNvCxnSpPr>
          <p:nvPr/>
        </p:nvCxnSpPr>
        <p:spPr>
          <a:xfrm flipH="1">
            <a:off x="5082141" y="4940050"/>
            <a:ext cx="421678"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76776E72-C2C4-D2FA-CD21-47C391E75FF6}"/>
              </a:ext>
            </a:extLst>
          </p:cNvPr>
          <p:cNvCxnSpPr>
            <a:cxnSpLocks/>
            <a:stCxn id="51" idx="2"/>
            <a:endCxn id="57" idx="0"/>
          </p:cNvCxnSpPr>
          <p:nvPr/>
        </p:nvCxnSpPr>
        <p:spPr>
          <a:xfrm>
            <a:off x="3688811" y="4940051"/>
            <a:ext cx="472545"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F5B8C2D1-4587-C12B-54C5-0D1B30384F04}"/>
              </a:ext>
            </a:extLst>
          </p:cNvPr>
          <p:cNvCxnSpPr>
            <a:cxnSpLocks/>
            <a:stCxn id="54" idx="2"/>
            <a:endCxn id="59" idx="0"/>
          </p:cNvCxnSpPr>
          <p:nvPr/>
        </p:nvCxnSpPr>
        <p:spPr>
          <a:xfrm>
            <a:off x="5503819" y="4940050"/>
            <a:ext cx="499107"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072" name="Picture 3071">
            <a:extLst>
              <a:ext uri="{FF2B5EF4-FFF2-40B4-BE49-F238E27FC236}">
                <a16:creationId xmlns:a16="http://schemas.microsoft.com/office/drawing/2014/main" id="{11CFE18B-333C-E6CE-971E-452D1E940229}"/>
              </a:ext>
            </a:extLst>
          </p:cNvPr>
          <p:cNvPicPr>
            <a:picLocks noChangeAspect="1"/>
          </p:cNvPicPr>
          <p:nvPr/>
        </p:nvPicPr>
        <p:blipFill>
          <a:blip r:embed="rId8">
            <a:extLst>
              <a:ext uri="{BEBA8EAE-BF5A-486C-A8C5-ECC9F3942E4B}">
                <a14:imgProps xmlns:a14="http://schemas.microsoft.com/office/drawing/2010/main">
                  <a14:imgLayer r:embed="rId13">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8031484" y="4331677"/>
            <a:ext cx="945088" cy="608375"/>
          </a:xfrm>
          <a:prstGeom prst="rect">
            <a:avLst/>
          </a:prstGeom>
        </p:spPr>
      </p:pic>
      <p:pic>
        <p:nvPicPr>
          <p:cNvPr id="3073" name="Picture 3072">
            <a:extLst>
              <a:ext uri="{FF2B5EF4-FFF2-40B4-BE49-F238E27FC236}">
                <a16:creationId xmlns:a16="http://schemas.microsoft.com/office/drawing/2014/main" id="{E4F0F089-7329-B2C3-A6A7-228C97A570F1}"/>
              </a:ext>
            </a:extLst>
          </p:cNvPr>
          <p:cNvPicPr>
            <a:picLocks noChangeAspect="1"/>
          </p:cNvPicPr>
          <p:nvPr/>
        </p:nvPicPr>
        <p:blipFill>
          <a:blip r:embed="rId10"/>
          <a:srcRect l="22961" t="57864" r="62119" b="30040"/>
          <a:stretch>
            <a:fillRect/>
          </a:stretch>
        </p:blipFill>
        <p:spPr>
          <a:xfrm>
            <a:off x="7595394" y="5427697"/>
            <a:ext cx="920785" cy="324800"/>
          </a:xfrm>
          <a:prstGeom prst="rect">
            <a:avLst/>
          </a:prstGeom>
        </p:spPr>
      </p:pic>
      <p:pic>
        <p:nvPicPr>
          <p:cNvPr id="3075" name="Picture 3074">
            <a:extLst>
              <a:ext uri="{FF2B5EF4-FFF2-40B4-BE49-F238E27FC236}">
                <a16:creationId xmlns:a16="http://schemas.microsoft.com/office/drawing/2014/main" id="{C1F03042-B81C-4D62-DBF7-573B9FFE3A48}"/>
              </a:ext>
            </a:extLst>
          </p:cNvPr>
          <p:cNvPicPr>
            <a:picLocks noChangeAspect="1"/>
          </p:cNvPicPr>
          <p:nvPr/>
        </p:nvPicPr>
        <p:blipFill>
          <a:blip r:embed="rId11">
            <a:clrChange>
              <a:clrFrom>
                <a:srgbClr val="FEFEFC"/>
              </a:clrFrom>
              <a:clrTo>
                <a:srgbClr val="FEFEFC">
                  <a:alpha val="0"/>
                </a:srgbClr>
              </a:clrTo>
            </a:clrChange>
          </a:blip>
          <a:srcRect l="44569" t="30016" r="44627" b="57306"/>
          <a:stretch>
            <a:fillRect/>
          </a:stretch>
        </p:blipFill>
        <p:spPr>
          <a:xfrm>
            <a:off x="8814584" y="2981844"/>
            <a:ext cx="1218647" cy="622233"/>
          </a:xfrm>
          <a:prstGeom prst="rect">
            <a:avLst/>
          </a:prstGeom>
        </p:spPr>
      </p:pic>
      <p:pic>
        <p:nvPicPr>
          <p:cNvPr id="3076" name="Picture 3075">
            <a:extLst>
              <a:ext uri="{FF2B5EF4-FFF2-40B4-BE49-F238E27FC236}">
                <a16:creationId xmlns:a16="http://schemas.microsoft.com/office/drawing/2014/main" id="{25805382-4037-CAC1-4E41-7CAB5837E56F}"/>
              </a:ext>
            </a:extLst>
          </p:cNvPr>
          <p:cNvPicPr>
            <a:picLocks noChangeAspect="1"/>
          </p:cNvPicPr>
          <p:nvPr/>
        </p:nvPicPr>
        <p:blipFill>
          <a:blip r:embed="rId8">
            <a:extLst>
              <a:ext uri="{BEBA8EAE-BF5A-486C-A8C5-ECC9F3942E4B}">
                <a14:imgProps xmlns:a14="http://schemas.microsoft.com/office/drawing/2010/main">
                  <a14:imgLayer r:embed="rId14">
                    <a14:imgEffect>
                      <a14:backgroundRemoval t="30233" b="43113" l="16602" r="23926">
                        <a14:foregroundMark x1="16699" y1="34347" x2="16797" y2="33453"/>
                        <a14:foregroundMark x1="22949" y1="33095" x2="24121" y2="33274"/>
                        <a14:foregroundMark x1="21387" y1="34526" x2="21387" y2="37209"/>
                        <a14:foregroundMark x1="20801" y1="40787" x2="20020" y2="39535"/>
                        <a14:foregroundMark x1="20605" y1="40966" x2="20898" y2="39714"/>
                        <a14:foregroundMark x1="21484" y1="40250" x2="20801" y2="43113"/>
                        <a14:foregroundMark x1="19531" y1="41145" x2="21777" y2="40250"/>
                        <a14:foregroundMark x1="19727" y1="40429" x2="19043" y2="40608"/>
                        <a14:backgroundMark x1="20605" y1="29517" x2="20605" y2="29517"/>
                        <a14:backgroundMark x1="20605" y1="29517" x2="20898" y2="29696"/>
                      </a14:backgroundRemoval>
                    </a14:imgEffect>
                  </a14:imgLayer>
                </a14:imgProps>
              </a:ext>
            </a:extLst>
          </a:blip>
          <a:srcRect l="15814" t="29097" r="75272" b="57716"/>
          <a:stretch>
            <a:fillRect/>
          </a:stretch>
        </p:blipFill>
        <p:spPr>
          <a:xfrm>
            <a:off x="9846491" y="4331676"/>
            <a:ext cx="945088" cy="608375"/>
          </a:xfrm>
          <a:prstGeom prst="rect">
            <a:avLst/>
          </a:prstGeom>
        </p:spPr>
      </p:pic>
      <p:cxnSp>
        <p:nvCxnSpPr>
          <p:cNvPr id="3077" name="Straight Arrow Connector 3076">
            <a:extLst>
              <a:ext uri="{FF2B5EF4-FFF2-40B4-BE49-F238E27FC236}">
                <a16:creationId xmlns:a16="http://schemas.microsoft.com/office/drawing/2014/main" id="{F7FFFB34-A58C-B7EB-3FF7-CC56AD3605AE}"/>
              </a:ext>
            </a:extLst>
          </p:cNvPr>
          <p:cNvCxnSpPr>
            <a:cxnSpLocks/>
            <a:stCxn id="3076" idx="0"/>
            <a:endCxn id="3075" idx="2"/>
          </p:cNvCxnSpPr>
          <p:nvPr/>
        </p:nvCxnSpPr>
        <p:spPr>
          <a:xfrm flipH="1" flipV="1">
            <a:off x="9423908" y="3604077"/>
            <a:ext cx="895127" cy="7275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78" name="Straight Arrow Connector 3077">
            <a:extLst>
              <a:ext uri="{FF2B5EF4-FFF2-40B4-BE49-F238E27FC236}">
                <a16:creationId xmlns:a16="http://schemas.microsoft.com/office/drawing/2014/main" id="{BBD48895-E58F-7227-C9DB-2EF92A0E4222}"/>
              </a:ext>
            </a:extLst>
          </p:cNvPr>
          <p:cNvCxnSpPr>
            <a:cxnSpLocks/>
          </p:cNvCxnSpPr>
          <p:nvPr/>
        </p:nvCxnSpPr>
        <p:spPr>
          <a:xfrm flipV="1">
            <a:off x="8454600" y="3604077"/>
            <a:ext cx="919880" cy="72760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pic>
        <p:nvPicPr>
          <p:cNvPr id="3079" name="Picture 3078">
            <a:extLst>
              <a:ext uri="{FF2B5EF4-FFF2-40B4-BE49-F238E27FC236}">
                <a16:creationId xmlns:a16="http://schemas.microsoft.com/office/drawing/2014/main" id="{47E6E3D8-33B8-0F4F-B58A-4D4A8E2BAA01}"/>
              </a:ext>
            </a:extLst>
          </p:cNvPr>
          <p:cNvPicPr>
            <a:picLocks noChangeAspect="1"/>
          </p:cNvPicPr>
          <p:nvPr/>
        </p:nvPicPr>
        <p:blipFill>
          <a:blip r:embed="rId10"/>
          <a:srcRect l="22961" t="57864" r="62119" b="30040"/>
          <a:stretch>
            <a:fillRect/>
          </a:stretch>
        </p:blipFill>
        <p:spPr>
          <a:xfrm>
            <a:off x="8516179" y="5427697"/>
            <a:ext cx="920785" cy="324800"/>
          </a:xfrm>
          <a:prstGeom prst="rect">
            <a:avLst/>
          </a:prstGeom>
        </p:spPr>
      </p:pic>
      <p:pic>
        <p:nvPicPr>
          <p:cNvPr id="3080" name="Picture 3079">
            <a:extLst>
              <a:ext uri="{FF2B5EF4-FFF2-40B4-BE49-F238E27FC236}">
                <a16:creationId xmlns:a16="http://schemas.microsoft.com/office/drawing/2014/main" id="{7CD39BDF-C62C-A140-483E-215259A0BBD8}"/>
              </a:ext>
            </a:extLst>
          </p:cNvPr>
          <p:cNvPicPr>
            <a:picLocks noChangeAspect="1"/>
          </p:cNvPicPr>
          <p:nvPr/>
        </p:nvPicPr>
        <p:blipFill>
          <a:blip r:embed="rId10"/>
          <a:srcRect l="22961" t="57864" r="62119" b="30040"/>
          <a:stretch>
            <a:fillRect/>
          </a:stretch>
        </p:blipFill>
        <p:spPr>
          <a:xfrm>
            <a:off x="9436964" y="5427696"/>
            <a:ext cx="920785" cy="324800"/>
          </a:xfrm>
          <a:prstGeom prst="rect">
            <a:avLst/>
          </a:prstGeom>
        </p:spPr>
      </p:pic>
      <p:pic>
        <p:nvPicPr>
          <p:cNvPr id="3081" name="Picture 3080">
            <a:extLst>
              <a:ext uri="{FF2B5EF4-FFF2-40B4-BE49-F238E27FC236}">
                <a16:creationId xmlns:a16="http://schemas.microsoft.com/office/drawing/2014/main" id="{A06F2108-4872-2314-F6B0-0C1882C36924}"/>
              </a:ext>
            </a:extLst>
          </p:cNvPr>
          <p:cNvPicPr>
            <a:picLocks noChangeAspect="1"/>
          </p:cNvPicPr>
          <p:nvPr/>
        </p:nvPicPr>
        <p:blipFill>
          <a:blip r:embed="rId10"/>
          <a:srcRect l="22961" t="57864" r="62119" b="30040"/>
          <a:stretch>
            <a:fillRect/>
          </a:stretch>
        </p:blipFill>
        <p:spPr>
          <a:xfrm>
            <a:off x="10357749" y="5427696"/>
            <a:ext cx="920785" cy="324800"/>
          </a:xfrm>
          <a:prstGeom prst="rect">
            <a:avLst/>
          </a:prstGeom>
        </p:spPr>
      </p:pic>
      <p:cxnSp>
        <p:nvCxnSpPr>
          <p:cNvPr id="3082" name="Straight Arrow Connector 3081">
            <a:extLst>
              <a:ext uri="{FF2B5EF4-FFF2-40B4-BE49-F238E27FC236}">
                <a16:creationId xmlns:a16="http://schemas.microsoft.com/office/drawing/2014/main" id="{973AA649-B9B1-0E09-C83A-0DF2AACA27E9}"/>
              </a:ext>
            </a:extLst>
          </p:cNvPr>
          <p:cNvCxnSpPr>
            <a:cxnSpLocks/>
            <a:stCxn id="3072" idx="2"/>
            <a:endCxn id="3073" idx="0"/>
          </p:cNvCxnSpPr>
          <p:nvPr/>
        </p:nvCxnSpPr>
        <p:spPr>
          <a:xfrm flipH="1">
            <a:off x="8055787" y="4940052"/>
            <a:ext cx="448241"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3" name="Straight Arrow Connector 3082">
            <a:extLst>
              <a:ext uri="{FF2B5EF4-FFF2-40B4-BE49-F238E27FC236}">
                <a16:creationId xmlns:a16="http://schemas.microsoft.com/office/drawing/2014/main" id="{63F964DA-E98F-320F-A8A6-75A60476D2C7}"/>
              </a:ext>
            </a:extLst>
          </p:cNvPr>
          <p:cNvCxnSpPr>
            <a:cxnSpLocks/>
            <a:stCxn id="3076" idx="2"/>
            <a:endCxn id="3080" idx="0"/>
          </p:cNvCxnSpPr>
          <p:nvPr/>
        </p:nvCxnSpPr>
        <p:spPr>
          <a:xfrm flipH="1">
            <a:off x="9897357" y="4940051"/>
            <a:ext cx="421678"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4" name="Straight Arrow Connector 3083">
            <a:extLst>
              <a:ext uri="{FF2B5EF4-FFF2-40B4-BE49-F238E27FC236}">
                <a16:creationId xmlns:a16="http://schemas.microsoft.com/office/drawing/2014/main" id="{36808D91-6054-1E87-7F4E-FD5BABEE580B}"/>
              </a:ext>
            </a:extLst>
          </p:cNvPr>
          <p:cNvCxnSpPr>
            <a:cxnSpLocks/>
            <a:stCxn id="3072" idx="2"/>
            <a:endCxn id="3079" idx="0"/>
          </p:cNvCxnSpPr>
          <p:nvPr/>
        </p:nvCxnSpPr>
        <p:spPr>
          <a:xfrm>
            <a:off x="8504028" y="4940052"/>
            <a:ext cx="472544"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85" name="Straight Arrow Connector 3084">
            <a:extLst>
              <a:ext uri="{FF2B5EF4-FFF2-40B4-BE49-F238E27FC236}">
                <a16:creationId xmlns:a16="http://schemas.microsoft.com/office/drawing/2014/main" id="{16893E64-A53C-2EF2-A5CD-352049E32DC0}"/>
              </a:ext>
            </a:extLst>
          </p:cNvPr>
          <p:cNvCxnSpPr>
            <a:cxnSpLocks/>
            <a:stCxn id="3076" idx="2"/>
            <a:endCxn id="3081" idx="0"/>
          </p:cNvCxnSpPr>
          <p:nvPr/>
        </p:nvCxnSpPr>
        <p:spPr>
          <a:xfrm>
            <a:off x="10319035" y="4940051"/>
            <a:ext cx="499107" cy="48764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92" name="TextBox 3091">
            <a:extLst>
              <a:ext uri="{FF2B5EF4-FFF2-40B4-BE49-F238E27FC236}">
                <a16:creationId xmlns:a16="http://schemas.microsoft.com/office/drawing/2014/main" id="{FC39E8E5-C6F8-1871-EEA3-98FBE7F043BF}"/>
              </a:ext>
            </a:extLst>
          </p:cNvPr>
          <p:cNvSpPr txBox="1"/>
          <p:nvPr/>
        </p:nvSpPr>
        <p:spPr>
          <a:xfrm>
            <a:off x="6590931" y="2106831"/>
            <a:ext cx="890837" cy="32730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TOTAL</a:t>
            </a:r>
          </a:p>
        </p:txBody>
      </p:sp>
      <p:cxnSp>
        <p:nvCxnSpPr>
          <p:cNvPr id="3093" name="Straight Arrow Connector 3092">
            <a:extLst>
              <a:ext uri="{FF2B5EF4-FFF2-40B4-BE49-F238E27FC236}">
                <a16:creationId xmlns:a16="http://schemas.microsoft.com/office/drawing/2014/main" id="{048B44AA-CD92-7019-FCF6-0C97F4944349}"/>
              </a:ext>
            </a:extLst>
          </p:cNvPr>
          <p:cNvCxnSpPr>
            <a:cxnSpLocks/>
            <a:stCxn id="53" idx="0"/>
            <a:endCxn id="3092" idx="2"/>
          </p:cNvCxnSpPr>
          <p:nvPr/>
        </p:nvCxnSpPr>
        <p:spPr>
          <a:xfrm flipV="1">
            <a:off x="4608691" y="2434134"/>
            <a:ext cx="2427659" cy="54770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94" name="Straight Arrow Connector 3093">
            <a:extLst>
              <a:ext uri="{FF2B5EF4-FFF2-40B4-BE49-F238E27FC236}">
                <a16:creationId xmlns:a16="http://schemas.microsoft.com/office/drawing/2014/main" id="{0417ED91-F584-4654-A0D2-BBEC57A5529C}"/>
              </a:ext>
            </a:extLst>
          </p:cNvPr>
          <p:cNvCxnSpPr>
            <a:cxnSpLocks/>
            <a:stCxn id="3075" idx="0"/>
            <a:endCxn id="3092" idx="2"/>
          </p:cNvCxnSpPr>
          <p:nvPr/>
        </p:nvCxnSpPr>
        <p:spPr>
          <a:xfrm flipH="1" flipV="1">
            <a:off x="7036350" y="2434134"/>
            <a:ext cx="2387558" cy="54771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095" name="Straight Arrow Connector 3094">
            <a:extLst>
              <a:ext uri="{FF2B5EF4-FFF2-40B4-BE49-F238E27FC236}">
                <a16:creationId xmlns:a16="http://schemas.microsoft.com/office/drawing/2014/main" id="{2EAA780D-55B8-9A69-5292-25CD9C2544B6}"/>
              </a:ext>
            </a:extLst>
          </p:cNvPr>
          <p:cNvCxnSpPr>
            <a:cxnSpLocks/>
          </p:cNvCxnSpPr>
          <p:nvPr/>
        </p:nvCxnSpPr>
        <p:spPr>
          <a:xfrm>
            <a:off x="370806" y="4717541"/>
            <a:ext cx="2226462" cy="0"/>
          </a:xfrm>
          <a:prstGeom prst="straightConnector1">
            <a:avLst/>
          </a:prstGeom>
          <a:ln w="508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99" name="TextBox 3098">
            <a:extLst>
              <a:ext uri="{FF2B5EF4-FFF2-40B4-BE49-F238E27FC236}">
                <a16:creationId xmlns:a16="http://schemas.microsoft.com/office/drawing/2014/main" id="{E1F8138D-AA3A-A7B8-02EE-7133D2B6E2EF}"/>
              </a:ext>
            </a:extLst>
          </p:cNvPr>
          <p:cNvSpPr txBox="1"/>
          <p:nvPr/>
        </p:nvSpPr>
        <p:spPr>
          <a:xfrm>
            <a:off x="632069" y="4193969"/>
            <a:ext cx="1536703" cy="523220"/>
          </a:xfrm>
          <a:prstGeom prst="rect">
            <a:avLst/>
          </a:prstGeom>
          <a:noFill/>
        </p:spPr>
        <p:txBody>
          <a:bodyPr wrap="none" rtlCol="0">
            <a:spAutoFit/>
          </a:bodyPr>
          <a:lstStyle/>
          <a:p>
            <a:r>
              <a:rPr lang="en-US" sz="2800" dirty="0">
                <a:solidFill>
                  <a:srgbClr val="1B415D"/>
                </a:solidFill>
              </a:rPr>
              <a:t>Forecast</a:t>
            </a:r>
          </a:p>
        </p:txBody>
      </p:sp>
      <p:cxnSp>
        <p:nvCxnSpPr>
          <p:cNvPr id="3" name="Straight Arrow Connector 2">
            <a:extLst>
              <a:ext uri="{FF2B5EF4-FFF2-40B4-BE49-F238E27FC236}">
                <a16:creationId xmlns:a16="http://schemas.microsoft.com/office/drawing/2014/main" id="{68378DD6-78CE-A722-88E4-6D0F6E2444E5}"/>
              </a:ext>
            </a:extLst>
          </p:cNvPr>
          <p:cNvCxnSpPr>
            <a:cxnSpLocks/>
          </p:cNvCxnSpPr>
          <p:nvPr/>
        </p:nvCxnSpPr>
        <p:spPr>
          <a:xfrm>
            <a:off x="403116" y="3396390"/>
            <a:ext cx="2226462" cy="0"/>
          </a:xfrm>
          <a:prstGeom prst="straightConnector1">
            <a:avLst/>
          </a:prstGeom>
          <a:ln w="508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EC0C56EC-3AA7-F1AD-E196-13E60FE15093}"/>
              </a:ext>
            </a:extLst>
          </p:cNvPr>
          <p:cNvSpPr txBox="1"/>
          <p:nvPr/>
        </p:nvSpPr>
        <p:spPr>
          <a:xfrm>
            <a:off x="664379" y="2872818"/>
            <a:ext cx="1536703" cy="523220"/>
          </a:xfrm>
          <a:prstGeom prst="rect">
            <a:avLst/>
          </a:prstGeom>
          <a:noFill/>
        </p:spPr>
        <p:txBody>
          <a:bodyPr wrap="none" rtlCol="0">
            <a:spAutoFit/>
          </a:bodyPr>
          <a:lstStyle/>
          <a:p>
            <a:r>
              <a:rPr lang="en-US" sz="2800" dirty="0">
                <a:solidFill>
                  <a:srgbClr val="1B415D"/>
                </a:solidFill>
              </a:rPr>
              <a:t>Forecast</a:t>
            </a:r>
          </a:p>
        </p:txBody>
      </p:sp>
      <p:cxnSp>
        <p:nvCxnSpPr>
          <p:cNvPr id="6" name="Straight Arrow Connector 5">
            <a:extLst>
              <a:ext uri="{FF2B5EF4-FFF2-40B4-BE49-F238E27FC236}">
                <a16:creationId xmlns:a16="http://schemas.microsoft.com/office/drawing/2014/main" id="{D964184F-7FB1-6876-F663-09A5ED840A4F}"/>
              </a:ext>
            </a:extLst>
          </p:cNvPr>
          <p:cNvCxnSpPr>
            <a:cxnSpLocks/>
          </p:cNvCxnSpPr>
          <p:nvPr/>
        </p:nvCxnSpPr>
        <p:spPr>
          <a:xfrm>
            <a:off x="444886" y="2324944"/>
            <a:ext cx="2226462" cy="0"/>
          </a:xfrm>
          <a:prstGeom prst="straightConnector1">
            <a:avLst/>
          </a:prstGeom>
          <a:ln w="5080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FA5D3AF5-4D1F-34B6-545E-F5F594066150}"/>
              </a:ext>
            </a:extLst>
          </p:cNvPr>
          <p:cNvSpPr txBox="1"/>
          <p:nvPr/>
        </p:nvSpPr>
        <p:spPr>
          <a:xfrm>
            <a:off x="706149" y="1801372"/>
            <a:ext cx="1536703" cy="523220"/>
          </a:xfrm>
          <a:prstGeom prst="rect">
            <a:avLst/>
          </a:prstGeom>
          <a:noFill/>
        </p:spPr>
        <p:txBody>
          <a:bodyPr wrap="none" rtlCol="0">
            <a:spAutoFit/>
          </a:bodyPr>
          <a:lstStyle/>
          <a:p>
            <a:r>
              <a:rPr lang="en-US" sz="2800" dirty="0">
                <a:solidFill>
                  <a:srgbClr val="1B415D"/>
                </a:solidFill>
              </a:rPr>
              <a:t>Forecast</a:t>
            </a:r>
          </a:p>
        </p:txBody>
      </p:sp>
      <p:cxnSp>
        <p:nvCxnSpPr>
          <p:cNvPr id="8" name="Straight Arrow Connector 7">
            <a:extLst>
              <a:ext uri="{FF2B5EF4-FFF2-40B4-BE49-F238E27FC236}">
                <a16:creationId xmlns:a16="http://schemas.microsoft.com/office/drawing/2014/main" id="{2AB032EF-7B9F-EF92-32D8-AF4715EA6A21}"/>
              </a:ext>
            </a:extLst>
          </p:cNvPr>
          <p:cNvCxnSpPr>
            <a:cxnSpLocks/>
          </p:cNvCxnSpPr>
          <p:nvPr/>
        </p:nvCxnSpPr>
        <p:spPr>
          <a:xfrm flipH="1">
            <a:off x="3723542" y="3710157"/>
            <a:ext cx="811501" cy="67604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3572351C-9FC0-8534-24B5-1BFA3735E21E}"/>
              </a:ext>
            </a:extLst>
          </p:cNvPr>
          <p:cNvCxnSpPr>
            <a:cxnSpLocks/>
          </p:cNvCxnSpPr>
          <p:nvPr/>
        </p:nvCxnSpPr>
        <p:spPr>
          <a:xfrm flipH="1">
            <a:off x="8576749" y="3749279"/>
            <a:ext cx="797198" cy="66035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67E64BB8-7B27-89A0-803B-11996E1BC18F}"/>
              </a:ext>
            </a:extLst>
          </p:cNvPr>
          <p:cNvCxnSpPr>
            <a:cxnSpLocks/>
          </p:cNvCxnSpPr>
          <p:nvPr/>
        </p:nvCxnSpPr>
        <p:spPr>
          <a:xfrm>
            <a:off x="4608690" y="3734156"/>
            <a:ext cx="769621" cy="64694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7DD60AA4-A915-B31B-F6F1-A6C3CFF7D361}"/>
              </a:ext>
            </a:extLst>
          </p:cNvPr>
          <p:cNvCxnSpPr>
            <a:cxnSpLocks/>
          </p:cNvCxnSpPr>
          <p:nvPr/>
        </p:nvCxnSpPr>
        <p:spPr>
          <a:xfrm>
            <a:off x="9436964" y="3734156"/>
            <a:ext cx="744682" cy="625853"/>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F3F06E16-F9CB-4DC1-327C-2D6BFE0ED7D0}"/>
              </a:ext>
            </a:extLst>
          </p:cNvPr>
          <p:cNvCxnSpPr>
            <a:cxnSpLocks/>
          </p:cNvCxnSpPr>
          <p:nvPr/>
        </p:nvCxnSpPr>
        <p:spPr>
          <a:xfrm flipH="1">
            <a:off x="5082140" y="2514037"/>
            <a:ext cx="1934159" cy="49147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590DA9F6-F777-7237-33A4-11E15895927C}"/>
              </a:ext>
            </a:extLst>
          </p:cNvPr>
          <p:cNvCxnSpPr>
            <a:cxnSpLocks/>
          </p:cNvCxnSpPr>
          <p:nvPr/>
        </p:nvCxnSpPr>
        <p:spPr>
          <a:xfrm>
            <a:off x="7056401" y="2544452"/>
            <a:ext cx="2208802" cy="49805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48620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53BC14-D626-7096-430E-DC9D91E688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13FB10-4418-6BCF-BDF9-66A55B0A726C}"/>
              </a:ext>
            </a:extLst>
          </p:cNvPr>
          <p:cNvPicPr>
            <a:picLocks/>
          </p:cNvPicPr>
          <p:nvPr/>
        </p:nvPicPr>
        <p:blipFill>
          <a:blip r:embed="rId3"/>
          <a:stretch>
            <a:fillRect/>
          </a:stretch>
        </p:blipFill>
        <p:spPr>
          <a:xfrm>
            <a:off x="-21266" y="4580707"/>
            <a:ext cx="12308114" cy="2944043"/>
          </a:xfrm>
          <a:prstGeom prst="rect">
            <a:avLst/>
          </a:prstGeom>
        </p:spPr>
      </p:pic>
      <p:pic>
        <p:nvPicPr>
          <p:cNvPr id="4" name="Picture 3">
            <a:extLst>
              <a:ext uri="{FF2B5EF4-FFF2-40B4-BE49-F238E27FC236}">
                <a16:creationId xmlns:a16="http://schemas.microsoft.com/office/drawing/2014/main" id="{73F1C891-1088-6786-C94C-EA9DDA41510F}"/>
              </a:ext>
            </a:extLst>
          </p:cNvPr>
          <p:cNvPicPr>
            <a:picLocks/>
          </p:cNvPicPr>
          <p:nvPr/>
        </p:nvPicPr>
        <p:blipFill>
          <a:blip r:embed="rId3"/>
          <a:stretch>
            <a:fillRect/>
          </a:stretch>
        </p:blipFill>
        <p:spPr>
          <a:xfrm>
            <a:off x="-58056" y="-115209"/>
            <a:ext cx="12308114" cy="2944043"/>
          </a:xfrm>
          <a:prstGeom prst="rect">
            <a:avLst/>
          </a:prstGeom>
        </p:spPr>
      </p:pic>
      <p:pic>
        <p:nvPicPr>
          <p:cNvPr id="1028" name="Picture 4" descr="Home – Planet">
            <a:extLst>
              <a:ext uri="{FF2B5EF4-FFF2-40B4-BE49-F238E27FC236}">
                <a16:creationId xmlns:a16="http://schemas.microsoft.com/office/drawing/2014/main" id="{1B76909B-4679-7597-063D-07BEEFD34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30" y="288828"/>
            <a:ext cx="4939115" cy="21672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B9604F1-CEB0-C5BD-7D94-9E887F04122B}"/>
              </a:ext>
            </a:extLst>
          </p:cNvPr>
          <p:cNvSpPr txBox="1"/>
          <p:nvPr/>
        </p:nvSpPr>
        <p:spPr>
          <a:xfrm>
            <a:off x="1401147" y="3349905"/>
            <a:ext cx="9389706" cy="646331"/>
          </a:xfrm>
          <a:prstGeom prst="rect">
            <a:avLst/>
          </a:prstGeom>
          <a:noFill/>
        </p:spPr>
        <p:txBody>
          <a:bodyPr wrap="square" rtlCol="0" anchor="ctr" anchorCtr="0">
            <a:spAutoFit/>
          </a:bodyPr>
          <a:lstStyle/>
          <a:p>
            <a:pPr algn="ctr"/>
            <a:r>
              <a:rPr lang="en-US" sz="3600" b="1" dirty="0">
                <a:solidFill>
                  <a:srgbClr val="1B415D"/>
                </a:solidFill>
              </a:rPr>
              <a:t>Literature Methodology</a:t>
            </a:r>
          </a:p>
        </p:txBody>
      </p:sp>
      <p:grpSp>
        <p:nvGrpSpPr>
          <p:cNvPr id="9" name="Group 8">
            <a:extLst>
              <a:ext uri="{FF2B5EF4-FFF2-40B4-BE49-F238E27FC236}">
                <a16:creationId xmlns:a16="http://schemas.microsoft.com/office/drawing/2014/main" id="{E1664B0E-F803-B080-C8F1-526D86FE6C2A}"/>
              </a:ext>
            </a:extLst>
          </p:cNvPr>
          <p:cNvGrpSpPr/>
          <p:nvPr/>
        </p:nvGrpSpPr>
        <p:grpSpPr>
          <a:xfrm>
            <a:off x="6076930" y="399008"/>
            <a:ext cx="6115070" cy="1882835"/>
            <a:chOff x="6076930" y="399008"/>
            <a:chExt cx="6115070" cy="1882835"/>
          </a:xfrm>
        </p:grpSpPr>
        <p:pic>
          <p:nvPicPr>
            <p:cNvPr id="1026" name="Picture 2" descr="Logo Università di Napoli Federico II">
              <a:extLst>
                <a:ext uri="{FF2B5EF4-FFF2-40B4-BE49-F238E27FC236}">
                  <a16:creationId xmlns:a16="http://schemas.microsoft.com/office/drawing/2014/main" id="{C9405516-ED67-F08B-922E-0954D33E83C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aster Degree | International Relations | Italia">
              <a:extLst>
                <a:ext uri="{FF2B5EF4-FFF2-40B4-BE49-F238E27FC236}">
                  <a16:creationId xmlns:a16="http://schemas.microsoft.com/office/drawing/2014/main" id="{E3C0D03C-9239-B004-03BF-11565DFFE5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3F84A05F-E935-9839-B939-CE1974A7E461}"/>
              </a:ext>
            </a:extLst>
          </p:cNvPr>
          <p:cNvSpPr txBox="1"/>
          <p:nvPr/>
        </p:nvSpPr>
        <p:spPr>
          <a:xfrm>
            <a:off x="0" y="4980202"/>
            <a:ext cx="3009900" cy="1147045"/>
          </a:xfrm>
          <a:prstGeom prst="rect">
            <a:avLst/>
          </a:prstGeom>
          <a:noFill/>
        </p:spPr>
        <p:txBody>
          <a:bodyPr wrap="square">
            <a:spAutoFit/>
          </a:bodyPr>
          <a:lstStyle/>
          <a:p>
            <a:pPr>
              <a:lnSpc>
                <a:spcPct val="150000"/>
              </a:lnSpc>
              <a:buNone/>
            </a:pPr>
            <a:r>
              <a:rPr lang="en-US" sz="2400" b="1" dirty="0"/>
              <a:t>Presented by</a:t>
            </a:r>
          </a:p>
          <a:p>
            <a:pPr>
              <a:lnSpc>
                <a:spcPct val="150000"/>
              </a:lnSpc>
              <a:buNone/>
            </a:pPr>
            <a:r>
              <a:rPr lang="en-US" sz="2400" b="1" dirty="0">
                <a:solidFill>
                  <a:schemeClr val="bg1"/>
                </a:solidFill>
              </a:rPr>
              <a:t>Mohammad Sheikh</a:t>
            </a:r>
          </a:p>
        </p:txBody>
      </p:sp>
      <p:sp>
        <p:nvSpPr>
          <p:cNvPr id="11" name="TextBox 10">
            <a:extLst>
              <a:ext uri="{FF2B5EF4-FFF2-40B4-BE49-F238E27FC236}">
                <a16:creationId xmlns:a16="http://schemas.microsoft.com/office/drawing/2014/main" id="{DCA9F500-6A69-736A-3F11-2513082D632A}"/>
              </a:ext>
            </a:extLst>
          </p:cNvPr>
          <p:cNvSpPr txBox="1"/>
          <p:nvPr/>
        </p:nvSpPr>
        <p:spPr>
          <a:xfrm>
            <a:off x="9090502" y="4980202"/>
            <a:ext cx="3101498" cy="1701043"/>
          </a:xfrm>
          <a:prstGeom prst="rect">
            <a:avLst/>
          </a:prstGeom>
          <a:noFill/>
        </p:spPr>
        <p:txBody>
          <a:bodyPr wrap="square">
            <a:spAutoFit/>
          </a:bodyPr>
          <a:lstStyle/>
          <a:p>
            <a:pPr algn="r">
              <a:lnSpc>
                <a:spcPct val="150000"/>
              </a:lnSpc>
              <a:buNone/>
            </a:pPr>
            <a:r>
              <a:rPr lang="en-US" sz="2400" b="1" dirty="0"/>
              <a:t>Supervisors</a:t>
            </a:r>
          </a:p>
          <a:p>
            <a:pPr algn="r">
              <a:lnSpc>
                <a:spcPct val="150000"/>
              </a:lnSpc>
              <a:buNone/>
            </a:pPr>
            <a:r>
              <a:rPr lang="en-US" sz="2400" b="1" dirty="0">
                <a:solidFill>
                  <a:schemeClr val="bg1"/>
                </a:solidFill>
              </a:rPr>
              <a:t>Dr. Luca </a:t>
            </a:r>
            <a:r>
              <a:rPr lang="en-US" sz="2400" b="1" dirty="0" err="1">
                <a:solidFill>
                  <a:schemeClr val="bg1"/>
                </a:solidFill>
              </a:rPr>
              <a:t>Barbierato</a:t>
            </a:r>
            <a:endParaRPr lang="en-US" sz="2400" b="1" dirty="0">
              <a:solidFill>
                <a:schemeClr val="bg1"/>
              </a:solidFill>
            </a:endParaRPr>
          </a:p>
          <a:p>
            <a:pPr algn="r">
              <a:lnSpc>
                <a:spcPct val="150000"/>
              </a:lnSpc>
              <a:buNone/>
            </a:pPr>
            <a:r>
              <a:rPr lang="en-US" sz="2400" b="1" dirty="0">
                <a:solidFill>
                  <a:schemeClr val="bg1"/>
                </a:solidFill>
              </a:rPr>
              <a:t>Dr. Matteo </a:t>
            </a:r>
            <a:r>
              <a:rPr lang="en-US" sz="2400" b="1" dirty="0" err="1">
                <a:solidFill>
                  <a:schemeClr val="bg1"/>
                </a:solidFill>
              </a:rPr>
              <a:t>Santinello</a:t>
            </a:r>
            <a:endParaRPr lang="en-US" sz="2400" b="1" dirty="0">
              <a:solidFill>
                <a:schemeClr val="bg1"/>
              </a:solidFill>
            </a:endParaRPr>
          </a:p>
        </p:txBody>
      </p:sp>
      <p:sp>
        <p:nvSpPr>
          <p:cNvPr id="13" name="TextBox 12">
            <a:extLst>
              <a:ext uri="{FF2B5EF4-FFF2-40B4-BE49-F238E27FC236}">
                <a16:creationId xmlns:a16="http://schemas.microsoft.com/office/drawing/2014/main" id="{C7950C47-660C-4551-C6CE-F2B3D20FDD21}"/>
              </a:ext>
            </a:extLst>
          </p:cNvPr>
          <p:cNvSpPr txBox="1"/>
          <p:nvPr/>
        </p:nvSpPr>
        <p:spPr>
          <a:xfrm>
            <a:off x="4999036" y="6488668"/>
            <a:ext cx="2193925" cy="369332"/>
          </a:xfrm>
          <a:prstGeom prst="rect">
            <a:avLst/>
          </a:prstGeom>
          <a:noFill/>
        </p:spPr>
        <p:txBody>
          <a:bodyPr wrap="square">
            <a:spAutoFit/>
          </a:bodyPr>
          <a:lstStyle/>
          <a:p>
            <a:pPr>
              <a:buNone/>
            </a:pPr>
            <a:r>
              <a:rPr lang="en-US" sz="1800" b="1" dirty="0">
                <a:solidFill>
                  <a:schemeClr val="bg1"/>
                </a:solidFill>
              </a:rPr>
              <a:t>November 2025</a:t>
            </a:r>
          </a:p>
        </p:txBody>
      </p:sp>
      <p:sp>
        <p:nvSpPr>
          <p:cNvPr id="6" name="TextBox 5">
            <a:extLst>
              <a:ext uri="{FF2B5EF4-FFF2-40B4-BE49-F238E27FC236}">
                <a16:creationId xmlns:a16="http://schemas.microsoft.com/office/drawing/2014/main" id="{28B9822C-B9B2-2250-7DB3-9FD971214657}"/>
              </a:ext>
            </a:extLst>
          </p:cNvPr>
          <p:cNvSpPr txBox="1"/>
          <p:nvPr/>
        </p:nvSpPr>
        <p:spPr>
          <a:xfrm>
            <a:off x="1474500" y="8090427"/>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2" name="Picture 2" descr="Predict PNG Transparent Images Free Download | Vector Files | Pngtree">
            <a:extLst>
              <a:ext uri="{FF2B5EF4-FFF2-40B4-BE49-F238E27FC236}">
                <a16:creationId xmlns:a16="http://schemas.microsoft.com/office/drawing/2014/main" id="{2506CCA4-A939-755B-AEF4-B39DB4ED91D5}"/>
              </a:ext>
            </a:extLst>
          </p:cNvPr>
          <p:cNvPicPr>
            <a:picLocks noChangeAspect="1" noChangeArrowheads="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851" y="6795409"/>
            <a:ext cx="2024360" cy="202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90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6B78A1-ED49-3F24-36D4-0718F05BA1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942F2D-252D-CF79-38CE-FD0145E8BDAE}"/>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EE25F7E7-2787-13D8-C322-C3AEAE7CDCEC}"/>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98C991F-1A01-5881-7ADF-7D59F23701BD}"/>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EC42B25F-8A85-BADA-4EBD-5758A240EE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608A32EE-F200-F4D1-B49A-A536BDAA0AA3}"/>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ED2BBE32-9F19-9971-91B1-32E522FF8A2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52136F18-0FC1-F231-6019-F767528B2C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2A08E8A1-E051-BA0E-B428-235EE5ADA54D}"/>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1026" name="Picture 2">
            <a:extLst>
              <a:ext uri="{FF2B5EF4-FFF2-40B4-BE49-F238E27FC236}">
                <a16:creationId xmlns:a16="http://schemas.microsoft.com/office/drawing/2014/main" id="{6C6261A0-DB2F-2233-D152-098981AD46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3983" y="1832795"/>
            <a:ext cx="6964030" cy="348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757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B432DE-5938-7A1A-58D4-70706D3A9D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1ECC28-774A-63E7-D799-C922700AAF52}"/>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6A024007-8342-D120-576F-7936CC705F8B}"/>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9F08A0C-A514-8592-8639-4B530B09D01B}"/>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3DB79383-5ACC-8F1E-70C0-660D2E7F9E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1611ED29-DB15-6EF0-384F-A61E7821995E}"/>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E6228B8F-432A-6675-3555-DA532CAF21C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0B95017E-891E-83C3-52D2-13456AD9A5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103CAECA-ADC8-1E47-761F-AB9FB1737087}"/>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C99269EC-D435-0788-43EC-80B0B81ADF9A}"/>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Preprocessing</a:t>
            </a:r>
          </a:p>
        </p:txBody>
      </p:sp>
      <p:sp>
        <p:nvSpPr>
          <p:cNvPr id="3" name="TextBox 2">
            <a:extLst>
              <a:ext uri="{FF2B5EF4-FFF2-40B4-BE49-F238E27FC236}">
                <a16:creationId xmlns:a16="http://schemas.microsoft.com/office/drawing/2014/main" id="{C1A1CB39-FEC8-14F5-0A1F-4601C2028711}"/>
              </a:ext>
            </a:extLst>
          </p:cNvPr>
          <p:cNvSpPr txBox="1"/>
          <p:nvPr/>
        </p:nvSpPr>
        <p:spPr>
          <a:xfrm>
            <a:off x="566684" y="2289067"/>
            <a:ext cx="6146548" cy="3125727"/>
          </a:xfrm>
          <a:prstGeom prst="rect">
            <a:avLst/>
          </a:prstGeom>
          <a:noFill/>
        </p:spPr>
        <p:txBody>
          <a:bodyPr wrap="square">
            <a:spAutoFit/>
          </a:bodyPr>
          <a:lstStyle/>
          <a:p>
            <a:pPr marL="457200" indent="-457200">
              <a:buFont typeface="Arial" panose="020B0604020202020204" pitchFamily="34" charset="0"/>
              <a:buChar char="•"/>
            </a:pPr>
            <a:r>
              <a:rPr lang="en-US" sz="2000" dirty="0">
                <a:solidFill>
                  <a:srgbClr val="1B415D"/>
                </a:solidFill>
              </a:rPr>
              <a:t>Removing Outliers and null values</a:t>
            </a:r>
          </a:p>
          <a:p>
            <a:pPr marL="914400" lvl="1" indent="-457200">
              <a:buFont typeface="Arial" panose="020B0604020202020204" pitchFamily="34" charset="0"/>
              <a:buChar char="•"/>
            </a:pPr>
            <a:r>
              <a:rPr lang="en-US" sz="2000" dirty="0">
                <a:solidFill>
                  <a:srgbClr val="1B415D"/>
                </a:solidFill>
              </a:rPr>
              <a:t>Time Series Decomposition. [8] </a:t>
            </a:r>
          </a:p>
          <a:p>
            <a:pPr marL="914400" lvl="1" indent="-457200">
              <a:buFont typeface="Arial" panose="020B0604020202020204" pitchFamily="34" charset="0"/>
              <a:buChar char="•"/>
            </a:pPr>
            <a:r>
              <a:rPr lang="en-US" sz="2000" dirty="0">
                <a:solidFill>
                  <a:srgbClr val="1B415D"/>
                </a:solidFill>
              </a:rPr>
              <a:t>Statical methods like normal distribution.</a:t>
            </a:r>
          </a:p>
          <a:p>
            <a:pPr marL="457200" indent="-457200">
              <a:buFont typeface="Arial" panose="020B0604020202020204" pitchFamily="34" charset="0"/>
              <a:buChar char="•"/>
            </a:pPr>
            <a:r>
              <a:rPr lang="en-US" sz="2000" dirty="0">
                <a:solidFill>
                  <a:srgbClr val="1B415D"/>
                </a:solidFill>
              </a:rPr>
              <a:t>Integrating climate data. [3,5]</a:t>
            </a:r>
          </a:p>
          <a:p>
            <a:pPr marL="457200" indent="-457200">
              <a:lnSpc>
                <a:spcPct val="150000"/>
              </a:lnSpc>
              <a:buFont typeface="Arial" panose="020B0604020202020204" pitchFamily="34" charset="0"/>
              <a:buChar char="•"/>
            </a:pPr>
            <a:r>
              <a:rPr lang="en-US" sz="2000" dirty="0">
                <a:solidFill>
                  <a:srgbClr val="1B415D"/>
                </a:solidFill>
              </a:rPr>
              <a:t>THI Compose </a:t>
            </a:r>
          </a:p>
          <a:p>
            <a:pPr marL="914400" lvl="1" indent="-457200">
              <a:lnSpc>
                <a:spcPct val="150000"/>
              </a:lnSpc>
              <a:buFont typeface="Arial" panose="020B0604020202020204" pitchFamily="34" charset="0"/>
              <a:buChar char="•"/>
            </a:pPr>
            <a:r>
              <a:rPr lang="en-US" sz="2000" dirty="0">
                <a:solidFill>
                  <a:srgbClr val="1B415D"/>
                </a:solidFill>
              </a:rPr>
              <a:t>Avg of 2 days before and after [3] </a:t>
            </a:r>
          </a:p>
          <a:p>
            <a:pPr marL="457200" indent="-457200">
              <a:lnSpc>
                <a:spcPct val="150000"/>
              </a:lnSpc>
              <a:buFont typeface="Arial" panose="020B0604020202020204" pitchFamily="34" charset="0"/>
              <a:buChar char="•"/>
            </a:pPr>
            <a:r>
              <a:rPr lang="en-US" sz="2000" dirty="0">
                <a:solidFill>
                  <a:srgbClr val="1B415D"/>
                </a:solidFill>
              </a:rPr>
              <a:t>Lag Features</a:t>
            </a:r>
          </a:p>
          <a:p>
            <a:pPr marL="914400" lvl="1" indent="-457200">
              <a:lnSpc>
                <a:spcPct val="150000"/>
              </a:lnSpc>
              <a:buFont typeface="Arial" panose="020B0604020202020204" pitchFamily="34" charset="0"/>
              <a:buChar char="•"/>
            </a:pPr>
            <a:r>
              <a:rPr lang="en-US" sz="2000" dirty="0">
                <a:solidFill>
                  <a:srgbClr val="1B415D"/>
                </a:solidFill>
              </a:rPr>
              <a:t>Captures the effect of past days</a:t>
            </a:r>
          </a:p>
        </p:txBody>
      </p:sp>
      <p:pic>
        <p:nvPicPr>
          <p:cNvPr id="4" name="Picture 3">
            <a:extLst>
              <a:ext uri="{FF2B5EF4-FFF2-40B4-BE49-F238E27FC236}">
                <a16:creationId xmlns:a16="http://schemas.microsoft.com/office/drawing/2014/main" id="{28839A50-2797-4A6E-D443-231A76A18631}"/>
              </a:ext>
            </a:extLst>
          </p:cNvPr>
          <p:cNvPicPr>
            <a:picLocks noChangeAspect="1"/>
          </p:cNvPicPr>
          <p:nvPr/>
        </p:nvPicPr>
        <p:blipFill>
          <a:blip r:embed="rId8"/>
          <a:stretch>
            <a:fillRect/>
          </a:stretch>
        </p:blipFill>
        <p:spPr>
          <a:xfrm>
            <a:off x="6820864" y="1297885"/>
            <a:ext cx="1869676" cy="1869676"/>
          </a:xfrm>
          <a:prstGeom prst="rect">
            <a:avLst/>
          </a:prstGeom>
        </p:spPr>
      </p:pic>
      <p:pic>
        <p:nvPicPr>
          <p:cNvPr id="6" name="Picture 5">
            <a:extLst>
              <a:ext uri="{FF2B5EF4-FFF2-40B4-BE49-F238E27FC236}">
                <a16:creationId xmlns:a16="http://schemas.microsoft.com/office/drawing/2014/main" id="{1241091B-FB6A-4281-EDA8-F051F9FD2781}"/>
              </a:ext>
            </a:extLst>
          </p:cNvPr>
          <p:cNvPicPr>
            <a:picLocks noChangeAspect="1"/>
          </p:cNvPicPr>
          <p:nvPr/>
        </p:nvPicPr>
        <p:blipFill>
          <a:blip r:embed="rId9"/>
          <a:stretch>
            <a:fillRect/>
          </a:stretch>
        </p:blipFill>
        <p:spPr>
          <a:xfrm>
            <a:off x="9715884" y="1869065"/>
            <a:ext cx="2003224" cy="1869676"/>
          </a:xfrm>
          <a:prstGeom prst="rect">
            <a:avLst/>
          </a:prstGeom>
        </p:spPr>
      </p:pic>
      <p:pic>
        <p:nvPicPr>
          <p:cNvPr id="1028" name="Picture 4" descr="https://www.geeksforgeeks.org/machine-learning/what-is-lag-in-time-series-forecasting/">
            <a:extLst>
              <a:ext uri="{FF2B5EF4-FFF2-40B4-BE49-F238E27FC236}">
                <a16:creationId xmlns:a16="http://schemas.microsoft.com/office/drawing/2014/main" id="{5978EA1E-70C9-0D29-FE00-E9FFC6A20BED}"/>
              </a:ext>
            </a:extLst>
          </p:cNvPr>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r="49609"/>
          <a:stretch>
            <a:fillRect/>
          </a:stretch>
        </p:blipFill>
        <p:spPr bwMode="auto">
          <a:xfrm>
            <a:off x="6811541" y="3427089"/>
            <a:ext cx="3769373" cy="22674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831470-A01C-06B8-5A37-76F87EDA30E1}"/>
              </a:ext>
            </a:extLst>
          </p:cNvPr>
          <p:cNvSpPr txBox="1"/>
          <p:nvPr/>
        </p:nvSpPr>
        <p:spPr>
          <a:xfrm>
            <a:off x="6713232" y="5617334"/>
            <a:ext cx="3970471" cy="230832"/>
          </a:xfrm>
          <a:prstGeom prst="rect">
            <a:avLst/>
          </a:prstGeom>
          <a:noFill/>
        </p:spPr>
        <p:txBody>
          <a:bodyPr wrap="square">
            <a:spAutoFit/>
          </a:bodyPr>
          <a:lstStyle/>
          <a:p>
            <a:r>
              <a:rPr lang="en-US" sz="900" dirty="0" err="1"/>
              <a:t>geeksforgeeks.org</a:t>
            </a:r>
            <a:r>
              <a:rPr lang="en-US" sz="900" dirty="0"/>
              <a:t>/machine-learning/what-is-lag-in-time-series-forecasting/</a:t>
            </a:r>
          </a:p>
        </p:txBody>
      </p:sp>
    </p:spTree>
    <p:extLst>
      <p:ext uri="{BB962C8B-B14F-4D97-AF65-F5344CB8AC3E}">
        <p14:creationId xmlns:p14="http://schemas.microsoft.com/office/powerpoint/2010/main" val="2338099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78AB7E-3A67-D7BE-40B5-81401BF316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68532D-A47C-DFBA-CC8C-5F7872AB939B}"/>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B47FFA3A-2731-6663-3CF1-683AFC1FF485}"/>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33DAC67A-45F9-D227-0E4D-4C29E4B9A18F}"/>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5D79C4D0-B157-D45C-22AF-72D73B20FD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F8873B5D-7814-E7B9-768E-90CCBAC482D5}"/>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6DC0D446-EA9E-F4F9-4FFC-7E22DE03A78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4F47F20C-AB8B-C708-4622-BF6A0A4B3A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1AE9E32B-A41E-6ED3-80BB-44DC7D26CA67}"/>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45802F09-DEB1-A382-6823-C6C83C8ED3A9}"/>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Preprocessing</a:t>
            </a:r>
          </a:p>
        </p:txBody>
      </p:sp>
      <p:sp>
        <p:nvSpPr>
          <p:cNvPr id="8" name="TextBox 7">
            <a:extLst>
              <a:ext uri="{FF2B5EF4-FFF2-40B4-BE49-F238E27FC236}">
                <a16:creationId xmlns:a16="http://schemas.microsoft.com/office/drawing/2014/main" id="{374F7717-0FF4-2569-3166-970646905E2B}"/>
              </a:ext>
            </a:extLst>
          </p:cNvPr>
          <p:cNvSpPr txBox="1"/>
          <p:nvPr/>
        </p:nvSpPr>
        <p:spPr>
          <a:xfrm>
            <a:off x="6713232" y="5617334"/>
            <a:ext cx="3970471" cy="230832"/>
          </a:xfrm>
          <a:prstGeom prst="rect">
            <a:avLst/>
          </a:prstGeom>
          <a:noFill/>
        </p:spPr>
        <p:txBody>
          <a:bodyPr wrap="square">
            <a:spAutoFit/>
          </a:bodyPr>
          <a:lstStyle/>
          <a:p>
            <a:r>
              <a:rPr lang="en-US" sz="900" dirty="0" err="1"/>
              <a:t>geeksforgeeks.org</a:t>
            </a:r>
            <a:r>
              <a:rPr lang="en-US" sz="900" dirty="0"/>
              <a:t>/machine-learning/what-is-lag-in-time-series-forecasting/</a:t>
            </a:r>
          </a:p>
        </p:txBody>
      </p:sp>
      <p:sp>
        <p:nvSpPr>
          <p:cNvPr id="7" name="Rectangle 6">
            <a:extLst>
              <a:ext uri="{FF2B5EF4-FFF2-40B4-BE49-F238E27FC236}">
                <a16:creationId xmlns:a16="http://schemas.microsoft.com/office/drawing/2014/main" id="{8428210D-7A38-A82F-EC95-5821E6EFA9DE}"/>
              </a:ext>
            </a:extLst>
          </p:cNvPr>
          <p:cNvSpPr/>
          <p:nvPr/>
        </p:nvSpPr>
        <p:spPr>
          <a:xfrm>
            <a:off x="6481187" y="1545900"/>
            <a:ext cx="5144129" cy="39371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87DCF9C-6603-47B8-352A-F98FF17E0DA6}"/>
              </a:ext>
            </a:extLst>
          </p:cNvPr>
          <p:cNvSpPr txBox="1"/>
          <p:nvPr/>
        </p:nvSpPr>
        <p:spPr>
          <a:xfrm>
            <a:off x="566684" y="2289067"/>
            <a:ext cx="6146548" cy="3125727"/>
          </a:xfrm>
          <a:prstGeom prst="rect">
            <a:avLst/>
          </a:prstGeom>
          <a:noFill/>
        </p:spPr>
        <p:txBody>
          <a:bodyPr wrap="square">
            <a:spAutoFit/>
          </a:bodyPr>
          <a:lstStyle/>
          <a:p>
            <a:pPr marL="457200" indent="-457200">
              <a:buFont typeface="Arial" panose="020B0604020202020204" pitchFamily="34" charset="0"/>
              <a:buChar char="•"/>
            </a:pPr>
            <a:r>
              <a:rPr lang="en-US" sz="2000" dirty="0">
                <a:solidFill>
                  <a:schemeClr val="bg1">
                    <a:lumMod val="85000"/>
                  </a:schemeClr>
                </a:solidFill>
              </a:rPr>
              <a:t>Removing Outliers and null values</a:t>
            </a:r>
          </a:p>
          <a:p>
            <a:pPr marL="914400" lvl="1" indent="-457200">
              <a:buFont typeface="Arial" panose="020B0604020202020204" pitchFamily="34" charset="0"/>
              <a:buChar char="•"/>
            </a:pPr>
            <a:r>
              <a:rPr lang="en-US" sz="2000" dirty="0">
                <a:solidFill>
                  <a:srgbClr val="1B415D"/>
                </a:solidFill>
              </a:rPr>
              <a:t>Time Series Decomposition. [8] </a:t>
            </a:r>
          </a:p>
          <a:p>
            <a:pPr marL="914400" lvl="1" indent="-457200">
              <a:buFont typeface="Arial" panose="020B0604020202020204" pitchFamily="34" charset="0"/>
              <a:buChar char="•"/>
            </a:pPr>
            <a:r>
              <a:rPr lang="en-US" sz="2000" dirty="0">
                <a:solidFill>
                  <a:schemeClr val="bg1">
                    <a:lumMod val="85000"/>
                  </a:schemeClr>
                </a:solidFill>
              </a:rPr>
              <a:t>Statical methods like normal distribution.</a:t>
            </a:r>
          </a:p>
          <a:p>
            <a:pPr marL="457200" indent="-457200">
              <a:buFont typeface="Arial" panose="020B0604020202020204" pitchFamily="34" charset="0"/>
              <a:buChar char="•"/>
            </a:pPr>
            <a:r>
              <a:rPr lang="en-US" sz="2000" dirty="0">
                <a:solidFill>
                  <a:schemeClr val="bg1">
                    <a:lumMod val="85000"/>
                  </a:schemeClr>
                </a:solidFill>
              </a:rPr>
              <a:t>Integrating climate data. [3,5]</a:t>
            </a:r>
          </a:p>
          <a:p>
            <a:pPr marL="457200" indent="-457200">
              <a:lnSpc>
                <a:spcPct val="150000"/>
              </a:lnSpc>
              <a:buFont typeface="Arial" panose="020B0604020202020204" pitchFamily="34" charset="0"/>
              <a:buChar char="•"/>
            </a:pPr>
            <a:r>
              <a:rPr lang="en-US" sz="2000" dirty="0">
                <a:solidFill>
                  <a:schemeClr val="bg1">
                    <a:lumMod val="85000"/>
                  </a:schemeClr>
                </a:solidFill>
              </a:rPr>
              <a:t>THI Compose </a:t>
            </a:r>
          </a:p>
          <a:p>
            <a:pPr marL="914400" lvl="1" indent="-457200">
              <a:lnSpc>
                <a:spcPct val="150000"/>
              </a:lnSpc>
              <a:buFont typeface="Arial" panose="020B0604020202020204" pitchFamily="34" charset="0"/>
              <a:buChar char="•"/>
            </a:pPr>
            <a:r>
              <a:rPr lang="en-US" sz="2000" dirty="0">
                <a:solidFill>
                  <a:schemeClr val="bg1">
                    <a:lumMod val="85000"/>
                  </a:schemeClr>
                </a:solidFill>
              </a:rPr>
              <a:t>Avg of 2 days before and after [3] </a:t>
            </a:r>
          </a:p>
          <a:p>
            <a:pPr marL="457200" indent="-457200">
              <a:lnSpc>
                <a:spcPct val="150000"/>
              </a:lnSpc>
              <a:buFont typeface="Arial" panose="020B0604020202020204" pitchFamily="34" charset="0"/>
              <a:buChar char="•"/>
            </a:pPr>
            <a:r>
              <a:rPr lang="en-US" sz="2000" dirty="0">
                <a:solidFill>
                  <a:schemeClr val="bg1">
                    <a:lumMod val="85000"/>
                  </a:schemeClr>
                </a:solidFill>
              </a:rPr>
              <a:t>Lag Features</a:t>
            </a:r>
          </a:p>
          <a:p>
            <a:pPr marL="914400" lvl="1" indent="-457200">
              <a:lnSpc>
                <a:spcPct val="150000"/>
              </a:lnSpc>
              <a:buFont typeface="Arial" panose="020B0604020202020204" pitchFamily="34" charset="0"/>
              <a:buChar char="•"/>
            </a:pPr>
            <a:r>
              <a:rPr lang="en-US" sz="2000" dirty="0">
                <a:solidFill>
                  <a:schemeClr val="bg1">
                    <a:lumMod val="85000"/>
                  </a:schemeClr>
                </a:solidFill>
              </a:rPr>
              <a:t>Captures the effect of past days</a:t>
            </a:r>
          </a:p>
        </p:txBody>
      </p:sp>
    </p:spTree>
    <p:extLst>
      <p:ext uri="{BB962C8B-B14F-4D97-AF65-F5344CB8AC3E}">
        <p14:creationId xmlns:p14="http://schemas.microsoft.com/office/powerpoint/2010/main" val="2091237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E6A6A7-8438-59E2-0AF9-E3C361CFC8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147F0B-5D5A-EE2E-AEF7-843EB98966B6}"/>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45C0BDC3-F447-BC5A-DBC8-08DE68C33AC5}"/>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9C96A04-1E24-2B12-E1A9-9FD15044BA1F}"/>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44EA5240-04FF-FEC1-7562-9FFD9C93F1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FFEAB398-71AC-818C-AFAA-3E80156E1303}"/>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80CF4456-6D12-3276-58AE-ED1130B5909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6B3772A5-1FAD-9BDB-307C-E0F806E9D0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BA7B9F37-EFCF-D781-C840-C38F47C27C49}"/>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761A3E92-B49C-2E7E-135E-7890385E687D}"/>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Preprocessing</a:t>
            </a:r>
          </a:p>
        </p:txBody>
      </p:sp>
      <p:sp>
        <p:nvSpPr>
          <p:cNvPr id="8" name="TextBox 7">
            <a:extLst>
              <a:ext uri="{FF2B5EF4-FFF2-40B4-BE49-F238E27FC236}">
                <a16:creationId xmlns:a16="http://schemas.microsoft.com/office/drawing/2014/main" id="{845BE717-1375-667E-3085-41FB67890041}"/>
              </a:ext>
            </a:extLst>
          </p:cNvPr>
          <p:cNvSpPr txBox="1"/>
          <p:nvPr/>
        </p:nvSpPr>
        <p:spPr>
          <a:xfrm>
            <a:off x="6713232" y="5617334"/>
            <a:ext cx="3970471" cy="230832"/>
          </a:xfrm>
          <a:prstGeom prst="rect">
            <a:avLst/>
          </a:prstGeom>
          <a:noFill/>
        </p:spPr>
        <p:txBody>
          <a:bodyPr wrap="square">
            <a:spAutoFit/>
          </a:bodyPr>
          <a:lstStyle/>
          <a:p>
            <a:r>
              <a:rPr lang="en-US" sz="900" dirty="0" err="1"/>
              <a:t>geeksforgeeks.org</a:t>
            </a:r>
            <a:r>
              <a:rPr lang="en-US" sz="900" dirty="0"/>
              <a:t>/machine-learning/what-is-lag-in-time-series-forecasting/</a:t>
            </a:r>
          </a:p>
        </p:txBody>
      </p:sp>
      <p:sp>
        <p:nvSpPr>
          <p:cNvPr id="7" name="Rectangle 6">
            <a:extLst>
              <a:ext uri="{FF2B5EF4-FFF2-40B4-BE49-F238E27FC236}">
                <a16:creationId xmlns:a16="http://schemas.microsoft.com/office/drawing/2014/main" id="{DCD35724-7E8A-C723-9016-7C653BE8D4E7}"/>
              </a:ext>
            </a:extLst>
          </p:cNvPr>
          <p:cNvSpPr/>
          <p:nvPr/>
        </p:nvSpPr>
        <p:spPr>
          <a:xfrm>
            <a:off x="6481187" y="1545900"/>
            <a:ext cx="5144129" cy="39371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E183B42-B1E7-CBEC-67D6-8DA3B03F7C76}"/>
              </a:ext>
            </a:extLst>
          </p:cNvPr>
          <p:cNvSpPr txBox="1"/>
          <p:nvPr/>
        </p:nvSpPr>
        <p:spPr>
          <a:xfrm>
            <a:off x="566684" y="2289067"/>
            <a:ext cx="6146548" cy="3125727"/>
          </a:xfrm>
          <a:prstGeom prst="rect">
            <a:avLst/>
          </a:prstGeom>
          <a:noFill/>
        </p:spPr>
        <p:txBody>
          <a:bodyPr wrap="square">
            <a:spAutoFit/>
          </a:bodyPr>
          <a:lstStyle/>
          <a:p>
            <a:pPr marL="457200" indent="-457200">
              <a:buFont typeface="Arial" panose="020B0604020202020204" pitchFamily="34" charset="0"/>
              <a:buChar char="•"/>
            </a:pPr>
            <a:r>
              <a:rPr lang="en-US" sz="2000" dirty="0">
                <a:solidFill>
                  <a:schemeClr val="bg1">
                    <a:lumMod val="85000"/>
                  </a:schemeClr>
                </a:solidFill>
              </a:rPr>
              <a:t>Removing Outliers and null values</a:t>
            </a:r>
          </a:p>
          <a:p>
            <a:pPr marL="914400" lvl="1" indent="-457200">
              <a:buFont typeface="Arial" panose="020B0604020202020204" pitchFamily="34" charset="0"/>
              <a:buChar char="•"/>
            </a:pPr>
            <a:r>
              <a:rPr lang="en-US" sz="2000" dirty="0">
                <a:solidFill>
                  <a:schemeClr val="bg1">
                    <a:lumMod val="85000"/>
                  </a:schemeClr>
                </a:solidFill>
              </a:rPr>
              <a:t>Time Series Decomposition. [8] </a:t>
            </a:r>
          </a:p>
          <a:p>
            <a:pPr marL="914400" lvl="1" indent="-457200">
              <a:buFont typeface="Arial" panose="020B0604020202020204" pitchFamily="34" charset="0"/>
              <a:buChar char="•"/>
            </a:pPr>
            <a:r>
              <a:rPr lang="en-US" sz="2000" dirty="0">
                <a:solidFill>
                  <a:schemeClr val="tx2"/>
                </a:solidFill>
              </a:rPr>
              <a:t>Statical methods like normal distribution.</a:t>
            </a:r>
          </a:p>
          <a:p>
            <a:pPr marL="457200" indent="-457200">
              <a:buFont typeface="Arial" panose="020B0604020202020204" pitchFamily="34" charset="0"/>
              <a:buChar char="•"/>
            </a:pPr>
            <a:r>
              <a:rPr lang="en-US" sz="2000" dirty="0">
                <a:solidFill>
                  <a:schemeClr val="bg1">
                    <a:lumMod val="85000"/>
                  </a:schemeClr>
                </a:solidFill>
              </a:rPr>
              <a:t>Integrating climate data. [3,5]</a:t>
            </a:r>
          </a:p>
          <a:p>
            <a:pPr marL="457200" indent="-457200">
              <a:lnSpc>
                <a:spcPct val="150000"/>
              </a:lnSpc>
              <a:buFont typeface="Arial" panose="020B0604020202020204" pitchFamily="34" charset="0"/>
              <a:buChar char="•"/>
            </a:pPr>
            <a:r>
              <a:rPr lang="en-US" sz="2000" dirty="0">
                <a:solidFill>
                  <a:schemeClr val="bg1">
                    <a:lumMod val="85000"/>
                  </a:schemeClr>
                </a:solidFill>
              </a:rPr>
              <a:t>THI Compose </a:t>
            </a:r>
          </a:p>
          <a:p>
            <a:pPr marL="914400" lvl="1" indent="-457200">
              <a:lnSpc>
                <a:spcPct val="150000"/>
              </a:lnSpc>
              <a:buFont typeface="Arial" panose="020B0604020202020204" pitchFamily="34" charset="0"/>
              <a:buChar char="•"/>
            </a:pPr>
            <a:r>
              <a:rPr lang="en-US" sz="2000" dirty="0">
                <a:solidFill>
                  <a:schemeClr val="bg1">
                    <a:lumMod val="85000"/>
                  </a:schemeClr>
                </a:solidFill>
              </a:rPr>
              <a:t>Avg of 2 days before and after [3] </a:t>
            </a:r>
          </a:p>
          <a:p>
            <a:pPr marL="457200" indent="-457200">
              <a:lnSpc>
                <a:spcPct val="150000"/>
              </a:lnSpc>
              <a:buFont typeface="Arial" panose="020B0604020202020204" pitchFamily="34" charset="0"/>
              <a:buChar char="•"/>
            </a:pPr>
            <a:r>
              <a:rPr lang="en-US" sz="2000" dirty="0">
                <a:solidFill>
                  <a:schemeClr val="bg1">
                    <a:lumMod val="85000"/>
                  </a:schemeClr>
                </a:solidFill>
              </a:rPr>
              <a:t>Lag Features</a:t>
            </a:r>
          </a:p>
          <a:p>
            <a:pPr marL="914400" lvl="1" indent="-457200">
              <a:lnSpc>
                <a:spcPct val="150000"/>
              </a:lnSpc>
              <a:buFont typeface="Arial" panose="020B0604020202020204" pitchFamily="34" charset="0"/>
              <a:buChar char="•"/>
            </a:pPr>
            <a:r>
              <a:rPr lang="en-US" sz="2000" dirty="0">
                <a:solidFill>
                  <a:schemeClr val="bg1">
                    <a:lumMod val="85000"/>
                  </a:schemeClr>
                </a:solidFill>
              </a:rPr>
              <a:t>Captures the effect of past days</a:t>
            </a:r>
          </a:p>
        </p:txBody>
      </p:sp>
    </p:spTree>
    <p:extLst>
      <p:ext uri="{BB962C8B-B14F-4D97-AF65-F5344CB8AC3E}">
        <p14:creationId xmlns:p14="http://schemas.microsoft.com/office/powerpoint/2010/main" val="671959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7218F5-9FAB-62AF-FF8D-D76BCD141A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FBD4E5-AF9F-1049-2EEB-79E612ECC485}"/>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924859E7-E94A-EB53-5B60-9C8F2B08B64D}"/>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AF89C09-F82D-2D3B-B22F-61A93B645911}"/>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BA436218-CF02-35DA-66C9-172EF17212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085FE8C6-7061-994B-F697-A693FBB0060B}"/>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10A510F8-5125-0F81-2CBC-1356C271A13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D79BCABC-B7B2-D7BA-479A-C63FA005AD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79239B66-6FB4-33C4-D020-39DEFA4C377B}"/>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2344D61C-8F66-D9A0-237E-5C776AA5F5DC}"/>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Feature Extraction</a:t>
            </a:r>
          </a:p>
        </p:txBody>
      </p:sp>
      <p:sp>
        <p:nvSpPr>
          <p:cNvPr id="3" name="TextBox 2">
            <a:extLst>
              <a:ext uri="{FF2B5EF4-FFF2-40B4-BE49-F238E27FC236}">
                <a16:creationId xmlns:a16="http://schemas.microsoft.com/office/drawing/2014/main" id="{B3F57061-431D-EEFD-2685-7381895D806F}"/>
              </a:ext>
            </a:extLst>
          </p:cNvPr>
          <p:cNvSpPr txBox="1"/>
          <p:nvPr/>
        </p:nvSpPr>
        <p:spPr>
          <a:xfrm>
            <a:off x="566684" y="2289067"/>
            <a:ext cx="6146548" cy="1015663"/>
          </a:xfrm>
          <a:prstGeom prst="rect">
            <a:avLst/>
          </a:prstGeom>
          <a:noFill/>
        </p:spPr>
        <p:txBody>
          <a:bodyPr wrap="square">
            <a:spAutoFit/>
          </a:bodyPr>
          <a:lstStyle/>
          <a:p>
            <a:pPr marL="457200" indent="-457200">
              <a:buFont typeface="Arial" panose="020B0604020202020204" pitchFamily="34" charset="0"/>
              <a:buChar char="•"/>
            </a:pPr>
            <a:r>
              <a:rPr lang="en-US" sz="2000" dirty="0">
                <a:solidFill>
                  <a:srgbClr val="1B415D"/>
                </a:solidFill>
              </a:rPr>
              <a:t>A</a:t>
            </a:r>
          </a:p>
          <a:p>
            <a:pPr marL="457200" indent="-457200">
              <a:buFont typeface="Arial" panose="020B0604020202020204" pitchFamily="34" charset="0"/>
              <a:buChar char="•"/>
            </a:pPr>
            <a:r>
              <a:rPr lang="en-US" sz="2000" dirty="0">
                <a:solidFill>
                  <a:srgbClr val="1B415D"/>
                </a:solidFill>
              </a:rPr>
              <a:t>B</a:t>
            </a:r>
          </a:p>
          <a:p>
            <a:pPr marL="457200" indent="-457200">
              <a:buFont typeface="Arial" panose="020B0604020202020204" pitchFamily="34" charset="0"/>
              <a:buChar char="•"/>
            </a:pPr>
            <a:r>
              <a:rPr lang="en-US" sz="2000" dirty="0">
                <a:solidFill>
                  <a:srgbClr val="1B415D"/>
                </a:solidFill>
              </a:rPr>
              <a:t>C</a:t>
            </a:r>
          </a:p>
        </p:txBody>
      </p:sp>
    </p:spTree>
    <p:extLst>
      <p:ext uri="{BB962C8B-B14F-4D97-AF65-F5344CB8AC3E}">
        <p14:creationId xmlns:p14="http://schemas.microsoft.com/office/powerpoint/2010/main" val="330133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D85D2A-439A-5F54-3816-CE11E89F91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56F5E0-7E6F-0DBE-4670-08B85BE8BD54}"/>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5A1F74A8-83DE-00B5-42C8-8924AFF2A7BE}"/>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57BC342-1ECF-A32A-54E5-5AF123627F79}"/>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08CD0E5F-A4CB-6436-3DF5-F9ABE40225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CA925CAD-1122-6573-21C4-72FC491FA270}"/>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1B6FD7E7-EF61-D66E-8194-D65A5DD1D85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86717F38-EFC1-28B3-06B2-4F9738359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D2DD6F95-7B24-9ED8-A877-D37F4E5D0487}"/>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C4201124-9670-2BFC-4557-FB81DE7A3401}"/>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Feature Extraction</a:t>
            </a:r>
          </a:p>
        </p:txBody>
      </p:sp>
      <p:sp>
        <p:nvSpPr>
          <p:cNvPr id="3" name="TextBox 2">
            <a:extLst>
              <a:ext uri="{FF2B5EF4-FFF2-40B4-BE49-F238E27FC236}">
                <a16:creationId xmlns:a16="http://schemas.microsoft.com/office/drawing/2014/main" id="{C80C1FFD-7D61-74C0-AE6C-1577BC02062F}"/>
              </a:ext>
            </a:extLst>
          </p:cNvPr>
          <p:cNvSpPr txBox="1"/>
          <p:nvPr/>
        </p:nvSpPr>
        <p:spPr>
          <a:xfrm>
            <a:off x="566684" y="2289067"/>
            <a:ext cx="6146548" cy="1015663"/>
          </a:xfrm>
          <a:prstGeom prst="rect">
            <a:avLst/>
          </a:prstGeom>
          <a:noFill/>
        </p:spPr>
        <p:txBody>
          <a:bodyPr wrap="square">
            <a:spAutoFit/>
          </a:bodyPr>
          <a:lstStyle/>
          <a:p>
            <a:pPr marL="457200" indent="-457200">
              <a:buFont typeface="Arial" panose="020B0604020202020204" pitchFamily="34" charset="0"/>
              <a:buChar char="•"/>
            </a:pPr>
            <a:r>
              <a:rPr lang="en-US" sz="2000" dirty="0">
                <a:solidFill>
                  <a:srgbClr val="1B415D"/>
                </a:solidFill>
              </a:rPr>
              <a:t>A</a:t>
            </a:r>
          </a:p>
          <a:p>
            <a:pPr marL="457200" indent="-457200">
              <a:buFont typeface="Arial" panose="020B0604020202020204" pitchFamily="34" charset="0"/>
              <a:buChar char="•"/>
            </a:pPr>
            <a:r>
              <a:rPr lang="en-US" sz="2000" dirty="0">
                <a:solidFill>
                  <a:schemeClr val="bg1">
                    <a:lumMod val="85000"/>
                  </a:schemeClr>
                </a:solidFill>
              </a:rPr>
              <a:t>B</a:t>
            </a:r>
          </a:p>
          <a:p>
            <a:pPr marL="457200" indent="-457200">
              <a:buFont typeface="Arial" panose="020B0604020202020204" pitchFamily="34" charset="0"/>
              <a:buChar char="•"/>
            </a:pPr>
            <a:r>
              <a:rPr lang="en-US" sz="2000" dirty="0">
                <a:solidFill>
                  <a:schemeClr val="bg1">
                    <a:lumMod val="85000"/>
                  </a:schemeClr>
                </a:solidFill>
              </a:rPr>
              <a:t>C</a:t>
            </a:r>
          </a:p>
        </p:txBody>
      </p:sp>
    </p:spTree>
    <p:extLst>
      <p:ext uri="{BB962C8B-B14F-4D97-AF65-F5344CB8AC3E}">
        <p14:creationId xmlns:p14="http://schemas.microsoft.com/office/powerpoint/2010/main" val="2117710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BC4845-5632-0830-4DEB-7C325770B85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642480-0971-26C1-ABB5-8878584F2102}"/>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7E60F817-0622-7C68-4C14-742E8A98C57C}"/>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F637B7C-3E68-F88F-4CB4-F6EE34E885E0}"/>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FA2B0DDB-9372-A317-C0AB-CAD9DAF1C0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8898DEEC-1C4C-B007-EF1E-7160E50B33DA}"/>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35A74E12-3BDA-9B29-64B8-D0288409594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CD1A8D34-3469-661B-6A75-80E61E4CF3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CDD9657F-7792-75CE-B30B-AA58AFA24F0C}"/>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C7899092-E13E-475D-2C75-924D0DB5B77B}"/>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Feature Extraction</a:t>
            </a:r>
          </a:p>
        </p:txBody>
      </p:sp>
      <p:sp>
        <p:nvSpPr>
          <p:cNvPr id="3" name="TextBox 2">
            <a:extLst>
              <a:ext uri="{FF2B5EF4-FFF2-40B4-BE49-F238E27FC236}">
                <a16:creationId xmlns:a16="http://schemas.microsoft.com/office/drawing/2014/main" id="{BF0C0480-051F-92BC-5A4C-DAA5943FC0D4}"/>
              </a:ext>
            </a:extLst>
          </p:cNvPr>
          <p:cNvSpPr txBox="1"/>
          <p:nvPr/>
        </p:nvSpPr>
        <p:spPr>
          <a:xfrm>
            <a:off x="566684" y="2289067"/>
            <a:ext cx="6146548" cy="1015663"/>
          </a:xfrm>
          <a:prstGeom prst="rect">
            <a:avLst/>
          </a:prstGeom>
          <a:noFill/>
        </p:spPr>
        <p:txBody>
          <a:bodyPr wrap="square">
            <a:spAutoFit/>
          </a:bodyPr>
          <a:lstStyle/>
          <a:p>
            <a:pPr marL="457200" indent="-457200">
              <a:buFont typeface="Arial" panose="020B0604020202020204" pitchFamily="34" charset="0"/>
              <a:buChar char="•"/>
            </a:pPr>
            <a:r>
              <a:rPr lang="en-US" sz="2000" dirty="0">
                <a:solidFill>
                  <a:schemeClr val="bg1">
                    <a:lumMod val="85000"/>
                  </a:schemeClr>
                </a:solidFill>
              </a:rPr>
              <a:t>A</a:t>
            </a:r>
          </a:p>
          <a:p>
            <a:pPr marL="457200" indent="-457200">
              <a:buFont typeface="Arial" panose="020B0604020202020204" pitchFamily="34" charset="0"/>
              <a:buChar char="•"/>
            </a:pPr>
            <a:r>
              <a:rPr lang="en-US" sz="2000" dirty="0">
                <a:solidFill>
                  <a:schemeClr val="bg1">
                    <a:lumMod val="85000"/>
                  </a:schemeClr>
                </a:solidFill>
              </a:rPr>
              <a:t>B</a:t>
            </a:r>
          </a:p>
          <a:p>
            <a:pPr marL="457200" indent="-457200">
              <a:buFont typeface="Arial" panose="020B0604020202020204" pitchFamily="34" charset="0"/>
              <a:buChar char="•"/>
            </a:pPr>
            <a:r>
              <a:rPr lang="en-US" sz="2000" dirty="0">
                <a:solidFill>
                  <a:schemeClr val="tx2"/>
                </a:solidFill>
              </a:rPr>
              <a:t>C</a:t>
            </a:r>
          </a:p>
        </p:txBody>
      </p:sp>
    </p:spTree>
    <p:extLst>
      <p:ext uri="{BB962C8B-B14F-4D97-AF65-F5344CB8AC3E}">
        <p14:creationId xmlns:p14="http://schemas.microsoft.com/office/powerpoint/2010/main" val="1546575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A7421F-928B-1495-AF7A-F043957A54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5C0B1F9-D5FE-567F-A419-E9CD68298E4D}"/>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611F2895-E161-6A28-BB9C-C326BDDBB417}"/>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F43539BF-FFF6-5164-8909-32C103F7EDF8}"/>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E4727650-FCCD-2193-DACF-25DCF4281E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E262A914-A0FD-B069-5675-AC72AE6C12F6}"/>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65A0CCDD-294C-0C0F-EDB7-77A49A3D3AF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0E722836-B8B9-8228-0D24-26E3DBB4DC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C94FD259-A79D-3EE2-2DF5-B5219028BD80}"/>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5230A2BA-D346-F3D0-4C38-A94A550F02BE}"/>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Application Machine Learning</a:t>
            </a:r>
          </a:p>
        </p:txBody>
      </p:sp>
      <p:sp>
        <p:nvSpPr>
          <p:cNvPr id="3" name="TextBox 2">
            <a:extLst>
              <a:ext uri="{FF2B5EF4-FFF2-40B4-BE49-F238E27FC236}">
                <a16:creationId xmlns:a16="http://schemas.microsoft.com/office/drawing/2014/main" id="{A69DDB12-7A05-581A-A56C-41E33E629B0B}"/>
              </a:ext>
            </a:extLst>
          </p:cNvPr>
          <p:cNvSpPr txBox="1"/>
          <p:nvPr/>
        </p:nvSpPr>
        <p:spPr>
          <a:xfrm>
            <a:off x="566684" y="2289067"/>
            <a:ext cx="6146548" cy="3125727"/>
          </a:xfrm>
          <a:prstGeom prst="rect">
            <a:avLst/>
          </a:prstGeom>
          <a:noFill/>
        </p:spPr>
        <p:txBody>
          <a:bodyPr wrap="square">
            <a:spAutoFit/>
          </a:bodyPr>
          <a:lstStyle/>
          <a:p>
            <a:pPr marL="457200" indent="-457200">
              <a:buFont typeface="Arial" panose="020B0604020202020204" pitchFamily="34" charset="0"/>
              <a:buChar char="•"/>
            </a:pPr>
            <a:r>
              <a:rPr lang="en-US" sz="2000" dirty="0">
                <a:solidFill>
                  <a:srgbClr val="1B415D"/>
                </a:solidFill>
              </a:rPr>
              <a:t>Removing Outliers and null values</a:t>
            </a:r>
          </a:p>
          <a:p>
            <a:pPr marL="914400" lvl="1" indent="-457200">
              <a:buFont typeface="Arial" panose="020B0604020202020204" pitchFamily="34" charset="0"/>
              <a:buChar char="•"/>
            </a:pPr>
            <a:r>
              <a:rPr lang="en-US" sz="2000" dirty="0">
                <a:solidFill>
                  <a:srgbClr val="1B415D"/>
                </a:solidFill>
              </a:rPr>
              <a:t>Time Series Decomposition. [8] </a:t>
            </a:r>
          </a:p>
          <a:p>
            <a:pPr marL="914400" lvl="1" indent="-457200">
              <a:buFont typeface="Arial" panose="020B0604020202020204" pitchFamily="34" charset="0"/>
              <a:buChar char="•"/>
            </a:pPr>
            <a:r>
              <a:rPr lang="en-US" sz="2000" dirty="0">
                <a:solidFill>
                  <a:srgbClr val="1B415D"/>
                </a:solidFill>
              </a:rPr>
              <a:t>Statical methods like normal distribution.</a:t>
            </a:r>
          </a:p>
          <a:p>
            <a:pPr marL="457200" indent="-457200">
              <a:buFont typeface="Arial" panose="020B0604020202020204" pitchFamily="34" charset="0"/>
              <a:buChar char="•"/>
            </a:pPr>
            <a:r>
              <a:rPr lang="en-US" sz="2000" dirty="0">
                <a:solidFill>
                  <a:srgbClr val="1B415D"/>
                </a:solidFill>
              </a:rPr>
              <a:t>Integrating climate data. [3,5]</a:t>
            </a:r>
          </a:p>
          <a:p>
            <a:pPr marL="457200" indent="-457200">
              <a:lnSpc>
                <a:spcPct val="150000"/>
              </a:lnSpc>
              <a:buFont typeface="Arial" panose="020B0604020202020204" pitchFamily="34" charset="0"/>
              <a:buChar char="•"/>
            </a:pPr>
            <a:r>
              <a:rPr lang="en-US" sz="2000" dirty="0">
                <a:solidFill>
                  <a:srgbClr val="1B415D"/>
                </a:solidFill>
              </a:rPr>
              <a:t>THI Compose </a:t>
            </a:r>
          </a:p>
          <a:p>
            <a:pPr marL="914400" lvl="1" indent="-457200">
              <a:lnSpc>
                <a:spcPct val="150000"/>
              </a:lnSpc>
              <a:buFont typeface="Arial" panose="020B0604020202020204" pitchFamily="34" charset="0"/>
              <a:buChar char="•"/>
            </a:pPr>
            <a:r>
              <a:rPr lang="en-US" sz="2000" dirty="0">
                <a:solidFill>
                  <a:srgbClr val="1B415D"/>
                </a:solidFill>
              </a:rPr>
              <a:t>Avg of 2 days before and after [3] </a:t>
            </a:r>
          </a:p>
          <a:p>
            <a:pPr marL="457200" indent="-457200">
              <a:lnSpc>
                <a:spcPct val="150000"/>
              </a:lnSpc>
              <a:buFont typeface="Arial" panose="020B0604020202020204" pitchFamily="34" charset="0"/>
              <a:buChar char="•"/>
            </a:pPr>
            <a:r>
              <a:rPr lang="en-US" sz="2000" dirty="0">
                <a:solidFill>
                  <a:srgbClr val="1B415D"/>
                </a:solidFill>
              </a:rPr>
              <a:t>Lag Features</a:t>
            </a:r>
          </a:p>
          <a:p>
            <a:pPr marL="914400" lvl="1" indent="-457200">
              <a:lnSpc>
                <a:spcPct val="150000"/>
              </a:lnSpc>
              <a:buFont typeface="Arial" panose="020B0604020202020204" pitchFamily="34" charset="0"/>
              <a:buChar char="•"/>
            </a:pPr>
            <a:r>
              <a:rPr lang="en-US" sz="2000" dirty="0">
                <a:solidFill>
                  <a:srgbClr val="1B415D"/>
                </a:solidFill>
              </a:rPr>
              <a:t>Captures the effect of past days</a:t>
            </a:r>
          </a:p>
        </p:txBody>
      </p:sp>
      <p:pic>
        <p:nvPicPr>
          <p:cNvPr id="4" name="Picture 3">
            <a:extLst>
              <a:ext uri="{FF2B5EF4-FFF2-40B4-BE49-F238E27FC236}">
                <a16:creationId xmlns:a16="http://schemas.microsoft.com/office/drawing/2014/main" id="{35FCD436-9861-BEDD-9EF6-7D00DF60964B}"/>
              </a:ext>
            </a:extLst>
          </p:cNvPr>
          <p:cNvPicPr>
            <a:picLocks noChangeAspect="1"/>
          </p:cNvPicPr>
          <p:nvPr/>
        </p:nvPicPr>
        <p:blipFill>
          <a:blip r:embed="rId8"/>
          <a:stretch>
            <a:fillRect/>
          </a:stretch>
        </p:blipFill>
        <p:spPr>
          <a:xfrm>
            <a:off x="6820864" y="1297885"/>
            <a:ext cx="1869676" cy="1869676"/>
          </a:xfrm>
          <a:prstGeom prst="rect">
            <a:avLst/>
          </a:prstGeom>
        </p:spPr>
      </p:pic>
      <p:pic>
        <p:nvPicPr>
          <p:cNvPr id="6" name="Picture 5">
            <a:extLst>
              <a:ext uri="{FF2B5EF4-FFF2-40B4-BE49-F238E27FC236}">
                <a16:creationId xmlns:a16="http://schemas.microsoft.com/office/drawing/2014/main" id="{3E92D6B7-5FBC-9C5E-8071-E7DC8EB51424}"/>
              </a:ext>
            </a:extLst>
          </p:cNvPr>
          <p:cNvPicPr>
            <a:picLocks noChangeAspect="1"/>
          </p:cNvPicPr>
          <p:nvPr/>
        </p:nvPicPr>
        <p:blipFill>
          <a:blip r:embed="rId9"/>
          <a:stretch>
            <a:fillRect/>
          </a:stretch>
        </p:blipFill>
        <p:spPr>
          <a:xfrm>
            <a:off x="9715884" y="1869065"/>
            <a:ext cx="2003224" cy="1869676"/>
          </a:xfrm>
          <a:prstGeom prst="rect">
            <a:avLst/>
          </a:prstGeom>
        </p:spPr>
      </p:pic>
      <p:pic>
        <p:nvPicPr>
          <p:cNvPr id="1028" name="Picture 4" descr="https://www.geeksforgeeks.org/machine-learning/what-is-lag-in-time-series-forecasting/">
            <a:extLst>
              <a:ext uri="{FF2B5EF4-FFF2-40B4-BE49-F238E27FC236}">
                <a16:creationId xmlns:a16="http://schemas.microsoft.com/office/drawing/2014/main" id="{DDDC4ECF-1824-F0C5-0B8B-ED79B6F65D48}"/>
              </a:ext>
            </a:extLst>
          </p:cNvPr>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r="49609"/>
          <a:stretch>
            <a:fillRect/>
          </a:stretch>
        </p:blipFill>
        <p:spPr bwMode="auto">
          <a:xfrm>
            <a:off x="6811541" y="3427089"/>
            <a:ext cx="3769373" cy="22674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4493852-6471-B743-573F-1839A6C9F8DE}"/>
              </a:ext>
            </a:extLst>
          </p:cNvPr>
          <p:cNvSpPr txBox="1"/>
          <p:nvPr/>
        </p:nvSpPr>
        <p:spPr>
          <a:xfrm>
            <a:off x="6713232" y="5617334"/>
            <a:ext cx="3970471" cy="230832"/>
          </a:xfrm>
          <a:prstGeom prst="rect">
            <a:avLst/>
          </a:prstGeom>
          <a:noFill/>
        </p:spPr>
        <p:txBody>
          <a:bodyPr wrap="square">
            <a:spAutoFit/>
          </a:bodyPr>
          <a:lstStyle/>
          <a:p>
            <a:r>
              <a:rPr lang="en-US" sz="900" dirty="0" err="1"/>
              <a:t>geeksforgeeks.org</a:t>
            </a:r>
            <a:r>
              <a:rPr lang="en-US" sz="900" dirty="0"/>
              <a:t>/machine-learning/what-is-lag-in-time-series-forecasting/</a:t>
            </a:r>
          </a:p>
        </p:txBody>
      </p:sp>
    </p:spTree>
    <p:extLst>
      <p:ext uri="{BB962C8B-B14F-4D97-AF65-F5344CB8AC3E}">
        <p14:creationId xmlns:p14="http://schemas.microsoft.com/office/powerpoint/2010/main" val="2534053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CBA236-30B4-49FD-9503-F0FECC8FE8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4BDC56-9F74-AADC-4D67-A6E55FE2D26B}"/>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BCDA963C-54B8-C7B9-4031-D46AFC247398}"/>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0EB3E7BA-59FE-2E07-F5D6-FD9C4D3735C4}"/>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48EB9246-D79E-A1B1-642B-6DB1852076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E0FC0A23-96E5-E717-7279-FC79CDE80A55}"/>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91E8D2EE-AB04-B9D1-47CE-8567921EC8B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3CD21C08-C6CD-8013-D3F0-A30C6D2870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AAB3E23F-0007-7218-893F-223ED43D138C}"/>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AEEAECDD-0CF1-5FD6-F551-A943B2A1A068}"/>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Model</a:t>
            </a:r>
          </a:p>
        </p:txBody>
      </p:sp>
      <p:sp>
        <p:nvSpPr>
          <p:cNvPr id="3" name="TextBox 2">
            <a:extLst>
              <a:ext uri="{FF2B5EF4-FFF2-40B4-BE49-F238E27FC236}">
                <a16:creationId xmlns:a16="http://schemas.microsoft.com/office/drawing/2014/main" id="{082F119A-31E7-65E6-C64E-918F3293EA05}"/>
              </a:ext>
            </a:extLst>
          </p:cNvPr>
          <p:cNvSpPr txBox="1"/>
          <p:nvPr/>
        </p:nvSpPr>
        <p:spPr>
          <a:xfrm>
            <a:off x="566684" y="2289067"/>
            <a:ext cx="6146548" cy="3125727"/>
          </a:xfrm>
          <a:prstGeom prst="rect">
            <a:avLst/>
          </a:prstGeom>
          <a:noFill/>
        </p:spPr>
        <p:txBody>
          <a:bodyPr wrap="square">
            <a:spAutoFit/>
          </a:bodyPr>
          <a:lstStyle/>
          <a:p>
            <a:pPr marL="457200" indent="-457200">
              <a:buFont typeface="Arial" panose="020B0604020202020204" pitchFamily="34" charset="0"/>
              <a:buChar char="•"/>
            </a:pPr>
            <a:r>
              <a:rPr lang="en-US" sz="2000" dirty="0">
                <a:solidFill>
                  <a:srgbClr val="1B415D"/>
                </a:solidFill>
              </a:rPr>
              <a:t>Removing Outliers and null values</a:t>
            </a:r>
          </a:p>
          <a:p>
            <a:pPr marL="914400" lvl="1" indent="-457200">
              <a:buFont typeface="Arial" panose="020B0604020202020204" pitchFamily="34" charset="0"/>
              <a:buChar char="•"/>
            </a:pPr>
            <a:r>
              <a:rPr lang="en-US" sz="2000" dirty="0">
                <a:solidFill>
                  <a:srgbClr val="1B415D"/>
                </a:solidFill>
              </a:rPr>
              <a:t>Time Series Decomposition. [8] </a:t>
            </a:r>
          </a:p>
          <a:p>
            <a:pPr marL="914400" lvl="1" indent="-457200">
              <a:buFont typeface="Arial" panose="020B0604020202020204" pitchFamily="34" charset="0"/>
              <a:buChar char="•"/>
            </a:pPr>
            <a:r>
              <a:rPr lang="en-US" sz="2000" dirty="0">
                <a:solidFill>
                  <a:srgbClr val="1B415D"/>
                </a:solidFill>
              </a:rPr>
              <a:t>Statical methods like normal distribution.</a:t>
            </a:r>
          </a:p>
          <a:p>
            <a:pPr marL="457200" indent="-457200">
              <a:buFont typeface="Arial" panose="020B0604020202020204" pitchFamily="34" charset="0"/>
              <a:buChar char="•"/>
            </a:pPr>
            <a:r>
              <a:rPr lang="en-US" sz="2000" dirty="0">
                <a:solidFill>
                  <a:srgbClr val="1B415D"/>
                </a:solidFill>
              </a:rPr>
              <a:t>Integrating climate data. [3,5]</a:t>
            </a:r>
          </a:p>
          <a:p>
            <a:pPr marL="457200" indent="-457200">
              <a:lnSpc>
                <a:spcPct val="150000"/>
              </a:lnSpc>
              <a:buFont typeface="Arial" panose="020B0604020202020204" pitchFamily="34" charset="0"/>
              <a:buChar char="•"/>
            </a:pPr>
            <a:r>
              <a:rPr lang="en-US" sz="2000" dirty="0">
                <a:solidFill>
                  <a:srgbClr val="1B415D"/>
                </a:solidFill>
              </a:rPr>
              <a:t>THI Compose </a:t>
            </a:r>
          </a:p>
          <a:p>
            <a:pPr marL="914400" lvl="1" indent="-457200">
              <a:lnSpc>
                <a:spcPct val="150000"/>
              </a:lnSpc>
              <a:buFont typeface="Arial" panose="020B0604020202020204" pitchFamily="34" charset="0"/>
              <a:buChar char="•"/>
            </a:pPr>
            <a:r>
              <a:rPr lang="en-US" sz="2000" dirty="0">
                <a:solidFill>
                  <a:srgbClr val="1B415D"/>
                </a:solidFill>
              </a:rPr>
              <a:t>Avg of 2 days before and after [3] </a:t>
            </a:r>
          </a:p>
          <a:p>
            <a:pPr marL="457200" indent="-457200">
              <a:lnSpc>
                <a:spcPct val="150000"/>
              </a:lnSpc>
              <a:buFont typeface="Arial" panose="020B0604020202020204" pitchFamily="34" charset="0"/>
              <a:buChar char="•"/>
            </a:pPr>
            <a:r>
              <a:rPr lang="en-US" sz="2000" dirty="0">
                <a:solidFill>
                  <a:srgbClr val="1B415D"/>
                </a:solidFill>
              </a:rPr>
              <a:t>Lag Features</a:t>
            </a:r>
          </a:p>
          <a:p>
            <a:pPr marL="914400" lvl="1" indent="-457200">
              <a:lnSpc>
                <a:spcPct val="150000"/>
              </a:lnSpc>
              <a:buFont typeface="Arial" panose="020B0604020202020204" pitchFamily="34" charset="0"/>
              <a:buChar char="•"/>
            </a:pPr>
            <a:r>
              <a:rPr lang="en-US" sz="2000" dirty="0">
                <a:solidFill>
                  <a:srgbClr val="1B415D"/>
                </a:solidFill>
              </a:rPr>
              <a:t>Captures the effect of past days</a:t>
            </a:r>
          </a:p>
        </p:txBody>
      </p:sp>
      <p:pic>
        <p:nvPicPr>
          <p:cNvPr id="4" name="Picture 3">
            <a:extLst>
              <a:ext uri="{FF2B5EF4-FFF2-40B4-BE49-F238E27FC236}">
                <a16:creationId xmlns:a16="http://schemas.microsoft.com/office/drawing/2014/main" id="{EB818D59-3DF5-57CC-3E7F-D5320E626A1F}"/>
              </a:ext>
            </a:extLst>
          </p:cNvPr>
          <p:cNvPicPr>
            <a:picLocks noChangeAspect="1"/>
          </p:cNvPicPr>
          <p:nvPr/>
        </p:nvPicPr>
        <p:blipFill>
          <a:blip r:embed="rId8"/>
          <a:stretch>
            <a:fillRect/>
          </a:stretch>
        </p:blipFill>
        <p:spPr>
          <a:xfrm>
            <a:off x="6820864" y="1297885"/>
            <a:ext cx="1869676" cy="1869676"/>
          </a:xfrm>
          <a:prstGeom prst="rect">
            <a:avLst/>
          </a:prstGeom>
        </p:spPr>
      </p:pic>
      <p:pic>
        <p:nvPicPr>
          <p:cNvPr id="6" name="Picture 5">
            <a:extLst>
              <a:ext uri="{FF2B5EF4-FFF2-40B4-BE49-F238E27FC236}">
                <a16:creationId xmlns:a16="http://schemas.microsoft.com/office/drawing/2014/main" id="{4C01F456-2C83-4A85-DA27-112F95C2781B}"/>
              </a:ext>
            </a:extLst>
          </p:cNvPr>
          <p:cNvPicPr>
            <a:picLocks noChangeAspect="1"/>
          </p:cNvPicPr>
          <p:nvPr/>
        </p:nvPicPr>
        <p:blipFill>
          <a:blip r:embed="rId9"/>
          <a:stretch>
            <a:fillRect/>
          </a:stretch>
        </p:blipFill>
        <p:spPr>
          <a:xfrm>
            <a:off x="9715884" y="1869065"/>
            <a:ext cx="2003224" cy="1869676"/>
          </a:xfrm>
          <a:prstGeom prst="rect">
            <a:avLst/>
          </a:prstGeom>
        </p:spPr>
      </p:pic>
      <p:pic>
        <p:nvPicPr>
          <p:cNvPr id="1028" name="Picture 4" descr="https://www.geeksforgeeks.org/machine-learning/what-is-lag-in-time-series-forecasting/">
            <a:extLst>
              <a:ext uri="{FF2B5EF4-FFF2-40B4-BE49-F238E27FC236}">
                <a16:creationId xmlns:a16="http://schemas.microsoft.com/office/drawing/2014/main" id="{E838363C-22DD-128E-4DCC-4F0516235A29}"/>
              </a:ext>
            </a:extLst>
          </p:cNvPr>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r="49609"/>
          <a:stretch>
            <a:fillRect/>
          </a:stretch>
        </p:blipFill>
        <p:spPr bwMode="auto">
          <a:xfrm>
            <a:off x="6811541" y="3427089"/>
            <a:ext cx="3769373" cy="22674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9FD2D09-8AA8-C4A0-1CEA-5D33F3E33D70}"/>
              </a:ext>
            </a:extLst>
          </p:cNvPr>
          <p:cNvSpPr txBox="1"/>
          <p:nvPr/>
        </p:nvSpPr>
        <p:spPr>
          <a:xfrm>
            <a:off x="6713232" y="5617334"/>
            <a:ext cx="3970471" cy="230832"/>
          </a:xfrm>
          <a:prstGeom prst="rect">
            <a:avLst/>
          </a:prstGeom>
          <a:noFill/>
        </p:spPr>
        <p:txBody>
          <a:bodyPr wrap="square">
            <a:spAutoFit/>
          </a:bodyPr>
          <a:lstStyle/>
          <a:p>
            <a:r>
              <a:rPr lang="en-US" sz="900" dirty="0" err="1"/>
              <a:t>geeksforgeeks.org</a:t>
            </a:r>
            <a:r>
              <a:rPr lang="en-US" sz="900" dirty="0"/>
              <a:t>/machine-learning/what-is-lag-in-time-series-forecasting/</a:t>
            </a:r>
          </a:p>
        </p:txBody>
      </p:sp>
    </p:spTree>
    <p:extLst>
      <p:ext uri="{BB962C8B-B14F-4D97-AF65-F5344CB8AC3E}">
        <p14:creationId xmlns:p14="http://schemas.microsoft.com/office/powerpoint/2010/main" val="1804468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1D9A89-ECF6-BD7A-E216-D163A219957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E309FA-8948-CDE1-BBFF-4E72F50D300A}"/>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CDF67F3D-1603-6EDC-BB50-23477F80C397}"/>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D4D5C47-4C9E-EB83-A8F8-0D9200D1A0CF}"/>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1E0AA4A9-334B-A211-989D-08ACB9567B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366E2C6B-3CDE-3041-D2B6-769DCFF9D002}"/>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A283B44E-7921-EF96-4794-1C66DDB30B5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6B37888E-5652-3DC3-B11A-4FA3A7738A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0CABCFC7-3A1D-6D79-B1F9-ADBD569E0C1B}"/>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3D0C6B46-A9B6-BC44-2A4F-84217D395719}"/>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Model Selection for Prediction Task</a:t>
            </a:r>
          </a:p>
        </p:txBody>
      </p:sp>
      <p:sp>
        <p:nvSpPr>
          <p:cNvPr id="3" name="TextBox 2">
            <a:extLst>
              <a:ext uri="{FF2B5EF4-FFF2-40B4-BE49-F238E27FC236}">
                <a16:creationId xmlns:a16="http://schemas.microsoft.com/office/drawing/2014/main" id="{7BBD6652-674A-2793-3116-46F04A248A7F}"/>
              </a:ext>
            </a:extLst>
          </p:cNvPr>
          <p:cNvSpPr txBox="1"/>
          <p:nvPr/>
        </p:nvSpPr>
        <p:spPr>
          <a:xfrm>
            <a:off x="566684" y="2289067"/>
            <a:ext cx="11272634" cy="261546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solidFill>
                  <a:srgbClr val="1B415D"/>
                </a:solidFill>
                <a:sym typeface="Wingdings" pitchFamily="2" charset="2"/>
              </a:rPr>
              <a:t>Individual model for each animal </a:t>
            </a:r>
            <a:r>
              <a:rPr lang="en-US" sz="2000" dirty="0">
                <a:solidFill>
                  <a:srgbClr val="1B415D"/>
                </a:solidFill>
                <a:sym typeface="Wingdings" pitchFamily="2" charset="2"/>
              </a:rPr>
              <a:t>[5,6]</a:t>
            </a:r>
            <a:r>
              <a:rPr lang="en-US" sz="2800" dirty="0">
                <a:solidFill>
                  <a:srgbClr val="1B415D"/>
                </a:solidFill>
                <a:sym typeface="Wingdings" pitchFamily="2" charset="2"/>
              </a:rPr>
              <a:t>:</a:t>
            </a:r>
          </a:p>
          <a:p>
            <a:pPr marL="800100" lvl="1" indent="-342900">
              <a:lnSpc>
                <a:spcPct val="150000"/>
              </a:lnSpc>
              <a:buFont typeface="Arial" panose="020B0604020202020204" pitchFamily="34" charset="0"/>
              <a:buChar char="•"/>
            </a:pPr>
            <a:r>
              <a:rPr lang="en-US" sz="2800" dirty="0">
                <a:solidFill>
                  <a:srgbClr val="1B415D"/>
                </a:solidFill>
                <a:sym typeface="Wingdings" pitchFamily="2" charset="2"/>
              </a:rPr>
              <a:t>Not scalable.</a:t>
            </a:r>
          </a:p>
          <a:p>
            <a:pPr marL="342900" indent="-342900">
              <a:lnSpc>
                <a:spcPct val="150000"/>
              </a:lnSpc>
              <a:buFont typeface="Arial" panose="020B0604020202020204" pitchFamily="34" charset="0"/>
              <a:buChar char="•"/>
            </a:pPr>
            <a:r>
              <a:rPr lang="en-US" sz="2800" dirty="0">
                <a:solidFill>
                  <a:srgbClr val="1B415D"/>
                </a:solidFill>
              </a:rPr>
              <a:t>Global model for all the animals.</a:t>
            </a:r>
          </a:p>
          <a:p>
            <a:pPr marL="800100" lvl="1" indent="-342900">
              <a:lnSpc>
                <a:spcPct val="150000"/>
              </a:lnSpc>
              <a:buFont typeface="Arial" panose="020B0604020202020204" pitchFamily="34" charset="0"/>
              <a:buChar char="•"/>
            </a:pPr>
            <a:r>
              <a:rPr lang="en-US" sz="2800" dirty="0">
                <a:solidFill>
                  <a:srgbClr val="1B415D"/>
                </a:solidFill>
              </a:rPr>
              <a:t>LGBM, </a:t>
            </a:r>
            <a:r>
              <a:rPr lang="en-US" sz="2800" dirty="0" err="1">
                <a:solidFill>
                  <a:srgbClr val="1B415D"/>
                </a:solidFill>
              </a:rPr>
              <a:t>XGBoost</a:t>
            </a:r>
            <a:r>
              <a:rPr lang="en-US" sz="2800" dirty="0">
                <a:solidFill>
                  <a:srgbClr val="1B415D"/>
                </a:solidFill>
              </a:rPr>
              <a:t>,  RNN works perfectly for global model. </a:t>
            </a:r>
            <a:r>
              <a:rPr lang="en-US" sz="2000" dirty="0">
                <a:solidFill>
                  <a:srgbClr val="1B415D"/>
                </a:solidFill>
              </a:rPr>
              <a:t>[3,7]</a:t>
            </a:r>
            <a:endParaRPr lang="en-US" sz="2800" dirty="0">
              <a:solidFill>
                <a:srgbClr val="1B415D"/>
              </a:solidFill>
            </a:endParaRPr>
          </a:p>
        </p:txBody>
      </p:sp>
    </p:spTree>
    <p:extLst>
      <p:ext uri="{BB962C8B-B14F-4D97-AF65-F5344CB8AC3E}">
        <p14:creationId xmlns:p14="http://schemas.microsoft.com/office/powerpoint/2010/main" val="4012219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94EB18-D00A-7C25-2638-BAED9338C1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BA13EB-7948-8069-10B1-2815AFEEA82A}"/>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4B7E5826-B507-4BC3-5367-072A51DE8CB6}"/>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091BE09-867C-2BCE-22F4-C8E2979CDADE}"/>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805527F1-098F-87A7-ACE5-DBCDDA7EC3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C5411C04-E3EC-E5F7-FC4C-35BE27F12160}"/>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2735159E-AEB3-0A07-BD84-6BEAA75D640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5CFD98B8-5E2E-5276-B932-B6F554ADEC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08DBD9DB-CE9F-329E-C5D9-51BCFDE4E9F1}"/>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A724BF28-A004-F740-3888-69C7D66C9403}"/>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Evaluation and Metrics</a:t>
            </a:r>
          </a:p>
        </p:txBody>
      </p:sp>
      <p:sp>
        <p:nvSpPr>
          <p:cNvPr id="3" name="TextBox 2">
            <a:extLst>
              <a:ext uri="{FF2B5EF4-FFF2-40B4-BE49-F238E27FC236}">
                <a16:creationId xmlns:a16="http://schemas.microsoft.com/office/drawing/2014/main" id="{2669AA5B-F0A3-5C0E-39FC-2011331C9DF5}"/>
              </a:ext>
            </a:extLst>
          </p:cNvPr>
          <p:cNvSpPr txBox="1"/>
          <p:nvPr/>
        </p:nvSpPr>
        <p:spPr>
          <a:xfrm>
            <a:off x="566684" y="2289067"/>
            <a:ext cx="3299922" cy="323787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solidFill>
                  <a:srgbClr val="1B415D"/>
                </a:solidFill>
                <a:sym typeface="Wingdings" pitchFamily="2" charset="2"/>
              </a:rPr>
              <a:t>Cross-Validation</a:t>
            </a:r>
          </a:p>
          <a:p>
            <a:pPr marL="342900" indent="-342900">
              <a:lnSpc>
                <a:spcPct val="150000"/>
              </a:lnSpc>
              <a:buFont typeface="Arial" panose="020B0604020202020204" pitchFamily="34" charset="0"/>
              <a:buChar char="•"/>
            </a:pPr>
            <a:r>
              <a:rPr lang="en-US" sz="2800" dirty="0">
                <a:solidFill>
                  <a:srgbClr val="1B415D"/>
                </a:solidFill>
                <a:sym typeface="Wingdings" pitchFamily="2" charset="2"/>
              </a:rPr>
              <a:t>Global model  </a:t>
            </a:r>
          </a:p>
          <a:p>
            <a:pPr marL="800100" lvl="1" indent="-342900">
              <a:lnSpc>
                <a:spcPct val="150000"/>
              </a:lnSpc>
              <a:buFont typeface="Arial" panose="020B0604020202020204" pitchFamily="34" charset="0"/>
              <a:buChar char="•"/>
            </a:pPr>
            <a:r>
              <a:rPr lang="en-US" dirty="0">
                <a:solidFill>
                  <a:srgbClr val="1B415D"/>
                </a:solidFill>
                <a:sym typeface="Wingdings" pitchFamily="2" charset="2"/>
              </a:rPr>
              <a:t>We can use both</a:t>
            </a:r>
          </a:p>
          <a:p>
            <a:pPr marL="342900" indent="-342900">
              <a:lnSpc>
                <a:spcPct val="150000"/>
              </a:lnSpc>
              <a:buFont typeface="Arial" panose="020B0604020202020204" pitchFamily="34" charset="0"/>
              <a:buChar char="•"/>
            </a:pPr>
            <a:r>
              <a:rPr lang="en-US" sz="2800" dirty="0">
                <a:solidFill>
                  <a:srgbClr val="1B415D"/>
                </a:solidFill>
                <a:sym typeface="Wingdings" pitchFamily="2" charset="2"/>
              </a:rPr>
              <a:t>Individual model  </a:t>
            </a:r>
          </a:p>
          <a:p>
            <a:pPr marL="800100" lvl="1" indent="-342900">
              <a:lnSpc>
                <a:spcPct val="150000"/>
              </a:lnSpc>
              <a:buFont typeface="Arial" panose="020B0604020202020204" pitchFamily="34" charset="0"/>
              <a:buChar char="•"/>
            </a:pPr>
            <a:r>
              <a:rPr lang="en-US" dirty="0">
                <a:solidFill>
                  <a:srgbClr val="1B415D"/>
                </a:solidFill>
                <a:sym typeface="Wingdings" pitchFamily="2" charset="2"/>
              </a:rPr>
              <a:t>We can use time series cross validation </a:t>
            </a:r>
            <a:endParaRPr lang="en-US" sz="2800" dirty="0">
              <a:solidFill>
                <a:srgbClr val="1B415D"/>
              </a:solidFill>
              <a:sym typeface="Wingdings" pitchFamily="2" charset="2"/>
            </a:endParaRPr>
          </a:p>
        </p:txBody>
      </p:sp>
      <p:pic>
        <p:nvPicPr>
          <p:cNvPr id="2052" name="Picture 4" descr="Classical k -fold cross validation vs. time series split cross validation |  Download Scientific Diagram">
            <a:extLst>
              <a:ext uri="{FF2B5EF4-FFF2-40B4-BE49-F238E27FC236}">
                <a16:creationId xmlns:a16="http://schemas.microsoft.com/office/drawing/2014/main" id="{8A136E2D-582B-46BF-190A-CFBDDFC380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6606" y="2182065"/>
            <a:ext cx="8104846" cy="34421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423F93-BC90-179B-42B2-A9D218D0A3AF}"/>
              </a:ext>
            </a:extLst>
          </p:cNvPr>
          <p:cNvSpPr txBox="1"/>
          <p:nvPr/>
        </p:nvSpPr>
        <p:spPr>
          <a:xfrm>
            <a:off x="4564263" y="5358796"/>
            <a:ext cx="7014755" cy="246221"/>
          </a:xfrm>
          <a:prstGeom prst="rect">
            <a:avLst/>
          </a:prstGeom>
          <a:noFill/>
        </p:spPr>
        <p:txBody>
          <a:bodyPr wrap="square">
            <a:spAutoFit/>
          </a:bodyPr>
          <a:lstStyle/>
          <a:p>
            <a:r>
              <a:rPr lang="en-US" sz="1000" dirty="0">
                <a:hlinkClick r:id="rId9"/>
              </a:rPr>
              <a:t>https://</a:t>
            </a:r>
            <a:r>
              <a:rPr lang="en-US" sz="1000" dirty="0" err="1">
                <a:hlinkClick r:id="rId9"/>
              </a:rPr>
              <a:t>www.researchgate.net</a:t>
            </a:r>
            <a:r>
              <a:rPr lang="en-US" sz="1000" dirty="0">
                <a:hlinkClick r:id="rId9"/>
              </a:rPr>
              <a:t>/figure/Classical-k-fold-cross-validation-vs-time-series-split-cross-validation_fig1_355889701</a:t>
            </a:r>
            <a:endParaRPr lang="en-US" sz="1000" dirty="0"/>
          </a:p>
        </p:txBody>
      </p:sp>
    </p:spTree>
    <p:extLst>
      <p:ext uri="{BB962C8B-B14F-4D97-AF65-F5344CB8AC3E}">
        <p14:creationId xmlns:p14="http://schemas.microsoft.com/office/powerpoint/2010/main" val="724607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A5A5CA-E797-8018-7C7F-0DB67A977A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C5F19D-D7B4-CAB4-FF21-47E9769D7ABE}"/>
              </a:ext>
            </a:extLst>
          </p:cNvPr>
          <p:cNvPicPr>
            <a:picLocks/>
          </p:cNvPicPr>
          <p:nvPr/>
        </p:nvPicPr>
        <p:blipFill>
          <a:blip r:embed="rId3"/>
          <a:stretch>
            <a:fillRect/>
          </a:stretch>
        </p:blipFill>
        <p:spPr>
          <a:xfrm>
            <a:off x="-68921" y="5929314"/>
            <a:ext cx="12308114" cy="1063680"/>
          </a:xfrm>
          <a:prstGeom prst="rect">
            <a:avLst/>
          </a:prstGeom>
        </p:spPr>
      </p:pic>
      <p:pic>
        <p:nvPicPr>
          <p:cNvPr id="3074" name="Picture 2" descr="Predict PNG Transparent Images Free Download | Vector Files | Pngtree">
            <a:extLst>
              <a:ext uri="{FF2B5EF4-FFF2-40B4-BE49-F238E27FC236}">
                <a16:creationId xmlns:a16="http://schemas.microsoft.com/office/drawing/2014/main" id="{EEB3A298-452F-21BD-485E-3C9E8248911A}"/>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9EBB90D6-E970-4110-A519-7DE513BE3D70}"/>
              </a:ext>
            </a:extLst>
          </p:cNvPr>
          <p:cNvPicPr>
            <a:picLocks/>
          </p:cNvPicPr>
          <p:nvPr/>
        </p:nvPicPr>
        <p:blipFill>
          <a:blip r:embed="rId3"/>
          <a:stretch>
            <a:fillRect/>
          </a:stretch>
        </p:blipFill>
        <p:spPr>
          <a:xfrm>
            <a:off x="-58056" y="-115208"/>
            <a:ext cx="12308114" cy="1333500"/>
          </a:xfrm>
          <a:prstGeom prst="rect">
            <a:avLst/>
          </a:prstGeom>
        </p:spPr>
      </p:pic>
      <p:pic>
        <p:nvPicPr>
          <p:cNvPr id="12" name="Picture 4" descr="Home – Planet">
            <a:extLst>
              <a:ext uri="{FF2B5EF4-FFF2-40B4-BE49-F238E27FC236}">
                <a16:creationId xmlns:a16="http://schemas.microsoft.com/office/drawing/2014/main" id="{D74CD919-B5C1-AD1B-3ACC-CC3E7D364D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2BDE0108-3AF2-23B5-BD5E-AC0C472F9B6C}"/>
              </a:ext>
            </a:extLst>
          </p:cNvPr>
          <p:cNvGrpSpPr/>
          <p:nvPr/>
        </p:nvGrpSpPr>
        <p:grpSpPr>
          <a:xfrm>
            <a:off x="8803346" y="58766"/>
            <a:ext cx="3388653" cy="1043369"/>
            <a:chOff x="6076930" y="399008"/>
            <a:chExt cx="6115070" cy="1882835"/>
          </a:xfrm>
        </p:grpSpPr>
        <p:pic>
          <p:nvPicPr>
            <p:cNvPr id="14" name="Picture 2" descr="Logo Università di Napoli Federico II">
              <a:extLst>
                <a:ext uri="{FF2B5EF4-FFF2-40B4-BE49-F238E27FC236}">
                  <a16:creationId xmlns:a16="http://schemas.microsoft.com/office/drawing/2014/main" id="{C890D234-11D1-C222-1BC1-01D4B1BD295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Master Degree | International Relations | Italia">
              <a:extLst>
                <a:ext uri="{FF2B5EF4-FFF2-40B4-BE49-F238E27FC236}">
                  <a16:creationId xmlns:a16="http://schemas.microsoft.com/office/drawing/2014/main" id="{904A8618-FD2B-D227-7643-5F35407585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35310C75-2454-FCEF-E21A-20243FEDD380}"/>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
        <p:nvSpPr>
          <p:cNvPr id="2" name="TextBox 1">
            <a:extLst>
              <a:ext uri="{FF2B5EF4-FFF2-40B4-BE49-F238E27FC236}">
                <a16:creationId xmlns:a16="http://schemas.microsoft.com/office/drawing/2014/main" id="{BBBF64D3-34F2-5F4B-E621-70E69116F484}"/>
              </a:ext>
            </a:extLst>
          </p:cNvPr>
          <p:cNvSpPr txBox="1"/>
          <p:nvPr/>
        </p:nvSpPr>
        <p:spPr>
          <a:xfrm>
            <a:off x="178526" y="1545900"/>
            <a:ext cx="8419784" cy="646331"/>
          </a:xfrm>
          <a:prstGeom prst="rect">
            <a:avLst/>
          </a:prstGeom>
          <a:noFill/>
        </p:spPr>
        <p:txBody>
          <a:bodyPr wrap="square" rtlCol="0">
            <a:spAutoFit/>
          </a:bodyPr>
          <a:lstStyle/>
          <a:p>
            <a:r>
              <a:rPr lang="en-US" sz="3600" b="1" dirty="0">
                <a:solidFill>
                  <a:srgbClr val="1B415D"/>
                </a:solidFill>
              </a:rPr>
              <a:t>Evaluation and Metrics</a:t>
            </a:r>
          </a:p>
        </p:txBody>
      </p:sp>
      <p:sp>
        <p:nvSpPr>
          <p:cNvPr id="3" name="TextBox 2">
            <a:extLst>
              <a:ext uri="{FF2B5EF4-FFF2-40B4-BE49-F238E27FC236}">
                <a16:creationId xmlns:a16="http://schemas.microsoft.com/office/drawing/2014/main" id="{30849FA3-C5A7-89A2-EEC2-E15D54812CEE}"/>
              </a:ext>
            </a:extLst>
          </p:cNvPr>
          <p:cNvSpPr txBox="1"/>
          <p:nvPr/>
        </p:nvSpPr>
        <p:spPr>
          <a:xfrm>
            <a:off x="566684" y="2289067"/>
            <a:ext cx="4597400" cy="196912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solidFill>
                  <a:srgbClr val="1B415D"/>
                </a:solidFill>
                <a:sym typeface="Wingdings" pitchFamily="2" charset="2"/>
              </a:rPr>
              <a:t>R-squared</a:t>
            </a:r>
          </a:p>
          <a:p>
            <a:pPr>
              <a:lnSpc>
                <a:spcPct val="150000"/>
              </a:lnSpc>
            </a:pPr>
            <a:endParaRPr lang="en-US" sz="2800" dirty="0">
              <a:solidFill>
                <a:srgbClr val="1B415D"/>
              </a:solidFill>
              <a:sym typeface="Wingdings" pitchFamily="2" charset="2"/>
            </a:endParaRPr>
          </a:p>
          <a:p>
            <a:pPr marL="342900" indent="-342900">
              <a:lnSpc>
                <a:spcPct val="150000"/>
              </a:lnSpc>
              <a:buFont typeface="Arial" panose="020B0604020202020204" pitchFamily="34" charset="0"/>
              <a:buChar char="•"/>
            </a:pPr>
            <a:r>
              <a:rPr lang="en-US" sz="2800" dirty="0">
                <a:solidFill>
                  <a:srgbClr val="1B415D"/>
                </a:solidFill>
                <a:sym typeface="Wingdings" pitchFamily="2" charset="2"/>
              </a:rPr>
              <a:t>Root mean squared Error</a:t>
            </a:r>
          </a:p>
        </p:txBody>
      </p:sp>
      <p:grpSp>
        <p:nvGrpSpPr>
          <p:cNvPr id="4" name="Group 3">
            <a:extLst>
              <a:ext uri="{FF2B5EF4-FFF2-40B4-BE49-F238E27FC236}">
                <a16:creationId xmlns:a16="http://schemas.microsoft.com/office/drawing/2014/main" id="{68931B18-8309-86A0-966A-C03108FC3468}"/>
              </a:ext>
            </a:extLst>
          </p:cNvPr>
          <p:cNvGrpSpPr/>
          <p:nvPr/>
        </p:nvGrpSpPr>
        <p:grpSpPr>
          <a:xfrm>
            <a:off x="4728053" y="2150588"/>
            <a:ext cx="4380412" cy="1381024"/>
            <a:chOff x="4388418" y="2122544"/>
            <a:chExt cx="4380412" cy="1381024"/>
          </a:xfrm>
        </p:grpSpPr>
        <p:pic>
          <p:nvPicPr>
            <p:cNvPr id="4100" name="Picture 4" descr="Looking at R-Squared. In data science we create regression… | by Erika D |  Medium">
              <a:extLst>
                <a:ext uri="{FF2B5EF4-FFF2-40B4-BE49-F238E27FC236}">
                  <a16:creationId xmlns:a16="http://schemas.microsoft.com/office/drawing/2014/main" id="{0E40B6AA-5458-2E01-3C3B-B08DFEB2231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83397"/>
            <a:stretch>
              <a:fillRect/>
            </a:stretch>
          </p:blipFill>
          <p:spPr bwMode="auto">
            <a:xfrm>
              <a:off x="4388418" y="2122544"/>
              <a:ext cx="1150233" cy="138102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Looking at R-Squared. In data science we create regression… | by Erika D |  Medium">
              <a:extLst>
                <a:ext uri="{FF2B5EF4-FFF2-40B4-BE49-F238E27FC236}">
                  <a16:creationId xmlns:a16="http://schemas.microsoft.com/office/drawing/2014/main" id="{A2AF35E4-69CA-A58A-D606-1D3D6F65960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3373"/>
            <a:stretch>
              <a:fillRect/>
            </a:stretch>
          </p:blipFill>
          <p:spPr bwMode="auto">
            <a:xfrm>
              <a:off x="5538651" y="2122544"/>
              <a:ext cx="3230179" cy="1381024"/>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5">
            <a:extLst>
              <a:ext uri="{FF2B5EF4-FFF2-40B4-BE49-F238E27FC236}">
                <a16:creationId xmlns:a16="http://schemas.microsoft.com/office/drawing/2014/main" id="{9B210D00-49D2-20A5-B2A8-4569425A21AB}"/>
              </a:ext>
            </a:extLst>
          </p:cNvPr>
          <p:cNvPicPr>
            <a:picLocks noChangeAspect="1"/>
          </p:cNvPicPr>
          <p:nvPr/>
        </p:nvPicPr>
        <p:blipFill>
          <a:blip r:embed="rId9"/>
          <a:stretch>
            <a:fillRect/>
          </a:stretch>
        </p:blipFill>
        <p:spPr>
          <a:xfrm>
            <a:off x="4511065" y="4288451"/>
            <a:ext cx="4597400" cy="1435100"/>
          </a:xfrm>
          <a:prstGeom prst="rect">
            <a:avLst/>
          </a:prstGeom>
        </p:spPr>
      </p:pic>
      <p:pic>
        <p:nvPicPr>
          <p:cNvPr id="9" name="Picture 8" descr="Looking at R-Squared. In data science we create regression… | by Erika D |  Medium">
            <a:extLst>
              <a:ext uri="{FF2B5EF4-FFF2-40B4-BE49-F238E27FC236}">
                <a16:creationId xmlns:a16="http://schemas.microsoft.com/office/drawing/2014/main" id="{3ED164B5-161F-71FA-C448-07617ACF891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6529" t="8411" r="7868" b="53199"/>
          <a:stretch>
            <a:fillRect/>
          </a:stretch>
        </p:blipFill>
        <p:spPr bwMode="auto">
          <a:xfrm>
            <a:off x="9958700" y="2360532"/>
            <a:ext cx="388158" cy="53017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D99142A-D796-B2CC-361B-FE35B8CA0A3F}"/>
              </a:ext>
            </a:extLst>
          </p:cNvPr>
          <p:cNvSpPr txBox="1"/>
          <p:nvPr/>
        </p:nvSpPr>
        <p:spPr>
          <a:xfrm>
            <a:off x="10346858" y="2520078"/>
            <a:ext cx="1745221" cy="369332"/>
          </a:xfrm>
          <a:prstGeom prst="rect">
            <a:avLst/>
          </a:prstGeom>
          <a:noFill/>
        </p:spPr>
        <p:txBody>
          <a:bodyPr wrap="none" rtlCol="0">
            <a:spAutoFit/>
          </a:bodyPr>
          <a:lstStyle/>
          <a:p>
            <a:r>
              <a:rPr lang="en-US" dirty="0">
                <a:solidFill>
                  <a:srgbClr val="1B415D"/>
                </a:solidFill>
              </a:rPr>
              <a:t>Predicted Value</a:t>
            </a:r>
          </a:p>
        </p:txBody>
      </p:sp>
      <p:pic>
        <p:nvPicPr>
          <p:cNvPr id="16" name="Picture 8" descr="Looking at R-Squared. In data science we create regression… | by Erika D |  Medium">
            <a:extLst>
              <a:ext uri="{FF2B5EF4-FFF2-40B4-BE49-F238E27FC236}">
                <a16:creationId xmlns:a16="http://schemas.microsoft.com/office/drawing/2014/main" id="{A80365AB-8A15-FD84-785B-EBB96F4DE4D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5114" t="20052" r="19283" b="56608"/>
          <a:stretch>
            <a:fillRect/>
          </a:stretch>
        </p:blipFill>
        <p:spPr bwMode="auto">
          <a:xfrm>
            <a:off x="9984826" y="3043480"/>
            <a:ext cx="388158" cy="32233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B68D679-75F3-5413-C529-C6F651512BE5}"/>
              </a:ext>
            </a:extLst>
          </p:cNvPr>
          <p:cNvSpPr txBox="1"/>
          <p:nvPr/>
        </p:nvSpPr>
        <p:spPr>
          <a:xfrm>
            <a:off x="10400421" y="3048806"/>
            <a:ext cx="1431161" cy="369332"/>
          </a:xfrm>
          <a:prstGeom prst="rect">
            <a:avLst/>
          </a:prstGeom>
          <a:noFill/>
        </p:spPr>
        <p:txBody>
          <a:bodyPr wrap="none" rtlCol="0">
            <a:spAutoFit/>
          </a:bodyPr>
          <a:lstStyle/>
          <a:p>
            <a:r>
              <a:rPr lang="en-US" dirty="0">
                <a:solidFill>
                  <a:srgbClr val="1B415D"/>
                </a:solidFill>
              </a:rPr>
              <a:t>Actual Value</a:t>
            </a:r>
          </a:p>
        </p:txBody>
      </p:sp>
      <p:pic>
        <p:nvPicPr>
          <p:cNvPr id="18" name="Picture 8" descr="Looking at R-Squared. In data science we create regression… | by Erika D |  Medium">
            <a:extLst>
              <a:ext uri="{FF2B5EF4-FFF2-40B4-BE49-F238E27FC236}">
                <a16:creationId xmlns:a16="http://schemas.microsoft.com/office/drawing/2014/main" id="{0B7B060C-C3A3-96D7-E4FA-4D8F9BB7087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7566" t="52612" r="8285" b="8860"/>
          <a:stretch>
            <a:fillRect/>
          </a:stretch>
        </p:blipFill>
        <p:spPr bwMode="auto">
          <a:xfrm>
            <a:off x="9997889" y="3570845"/>
            <a:ext cx="287383" cy="532083"/>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E693343-3B7E-BF3B-2D17-19DE55AC5DC6}"/>
              </a:ext>
            </a:extLst>
          </p:cNvPr>
          <p:cNvSpPr txBox="1"/>
          <p:nvPr/>
        </p:nvSpPr>
        <p:spPr>
          <a:xfrm>
            <a:off x="10478797" y="3507423"/>
            <a:ext cx="1431161" cy="646331"/>
          </a:xfrm>
          <a:prstGeom prst="rect">
            <a:avLst/>
          </a:prstGeom>
          <a:noFill/>
        </p:spPr>
        <p:txBody>
          <a:bodyPr wrap="square" rtlCol="0">
            <a:spAutoFit/>
          </a:bodyPr>
          <a:lstStyle/>
          <a:p>
            <a:r>
              <a:rPr lang="en-US" dirty="0">
                <a:solidFill>
                  <a:srgbClr val="1B415D"/>
                </a:solidFill>
              </a:rPr>
              <a:t>Mean of Actual Value</a:t>
            </a:r>
          </a:p>
        </p:txBody>
      </p:sp>
      <p:pic>
        <p:nvPicPr>
          <p:cNvPr id="21" name="Picture 20">
            <a:extLst>
              <a:ext uri="{FF2B5EF4-FFF2-40B4-BE49-F238E27FC236}">
                <a16:creationId xmlns:a16="http://schemas.microsoft.com/office/drawing/2014/main" id="{678503FC-9F12-4FC8-5A0D-9924A622DADC}"/>
              </a:ext>
            </a:extLst>
          </p:cNvPr>
          <p:cNvPicPr>
            <a:picLocks noChangeAspect="1"/>
          </p:cNvPicPr>
          <p:nvPr/>
        </p:nvPicPr>
        <p:blipFill>
          <a:blip r:embed="rId9"/>
          <a:srcRect l="75762" t="55833" r="13725" b="15012"/>
          <a:stretch>
            <a:fillRect/>
          </a:stretch>
        </p:blipFill>
        <p:spPr>
          <a:xfrm>
            <a:off x="9899916" y="4282651"/>
            <a:ext cx="483327" cy="418414"/>
          </a:xfrm>
          <a:prstGeom prst="rect">
            <a:avLst/>
          </a:prstGeom>
        </p:spPr>
      </p:pic>
      <p:sp>
        <p:nvSpPr>
          <p:cNvPr id="22" name="TextBox 21">
            <a:extLst>
              <a:ext uri="{FF2B5EF4-FFF2-40B4-BE49-F238E27FC236}">
                <a16:creationId xmlns:a16="http://schemas.microsoft.com/office/drawing/2014/main" id="{F7DDF06C-7BF4-1C8C-D259-970562DDD128}"/>
              </a:ext>
            </a:extLst>
          </p:cNvPr>
          <p:cNvSpPr txBox="1"/>
          <p:nvPr/>
        </p:nvSpPr>
        <p:spPr>
          <a:xfrm>
            <a:off x="10519297" y="4221776"/>
            <a:ext cx="1431161" cy="646331"/>
          </a:xfrm>
          <a:prstGeom prst="rect">
            <a:avLst/>
          </a:prstGeom>
          <a:noFill/>
        </p:spPr>
        <p:txBody>
          <a:bodyPr wrap="square" rtlCol="0">
            <a:spAutoFit/>
          </a:bodyPr>
          <a:lstStyle/>
          <a:p>
            <a:r>
              <a:rPr lang="en-US" dirty="0">
                <a:solidFill>
                  <a:srgbClr val="1B415D"/>
                </a:solidFill>
              </a:rPr>
              <a:t>Number of samples</a:t>
            </a:r>
          </a:p>
        </p:txBody>
      </p:sp>
    </p:spTree>
    <p:extLst>
      <p:ext uri="{BB962C8B-B14F-4D97-AF65-F5344CB8AC3E}">
        <p14:creationId xmlns:p14="http://schemas.microsoft.com/office/powerpoint/2010/main" val="3079139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C6BD99-2C49-3576-31E1-971C0FF4B1E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B3CAD3F-FEE7-F76C-0B11-BC4BE4020618}"/>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Hierarchical Reconciliation </a:t>
            </a:r>
            <a:r>
              <a:rPr lang="en-US" b="1" dirty="0">
                <a:solidFill>
                  <a:srgbClr val="1B415D"/>
                </a:solidFill>
              </a:rPr>
              <a:t>[10]</a:t>
            </a:r>
            <a:endParaRPr lang="en-US" sz="3600" b="1" dirty="0">
              <a:solidFill>
                <a:srgbClr val="1B415D"/>
              </a:solidFill>
            </a:endParaRPr>
          </a:p>
        </p:txBody>
      </p:sp>
      <p:sp>
        <p:nvSpPr>
          <p:cNvPr id="2" name="TextBox 1">
            <a:extLst>
              <a:ext uri="{FF2B5EF4-FFF2-40B4-BE49-F238E27FC236}">
                <a16:creationId xmlns:a16="http://schemas.microsoft.com/office/drawing/2014/main" id="{9115CF70-4683-4F7E-1897-CF66F2EE0722}"/>
              </a:ext>
            </a:extLst>
          </p:cNvPr>
          <p:cNvSpPr txBox="1"/>
          <p:nvPr/>
        </p:nvSpPr>
        <p:spPr>
          <a:xfrm>
            <a:off x="404158" y="2348160"/>
            <a:ext cx="11534557" cy="3908762"/>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A model will be trained on the data[</a:t>
            </a:r>
            <a:r>
              <a:rPr lang="en-US" sz="3600" dirty="0" err="1">
                <a:solidFill>
                  <a:srgbClr val="1B415D"/>
                </a:solidFill>
              </a:rPr>
              <a:t>XGBoost</a:t>
            </a:r>
            <a:r>
              <a:rPr lang="en-US" sz="3600" dirty="0">
                <a:solidFill>
                  <a:srgbClr val="1B415D"/>
                </a:solidFill>
              </a:rPr>
              <a:t>, ...].</a:t>
            </a:r>
          </a:p>
          <a:p>
            <a:pPr marL="571500" indent="-571500">
              <a:buFont typeface="Arial" panose="020B0604020202020204" pitchFamily="34" charset="0"/>
              <a:buChar char="•"/>
            </a:pPr>
            <a:r>
              <a:rPr lang="en-US" sz="3600" dirty="0">
                <a:solidFill>
                  <a:srgbClr val="1B415D"/>
                </a:solidFill>
              </a:rPr>
              <a:t>Forecast on the data using current model.</a:t>
            </a:r>
          </a:p>
          <a:p>
            <a:pPr marL="571500" indent="-571500">
              <a:buFont typeface="Arial" panose="020B0604020202020204" pitchFamily="34" charset="0"/>
              <a:buChar char="•"/>
            </a:pPr>
            <a:r>
              <a:rPr lang="en-US" sz="3600" dirty="0">
                <a:solidFill>
                  <a:srgbClr val="1B415D"/>
                </a:solidFill>
              </a:rPr>
              <a:t>Reconcile the predicted values using statistical approaches:</a:t>
            </a:r>
          </a:p>
          <a:p>
            <a:pPr marL="1028700" lvl="1" indent="-571500">
              <a:buFont typeface="Arial" panose="020B0604020202020204" pitchFamily="34" charset="0"/>
              <a:buChar char="•"/>
            </a:pPr>
            <a:r>
              <a:rPr lang="en-US" sz="3600" dirty="0">
                <a:solidFill>
                  <a:srgbClr val="1B415D"/>
                </a:solidFill>
              </a:rPr>
              <a:t> </a:t>
            </a:r>
            <a:r>
              <a:rPr lang="en-US" sz="3200" dirty="0" err="1">
                <a:solidFill>
                  <a:srgbClr val="1B415D"/>
                </a:solidFill>
              </a:rPr>
              <a:t>MinT</a:t>
            </a:r>
            <a:r>
              <a:rPr lang="en-US" sz="3200" b="1" dirty="0">
                <a:solidFill>
                  <a:srgbClr val="1B415D"/>
                </a:solidFill>
              </a:rPr>
              <a:t> : </a:t>
            </a:r>
            <a:r>
              <a:rPr lang="en-US" sz="3200" dirty="0">
                <a:solidFill>
                  <a:srgbClr val="1B415D"/>
                </a:solidFill>
              </a:rPr>
              <a:t>minimize the variance between reconciled values and base forecast error.</a:t>
            </a: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F4659740-E0B8-551A-6F04-1D2CE601319A}"/>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D94A0AAE-0205-4AB3-BA62-FCAF5EB96621}"/>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EF09FFF-9684-9E0F-FBC9-08C67AAB26A3}"/>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E7D2AA5A-DDC9-7324-C32C-3CF6CFFF9A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79304684-0EDB-57CB-B740-C699A37670B6}"/>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CF9EBC4C-90ED-D623-08C9-2B73C2D7B81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AB11A3AF-28C1-03D3-1FA9-D818DC516C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98673295-50FE-9AA0-B70E-35F31C1FEFCE}"/>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2777109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7EBE-1AD6-BABE-622D-1B37F9335E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80DBA0-15DC-68C6-D1D0-F68DC5882E9D}"/>
              </a:ext>
            </a:extLst>
          </p:cNvPr>
          <p:cNvPicPr>
            <a:picLocks/>
          </p:cNvPicPr>
          <p:nvPr/>
        </p:nvPicPr>
        <p:blipFill>
          <a:blip r:embed="rId3"/>
          <a:stretch>
            <a:fillRect/>
          </a:stretch>
        </p:blipFill>
        <p:spPr>
          <a:xfrm>
            <a:off x="-21266" y="4580707"/>
            <a:ext cx="12308114" cy="2944043"/>
          </a:xfrm>
          <a:prstGeom prst="rect">
            <a:avLst/>
          </a:prstGeom>
        </p:spPr>
      </p:pic>
      <p:pic>
        <p:nvPicPr>
          <p:cNvPr id="4" name="Picture 3">
            <a:extLst>
              <a:ext uri="{FF2B5EF4-FFF2-40B4-BE49-F238E27FC236}">
                <a16:creationId xmlns:a16="http://schemas.microsoft.com/office/drawing/2014/main" id="{E9FFF461-0FD0-D7AD-1524-6DD6E9F059FC}"/>
              </a:ext>
            </a:extLst>
          </p:cNvPr>
          <p:cNvPicPr>
            <a:picLocks/>
          </p:cNvPicPr>
          <p:nvPr/>
        </p:nvPicPr>
        <p:blipFill>
          <a:blip r:embed="rId3"/>
          <a:stretch>
            <a:fillRect/>
          </a:stretch>
        </p:blipFill>
        <p:spPr>
          <a:xfrm>
            <a:off x="-58056" y="-115209"/>
            <a:ext cx="12308114" cy="2944043"/>
          </a:xfrm>
          <a:prstGeom prst="rect">
            <a:avLst/>
          </a:prstGeom>
        </p:spPr>
      </p:pic>
      <p:pic>
        <p:nvPicPr>
          <p:cNvPr id="1028" name="Picture 4" descr="Home – Planet">
            <a:extLst>
              <a:ext uri="{FF2B5EF4-FFF2-40B4-BE49-F238E27FC236}">
                <a16:creationId xmlns:a16="http://schemas.microsoft.com/office/drawing/2014/main" id="{7843C5D6-EB37-D398-B486-588D4CA2D8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30" y="288828"/>
            <a:ext cx="4939115" cy="21672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DF60051-3CA5-10D4-38C3-9266434B0DA5}"/>
              </a:ext>
            </a:extLst>
          </p:cNvPr>
          <p:cNvSpPr txBox="1"/>
          <p:nvPr/>
        </p:nvSpPr>
        <p:spPr>
          <a:xfrm>
            <a:off x="1401147" y="3072906"/>
            <a:ext cx="9389706" cy="1200329"/>
          </a:xfrm>
          <a:prstGeom prst="rect">
            <a:avLst/>
          </a:prstGeom>
          <a:noFill/>
        </p:spPr>
        <p:txBody>
          <a:bodyPr wrap="square" rtlCol="0" anchor="ctr" anchorCtr="0">
            <a:spAutoFit/>
          </a:bodyPr>
          <a:lstStyle/>
          <a:p>
            <a:pPr algn="ctr"/>
            <a:r>
              <a:rPr lang="en-US" sz="3600" b="1" dirty="0">
                <a:solidFill>
                  <a:srgbClr val="1B415D"/>
                </a:solidFill>
              </a:rPr>
              <a:t>Literature Methodology on prediction of hierarchical time series</a:t>
            </a:r>
          </a:p>
        </p:txBody>
      </p:sp>
      <p:grpSp>
        <p:nvGrpSpPr>
          <p:cNvPr id="9" name="Group 8">
            <a:extLst>
              <a:ext uri="{FF2B5EF4-FFF2-40B4-BE49-F238E27FC236}">
                <a16:creationId xmlns:a16="http://schemas.microsoft.com/office/drawing/2014/main" id="{7B34A88F-D60C-2E45-3579-2D28D8F66788}"/>
              </a:ext>
            </a:extLst>
          </p:cNvPr>
          <p:cNvGrpSpPr/>
          <p:nvPr/>
        </p:nvGrpSpPr>
        <p:grpSpPr>
          <a:xfrm>
            <a:off x="6076930" y="399008"/>
            <a:ext cx="6115070" cy="1882835"/>
            <a:chOff x="6076930" y="399008"/>
            <a:chExt cx="6115070" cy="1882835"/>
          </a:xfrm>
        </p:grpSpPr>
        <p:pic>
          <p:nvPicPr>
            <p:cNvPr id="1026" name="Picture 2" descr="Logo Università di Napoli Federico II">
              <a:extLst>
                <a:ext uri="{FF2B5EF4-FFF2-40B4-BE49-F238E27FC236}">
                  <a16:creationId xmlns:a16="http://schemas.microsoft.com/office/drawing/2014/main" id="{EE838C90-7B4A-DEB1-FEDA-7D952CA152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aster Degree | International Relations | Italia">
              <a:extLst>
                <a:ext uri="{FF2B5EF4-FFF2-40B4-BE49-F238E27FC236}">
                  <a16:creationId xmlns:a16="http://schemas.microsoft.com/office/drawing/2014/main" id="{932BC408-BCBD-8E9E-BF69-1E1CCB3C0B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42A5224B-2A80-D62B-7BE8-5E7473076642}"/>
              </a:ext>
            </a:extLst>
          </p:cNvPr>
          <p:cNvSpPr txBox="1"/>
          <p:nvPr/>
        </p:nvSpPr>
        <p:spPr>
          <a:xfrm>
            <a:off x="0" y="4980202"/>
            <a:ext cx="3009900" cy="1147045"/>
          </a:xfrm>
          <a:prstGeom prst="rect">
            <a:avLst/>
          </a:prstGeom>
          <a:noFill/>
        </p:spPr>
        <p:txBody>
          <a:bodyPr wrap="square">
            <a:spAutoFit/>
          </a:bodyPr>
          <a:lstStyle/>
          <a:p>
            <a:pPr>
              <a:lnSpc>
                <a:spcPct val="150000"/>
              </a:lnSpc>
              <a:buNone/>
            </a:pPr>
            <a:r>
              <a:rPr lang="en-US" sz="2400" b="1" dirty="0"/>
              <a:t>Presented by</a:t>
            </a:r>
          </a:p>
          <a:p>
            <a:pPr>
              <a:lnSpc>
                <a:spcPct val="150000"/>
              </a:lnSpc>
              <a:buNone/>
            </a:pPr>
            <a:r>
              <a:rPr lang="en-US" sz="2400" b="1" dirty="0">
                <a:solidFill>
                  <a:schemeClr val="bg1"/>
                </a:solidFill>
              </a:rPr>
              <a:t>Mohammad Sheikh</a:t>
            </a:r>
          </a:p>
        </p:txBody>
      </p:sp>
      <p:sp>
        <p:nvSpPr>
          <p:cNvPr id="11" name="TextBox 10">
            <a:extLst>
              <a:ext uri="{FF2B5EF4-FFF2-40B4-BE49-F238E27FC236}">
                <a16:creationId xmlns:a16="http://schemas.microsoft.com/office/drawing/2014/main" id="{9D738613-00E0-5B56-A829-F407AB38D9B6}"/>
              </a:ext>
            </a:extLst>
          </p:cNvPr>
          <p:cNvSpPr txBox="1"/>
          <p:nvPr/>
        </p:nvSpPr>
        <p:spPr>
          <a:xfrm>
            <a:off x="9090502" y="4980202"/>
            <a:ext cx="3101498" cy="1701043"/>
          </a:xfrm>
          <a:prstGeom prst="rect">
            <a:avLst/>
          </a:prstGeom>
          <a:noFill/>
        </p:spPr>
        <p:txBody>
          <a:bodyPr wrap="square">
            <a:spAutoFit/>
          </a:bodyPr>
          <a:lstStyle/>
          <a:p>
            <a:pPr algn="r">
              <a:lnSpc>
                <a:spcPct val="150000"/>
              </a:lnSpc>
              <a:buNone/>
            </a:pPr>
            <a:r>
              <a:rPr lang="en-US" sz="2400" b="1" dirty="0"/>
              <a:t>Supervisors</a:t>
            </a:r>
          </a:p>
          <a:p>
            <a:pPr algn="r">
              <a:lnSpc>
                <a:spcPct val="150000"/>
              </a:lnSpc>
              <a:buNone/>
            </a:pPr>
            <a:r>
              <a:rPr lang="en-US" sz="2400" b="1" dirty="0">
                <a:solidFill>
                  <a:schemeClr val="bg1"/>
                </a:solidFill>
              </a:rPr>
              <a:t>Dr. Luca </a:t>
            </a:r>
            <a:r>
              <a:rPr lang="en-US" sz="2400" b="1" dirty="0" err="1">
                <a:solidFill>
                  <a:schemeClr val="bg1"/>
                </a:solidFill>
              </a:rPr>
              <a:t>Barbierato</a:t>
            </a:r>
            <a:endParaRPr lang="en-US" sz="2400" b="1" dirty="0">
              <a:solidFill>
                <a:schemeClr val="bg1"/>
              </a:solidFill>
            </a:endParaRPr>
          </a:p>
          <a:p>
            <a:pPr algn="r">
              <a:lnSpc>
                <a:spcPct val="150000"/>
              </a:lnSpc>
              <a:buNone/>
            </a:pPr>
            <a:r>
              <a:rPr lang="en-US" sz="2400" b="1" dirty="0">
                <a:solidFill>
                  <a:schemeClr val="bg1"/>
                </a:solidFill>
              </a:rPr>
              <a:t>Dr. Matteo </a:t>
            </a:r>
            <a:r>
              <a:rPr lang="en-US" sz="2400" b="1" dirty="0" err="1">
                <a:solidFill>
                  <a:schemeClr val="bg1"/>
                </a:solidFill>
              </a:rPr>
              <a:t>Santinello</a:t>
            </a:r>
            <a:endParaRPr lang="en-US" sz="2400" b="1" dirty="0">
              <a:solidFill>
                <a:schemeClr val="bg1"/>
              </a:solidFill>
            </a:endParaRPr>
          </a:p>
        </p:txBody>
      </p:sp>
      <p:sp>
        <p:nvSpPr>
          <p:cNvPr id="13" name="TextBox 12">
            <a:extLst>
              <a:ext uri="{FF2B5EF4-FFF2-40B4-BE49-F238E27FC236}">
                <a16:creationId xmlns:a16="http://schemas.microsoft.com/office/drawing/2014/main" id="{E9104B0C-0CEE-462B-BA37-A90282810832}"/>
              </a:ext>
            </a:extLst>
          </p:cNvPr>
          <p:cNvSpPr txBox="1"/>
          <p:nvPr/>
        </p:nvSpPr>
        <p:spPr>
          <a:xfrm>
            <a:off x="4999036" y="6488668"/>
            <a:ext cx="2193925" cy="369332"/>
          </a:xfrm>
          <a:prstGeom prst="rect">
            <a:avLst/>
          </a:prstGeom>
          <a:noFill/>
        </p:spPr>
        <p:txBody>
          <a:bodyPr wrap="square">
            <a:spAutoFit/>
          </a:bodyPr>
          <a:lstStyle/>
          <a:p>
            <a:pPr>
              <a:buNone/>
            </a:pPr>
            <a:r>
              <a:rPr lang="en-US" sz="1800" b="1" dirty="0">
                <a:solidFill>
                  <a:schemeClr val="bg1"/>
                </a:solidFill>
              </a:rPr>
              <a:t>November 2025</a:t>
            </a:r>
          </a:p>
        </p:txBody>
      </p:sp>
      <p:sp>
        <p:nvSpPr>
          <p:cNvPr id="6" name="TextBox 5">
            <a:extLst>
              <a:ext uri="{FF2B5EF4-FFF2-40B4-BE49-F238E27FC236}">
                <a16:creationId xmlns:a16="http://schemas.microsoft.com/office/drawing/2014/main" id="{F4842BD1-A077-6A87-1CE3-1AC79132F0C7}"/>
              </a:ext>
            </a:extLst>
          </p:cNvPr>
          <p:cNvSpPr txBox="1"/>
          <p:nvPr/>
        </p:nvSpPr>
        <p:spPr>
          <a:xfrm>
            <a:off x="1474500" y="8090427"/>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2" name="Picture 2" descr="Predict PNG Transparent Images Free Download | Vector Files | Pngtree">
            <a:extLst>
              <a:ext uri="{FF2B5EF4-FFF2-40B4-BE49-F238E27FC236}">
                <a16:creationId xmlns:a16="http://schemas.microsoft.com/office/drawing/2014/main" id="{10EB08C8-E050-70F3-501D-00C3C8CCDF16}"/>
              </a:ext>
            </a:extLst>
          </p:cNvPr>
          <p:cNvPicPr>
            <a:picLocks noChangeAspect="1" noChangeArrowheads="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851" y="6795409"/>
            <a:ext cx="2024360" cy="202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636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0B5A-CD45-0865-F8EC-3A105669AB3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2135022-086E-BC94-A79B-042725F8024C}"/>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B0445B51-AD79-1828-5A8B-97DDBFC1077D}"/>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B3760035-2367-19E2-88C4-58A2DE2883C2}"/>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F016C18F-CE25-299E-DB6F-8323CB6C18D5}"/>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872597F-3132-E016-5D2D-74C2E6088FD3}"/>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A12E00A0-77D6-96D2-BD7F-A0393D3732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EA4CE45E-5BB1-E465-4538-5683729A25D3}"/>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2C26B617-F675-4893-B05D-0B11201F24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F582CC66-0C21-CF06-1D0B-FFA89BCDB4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31BF5453-6F86-C5AB-E267-0FBFC1929999}"/>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6" name="Picture 5">
            <a:extLst>
              <a:ext uri="{FF2B5EF4-FFF2-40B4-BE49-F238E27FC236}">
                <a16:creationId xmlns:a16="http://schemas.microsoft.com/office/drawing/2014/main" id="{6F4B8F75-653C-8528-D79D-5086DE023057}"/>
              </a:ext>
            </a:extLst>
          </p:cNvPr>
          <p:cNvPicPr>
            <a:picLocks noChangeAspect="1"/>
          </p:cNvPicPr>
          <p:nvPr/>
        </p:nvPicPr>
        <p:blipFill>
          <a:blip r:embed="rId7"/>
          <a:stretch>
            <a:fillRect/>
          </a:stretch>
        </p:blipFill>
        <p:spPr>
          <a:xfrm>
            <a:off x="653163" y="2902083"/>
            <a:ext cx="11243515" cy="2991326"/>
          </a:xfrm>
          <a:prstGeom prst="rect">
            <a:avLst/>
          </a:prstGeom>
        </p:spPr>
      </p:pic>
    </p:spTree>
    <p:extLst>
      <p:ext uri="{BB962C8B-B14F-4D97-AF65-F5344CB8AC3E}">
        <p14:creationId xmlns:p14="http://schemas.microsoft.com/office/powerpoint/2010/main" val="1251816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47E1F-EDA9-D4CD-02D6-42E0A9EC8CF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F24083D-612B-00F6-E915-5572C170D0C8}"/>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8FABCA8D-CEFF-FF04-EBFA-07EA9BCCAB34}"/>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D6B965DC-FFF1-340E-0510-FA01ECB42BA4}"/>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23B76DE8-7F21-1146-0FFB-AA6973CD0321}"/>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A97AEA9-33A9-775C-F933-8270B97667A7}"/>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09864B5F-3AC5-1414-40D8-0CA5ED53A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3FAF8C8B-52B2-5677-99B6-E698580BB515}"/>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A73F5625-C3C1-12A2-8F43-3E598CDD7CC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6AD6D90C-33BB-82C7-61CF-E4F7358F12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E73601F0-DCE6-F5D3-F2C4-BD8CC7C5CA6F}"/>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6" name="Picture 5">
            <a:extLst>
              <a:ext uri="{FF2B5EF4-FFF2-40B4-BE49-F238E27FC236}">
                <a16:creationId xmlns:a16="http://schemas.microsoft.com/office/drawing/2014/main" id="{4AA42A53-19EC-93FF-93F6-DD80B7030454}"/>
              </a:ext>
            </a:extLst>
          </p:cNvPr>
          <p:cNvPicPr>
            <a:picLocks noChangeAspect="1"/>
          </p:cNvPicPr>
          <p:nvPr/>
        </p:nvPicPr>
        <p:blipFill>
          <a:blip r:embed="rId7">
            <a:duotone>
              <a:schemeClr val="bg2">
                <a:shade val="45000"/>
                <a:satMod val="135000"/>
              </a:schemeClr>
              <a:prstClr val="white"/>
            </a:duotone>
          </a:blip>
          <a:stretch>
            <a:fillRect/>
          </a:stretch>
        </p:blipFill>
        <p:spPr>
          <a:xfrm>
            <a:off x="653163" y="2902083"/>
            <a:ext cx="11243515" cy="2991326"/>
          </a:xfrm>
          <a:prstGeom prst="rect">
            <a:avLst/>
          </a:prstGeom>
        </p:spPr>
      </p:pic>
      <p:pic>
        <p:nvPicPr>
          <p:cNvPr id="4" name="Picture 3">
            <a:extLst>
              <a:ext uri="{FF2B5EF4-FFF2-40B4-BE49-F238E27FC236}">
                <a16:creationId xmlns:a16="http://schemas.microsoft.com/office/drawing/2014/main" id="{648C497E-6BF3-AB23-1321-B8ACEA19DB3F}"/>
              </a:ext>
            </a:extLst>
          </p:cNvPr>
          <p:cNvPicPr>
            <a:picLocks noChangeAspect="1"/>
          </p:cNvPicPr>
          <p:nvPr/>
        </p:nvPicPr>
        <p:blipFill>
          <a:blip r:embed="rId7"/>
          <a:srcRect r="55734"/>
          <a:stretch>
            <a:fillRect/>
          </a:stretch>
        </p:blipFill>
        <p:spPr>
          <a:xfrm>
            <a:off x="653163" y="2898966"/>
            <a:ext cx="4977076" cy="2991326"/>
          </a:xfrm>
          <a:prstGeom prst="rect">
            <a:avLst/>
          </a:prstGeom>
        </p:spPr>
      </p:pic>
    </p:spTree>
    <p:extLst>
      <p:ext uri="{BB962C8B-B14F-4D97-AF65-F5344CB8AC3E}">
        <p14:creationId xmlns:p14="http://schemas.microsoft.com/office/powerpoint/2010/main" val="4176745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CFD9B-4C5D-E4C5-CE39-96DAEC91A5E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22F15E6-6583-2AF7-DF20-EAA4B022D2C7}"/>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0BFB05A2-7731-D5BB-2F8E-E1AA67BDE381}"/>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D3FA6707-8D7C-6292-5E07-3E441D17C8A3}"/>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E9EC5FD9-5C0A-6F68-9F11-339DE67FDF40}"/>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08238EC-608F-E375-CA7D-BAF61BB5B81B}"/>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A0288392-E746-BFE6-9000-210981F35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1229C4BB-FD8E-7A49-0DD6-56D4989BB8E3}"/>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43FB2D2F-A66A-7DB5-2A80-4F3C2415C7B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0DC28D57-280C-7967-4574-443065D788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7591FFD5-8E84-B5A3-5542-6FB0792E6D5C}"/>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6" name="Picture 5">
            <a:extLst>
              <a:ext uri="{FF2B5EF4-FFF2-40B4-BE49-F238E27FC236}">
                <a16:creationId xmlns:a16="http://schemas.microsoft.com/office/drawing/2014/main" id="{D2A9B640-4AD7-530F-396A-A1CFDD010605}"/>
              </a:ext>
            </a:extLst>
          </p:cNvPr>
          <p:cNvPicPr>
            <a:picLocks noChangeAspect="1"/>
          </p:cNvPicPr>
          <p:nvPr/>
        </p:nvPicPr>
        <p:blipFill>
          <a:blip r:embed="rId7">
            <a:duotone>
              <a:schemeClr val="bg2">
                <a:shade val="45000"/>
                <a:satMod val="135000"/>
              </a:schemeClr>
              <a:prstClr val="white"/>
            </a:duotone>
          </a:blip>
          <a:stretch>
            <a:fillRect/>
          </a:stretch>
        </p:blipFill>
        <p:spPr>
          <a:xfrm>
            <a:off x="653163" y="2902083"/>
            <a:ext cx="11243515" cy="2991326"/>
          </a:xfrm>
          <a:prstGeom prst="rect">
            <a:avLst/>
          </a:prstGeom>
        </p:spPr>
      </p:pic>
      <p:pic>
        <p:nvPicPr>
          <p:cNvPr id="4" name="Picture 3">
            <a:extLst>
              <a:ext uri="{FF2B5EF4-FFF2-40B4-BE49-F238E27FC236}">
                <a16:creationId xmlns:a16="http://schemas.microsoft.com/office/drawing/2014/main" id="{05C645DD-57DB-B9AE-D3B1-FA2479D9A087}"/>
              </a:ext>
            </a:extLst>
          </p:cNvPr>
          <p:cNvPicPr>
            <a:picLocks noChangeAspect="1"/>
          </p:cNvPicPr>
          <p:nvPr/>
        </p:nvPicPr>
        <p:blipFill>
          <a:blip r:embed="rId7"/>
          <a:srcRect l="44219" r="21279"/>
          <a:stretch>
            <a:fillRect/>
          </a:stretch>
        </p:blipFill>
        <p:spPr>
          <a:xfrm>
            <a:off x="5624945" y="2898966"/>
            <a:ext cx="3879272" cy="2991326"/>
          </a:xfrm>
          <a:prstGeom prst="rect">
            <a:avLst/>
          </a:prstGeom>
        </p:spPr>
      </p:pic>
    </p:spTree>
    <p:extLst>
      <p:ext uri="{BB962C8B-B14F-4D97-AF65-F5344CB8AC3E}">
        <p14:creationId xmlns:p14="http://schemas.microsoft.com/office/powerpoint/2010/main" val="1001069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27C5-2906-59DE-E2BD-6542E62342A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B65E29B-CC68-77ED-85E2-023A5182DFCC}"/>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CB845C96-82F3-A057-30FD-9B2AD1485A22}"/>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CAC42FD0-9A9D-1A7B-F4ED-EA5D5C2E9170}"/>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3EA00CD3-75D4-E021-CB37-29D574784A11}"/>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B0B439B-7090-A8B4-B07F-A912059D1AC7}"/>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0267C4D1-E3FC-D931-CBBA-46C9341FA4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0BBBD9C-AB3D-79BA-3F87-8E2942B544E2}"/>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D31A825F-B419-FEC4-6F18-7C74AF585C4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76655D8B-639B-B8DC-9C15-2EC3747A54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73CAB3CF-D172-E353-6BDF-D3469E8B725E}"/>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3861553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3318-15DB-ED62-E20B-4C1E92DDD89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FB03544-1385-5D19-9F9A-EB4D5C152EC9}"/>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E9AC1115-96B9-79A7-B8AE-14DCCE20502A}"/>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9D8207E9-600B-5505-9D38-242FFEF28B96}"/>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F04E39B4-FA37-DEBB-7AA0-76E0A50F3C84}"/>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B891B0C-B627-3641-6BFD-97F0B2A54888}"/>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9DEB84FF-D87A-38A0-A0E7-6E1FFBAE24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ED6A449E-AAE6-BC06-2BFB-853A7375196E}"/>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EDAE948E-A512-65D6-66EB-068B5DAF8B4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67206845-71FE-893A-3BB0-2A23BC9D7B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EE0324ED-24F0-8E71-5D58-5913CE7DD141}"/>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3994672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9149-D123-2740-0197-0D6D2E37392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20D4C97-5853-6E94-6F49-DFB2446D1EBC}"/>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D9394D48-D038-F378-CCFB-23DC478F4F11}"/>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D01D8B30-AEFA-1A00-1857-7FE55F87316A}"/>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7A3083E4-11BD-8D1B-248D-152D771245FF}"/>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420224F-975F-C835-8805-41B77B3E0F76}"/>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AFA5F618-210B-4D13-ABC4-94AB4AF44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3CC86019-E88F-A0CD-C090-87C69CB4CF42}"/>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24EBD6CC-E9B3-E66A-90B4-4FFE574FAEE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56E6FD5C-F089-8BB0-A21E-7CD98B4644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979C69F0-4BA0-0E02-4F9E-D71BC8958796}"/>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3366280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05BF-01BE-995C-8093-E70DD36D0F1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2A367FF-0321-84C0-60A6-A2A4843953C9}"/>
              </a:ext>
            </a:extLst>
          </p:cNvPr>
          <p:cNvSpPr txBox="1"/>
          <p:nvPr/>
        </p:nvSpPr>
        <p:spPr>
          <a:xfrm>
            <a:off x="404158" y="1584299"/>
            <a:ext cx="6384100" cy="646331"/>
          </a:xfrm>
          <a:prstGeom prst="rect">
            <a:avLst/>
          </a:prstGeom>
          <a:noFill/>
        </p:spPr>
        <p:txBody>
          <a:bodyPr wrap="square" rtlCol="0">
            <a:spAutoFit/>
          </a:bodyPr>
          <a:lstStyle/>
          <a:p>
            <a:pPr algn="ctr"/>
            <a:r>
              <a:rPr lang="en-US" sz="3600" b="1" dirty="0">
                <a:solidFill>
                  <a:srgbClr val="1B415D"/>
                </a:solidFill>
              </a:rPr>
              <a:t>Bla </a:t>
            </a:r>
            <a:r>
              <a:rPr lang="en-US" sz="3600" b="1" dirty="0" err="1">
                <a:solidFill>
                  <a:srgbClr val="1B415D"/>
                </a:solidFill>
              </a:rPr>
              <a:t>Bla</a:t>
            </a:r>
            <a:r>
              <a:rPr lang="en-US" sz="3600" b="1" dirty="0">
                <a:solidFill>
                  <a:srgbClr val="1B415D"/>
                </a:solidFill>
              </a:rPr>
              <a:t> et al. []</a:t>
            </a:r>
          </a:p>
        </p:txBody>
      </p:sp>
      <p:sp>
        <p:nvSpPr>
          <p:cNvPr id="2" name="TextBox 1">
            <a:extLst>
              <a:ext uri="{FF2B5EF4-FFF2-40B4-BE49-F238E27FC236}">
                <a16:creationId xmlns:a16="http://schemas.microsoft.com/office/drawing/2014/main" id="{A7476D58-61ED-A612-9BC1-794709FD1CD9}"/>
              </a:ext>
            </a:extLst>
          </p:cNvPr>
          <p:cNvSpPr txBox="1"/>
          <p:nvPr/>
        </p:nvSpPr>
        <p:spPr>
          <a:xfrm>
            <a:off x="404158" y="2348160"/>
            <a:ext cx="11534557" cy="1200329"/>
          </a:xfrm>
          <a:prstGeom prst="rect">
            <a:avLst/>
          </a:prstGeom>
          <a:noFill/>
        </p:spPr>
        <p:txBody>
          <a:bodyPr wrap="square" rtlCol="0">
            <a:spAutoFit/>
          </a:bodyPr>
          <a:lstStyle/>
          <a:p>
            <a:pPr marL="571500" indent="-571500">
              <a:buFont typeface="Arial" panose="020B0604020202020204" pitchFamily="34" charset="0"/>
              <a:buChar char="•"/>
            </a:pPr>
            <a:r>
              <a:rPr lang="en-US" sz="3600" dirty="0">
                <a:solidFill>
                  <a:srgbClr val="1B415D"/>
                </a:solidFill>
              </a:rPr>
              <a:t>Explain the methodology</a:t>
            </a:r>
            <a:endParaRPr lang="en-US" sz="3200" dirty="0">
              <a:solidFill>
                <a:srgbClr val="1B415D"/>
              </a:solidFill>
            </a:endParaRPr>
          </a:p>
          <a:p>
            <a:pPr marL="571500" indent="-571500">
              <a:buFont typeface="Arial" panose="020B0604020202020204" pitchFamily="34" charset="0"/>
              <a:buChar char="•"/>
            </a:pPr>
            <a:endParaRPr lang="en-US" sz="3600" dirty="0">
              <a:solidFill>
                <a:srgbClr val="1B415D"/>
              </a:solidFill>
            </a:endParaRPr>
          </a:p>
        </p:txBody>
      </p:sp>
      <p:pic>
        <p:nvPicPr>
          <p:cNvPr id="3" name="Picture 2">
            <a:extLst>
              <a:ext uri="{FF2B5EF4-FFF2-40B4-BE49-F238E27FC236}">
                <a16:creationId xmlns:a16="http://schemas.microsoft.com/office/drawing/2014/main" id="{2D5BD7BB-4FC8-1F46-AF3D-E71EA99B8F06}"/>
              </a:ext>
            </a:extLst>
          </p:cNvPr>
          <p:cNvPicPr>
            <a:picLocks/>
          </p:cNvPicPr>
          <p:nvPr/>
        </p:nvPicPr>
        <p:blipFill>
          <a:blip r:embed="rId2"/>
          <a:stretch>
            <a:fillRect/>
          </a:stretch>
        </p:blipFill>
        <p:spPr>
          <a:xfrm>
            <a:off x="-68921" y="5929314"/>
            <a:ext cx="12308114" cy="1063680"/>
          </a:xfrm>
          <a:prstGeom prst="rect">
            <a:avLst/>
          </a:prstGeom>
        </p:spPr>
      </p:pic>
      <p:pic>
        <p:nvPicPr>
          <p:cNvPr id="7" name="Picture 2" descr="Predict PNG Transparent Images Free Download | Vector Files | Pngtree">
            <a:extLst>
              <a:ext uri="{FF2B5EF4-FFF2-40B4-BE49-F238E27FC236}">
                <a16:creationId xmlns:a16="http://schemas.microsoft.com/office/drawing/2014/main" id="{63ED53C1-267F-BF7C-5E1D-C2EB328E23B3}"/>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2016" y="5602929"/>
            <a:ext cx="2024360" cy="20243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4E96DBC-E5B7-DA51-8968-61E81B9E4CDF}"/>
              </a:ext>
            </a:extLst>
          </p:cNvPr>
          <p:cNvPicPr>
            <a:picLocks/>
          </p:cNvPicPr>
          <p:nvPr/>
        </p:nvPicPr>
        <p:blipFill>
          <a:blip r:embed="rId2"/>
          <a:stretch>
            <a:fillRect/>
          </a:stretch>
        </p:blipFill>
        <p:spPr>
          <a:xfrm>
            <a:off x="-58056" y="-115208"/>
            <a:ext cx="12308114" cy="1333500"/>
          </a:xfrm>
          <a:prstGeom prst="rect">
            <a:avLst/>
          </a:prstGeom>
        </p:spPr>
      </p:pic>
      <p:pic>
        <p:nvPicPr>
          <p:cNvPr id="8" name="Picture 4" descr="Home – Planet">
            <a:extLst>
              <a:ext uri="{FF2B5EF4-FFF2-40B4-BE49-F238E27FC236}">
                <a16:creationId xmlns:a16="http://schemas.microsoft.com/office/drawing/2014/main" id="{B693EA61-5482-5D0A-CEF7-CAEE54BDB2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E47D6E3-6470-0942-9EE2-4D3597E9C8B8}"/>
              </a:ext>
            </a:extLst>
          </p:cNvPr>
          <p:cNvGrpSpPr/>
          <p:nvPr/>
        </p:nvGrpSpPr>
        <p:grpSpPr>
          <a:xfrm>
            <a:off x="8803346" y="58766"/>
            <a:ext cx="3388653" cy="1043369"/>
            <a:chOff x="6076930" y="399008"/>
            <a:chExt cx="6115070" cy="1882835"/>
          </a:xfrm>
        </p:grpSpPr>
        <p:pic>
          <p:nvPicPr>
            <p:cNvPr id="11" name="Picture 2" descr="Logo Università di Napoli Federico II">
              <a:extLst>
                <a:ext uri="{FF2B5EF4-FFF2-40B4-BE49-F238E27FC236}">
                  <a16:creationId xmlns:a16="http://schemas.microsoft.com/office/drawing/2014/main" id="{712C70A9-A69C-1253-C895-6DB4ED9C482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Master Degree | International Relations | Italia">
              <a:extLst>
                <a:ext uri="{FF2B5EF4-FFF2-40B4-BE49-F238E27FC236}">
                  <a16:creationId xmlns:a16="http://schemas.microsoft.com/office/drawing/2014/main" id="{1AF5BF7A-2CB2-442A-2A62-BD2B08548B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Box 12">
            <a:extLst>
              <a:ext uri="{FF2B5EF4-FFF2-40B4-BE49-F238E27FC236}">
                <a16:creationId xmlns:a16="http://schemas.microsoft.com/office/drawing/2014/main" id="{CE3256CA-A11A-576C-0C10-36081C74881C}"/>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spTree>
    <p:extLst>
      <p:ext uri="{BB962C8B-B14F-4D97-AF65-F5344CB8AC3E}">
        <p14:creationId xmlns:p14="http://schemas.microsoft.com/office/powerpoint/2010/main" val="891558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3A337-90E0-F134-5C0E-A7D75A143F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FF1470C-7812-BC12-5294-0435D5BC874F}"/>
              </a:ext>
            </a:extLst>
          </p:cNvPr>
          <p:cNvPicPr>
            <a:picLocks/>
          </p:cNvPicPr>
          <p:nvPr/>
        </p:nvPicPr>
        <p:blipFill>
          <a:blip r:embed="rId2"/>
          <a:stretch>
            <a:fillRect/>
          </a:stretch>
        </p:blipFill>
        <p:spPr>
          <a:xfrm>
            <a:off x="-68921" y="5929314"/>
            <a:ext cx="12308114" cy="1063680"/>
          </a:xfrm>
          <a:prstGeom prst="rect">
            <a:avLst/>
          </a:prstGeom>
        </p:spPr>
      </p:pic>
      <p:sp>
        <p:nvSpPr>
          <p:cNvPr id="5" name="TextBox 4">
            <a:extLst>
              <a:ext uri="{FF2B5EF4-FFF2-40B4-BE49-F238E27FC236}">
                <a16:creationId xmlns:a16="http://schemas.microsoft.com/office/drawing/2014/main" id="{FD5AB88C-680D-5170-C385-F0DE233F63FC}"/>
              </a:ext>
            </a:extLst>
          </p:cNvPr>
          <p:cNvSpPr txBox="1"/>
          <p:nvPr/>
        </p:nvSpPr>
        <p:spPr>
          <a:xfrm>
            <a:off x="178526" y="1247229"/>
            <a:ext cx="5802144" cy="646331"/>
          </a:xfrm>
          <a:prstGeom prst="rect">
            <a:avLst/>
          </a:prstGeom>
          <a:noFill/>
        </p:spPr>
        <p:txBody>
          <a:bodyPr wrap="square" rtlCol="0">
            <a:spAutoFit/>
          </a:bodyPr>
          <a:lstStyle/>
          <a:p>
            <a:r>
              <a:rPr lang="en-US" sz="3600" b="1" dirty="0">
                <a:solidFill>
                  <a:srgbClr val="1B415D"/>
                </a:solidFill>
              </a:rPr>
              <a:t>References</a:t>
            </a:r>
          </a:p>
        </p:txBody>
      </p:sp>
      <p:sp>
        <p:nvSpPr>
          <p:cNvPr id="10" name="TextBox 9">
            <a:extLst>
              <a:ext uri="{FF2B5EF4-FFF2-40B4-BE49-F238E27FC236}">
                <a16:creationId xmlns:a16="http://schemas.microsoft.com/office/drawing/2014/main" id="{23C8ED20-8337-7B37-AB61-856BEF6BFF8F}"/>
              </a:ext>
            </a:extLst>
          </p:cNvPr>
          <p:cNvSpPr txBox="1"/>
          <p:nvPr/>
        </p:nvSpPr>
        <p:spPr>
          <a:xfrm>
            <a:off x="326243" y="1841309"/>
            <a:ext cx="11865756" cy="3970318"/>
          </a:xfrm>
          <a:prstGeom prst="rect">
            <a:avLst/>
          </a:prstGeom>
          <a:noFill/>
        </p:spPr>
        <p:txBody>
          <a:bodyPr wrap="square">
            <a:spAutoFit/>
          </a:bodyPr>
          <a:lstStyle/>
          <a:p>
            <a:pPr marL="920750" lvl="1" indent="-463550"/>
            <a:r>
              <a:rPr lang="en-US" sz="1400" dirty="0"/>
              <a:t>[1] - </a:t>
            </a:r>
            <a:r>
              <a:rPr lang="en-US" sz="1400" dirty="0" err="1"/>
              <a:t>Bernabucci</a:t>
            </a:r>
            <a:r>
              <a:rPr lang="en-US" sz="1400" dirty="0"/>
              <a:t>, U.; </a:t>
            </a:r>
            <a:r>
              <a:rPr lang="en-US" sz="1400" dirty="0" err="1"/>
              <a:t>Lacetera</a:t>
            </a:r>
            <a:r>
              <a:rPr lang="en-US" sz="1400" dirty="0"/>
              <a:t>, N.; Baumgard, L.H.; Rhoads, R.P.; Ronchi, B.; Nardone, A. Metabolic and Hormonal Acclimation to Heat Stress in Domesticated Ruminants. Animal 2010, 4, 1167–1183. [</a:t>
            </a:r>
            <a:r>
              <a:rPr lang="en-US" sz="1400" dirty="0">
                <a:hlinkClick r:id="rId3"/>
              </a:rPr>
              <a:t>Ref</a:t>
            </a:r>
            <a:r>
              <a:rPr lang="en-US" sz="1400" dirty="0"/>
              <a:t>]</a:t>
            </a:r>
          </a:p>
          <a:p>
            <a:pPr marL="920750" lvl="1" indent="-463550"/>
            <a:r>
              <a:rPr lang="en-US" sz="1400" dirty="0"/>
              <a:t>[2] - Dash, S.; Chakravarty, A.K.; Singh, A.; Upadhyay, A.; Singh, M.; Yousuf, S. Effect of Heat Stress on Reproductive Performances of Dairy Cattle and Buffaloes: A Review. Vet. World 2016, 9, 235–244. [</a:t>
            </a:r>
            <a:r>
              <a:rPr lang="en-US" sz="1400" dirty="0">
                <a:hlinkClick r:id="rId4"/>
              </a:rPr>
              <a:t>Ref</a:t>
            </a:r>
            <a:r>
              <a:rPr lang="en-US" sz="1400" dirty="0"/>
              <a:t>]</a:t>
            </a:r>
          </a:p>
          <a:p>
            <a:pPr marL="920750" lvl="1" indent="-463550"/>
            <a:r>
              <a:rPr lang="en-US" sz="1400" dirty="0"/>
              <a:t>[3] - M.F. Hasan, N. Celik, Y. Williams, S.R.O. Williams, L.C. </a:t>
            </a:r>
            <a:r>
              <a:rPr lang="en-US" sz="1400" dirty="0" err="1"/>
              <a:t>Marett,An</a:t>
            </a:r>
            <a:r>
              <a:rPr lang="en-US" sz="1400" dirty="0"/>
              <a:t> effective way to incorporate temperature–humidity index to study effect of heat stress on milk yield by an </a:t>
            </a:r>
            <a:r>
              <a:rPr lang="en-US" sz="1400" dirty="0" err="1"/>
              <a:t>XGBoost</a:t>
            </a:r>
            <a:r>
              <a:rPr lang="en-US" sz="1400" dirty="0"/>
              <a:t> machine learning model,[</a:t>
            </a:r>
            <a:r>
              <a:rPr lang="en-US" sz="1400" dirty="0">
                <a:hlinkClick r:id="rId5"/>
              </a:rPr>
              <a:t>Ref</a:t>
            </a:r>
            <a:r>
              <a:rPr lang="en-US" sz="1400" dirty="0"/>
              <a:t>]</a:t>
            </a:r>
          </a:p>
          <a:p>
            <a:pPr marL="920750" lvl="1" indent="-463550"/>
            <a:r>
              <a:rPr lang="en-US" sz="1400" dirty="0"/>
              <a:t>[4] - Hyndman, Rob J., and George Athanasopoulos. </a:t>
            </a:r>
            <a:r>
              <a:rPr lang="en-US" sz="1400" i="1" dirty="0"/>
              <a:t>Forecasting: Principles and Practice</a:t>
            </a:r>
            <a:r>
              <a:rPr lang="en-US" sz="1400" dirty="0"/>
              <a:t>. 3rd ed. Melbourne, Australia: </a:t>
            </a:r>
            <a:r>
              <a:rPr lang="en-US" sz="1400" dirty="0" err="1"/>
              <a:t>OTexts</a:t>
            </a:r>
            <a:r>
              <a:rPr lang="en-US" sz="1400" dirty="0"/>
              <a:t>, 2021. [</a:t>
            </a:r>
            <a:r>
              <a:rPr lang="en-US" sz="1400" dirty="0">
                <a:hlinkClick r:id="rId6"/>
              </a:rPr>
              <a:t>Ref</a:t>
            </a:r>
            <a:r>
              <a:rPr lang="en-US" sz="1400" dirty="0"/>
              <a:t>]</a:t>
            </a:r>
          </a:p>
          <a:p>
            <a:pPr marL="920750" lvl="1" indent="-463550"/>
            <a:r>
              <a:rPr lang="en-US" sz="1400" dirty="0"/>
              <a:t>[5] - Boyu Ji, Thomas </a:t>
            </a:r>
            <a:r>
              <a:rPr lang="en-US" sz="1400" dirty="0" err="1"/>
              <a:t>Banhazi</a:t>
            </a:r>
            <a:r>
              <a:rPr lang="en-US" sz="1400" dirty="0"/>
              <a:t>, Clive J.C. Phillips, </a:t>
            </a:r>
            <a:r>
              <a:rPr lang="en-US" sz="1400" dirty="0" err="1"/>
              <a:t>Chaoyuan</a:t>
            </a:r>
            <a:r>
              <a:rPr lang="en-US" sz="1400" dirty="0"/>
              <a:t> Wang, </a:t>
            </a:r>
            <a:r>
              <a:rPr lang="en-US" sz="1400" dirty="0" err="1"/>
              <a:t>Baoming</a:t>
            </a:r>
            <a:r>
              <a:rPr lang="en-US" sz="1400" dirty="0"/>
              <a:t> Li, A machine learning framework to predict the next month's daily milk yield, milk composition and milking frequency for cows in a robotic dairy farm. [</a:t>
            </a:r>
            <a:r>
              <a:rPr lang="en-US" sz="1400" dirty="0">
                <a:hlinkClick r:id="rId7"/>
              </a:rPr>
              <a:t>Ref</a:t>
            </a:r>
            <a:r>
              <a:rPr lang="en-US" sz="1400" dirty="0"/>
              <a:t>]</a:t>
            </a:r>
          </a:p>
          <a:p>
            <a:pPr marL="920750" lvl="1" indent="-463550"/>
            <a:r>
              <a:rPr lang="en-US" sz="1400" dirty="0"/>
              <a:t>[6] - Jae-Woo Song, </a:t>
            </a:r>
            <a:r>
              <a:rPr lang="en-US" sz="1400" dirty="0" err="1"/>
              <a:t>Mingyung</a:t>
            </a:r>
            <a:r>
              <a:rPr lang="en-US" sz="1400" dirty="0"/>
              <a:t> Lee, Hyunjin Cho, Dae-Hyun Lee, </a:t>
            </a:r>
            <a:r>
              <a:rPr lang="en-US" sz="1400" dirty="0" err="1"/>
              <a:t>Seongwon</a:t>
            </a:r>
            <a:r>
              <a:rPr lang="en-US" sz="1400" dirty="0"/>
              <a:t> Seo, Wang-</a:t>
            </a:r>
            <a:r>
              <a:rPr lang="en-US" sz="1400" dirty="0" err="1"/>
              <a:t>Hee</a:t>
            </a:r>
            <a:r>
              <a:rPr lang="en-US" sz="1400" dirty="0"/>
              <a:t> Lee, Development of individual models for predicting cow milk production for real-time monitoring, [</a:t>
            </a:r>
            <a:r>
              <a:rPr lang="en-US" sz="1400" dirty="0">
                <a:hlinkClick r:id="rId8"/>
              </a:rPr>
              <a:t>Ref</a:t>
            </a:r>
            <a:r>
              <a:rPr lang="en-US" sz="1400" dirty="0"/>
              <a:t>]</a:t>
            </a:r>
          </a:p>
          <a:p>
            <a:pPr marL="920750" lvl="1" indent="-463550"/>
            <a:r>
              <a:rPr lang="en-US" sz="1400" dirty="0"/>
              <a:t>[7] - Hansika </a:t>
            </a:r>
            <a:r>
              <a:rPr lang="en-US" sz="1400" dirty="0" err="1"/>
              <a:t>Hewamalage</a:t>
            </a:r>
            <a:r>
              <a:rPr lang="en-US" sz="1400" dirty="0"/>
              <a:t>, Christoph </a:t>
            </a:r>
            <a:r>
              <a:rPr lang="en-US" sz="1400" dirty="0" err="1"/>
              <a:t>Bergmeir</a:t>
            </a:r>
            <a:r>
              <a:rPr lang="en-US" sz="1400" dirty="0"/>
              <a:t>, Kasun </a:t>
            </a:r>
            <a:r>
              <a:rPr lang="en-US" sz="1400" dirty="0" err="1"/>
              <a:t>Bandara,Global</a:t>
            </a:r>
            <a:r>
              <a:rPr lang="en-US" sz="1400" dirty="0"/>
              <a:t> models for time series forecasting: A Simulation study, [</a:t>
            </a:r>
            <a:r>
              <a:rPr lang="en-US" sz="1400" dirty="0">
                <a:hlinkClick r:id="rId9"/>
              </a:rPr>
              <a:t>Ref</a:t>
            </a:r>
            <a:r>
              <a:rPr lang="en-US" sz="1400" dirty="0"/>
              <a:t>]</a:t>
            </a:r>
          </a:p>
          <a:p>
            <a:pPr marL="920750" lvl="1" indent="-463550"/>
            <a:r>
              <a:rPr lang="en-US" sz="1400" dirty="0"/>
              <a:t>[8] - Jae-Min Jung, Dong-Hyeon Kim, Hyunjin Cho, </a:t>
            </a:r>
            <a:r>
              <a:rPr lang="en-US" sz="1400" dirty="0" err="1"/>
              <a:t>Mingyung</a:t>
            </a:r>
            <a:r>
              <a:rPr lang="en-US" sz="1400" dirty="0"/>
              <a:t> Lee, Jinhui Jeong, Dae-Hyun Lee, </a:t>
            </a:r>
            <a:r>
              <a:rPr lang="en-US" sz="1400" dirty="0" err="1"/>
              <a:t>Seongwon</a:t>
            </a:r>
            <a:r>
              <a:rPr lang="en-US" sz="1400" dirty="0"/>
              <a:t> Seo, Wang-</a:t>
            </a:r>
            <a:r>
              <a:rPr lang="en-US" sz="1400" dirty="0" err="1"/>
              <a:t>Hee</a:t>
            </a:r>
            <a:r>
              <a:rPr lang="en-US" sz="1400" dirty="0"/>
              <a:t> </a:t>
            </a:r>
            <a:r>
              <a:rPr lang="en-US" sz="1400" dirty="0" err="1"/>
              <a:t>Lee,Multi</a:t>
            </a:r>
            <a:r>
              <a:rPr lang="en-US" sz="1400" dirty="0"/>
              <a:t>-algorithmic approach for detecting outliers in cattle intake data [</a:t>
            </a:r>
            <a:r>
              <a:rPr lang="en-US" sz="1400" dirty="0">
                <a:hlinkClick r:id="rId10"/>
              </a:rPr>
              <a:t>Ref</a:t>
            </a:r>
            <a:r>
              <a:rPr lang="en-US" sz="1400" dirty="0"/>
              <a:t>]</a:t>
            </a:r>
          </a:p>
          <a:p>
            <a:pPr marL="920750" lvl="1" indent="-463550"/>
            <a:r>
              <a:rPr lang="en-US" sz="1400" dirty="0"/>
              <a:t>[9] – Rob J. Hyndman, Roman A. Ahmed, George Athanasopoulos, Han Lin </a:t>
            </a:r>
            <a:r>
              <a:rPr lang="en-US" sz="1400" dirty="0" err="1"/>
              <a:t>Shang,Optimal</a:t>
            </a:r>
            <a:r>
              <a:rPr lang="en-US" sz="1400" dirty="0"/>
              <a:t> combination forecasts for hierarchical time series [</a:t>
            </a:r>
            <a:r>
              <a:rPr lang="en-US" sz="1400" dirty="0">
                <a:hlinkClick r:id="rId11"/>
              </a:rPr>
              <a:t>Ref</a:t>
            </a:r>
            <a:r>
              <a:rPr lang="en-US" sz="1400" dirty="0"/>
              <a:t>]</a:t>
            </a:r>
          </a:p>
          <a:p>
            <a:pPr marL="920750" lvl="1" indent="-463550"/>
            <a:r>
              <a:rPr lang="en-US" sz="1400" dirty="0"/>
              <a:t>[10] - Shanika L. </a:t>
            </a:r>
            <a:r>
              <a:rPr lang="en-US" sz="1400" dirty="0" err="1"/>
              <a:t>Wickramasuriya,George</a:t>
            </a:r>
            <a:r>
              <a:rPr lang="en-US" sz="1400" dirty="0"/>
              <a:t> </a:t>
            </a:r>
            <a:r>
              <a:rPr lang="en-US" sz="1400" dirty="0" err="1"/>
              <a:t>Athanasopoulos,Rob</a:t>
            </a:r>
            <a:r>
              <a:rPr lang="en-US" sz="1400" dirty="0"/>
              <a:t> J. </a:t>
            </a:r>
            <a:r>
              <a:rPr lang="en-US" sz="1400" dirty="0" err="1"/>
              <a:t>HyndmanOptimal</a:t>
            </a:r>
            <a:r>
              <a:rPr lang="en-US" sz="1400" dirty="0"/>
              <a:t> Forecast Reconciliation for Hierarchical and Grouped Time Series Through Trace Minimization [</a:t>
            </a:r>
            <a:r>
              <a:rPr lang="en-US" sz="1400" dirty="0">
                <a:hlinkClick r:id="rId12"/>
              </a:rPr>
              <a:t>Ref</a:t>
            </a:r>
            <a:r>
              <a:rPr lang="en-US" sz="1400" dirty="0"/>
              <a:t>]</a:t>
            </a:r>
          </a:p>
          <a:p>
            <a:pPr marL="920750" lvl="1" indent="-463550"/>
            <a:endParaRPr lang="en-US" sz="1400" dirty="0"/>
          </a:p>
        </p:txBody>
      </p:sp>
      <p:pic>
        <p:nvPicPr>
          <p:cNvPr id="15" name="Picture 14">
            <a:extLst>
              <a:ext uri="{FF2B5EF4-FFF2-40B4-BE49-F238E27FC236}">
                <a16:creationId xmlns:a16="http://schemas.microsoft.com/office/drawing/2014/main" id="{CBC5CCA6-CDEB-1E8A-8486-CD786936E358}"/>
              </a:ext>
            </a:extLst>
          </p:cNvPr>
          <p:cNvPicPr>
            <a:picLocks/>
          </p:cNvPicPr>
          <p:nvPr/>
        </p:nvPicPr>
        <p:blipFill>
          <a:blip r:embed="rId2"/>
          <a:stretch>
            <a:fillRect/>
          </a:stretch>
        </p:blipFill>
        <p:spPr>
          <a:xfrm>
            <a:off x="-58056" y="-115208"/>
            <a:ext cx="12308114" cy="1333500"/>
          </a:xfrm>
          <a:prstGeom prst="rect">
            <a:avLst/>
          </a:prstGeom>
        </p:spPr>
      </p:pic>
      <p:pic>
        <p:nvPicPr>
          <p:cNvPr id="16" name="Picture 4" descr="Home – Planet">
            <a:extLst>
              <a:ext uri="{FF2B5EF4-FFF2-40B4-BE49-F238E27FC236}">
                <a16:creationId xmlns:a16="http://schemas.microsoft.com/office/drawing/2014/main" id="{DE60EDA7-CDB8-6E52-2D04-9A92BC52159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7423B922-3174-2019-7FF0-7F621ADD4762}"/>
              </a:ext>
            </a:extLst>
          </p:cNvPr>
          <p:cNvGrpSpPr/>
          <p:nvPr/>
        </p:nvGrpSpPr>
        <p:grpSpPr>
          <a:xfrm>
            <a:off x="8803346" y="58766"/>
            <a:ext cx="3388653" cy="1043369"/>
            <a:chOff x="6076930" y="399008"/>
            <a:chExt cx="6115070" cy="1882835"/>
          </a:xfrm>
        </p:grpSpPr>
        <p:pic>
          <p:nvPicPr>
            <p:cNvPr id="18" name="Picture 2" descr="Logo Università di Napoli Federico II">
              <a:extLst>
                <a:ext uri="{FF2B5EF4-FFF2-40B4-BE49-F238E27FC236}">
                  <a16:creationId xmlns:a16="http://schemas.microsoft.com/office/drawing/2014/main" id="{B33BE5D8-62B1-70AD-7055-79C69A2AF6D4}"/>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Master Degree | International Relations | Italia">
              <a:extLst>
                <a:ext uri="{FF2B5EF4-FFF2-40B4-BE49-F238E27FC236}">
                  <a16:creationId xmlns:a16="http://schemas.microsoft.com/office/drawing/2014/main" id="{174D724D-879E-2A16-FB04-24786282537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49622A30-4E86-2E83-8EB0-CF48A246097A}"/>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4" name="Picture 2" descr="Predict PNG Transparent Images Free Download | Vector Files | Pngtree">
            <a:extLst>
              <a:ext uri="{FF2B5EF4-FFF2-40B4-BE49-F238E27FC236}">
                <a16:creationId xmlns:a16="http://schemas.microsoft.com/office/drawing/2014/main" id="{1F1AF95D-EDC1-A256-8B9F-F1527F5C4A28}"/>
              </a:ext>
            </a:extLst>
          </p:cNvPr>
          <p:cNvPicPr>
            <a:picLocks noChangeAspect="1" noChangeArrowheads="1"/>
          </p:cNvPicPr>
          <p:nvPr/>
        </p:nvPicPr>
        <p:blipFill>
          <a:blip r:embed="rId16">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87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2DC4A-0F84-1DEC-34B8-C8BAE5A555F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6861E41-70C1-00E2-CD0B-2B41C288BB6B}"/>
              </a:ext>
            </a:extLst>
          </p:cNvPr>
          <p:cNvPicPr>
            <a:picLocks/>
          </p:cNvPicPr>
          <p:nvPr/>
        </p:nvPicPr>
        <p:blipFill>
          <a:blip r:embed="rId2"/>
          <a:stretch>
            <a:fillRect/>
          </a:stretch>
        </p:blipFill>
        <p:spPr>
          <a:xfrm>
            <a:off x="-68921" y="5929314"/>
            <a:ext cx="12308114" cy="1063680"/>
          </a:xfrm>
          <a:prstGeom prst="rect">
            <a:avLst/>
          </a:prstGeom>
        </p:spPr>
      </p:pic>
      <p:sp>
        <p:nvSpPr>
          <p:cNvPr id="5" name="TextBox 4">
            <a:extLst>
              <a:ext uri="{FF2B5EF4-FFF2-40B4-BE49-F238E27FC236}">
                <a16:creationId xmlns:a16="http://schemas.microsoft.com/office/drawing/2014/main" id="{1990127C-438C-D562-DAE4-312B4114C95D}"/>
              </a:ext>
            </a:extLst>
          </p:cNvPr>
          <p:cNvSpPr txBox="1"/>
          <p:nvPr/>
        </p:nvSpPr>
        <p:spPr>
          <a:xfrm>
            <a:off x="178526" y="1247229"/>
            <a:ext cx="5802144" cy="646331"/>
          </a:xfrm>
          <a:prstGeom prst="rect">
            <a:avLst/>
          </a:prstGeom>
          <a:noFill/>
        </p:spPr>
        <p:txBody>
          <a:bodyPr wrap="square" rtlCol="0">
            <a:spAutoFit/>
          </a:bodyPr>
          <a:lstStyle/>
          <a:p>
            <a:r>
              <a:rPr lang="en-US" sz="3600" b="1" dirty="0">
                <a:solidFill>
                  <a:srgbClr val="1B415D"/>
                </a:solidFill>
              </a:rPr>
              <a:t>References</a:t>
            </a:r>
          </a:p>
        </p:txBody>
      </p:sp>
      <p:sp>
        <p:nvSpPr>
          <p:cNvPr id="10" name="TextBox 9">
            <a:extLst>
              <a:ext uri="{FF2B5EF4-FFF2-40B4-BE49-F238E27FC236}">
                <a16:creationId xmlns:a16="http://schemas.microsoft.com/office/drawing/2014/main" id="{139508DA-B83D-0BC6-5EE8-DE1BCB3B3D31}"/>
              </a:ext>
            </a:extLst>
          </p:cNvPr>
          <p:cNvSpPr txBox="1"/>
          <p:nvPr/>
        </p:nvSpPr>
        <p:spPr>
          <a:xfrm>
            <a:off x="326243" y="1841309"/>
            <a:ext cx="11865756" cy="738664"/>
          </a:xfrm>
          <a:prstGeom prst="rect">
            <a:avLst/>
          </a:prstGeom>
          <a:noFill/>
        </p:spPr>
        <p:txBody>
          <a:bodyPr wrap="square">
            <a:spAutoFit/>
          </a:bodyPr>
          <a:lstStyle/>
          <a:p>
            <a:pPr marL="920750" lvl="1" indent="-463550"/>
            <a:r>
              <a:rPr lang="en-US" sz="1400" dirty="0"/>
              <a:t>[11] - Omri, O., Kafa, N., Babai, M. Z., Jemai, Z. &amp; Rostami-Tabar, B. (2025). On the inventory performance of hierarchical forecasting approaches: case of a vaccine supply chain. Journal of the Operational Research Society. [</a:t>
            </a:r>
            <a:r>
              <a:rPr lang="en-US" sz="1400" dirty="0">
                <a:hlinkClick r:id="rId3"/>
              </a:rPr>
              <a:t>Ref</a:t>
            </a:r>
            <a:r>
              <a:rPr lang="en-US" sz="1400" dirty="0"/>
              <a:t>]</a:t>
            </a:r>
          </a:p>
          <a:p>
            <a:pPr marL="920750" lvl="1" indent="-463550"/>
            <a:r>
              <a:rPr lang="en-US" sz="1400" dirty="0"/>
              <a:t>[12] - Kim, M., Kim, H. &amp; Moon, J. (2025). Beginner-Friendly Review of Research on R-Based Energy Forecasting: Insights from Text Mining. [</a:t>
            </a:r>
            <a:r>
              <a:rPr lang="en-US" sz="1400" dirty="0">
                <a:hlinkClick r:id="rId4"/>
              </a:rPr>
              <a:t>Ref</a:t>
            </a:r>
            <a:r>
              <a:rPr lang="en-US" sz="1400" dirty="0"/>
              <a:t>]</a:t>
            </a:r>
          </a:p>
        </p:txBody>
      </p:sp>
      <p:pic>
        <p:nvPicPr>
          <p:cNvPr id="15" name="Picture 14">
            <a:extLst>
              <a:ext uri="{FF2B5EF4-FFF2-40B4-BE49-F238E27FC236}">
                <a16:creationId xmlns:a16="http://schemas.microsoft.com/office/drawing/2014/main" id="{1AF790AF-00B8-D5A2-3105-A8C134B24388}"/>
              </a:ext>
            </a:extLst>
          </p:cNvPr>
          <p:cNvPicPr>
            <a:picLocks/>
          </p:cNvPicPr>
          <p:nvPr/>
        </p:nvPicPr>
        <p:blipFill>
          <a:blip r:embed="rId2"/>
          <a:stretch>
            <a:fillRect/>
          </a:stretch>
        </p:blipFill>
        <p:spPr>
          <a:xfrm>
            <a:off x="-58056" y="-115208"/>
            <a:ext cx="12308114" cy="1333500"/>
          </a:xfrm>
          <a:prstGeom prst="rect">
            <a:avLst/>
          </a:prstGeom>
        </p:spPr>
      </p:pic>
      <p:pic>
        <p:nvPicPr>
          <p:cNvPr id="16" name="Picture 4" descr="Home – Planet">
            <a:extLst>
              <a:ext uri="{FF2B5EF4-FFF2-40B4-BE49-F238E27FC236}">
                <a16:creationId xmlns:a16="http://schemas.microsoft.com/office/drawing/2014/main" id="{042DC24F-79D3-A596-2E1E-B838F71D5A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526" y="5896"/>
            <a:ext cx="2611022" cy="1145722"/>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0D8D28E4-11FA-970C-5316-3AF05E1A1EEC}"/>
              </a:ext>
            </a:extLst>
          </p:cNvPr>
          <p:cNvGrpSpPr/>
          <p:nvPr/>
        </p:nvGrpSpPr>
        <p:grpSpPr>
          <a:xfrm>
            <a:off x="8803346" y="58766"/>
            <a:ext cx="3388653" cy="1043369"/>
            <a:chOff x="6076930" y="399008"/>
            <a:chExt cx="6115070" cy="1882835"/>
          </a:xfrm>
        </p:grpSpPr>
        <p:pic>
          <p:nvPicPr>
            <p:cNvPr id="18" name="Picture 2" descr="Logo Università di Napoli Federico II">
              <a:extLst>
                <a:ext uri="{FF2B5EF4-FFF2-40B4-BE49-F238E27FC236}">
                  <a16:creationId xmlns:a16="http://schemas.microsoft.com/office/drawing/2014/main" id="{48117518-F467-729A-94E2-2F29F56AE3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Master Degree | International Relations | Italia">
              <a:extLst>
                <a:ext uri="{FF2B5EF4-FFF2-40B4-BE49-F238E27FC236}">
                  <a16:creationId xmlns:a16="http://schemas.microsoft.com/office/drawing/2014/main" id="{99D2BB9E-0330-B5CD-4EB3-C7786187CE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TextBox 19">
            <a:extLst>
              <a:ext uri="{FF2B5EF4-FFF2-40B4-BE49-F238E27FC236}">
                <a16:creationId xmlns:a16="http://schemas.microsoft.com/office/drawing/2014/main" id="{734E0105-06BB-72FA-4565-F67390CBAFFB}"/>
              </a:ext>
            </a:extLst>
          </p:cNvPr>
          <p:cNvSpPr txBox="1"/>
          <p:nvPr/>
        </p:nvSpPr>
        <p:spPr>
          <a:xfrm>
            <a:off x="1474501" y="6256922"/>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4" name="Picture 2" descr="Predict PNG Transparent Images Free Download | Vector Files | Pngtree">
            <a:extLst>
              <a:ext uri="{FF2B5EF4-FFF2-40B4-BE49-F238E27FC236}">
                <a16:creationId xmlns:a16="http://schemas.microsoft.com/office/drawing/2014/main" id="{BA6A648B-938B-48B1-4A75-7CB20B05C785}"/>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921" y="5614074"/>
            <a:ext cx="2024360" cy="202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987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A7304-32E5-8522-9011-599423A4CC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DADC05-7BD0-160E-3F8B-4BAD712CCECE}"/>
              </a:ext>
            </a:extLst>
          </p:cNvPr>
          <p:cNvPicPr>
            <a:picLocks/>
          </p:cNvPicPr>
          <p:nvPr/>
        </p:nvPicPr>
        <p:blipFill>
          <a:blip r:embed="rId3"/>
          <a:stretch>
            <a:fillRect/>
          </a:stretch>
        </p:blipFill>
        <p:spPr>
          <a:xfrm>
            <a:off x="-21266" y="4580707"/>
            <a:ext cx="12308114" cy="2944043"/>
          </a:xfrm>
          <a:prstGeom prst="rect">
            <a:avLst/>
          </a:prstGeom>
        </p:spPr>
      </p:pic>
      <p:pic>
        <p:nvPicPr>
          <p:cNvPr id="4" name="Picture 3">
            <a:extLst>
              <a:ext uri="{FF2B5EF4-FFF2-40B4-BE49-F238E27FC236}">
                <a16:creationId xmlns:a16="http://schemas.microsoft.com/office/drawing/2014/main" id="{941FC00F-FB22-9846-5D24-12B5AAD9D6C8}"/>
              </a:ext>
            </a:extLst>
          </p:cNvPr>
          <p:cNvPicPr>
            <a:picLocks/>
          </p:cNvPicPr>
          <p:nvPr/>
        </p:nvPicPr>
        <p:blipFill>
          <a:blip r:embed="rId3"/>
          <a:stretch>
            <a:fillRect/>
          </a:stretch>
        </p:blipFill>
        <p:spPr>
          <a:xfrm>
            <a:off x="-58056" y="-115209"/>
            <a:ext cx="12308114" cy="2944043"/>
          </a:xfrm>
          <a:prstGeom prst="rect">
            <a:avLst/>
          </a:prstGeom>
        </p:spPr>
      </p:pic>
      <p:pic>
        <p:nvPicPr>
          <p:cNvPr id="1028" name="Picture 4" descr="Home – Planet">
            <a:extLst>
              <a:ext uri="{FF2B5EF4-FFF2-40B4-BE49-F238E27FC236}">
                <a16:creationId xmlns:a16="http://schemas.microsoft.com/office/drawing/2014/main" id="{A8281192-CA09-03F7-50D6-29B8E9820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30" y="288828"/>
            <a:ext cx="4939115" cy="216729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AA4CA3C5-AC5B-B968-2F04-A99B38D3E1C0}"/>
              </a:ext>
            </a:extLst>
          </p:cNvPr>
          <p:cNvGrpSpPr/>
          <p:nvPr/>
        </p:nvGrpSpPr>
        <p:grpSpPr>
          <a:xfrm>
            <a:off x="6076930" y="399008"/>
            <a:ext cx="6115070" cy="1882835"/>
            <a:chOff x="6076930" y="399008"/>
            <a:chExt cx="6115070" cy="1882835"/>
          </a:xfrm>
        </p:grpSpPr>
        <p:pic>
          <p:nvPicPr>
            <p:cNvPr id="1026" name="Picture 2" descr="Logo Università di Napoli Federico II">
              <a:extLst>
                <a:ext uri="{FF2B5EF4-FFF2-40B4-BE49-F238E27FC236}">
                  <a16:creationId xmlns:a16="http://schemas.microsoft.com/office/drawing/2014/main" id="{7F6D53C6-9933-0CA5-DA3E-F4C86924F63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119"/>
            <a:stretch>
              <a:fillRect/>
            </a:stretch>
          </p:blipFill>
          <p:spPr bwMode="auto">
            <a:xfrm>
              <a:off x="7985051" y="399008"/>
              <a:ext cx="4206949" cy="18500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aster Degree | International Relations | Italia">
              <a:extLst>
                <a:ext uri="{FF2B5EF4-FFF2-40B4-BE49-F238E27FC236}">
                  <a16:creationId xmlns:a16="http://schemas.microsoft.com/office/drawing/2014/main" id="{89741608-2252-65AB-A537-539700DB8C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6930" y="431780"/>
              <a:ext cx="1850063" cy="1850063"/>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Box 7">
            <a:extLst>
              <a:ext uri="{FF2B5EF4-FFF2-40B4-BE49-F238E27FC236}">
                <a16:creationId xmlns:a16="http://schemas.microsoft.com/office/drawing/2014/main" id="{59C6EACE-3FB1-4FA8-6E0C-812811B2D860}"/>
              </a:ext>
            </a:extLst>
          </p:cNvPr>
          <p:cNvSpPr txBox="1"/>
          <p:nvPr/>
        </p:nvSpPr>
        <p:spPr>
          <a:xfrm>
            <a:off x="0" y="4980202"/>
            <a:ext cx="3009900" cy="1147045"/>
          </a:xfrm>
          <a:prstGeom prst="rect">
            <a:avLst/>
          </a:prstGeom>
          <a:noFill/>
        </p:spPr>
        <p:txBody>
          <a:bodyPr wrap="square">
            <a:spAutoFit/>
          </a:bodyPr>
          <a:lstStyle/>
          <a:p>
            <a:pPr>
              <a:lnSpc>
                <a:spcPct val="150000"/>
              </a:lnSpc>
              <a:buNone/>
            </a:pPr>
            <a:r>
              <a:rPr lang="en-US" sz="2400" b="1" dirty="0"/>
              <a:t>Presented by</a:t>
            </a:r>
          </a:p>
          <a:p>
            <a:pPr>
              <a:lnSpc>
                <a:spcPct val="150000"/>
              </a:lnSpc>
              <a:buNone/>
            </a:pPr>
            <a:r>
              <a:rPr lang="en-US" sz="2400" b="1" dirty="0">
                <a:solidFill>
                  <a:schemeClr val="bg1"/>
                </a:solidFill>
              </a:rPr>
              <a:t>Mohammad Sheikh</a:t>
            </a:r>
          </a:p>
        </p:txBody>
      </p:sp>
      <p:sp>
        <p:nvSpPr>
          <p:cNvPr id="11" name="TextBox 10">
            <a:extLst>
              <a:ext uri="{FF2B5EF4-FFF2-40B4-BE49-F238E27FC236}">
                <a16:creationId xmlns:a16="http://schemas.microsoft.com/office/drawing/2014/main" id="{B9682003-38AF-EFDB-2046-E95731F405E4}"/>
              </a:ext>
            </a:extLst>
          </p:cNvPr>
          <p:cNvSpPr txBox="1"/>
          <p:nvPr/>
        </p:nvSpPr>
        <p:spPr>
          <a:xfrm>
            <a:off x="9090502" y="4980202"/>
            <a:ext cx="3101498" cy="1701043"/>
          </a:xfrm>
          <a:prstGeom prst="rect">
            <a:avLst/>
          </a:prstGeom>
          <a:noFill/>
        </p:spPr>
        <p:txBody>
          <a:bodyPr wrap="square">
            <a:spAutoFit/>
          </a:bodyPr>
          <a:lstStyle/>
          <a:p>
            <a:pPr algn="r">
              <a:lnSpc>
                <a:spcPct val="150000"/>
              </a:lnSpc>
              <a:buNone/>
            </a:pPr>
            <a:r>
              <a:rPr lang="en-US" sz="2400" b="1" dirty="0"/>
              <a:t>Supervisors</a:t>
            </a:r>
          </a:p>
          <a:p>
            <a:pPr algn="r">
              <a:lnSpc>
                <a:spcPct val="150000"/>
              </a:lnSpc>
              <a:buNone/>
            </a:pPr>
            <a:r>
              <a:rPr lang="en-US" sz="2400" b="1" dirty="0">
                <a:solidFill>
                  <a:schemeClr val="bg1"/>
                </a:solidFill>
              </a:rPr>
              <a:t>Dr. Luca </a:t>
            </a:r>
            <a:r>
              <a:rPr lang="en-US" sz="2400" b="1" dirty="0" err="1">
                <a:solidFill>
                  <a:schemeClr val="bg1"/>
                </a:solidFill>
              </a:rPr>
              <a:t>Barbierato</a:t>
            </a:r>
            <a:endParaRPr lang="en-US" sz="2400" b="1" dirty="0">
              <a:solidFill>
                <a:schemeClr val="bg1"/>
              </a:solidFill>
            </a:endParaRPr>
          </a:p>
          <a:p>
            <a:pPr algn="r">
              <a:lnSpc>
                <a:spcPct val="150000"/>
              </a:lnSpc>
              <a:buNone/>
            </a:pPr>
            <a:r>
              <a:rPr lang="en-US" sz="2400" b="1" dirty="0">
                <a:solidFill>
                  <a:schemeClr val="bg1"/>
                </a:solidFill>
              </a:rPr>
              <a:t>Dr. Matteo </a:t>
            </a:r>
            <a:r>
              <a:rPr lang="en-US" sz="2400" b="1" dirty="0" err="1">
                <a:solidFill>
                  <a:schemeClr val="bg1"/>
                </a:solidFill>
              </a:rPr>
              <a:t>Santinello</a:t>
            </a:r>
            <a:endParaRPr lang="en-US" sz="2400" b="1" dirty="0">
              <a:solidFill>
                <a:schemeClr val="bg1"/>
              </a:solidFill>
            </a:endParaRPr>
          </a:p>
        </p:txBody>
      </p:sp>
      <p:sp>
        <p:nvSpPr>
          <p:cNvPr id="13" name="TextBox 12">
            <a:extLst>
              <a:ext uri="{FF2B5EF4-FFF2-40B4-BE49-F238E27FC236}">
                <a16:creationId xmlns:a16="http://schemas.microsoft.com/office/drawing/2014/main" id="{3C9F71F2-29B5-260F-E000-D0EF6D9DC034}"/>
              </a:ext>
            </a:extLst>
          </p:cNvPr>
          <p:cNvSpPr txBox="1"/>
          <p:nvPr/>
        </p:nvSpPr>
        <p:spPr>
          <a:xfrm>
            <a:off x="4999036" y="6488668"/>
            <a:ext cx="2193925" cy="369332"/>
          </a:xfrm>
          <a:prstGeom prst="rect">
            <a:avLst/>
          </a:prstGeom>
          <a:noFill/>
        </p:spPr>
        <p:txBody>
          <a:bodyPr wrap="square">
            <a:spAutoFit/>
          </a:bodyPr>
          <a:lstStyle/>
          <a:p>
            <a:pPr>
              <a:buNone/>
            </a:pPr>
            <a:r>
              <a:rPr lang="en-US" sz="1800" b="1" dirty="0">
                <a:solidFill>
                  <a:schemeClr val="bg1"/>
                </a:solidFill>
              </a:rPr>
              <a:t>November 2025</a:t>
            </a:r>
          </a:p>
        </p:txBody>
      </p:sp>
      <p:sp>
        <p:nvSpPr>
          <p:cNvPr id="6" name="TextBox 5">
            <a:extLst>
              <a:ext uri="{FF2B5EF4-FFF2-40B4-BE49-F238E27FC236}">
                <a16:creationId xmlns:a16="http://schemas.microsoft.com/office/drawing/2014/main" id="{91774A55-9F56-4149-2237-23C4BB3A5537}"/>
              </a:ext>
            </a:extLst>
          </p:cNvPr>
          <p:cNvSpPr txBox="1"/>
          <p:nvPr/>
        </p:nvSpPr>
        <p:spPr>
          <a:xfrm>
            <a:off x="1474500" y="8090427"/>
            <a:ext cx="9242995" cy="369332"/>
          </a:xfrm>
          <a:prstGeom prst="rect">
            <a:avLst/>
          </a:prstGeom>
          <a:noFill/>
        </p:spPr>
        <p:txBody>
          <a:bodyPr wrap="square">
            <a:spAutoFit/>
          </a:bodyPr>
          <a:lstStyle/>
          <a:p>
            <a:pPr algn="ctr">
              <a:buNone/>
            </a:pPr>
            <a:r>
              <a:rPr lang="en-US" sz="1800" b="1" dirty="0">
                <a:solidFill>
                  <a:schemeClr val="bg1"/>
                </a:solidFill>
              </a:rPr>
              <a:t>Predictive Analytics of Climate Stress Impact on the Italian Mediterranean Buffalo</a:t>
            </a:r>
          </a:p>
        </p:txBody>
      </p:sp>
      <p:pic>
        <p:nvPicPr>
          <p:cNvPr id="2" name="Picture 2" descr="Predict PNG Transparent Images Free Download | Vector Files | Pngtree">
            <a:extLst>
              <a:ext uri="{FF2B5EF4-FFF2-40B4-BE49-F238E27FC236}">
                <a16:creationId xmlns:a16="http://schemas.microsoft.com/office/drawing/2014/main" id="{0A2251D7-B328-2892-9557-9E9801734725}"/>
              </a:ext>
            </a:extLst>
          </p:cNvPr>
          <p:cNvPicPr>
            <a:picLocks noChangeAspect="1" noChangeArrowheads="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851" y="6795409"/>
            <a:ext cx="2024360" cy="20243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AF0682-57F4-84D7-21D8-74774953E560}"/>
              </a:ext>
            </a:extLst>
          </p:cNvPr>
          <p:cNvSpPr txBox="1"/>
          <p:nvPr/>
        </p:nvSpPr>
        <p:spPr>
          <a:xfrm>
            <a:off x="1474499" y="3074639"/>
            <a:ext cx="9242995" cy="1200329"/>
          </a:xfrm>
          <a:prstGeom prst="rect">
            <a:avLst/>
          </a:prstGeom>
          <a:noFill/>
        </p:spPr>
        <p:txBody>
          <a:bodyPr wrap="square">
            <a:spAutoFit/>
          </a:bodyPr>
          <a:lstStyle/>
          <a:p>
            <a:pPr algn="ctr">
              <a:buNone/>
            </a:pPr>
            <a:r>
              <a:rPr lang="en-US" sz="3600" b="1" dirty="0">
                <a:solidFill>
                  <a:srgbClr val="1B415D"/>
                </a:solidFill>
              </a:rPr>
              <a:t>Predictive Analytics of Climate Stress Impact on the Italian Mediterranean Buffalo</a:t>
            </a:r>
          </a:p>
        </p:txBody>
      </p:sp>
    </p:spTree>
    <p:extLst>
      <p:ext uri="{BB962C8B-B14F-4D97-AF65-F5344CB8AC3E}">
        <p14:creationId xmlns:p14="http://schemas.microsoft.com/office/powerpoint/2010/main" val="3008573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ACDD-D867-B5F7-11AB-2EE7EE5B4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3EF1B-11D8-CEAE-B22F-052FF8D5B48A}"/>
              </a:ext>
            </a:extLst>
          </p:cNvPr>
          <p:cNvSpPr>
            <a:spLocks noGrp="1"/>
          </p:cNvSpPr>
          <p:nvPr>
            <p:ph type="title"/>
          </p:nvPr>
        </p:nvSpPr>
        <p:spPr/>
        <p:txBody>
          <a:bodyPr>
            <a:normAutofit fontScale="90000"/>
          </a:bodyPr>
          <a:lstStyle/>
          <a:p>
            <a:r>
              <a:rPr lang="en-US" dirty="0"/>
              <a:t>Jiang et al. (2021)</a:t>
            </a:r>
          </a:p>
        </p:txBody>
      </p:sp>
      <p:sp>
        <p:nvSpPr>
          <p:cNvPr id="3" name="Content Placeholder 2">
            <a:extLst>
              <a:ext uri="{FF2B5EF4-FFF2-40B4-BE49-F238E27FC236}">
                <a16:creationId xmlns:a16="http://schemas.microsoft.com/office/drawing/2014/main" id="{11628019-6BB0-D66C-31B1-CF3CFF69F410}"/>
              </a:ext>
            </a:extLst>
          </p:cNvPr>
          <p:cNvSpPr>
            <a:spLocks noGrp="1"/>
          </p:cNvSpPr>
          <p:nvPr>
            <p:ph idx="1"/>
          </p:nvPr>
        </p:nvSpPr>
        <p:spPr/>
        <p:txBody>
          <a:bodyPr>
            <a:normAutofit fontScale="62500" lnSpcReduction="20000"/>
          </a:bodyPr>
          <a:lstStyle/>
          <a:p>
            <a:r>
              <a:rPr lang="en-US" dirty="0"/>
              <a:t>They introduced a </a:t>
            </a:r>
            <a:r>
              <a:rPr lang="en-US" b="1" dirty="0"/>
              <a:t>hybrid dual-radio mesh network</a:t>
            </a:r>
            <a:r>
              <a:rPr lang="en-US" dirty="0"/>
              <a:t> that integrates </a:t>
            </a:r>
            <a:r>
              <a:rPr lang="en-US" b="1" dirty="0"/>
              <a:t>sub-GHz LoRa</a:t>
            </a:r>
            <a:r>
              <a:rPr lang="en-US" dirty="0"/>
              <a:t> for long-range communication and </a:t>
            </a:r>
            <a:r>
              <a:rPr lang="en-US" b="1" dirty="0"/>
              <a:t>2.4 GHz ANT</a:t>
            </a:r>
            <a:r>
              <a:rPr lang="en-US" dirty="0"/>
              <a:t> for local mesh connectivity. The two technologies are coupled through an </a:t>
            </a:r>
            <a:r>
              <a:rPr lang="en-US" b="1" dirty="0"/>
              <a:t>encapsulation mechanism</a:t>
            </a:r>
            <a:r>
              <a:rPr lang="en-US" dirty="0"/>
              <a:t>, where short-range mesh frames are </a:t>
            </a:r>
            <a:r>
              <a:rPr lang="en-US" b="1" dirty="0" err="1"/>
              <a:t>tunnelled</a:t>
            </a:r>
            <a:r>
              <a:rPr lang="en-US" b="1" dirty="0"/>
              <a:t> inside LoRa packets</a:t>
            </a:r>
            <a:r>
              <a:rPr lang="en-US" dirty="0"/>
              <a:t>, enabling seamless forwarding between tiers.</a:t>
            </a:r>
          </a:p>
          <a:p>
            <a:r>
              <a:rPr lang="en-US" b="1" dirty="0">
                <a:solidFill>
                  <a:schemeClr val="bg1">
                    <a:lumMod val="95000"/>
                  </a:schemeClr>
                </a:solidFill>
              </a:rPr>
              <a:t>Protocol Encapsulation: </a:t>
            </a:r>
            <a:r>
              <a:rPr lang="en-US" dirty="0">
                <a:solidFill>
                  <a:schemeClr val="bg1">
                    <a:lumMod val="95000"/>
                  </a:schemeClr>
                </a:solidFill>
              </a:rPr>
              <a:t>ANT mesh packets are encapsulated as payloads within LoRa frames. This allows data to traverse the long-range LoRa backhaul </a:t>
            </a:r>
            <a:r>
              <a:rPr lang="en-US" b="1" dirty="0">
                <a:solidFill>
                  <a:schemeClr val="bg1">
                    <a:lumMod val="95000"/>
                  </a:schemeClr>
                </a:solidFill>
              </a:rPr>
              <a:t>without modifying the ANT protocol stack</a:t>
            </a:r>
            <a:r>
              <a:rPr lang="en-US" dirty="0">
                <a:solidFill>
                  <a:schemeClr val="bg1">
                    <a:lumMod val="95000"/>
                  </a:schemeClr>
                </a:solidFill>
              </a:rPr>
              <a:t>.</a:t>
            </a:r>
          </a:p>
          <a:p>
            <a:r>
              <a:rPr lang="en-US" b="1" dirty="0">
                <a:solidFill>
                  <a:schemeClr val="bg1">
                    <a:lumMod val="95000"/>
                  </a:schemeClr>
                </a:solidFill>
              </a:rPr>
              <a:t>Dual-Radio Bridging: </a:t>
            </a:r>
            <a:r>
              <a:rPr lang="en-US" dirty="0">
                <a:solidFill>
                  <a:schemeClr val="bg1">
                    <a:lumMod val="95000"/>
                  </a:schemeClr>
                </a:solidFill>
              </a:rPr>
              <a:t>Nodes equipped with both radios manage context switching between mesh (ANT) and LPWAN (LoRa) interfaces. The gateway decapsulates incoming LoRa packets and reinjects them into the local mesh layer.</a:t>
            </a:r>
          </a:p>
          <a:p>
            <a:r>
              <a:rPr lang="en-US" b="1" dirty="0">
                <a:solidFill>
                  <a:schemeClr val="bg1">
                    <a:lumMod val="95000"/>
                  </a:schemeClr>
                </a:solidFill>
              </a:rPr>
              <a:t>TDMA-Based Coordination: </a:t>
            </a:r>
            <a:r>
              <a:rPr lang="en-US" dirty="0">
                <a:solidFill>
                  <a:schemeClr val="bg1">
                    <a:lumMod val="95000"/>
                  </a:schemeClr>
                </a:solidFill>
              </a:rPr>
              <a:t>Time Division Multiple Access scheduling synchronizes short-range mesh communication and LoRa transmissions, preventing collisions and improving energy efficiency.</a:t>
            </a:r>
          </a:p>
          <a:p>
            <a:r>
              <a:rPr lang="en-US" b="1" dirty="0">
                <a:solidFill>
                  <a:schemeClr val="bg1">
                    <a:lumMod val="95000"/>
                  </a:schemeClr>
                </a:solidFill>
              </a:rPr>
              <a:t>Hybrid Routing: </a:t>
            </a:r>
            <a:r>
              <a:rPr lang="en-US" dirty="0">
                <a:solidFill>
                  <a:schemeClr val="bg1">
                    <a:lumMod val="95000"/>
                  </a:schemeClr>
                </a:solidFill>
              </a:rPr>
              <a:t>Local data aggregation occurs within the mesh before encapsulated forwarding over LoRa to reduce channel load.</a:t>
            </a:r>
          </a:p>
          <a:p>
            <a:r>
              <a:rPr lang="en-US" b="1" dirty="0">
                <a:solidFill>
                  <a:schemeClr val="bg1">
                    <a:lumMod val="95000"/>
                  </a:schemeClr>
                </a:solidFill>
              </a:rPr>
              <a:t>Results: </a:t>
            </a:r>
            <a:r>
              <a:rPr lang="en-US" dirty="0">
                <a:solidFill>
                  <a:schemeClr val="bg1">
                    <a:lumMod val="95000"/>
                  </a:schemeClr>
                </a:solidFill>
              </a:rPr>
              <a:t>Achieved </a:t>
            </a:r>
            <a:r>
              <a:rPr lang="en-US" b="1" dirty="0">
                <a:solidFill>
                  <a:schemeClr val="bg1">
                    <a:lumMod val="95000"/>
                  </a:schemeClr>
                </a:solidFill>
              </a:rPr>
              <a:t>seamless protocol interoperability</a:t>
            </a:r>
            <a:r>
              <a:rPr lang="en-US" dirty="0">
                <a:solidFill>
                  <a:schemeClr val="bg1">
                    <a:lumMod val="95000"/>
                  </a:schemeClr>
                </a:solidFill>
              </a:rPr>
              <a:t> without redesigning either the PHY or the MAC layer. Demonstrated </a:t>
            </a:r>
            <a:r>
              <a:rPr lang="en-US" b="1" dirty="0">
                <a:solidFill>
                  <a:schemeClr val="bg1">
                    <a:lumMod val="95000"/>
                  </a:schemeClr>
                </a:solidFill>
              </a:rPr>
              <a:t>extended coverage (≈ 15 km)</a:t>
            </a:r>
            <a:r>
              <a:rPr lang="en-US" dirty="0">
                <a:solidFill>
                  <a:schemeClr val="bg1">
                    <a:lumMod val="95000"/>
                  </a:schemeClr>
                </a:solidFill>
              </a:rPr>
              <a:t> and </a:t>
            </a:r>
            <a:r>
              <a:rPr lang="en-US" b="1" dirty="0">
                <a:solidFill>
                  <a:schemeClr val="bg1">
                    <a:lumMod val="95000"/>
                  </a:schemeClr>
                </a:solidFill>
              </a:rPr>
              <a:t>stable multi-hop performance</a:t>
            </a:r>
            <a:r>
              <a:rPr lang="en-US" dirty="0">
                <a:solidFill>
                  <a:schemeClr val="bg1">
                    <a:lumMod val="95000"/>
                  </a:schemeClr>
                </a:solidFill>
              </a:rPr>
              <a:t>. Improved energy use and throughput due to efficient encapsulation and coordinated scheduling</a:t>
            </a:r>
          </a:p>
          <a:p>
            <a:endParaRPr lang="en-US" dirty="0"/>
          </a:p>
        </p:txBody>
      </p:sp>
      <p:sp>
        <p:nvSpPr>
          <p:cNvPr id="4" name="TextBox 3">
            <a:extLst>
              <a:ext uri="{FF2B5EF4-FFF2-40B4-BE49-F238E27FC236}">
                <a16:creationId xmlns:a16="http://schemas.microsoft.com/office/drawing/2014/main" id="{DBA27F96-CCBE-F640-23EA-4A7487083FF6}"/>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6" name="TextBox 5">
            <a:extLst>
              <a:ext uri="{FF2B5EF4-FFF2-40B4-BE49-F238E27FC236}">
                <a16:creationId xmlns:a16="http://schemas.microsoft.com/office/drawing/2014/main" id="{91F6F6E4-499C-D297-852D-F60A99F0BC3E}"/>
              </a:ext>
            </a:extLst>
          </p:cNvPr>
          <p:cNvSpPr txBox="1"/>
          <p:nvPr/>
        </p:nvSpPr>
        <p:spPr>
          <a:xfrm>
            <a:off x="643982" y="5688736"/>
            <a:ext cx="11243217" cy="646331"/>
          </a:xfrm>
          <a:prstGeom prst="rect">
            <a:avLst/>
          </a:prstGeom>
          <a:noFill/>
        </p:spPr>
        <p:txBody>
          <a:bodyPr wrap="square">
            <a:spAutoFit/>
          </a:bodyPr>
          <a:lstStyle/>
          <a:p>
            <a:r>
              <a:rPr lang="en-US" b="0" i="0" dirty="0">
                <a:solidFill>
                  <a:srgbClr val="333333"/>
                </a:solidFill>
                <a:effectLst/>
                <a:latin typeface="HelveticaNeue Regular"/>
              </a:rPr>
              <a:t>X. Jiang </a:t>
            </a:r>
            <a:r>
              <a:rPr lang="en-US" b="0" i="1" dirty="0">
                <a:solidFill>
                  <a:srgbClr val="333333"/>
                </a:solidFill>
                <a:effectLst/>
                <a:latin typeface="HelveticaNeue Regular"/>
              </a:rPr>
              <a:t>et al</a:t>
            </a:r>
            <a:r>
              <a:rPr lang="en-US" b="0" i="0" dirty="0">
                <a:solidFill>
                  <a:srgbClr val="333333"/>
                </a:solidFill>
                <a:effectLst/>
                <a:latin typeface="HelveticaNeue Regular"/>
              </a:rPr>
              <a:t>., "Hybrid Low-Power Wide-Area Mesh Network for IoT Applications," in </a:t>
            </a:r>
            <a:r>
              <a:rPr lang="en-US" b="0" i="1" dirty="0">
                <a:solidFill>
                  <a:srgbClr val="333333"/>
                </a:solidFill>
                <a:effectLst/>
                <a:latin typeface="HelveticaNeue Regular"/>
              </a:rPr>
              <a:t>IEEE Internet of Things Journal</a:t>
            </a:r>
            <a:r>
              <a:rPr lang="en-US" b="0" i="0" dirty="0">
                <a:solidFill>
                  <a:srgbClr val="333333"/>
                </a:solidFill>
                <a:effectLst/>
                <a:latin typeface="HelveticaNeue Regular"/>
              </a:rPr>
              <a:t>, vol. 8, no. 2, pp. 901-915, 15 Jan.15, 2021, </a:t>
            </a:r>
            <a:r>
              <a:rPr lang="en-US" b="0" i="0" dirty="0" err="1">
                <a:solidFill>
                  <a:srgbClr val="333333"/>
                </a:solidFill>
                <a:effectLst/>
                <a:latin typeface="HelveticaNeue Regular"/>
              </a:rPr>
              <a:t>doi</a:t>
            </a:r>
            <a:r>
              <a:rPr lang="en-US" b="0" i="0" dirty="0">
                <a:solidFill>
                  <a:srgbClr val="333333"/>
                </a:solidFill>
                <a:effectLst/>
                <a:latin typeface="HelveticaNeue Regular"/>
              </a:rPr>
              <a:t>: 10.1109/JIOT.2020.3009228.</a:t>
            </a:r>
            <a:endParaRPr lang="en-US" dirty="0"/>
          </a:p>
        </p:txBody>
      </p:sp>
      <p:pic>
        <p:nvPicPr>
          <p:cNvPr id="8" name="Picture 7">
            <a:extLst>
              <a:ext uri="{FF2B5EF4-FFF2-40B4-BE49-F238E27FC236}">
                <a16:creationId xmlns:a16="http://schemas.microsoft.com/office/drawing/2014/main" id="{0D822647-5098-F42D-5880-C4BFC2ED5B6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43131" y="2154032"/>
            <a:ext cx="5238750" cy="3495675"/>
          </a:xfrm>
          <a:prstGeom prst="rect">
            <a:avLst/>
          </a:prstGeom>
        </p:spPr>
      </p:pic>
      <p:sp>
        <p:nvSpPr>
          <p:cNvPr id="9" name="TextBox 8">
            <a:extLst>
              <a:ext uri="{FF2B5EF4-FFF2-40B4-BE49-F238E27FC236}">
                <a16:creationId xmlns:a16="http://schemas.microsoft.com/office/drawing/2014/main" id="{C037FB33-A71B-95EB-7DE6-7C60CF076303}"/>
              </a:ext>
            </a:extLst>
          </p:cNvPr>
          <p:cNvSpPr txBox="1"/>
          <p:nvPr/>
        </p:nvSpPr>
        <p:spPr>
          <a:xfrm>
            <a:off x="5923620" y="2041583"/>
            <a:ext cx="5925249" cy="3970318"/>
          </a:xfrm>
          <a:prstGeom prst="rect">
            <a:avLst/>
          </a:prstGeom>
          <a:noFill/>
        </p:spPr>
        <p:txBody>
          <a:bodyPr wrap="square" rtlCol="0">
            <a:spAutoFit/>
          </a:bodyPr>
          <a:lstStyle/>
          <a:p>
            <a:pPr algn="ctr"/>
            <a:r>
              <a:rPr lang="en-US" dirty="0">
                <a:solidFill>
                  <a:srgbClr val="C00000"/>
                </a:solidFill>
              </a:rPr>
              <a:t>A modified mesh distance vector routing protocol:</a:t>
            </a:r>
          </a:p>
          <a:p>
            <a:r>
              <a:rPr lang="en-US" sz="1200" b="1" dirty="0">
                <a:solidFill>
                  <a:srgbClr val="C00000"/>
                </a:solidFill>
              </a:rPr>
              <a:t>LoRa Mesh Network Protocol</a:t>
            </a:r>
          </a:p>
          <a:p>
            <a:r>
              <a:rPr lang="en-US" sz="1200" dirty="0">
                <a:solidFill>
                  <a:srgbClr val="C00000"/>
                </a:solidFill>
              </a:rPr>
              <a:t>	1: </a:t>
            </a:r>
            <a:r>
              <a:rPr lang="en-US" sz="1200" b="1" dirty="0">
                <a:solidFill>
                  <a:srgbClr val="C00000"/>
                </a:solidFill>
              </a:rPr>
              <a:t>procedure</a:t>
            </a:r>
            <a:r>
              <a:rPr lang="en-US" sz="1200" dirty="0">
                <a:solidFill>
                  <a:srgbClr val="C00000"/>
                </a:solidFill>
              </a:rPr>
              <a:t> Operations of Each Node</a:t>
            </a:r>
          </a:p>
          <a:p>
            <a:r>
              <a:rPr lang="en-US" sz="1200" b="1" dirty="0">
                <a:solidFill>
                  <a:srgbClr val="C00000"/>
                </a:solidFill>
              </a:rPr>
              <a:t>Setup Phase</a:t>
            </a:r>
            <a:endParaRPr lang="en-US" sz="1200" dirty="0">
              <a:solidFill>
                <a:srgbClr val="C00000"/>
              </a:solidFill>
            </a:endParaRPr>
          </a:p>
          <a:p>
            <a:r>
              <a:rPr lang="en-US" sz="1200" dirty="0">
                <a:solidFill>
                  <a:srgbClr val="C00000"/>
                </a:solidFill>
              </a:rPr>
              <a:t>	2: Each node builds local routing table using distance vector 	routing protocol.</a:t>
            </a:r>
          </a:p>
          <a:p>
            <a:r>
              <a:rPr lang="en-US" sz="1200" dirty="0">
                <a:solidFill>
                  <a:srgbClr val="C00000"/>
                </a:solidFill>
              </a:rPr>
              <a:t>	3: Each node broadcasts its own routing table and forwards 	others’ routing tables, for the purpose of gathering all routing 	tables at the Hub node.</a:t>
            </a:r>
          </a:p>
          <a:p>
            <a:r>
              <a:rPr lang="en-US" sz="1200" dirty="0">
                <a:solidFill>
                  <a:srgbClr val="C00000"/>
                </a:solidFill>
              </a:rPr>
              <a:t>	4: Hub node builds the connectivity table for the whole 	network after collecting all routing tables from other nodes.</a:t>
            </a:r>
          </a:p>
          <a:p>
            <a:r>
              <a:rPr lang="en-US" sz="1200" dirty="0">
                <a:solidFill>
                  <a:srgbClr val="C00000"/>
                </a:solidFill>
              </a:rPr>
              <a:t>	5: Hub node executes Algorithm 1 to build the 	communication schedule of each node and floods the 	schedule out; all the other nodes forward the schedule after 	receiving it.</a:t>
            </a:r>
          </a:p>
          <a:p>
            <a:r>
              <a:rPr lang="en-US" sz="1200" b="1" dirty="0">
                <a:solidFill>
                  <a:srgbClr val="C00000"/>
                </a:solidFill>
              </a:rPr>
              <a:t>Data Passing Phase</a:t>
            </a:r>
            <a:endParaRPr lang="en-US" sz="1200" dirty="0">
              <a:solidFill>
                <a:srgbClr val="C00000"/>
              </a:solidFill>
            </a:endParaRPr>
          </a:p>
          <a:p>
            <a:r>
              <a:rPr lang="en-US" sz="1200" dirty="0">
                <a:solidFill>
                  <a:srgbClr val="C00000"/>
                </a:solidFill>
              </a:rPr>
              <a:t>	6: Each node sends/receives/sleeps based on the schedule.</a:t>
            </a:r>
          </a:p>
          <a:p>
            <a:r>
              <a:rPr lang="en-US" sz="1200" b="1" dirty="0">
                <a:solidFill>
                  <a:srgbClr val="C00000"/>
                </a:solidFill>
              </a:rPr>
              <a:t>Sleep Phase</a:t>
            </a:r>
            <a:endParaRPr lang="en-US" sz="1200" dirty="0">
              <a:solidFill>
                <a:srgbClr val="C00000"/>
              </a:solidFill>
            </a:endParaRPr>
          </a:p>
          <a:p>
            <a:r>
              <a:rPr lang="en-US" sz="1200" dirty="0">
                <a:solidFill>
                  <a:srgbClr val="C00000"/>
                </a:solidFill>
              </a:rPr>
              <a:t>	7: All nodes sleep until the next Data Passing Phase.</a:t>
            </a:r>
          </a:p>
          <a:p>
            <a:pPr algn="ctr"/>
            <a:endParaRPr lang="en-US" dirty="0">
              <a:solidFill>
                <a:srgbClr val="C00000"/>
              </a:solidFill>
            </a:endParaRPr>
          </a:p>
        </p:txBody>
      </p:sp>
    </p:spTree>
    <p:extLst>
      <p:ext uri="{BB962C8B-B14F-4D97-AF65-F5344CB8AC3E}">
        <p14:creationId xmlns:p14="http://schemas.microsoft.com/office/powerpoint/2010/main" val="26907592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0797-E8EE-092B-E35A-7DB347B9C1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7DB64-6757-B831-04FE-69EA6EF4A72C}"/>
              </a:ext>
            </a:extLst>
          </p:cNvPr>
          <p:cNvSpPr>
            <a:spLocks noGrp="1"/>
          </p:cNvSpPr>
          <p:nvPr>
            <p:ph idx="1"/>
          </p:nvPr>
        </p:nvSpPr>
        <p:spPr/>
        <p:txBody>
          <a:bodyPr>
            <a:normAutofit/>
          </a:bodyPr>
          <a:lstStyle/>
          <a:p>
            <a:r>
              <a:rPr lang="en-US" sz="2400" dirty="0" err="1"/>
              <a:t>LoRaWAN</a:t>
            </a:r>
            <a:r>
              <a:rPr lang="en-US" sz="2400" dirty="0"/>
              <a:t> and BLE Mesh together enable resilient, scalable IoT infrastructures. The main challenge lies in efficient, secure routing across two fundamentally different wireless tiers—solvable with adaptive, energy-aware algorithms.</a:t>
            </a:r>
          </a:p>
          <a:p>
            <a:r>
              <a:rPr lang="en-US" sz="2400" dirty="0"/>
              <a:t>Approaches for BLE–LoRa integration:</a:t>
            </a:r>
          </a:p>
          <a:p>
            <a:pPr marL="285750" indent="-285750">
              <a:buFont typeface="Arial" panose="020B0604020202020204" pitchFamily="34" charset="0"/>
              <a:buChar char="•"/>
            </a:pPr>
            <a:r>
              <a:rPr lang="en-US" sz="2400" b="1" dirty="0"/>
              <a:t>Cross-layer best-radio selection</a:t>
            </a:r>
          </a:p>
          <a:p>
            <a:pPr marL="285750" indent="-285750">
              <a:buFont typeface="Arial" panose="020B0604020202020204" pitchFamily="34" charset="0"/>
              <a:buChar char="•"/>
            </a:pPr>
            <a:r>
              <a:rPr lang="en-US" sz="2400" b="1" dirty="0"/>
              <a:t>Opportunistic candidate forwarding</a:t>
            </a:r>
          </a:p>
          <a:p>
            <a:pPr marL="285750" indent="-285750">
              <a:buFont typeface="Arial" panose="020B0604020202020204" pitchFamily="34" charset="0"/>
              <a:buChar char="•"/>
            </a:pPr>
            <a:r>
              <a:rPr lang="en-US" sz="2400" b="1" dirty="0"/>
              <a:t>Machine-learning–based adaptive routing</a:t>
            </a:r>
          </a:p>
          <a:p>
            <a:pPr marL="285750" indent="-285750">
              <a:buFont typeface="Arial" panose="020B0604020202020204" pitchFamily="34" charset="0"/>
              <a:buChar char="•"/>
            </a:pPr>
            <a:r>
              <a:rPr lang="en-US" sz="2400" b="1" dirty="0"/>
              <a:t>Hybrid proactive (LoRa) + reactive (BLE) methods</a:t>
            </a:r>
          </a:p>
        </p:txBody>
      </p:sp>
      <p:sp>
        <p:nvSpPr>
          <p:cNvPr id="4" name="TextBox 3">
            <a:extLst>
              <a:ext uri="{FF2B5EF4-FFF2-40B4-BE49-F238E27FC236}">
                <a16:creationId xmlns:a16="http://schemas.microsoft.com/office/drawing/2014/main" id="{144A9130-4971-8123-5E76-6851D5B8986D}"/>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7" name="Title 6">
            <a:extLst>
              <a:ext uri="{FF2B5EF4-FFF2-40B4-BE49-F238E27FC236}">
                <a16:creationId xmlns:a16="http://schemas.microsoft.com/office/drawing/2014/main" id="{3682E002-E6B0-5B89-1C8C-EBC0A977206B}"/>
              </a:ext>
            </a:extLst>
          </p:cNvPr>
          <p:cNvSpPr>
            <a:spLocks noGrp="1"/>
          </p:cNvSpPr>
          <p:nvPr>
            <p:ph type="title"/>
          </p:nvPr>
        </p:nvSpPr>
        <p:spPr/>
        <p:txBody>
          <a:bodyPr>
            <a:normAutofit fontScale="90000"/>
          </a:bodyPr>
          <a:lstStyle/>
          <a:p>
            <a:r>
              <a:rPr lang="en-US" dirty="0"/>
              <a:t>Routing Strategies for Mixed Networks</a:t>
            </a:r>
          </a:p>
        </p:txBody>
      </p:sp>
    </p:spTree>
    <p:extLst>
      <p:ext uri="{BB962C8B-B14F-4D97-AF65-F5344CB8AC3E}">
        <p14:creationId xmlns:p14="http://schemas.microsoft.com/office/powerpoint/2010/main" val="659003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86AE-2A00-0205-5328-5AA5D26533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09536E-8F77-0B8E-9CF8-00B3127641A3}"/>
              </a:ext>
            </a:extLst>
          </p:cNvPr>
          <p:cNvSpPr>
            <a:spLocks noGrp="1"/>
          </p:cNvSpPr>
          <p:nvPr>
            <p:ph idx="1"/>
          </p:nvPr>
        </p:nvSpPr>
        <p:spPr/>
        <p:txBody>
          <a:bodyPr>
            <a:normAutofit fontScale="70000" lnSpcReduction="20000"/>
          </a:bodyPr>
          <a:lstStyle/>
          <a:p>
            <a:r>
              <a:rPr lang="en-US" dirty="0"/>
              <a:t>Cross-layer routing introduces </a:t>
            </a:r>
            <a:r>
              <a:rPr lang="en-US" b="1" dirty="0"/>
              <a:t>dynamic radio selection</a:t>
            </a:r>
            <a:r>
              <a:rPr lang="en-US" dirty="0"/>
              <a:t>, enabling dual-interface nodes to choose </a:t>
            </a:r>
            <a:r>
              <a:rPr lang="en-US" b="1" dirty="0"/>
              <a:t>BLE or </a:t>
            </a:r>
            <a:r>
              <a:rPr lang="en-US" b="1" dirty="0" err="1"/>
              <a:t>LoRaWAN</a:t>
            </a:r>
            <a:r>
              <a:rPr lang="en-US" dirty="0"/>
              <a:t> per transmission based on live network conditions and QoS requirements.</a:t>
            </a:r>
          </a:p>
          <a:p>
            <a:r>
              <a:rPr lang="en-US" b="1" dirty="0"/>
              <a:t>Mechanism: </a:t>
            </a:r>
          </a:p>
          <a:p>
            <a:r>
              <a:rPr lang="en-US" dirty="0"/>
              <a:t>Nodes continuously monitor metrics such as:</a:t>
            </a:r>
          </a:p>
          <a:p>
            <a:pPr marL="800100" lvl="1" indent="-342900">
              <a:buFont typeface="Arial" panose="020B0604020202020204" pitchFamily="34" charset="0"/>
              <a:buChar char="•"/>
            </a:pPr>
            <a:r>
              <a:rPr lang="en-US" dirty="0"/>
              <a:t>Received Signal Strength Indicator (RSSI) and SNR.</a:t>
            </a:r>
          </a:p>
          <a:p>
            <a:pPr marL="800100" lvl="1" indent="-342900">
              <a:buFont typeface="Arial" panose="020B0604020202020204" pitchFamily="34" charset="0"/>
              <a:buChar char="•"/>
            </a:pPr>
            <a:r>
              <a:rPr lang="en-US" dirty="0"/>
              <a:t>Remaining battery energy.</a:t>
            </a:r>
          </a:p>
          <a:p>
            <a:pPr marL="800100" lvl="1" indent="-342900">
              <a:buFont typeface="Arial" panose="020B0604020202020204" pitchFamily="34" charset="0"/>
              <a:buChar char="•"/>
            </a:pPr>
            <a:r>
              <a:rPr lang="en-US" dirty="0"/>
              <a:t>Channel duty-cycle and interference levels.</a:t>
            </a:r>
          </a:p>
          <a:p>
            <a:pPr marL="800100" lvl="1" indent="-342900">
              <a:buFont typeface="Arial" panose="020B0604020202020204" pitchFamily="34" charset="0"/>
              <a:buChar char="•"/>
            </a:pPr>
            <a:r>
              <a:rPr lang="en-US" dirty="0"/>
              <a:t>Message priority (critical, regular, or background).</a:t>
            </a:r>
          </a:p>
          <a:p>
            <a:r>
              <a:rPr lang="en-US" dirty="0"/>
              <a:t>A decision engine (local or distributed) selects the </a:t>
            </a:r>
            <a:r>
              <a:rPr lang="en-US" b="1" dirty="0"/>
              <a:t>best radio</a:t>
            </a:r>
            <a:r>
              <a:rPr lang="en-US" dirty="0"/>
              <a:t> for the next transmission. </a:t>
            </a:r>
          </a:p>
          <a:p>
            <a:r>
              <a:rPr lang="en-US" dirty="0"/>
              <a:t>The selected radio handles the transmission while the other remains idle to save energy.</a:t>
            </a:r>
          </a:p>
          <a:p>
            <a:r>
              <a:rPr lang="en-US" b="1" dirty="0"/>
              <a:t>Advantages: </a:t>
            </a:r>
          </a:p>
          <a:p>
            <a:r>
              <a:rPr lang="en-US" dirty="0"/>
              <a:t>Optimizes </a:t>
            </a:r>
            <a:r>
              <a:rPr lang="en-US" b="1" dirty="0"/>
              <a:t>energy efficiency and reliability</a:t>
            </a:r>
            <a:r>
              <a:rPr lang="en-US" dirty="0"/>
              <a:t>. </a:t>
            </a:r>
          </a:p>
          <a:p>
            <a:r>
              <a:rPr lang="en-US" dirty="0"/>
              <a:t>Adapts to environment and workload in real time. </a:t>
            </a:r>
          </a:p>
          <a:p>
            <a:r>
              <a:rPr lang="en-US" dirty="0"/>
              <a:t>Minimizes packet loss under variable channel conditions.</a:t>
            </a:r>
          </a:p>
          <a:p>
            <a:endParaRPr lang="en-US" sz="2400" b="1" dirty="0"/>
          </a:p>
        </p:txBody>
      </p:sp>
      <p:sp>
        <p:nvSpPr>
          <p:cNvPr id="4" name="TextBox 3">
            <a:extLst>
              <a:ext uri="{FF2B5EF4-FFF2-40B4-BE49-F238E27FC236}">
                <a16:creationId xmlns:a16="http://schemas.microsoft.com/office/drawing/2014/main" id="{9DF90E5E-39DC-5604-D126-9397AAE97996}"/>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7" name="Title 6">
            <a:extLst>
              <a:ext uri="{FF2B5EF4-FFF2-40B4-BE49-F238E27FC236}">
                <a16:creationId xmlns:a16="http://schemas.microsoft.com/office/drawing/2014/main" id="{BB2C24E7-8789-95DF-3534-A349C0657340}"/>
              </a:ext>
            </a:extLst>
          </p:cNvPr>
          <p:cNvSpPr>
            <a:spLocks noGrp="1"/>
          </p:cNvSpPr>
          <p:nvPr>
            <p:ph type="title"/>
          </p:nvPr>
        </p:nvSpPr>
        <p:spPr/>
        <p:txBody>
          <a:bodyPr>
            <a:normAutofit fontScale="90000"/>
          </a:bodyPr>
          <a:lstStyle/>
          <a:p>
            <a:r>
              <a:rPr lang="en-US" dirty="0"/>
              <a:t>Cross-Layer Best-Radio Selection</a:t>
            </a:r>
          </a:p>
        </p:txBody>
      </p:sp>
    </p:spTree>
    <p:extLst>
      <p:ext uri="{BB962C8B-B14F-4D97-AF65-F5344CB8AC3E}">
        <p14:creationId xmlns:p14="http://schemas.microsoft.com/office/powerpoint/2010/main" val="39273494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3C8C5-AA66-D43D-86C9-61C6E46AC9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68D733-ACFA-2149-6398-5A70399EE4FA}"/>
              </a:ext>
            </a:extLst>
          </p:cNvPr>
          <p:cNvSpPr>
            <a:spLocks noGrp="1"/>
          </p:cNvSpPr>
          <p:nvPr>
            <p:ph idx="1"/>
          </p:nvPr>
        </p:nvSpPr>
        <p:spPr/>
        <p:txBody>
          <a:bodyPr>
            <a:normAutofit/>
          </a:bodyPr>
          <a:lstStyle/>
          <a:p>
            <a:r>
              <a:rPr lang="en-US" sz="2000" dirty="0"/>
              <a:t>Opportunistic forwarding eliminates fixed routes by using </a:t>
            </a:r>
            <a:r>
              <a:rPr lang="en-US" sz="2000" b="1" dirty="0"/>
              <a:t>probabilistic, competition-based forwarding</a:t>
            </a:r>
            <a:r>
              <a:rPr lang="en-US" sz="2000" dirty="0"/>
              <a:t> — multiple nodes can forward a packet, and the network self-selects the best next hop.</a:t>
            </a:r>
          </a:p>
          <a:p>
            <a:r>
              <a:rPr lang="en-US" sz="2000" b="1" dirty="0"/>
              <a:t>Mechanism: </a:t>
            </a:r>
          </a:p>
          <a:p>
            <a:r>
              <a:rPr lang="en-US" sz="2000" dirty="0"/>
              <a:t>Nodes broadcast packets to all nearby </a:t>
            </a:r>
            <a:r>
              <a:rPr lang="en-US" sz="2000" dirty="0" err="1"/>
              <a:t>neighbours</a:t>
            </a:r>
            <a:r>
              <a:rPr lang="en-US" sz="2000" dirty="0"/>
              <a:t>. </a:t>
            </a:r>
          </a:p>
          <a:p>
            <a:r>
              <a:rPr lang="en-US" sz="2000" dirty="0"/>
              <a:t>Each </a:t>
            </a:r>
            <a:r>
              <a:rPr lang="en-US" sz="2000" dirty="0" err="1"/>
              <a:t>neighbour</a:t>
            </a:r>
            <a:r>
              <a:rPr lang="en-US" sz="2000" dirty="0"/>
              <a:t> evaluates its suitability (e.g., link quality, hop count, residual energy). </a:t>
            </a:r>
          </a:p>
          <a:p>
            <a:r>
              <a:rPr lang="en-US" sz="2000" dirty="0"/>
              <a:t>The most eligible node forwards first; others cancel after a random backoff period. </a:t>
            </a:r>
          </a:p>
          <a:p>
            <a:r>
              <a:rPr lang="en-US" sz="2000" dirty="0"/>
              <a:t>Ensures progress toward the destination without precomputed paths.</a:t>
            </a:r>
          </a:p>
          <a:p>
            <a:r>
              <a:rPr lang="en-US" sz="2000" b="1" dirty="0"/>
              <a:t>Advantages:</a:t>
            </a:r>
            <a:endParaRPr lang="en-US" sz="2000" dirty="0"/>
          </a:p>
          <a:p>
            <a:r>
              <a:rPr lang="en-US" sz="2000" b="1" dirty="0"/>
              <a:t>Topology-free:</a:t>
            </a:r>
            <a:r>
              <a:rPr lang="en-US" sz="2000" dirty="0"/>
              <a:t> no route discovery or maintenance overhead.</a:t>
            </a:r>
          </a:p>
          <a:p>
            <a:r>
              <a:rPr lang="en-US" sz="2000" b="1" dirty="0"/>
              <a:t>Robust:</a:t>
            </a:r>
            <a:r>
              <a:rPr lang="en-US" sz="2000" dirty="0"/>
              <a:t> resilient to node failures or dynamic topology changes.</a:t>
            </a:r>
          </a:p>
          <a:p>
            <a:r>
              <a:rPr lang="en-US" sz="2000" b="1" dirty="0"/>
              <a:t>Scalable:</a:t>
            </a:r>
            <a:r>
              <a:rPr lang="en-US" sz="2000" dirty="0"/>
              <a:t> adapts automatically to network growth.</a:t>
            </a:r>
          </a:p>
          <a:p>
            <a:endParaRPr lang="en-US" sz="2400" b="1" dirty="0"/>
          </a:p>
        </p:txBody>
      </p:sp>
      <p:sp>
        <p:nvSpPr>
          <p:cNvPr id="4" name="TextBox 3">
            <a:extLst>
              <a:ext uri="{FF2B5EF4-FFF2-40B4-BE49-F238E27FC236}">
                <a16:creationId xmlns:a16="http://schemas.microsoft.com/office/drawing/2014/main" id="{B404DD49-76C1-7593-860A-A4473DA2A7A9}"/>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7" name="Title 6">
            <a:extLst>
              <a:ext uri="{FF2B5EF4-FFF2-40B4-BE49-F238E27FC236}">
                <a16:creationId xmlns:a16="http://schemas.microsoft.com/office/drawing/2014/main" id="{50329B54-61A0-9A6C-B629-377B5D4692DA}"/>
              </a:ext>
            </a:extLst>
          </p:cNvPr>
          <p:cNvSpPr>
            <a:spLocks noGrp="1"/>
          </p:cNvSpPr>
          <p:nvPr>
            <p:ph type="title"/>
          </p:nvPr>
        </p:nvSpPr>
        <p:spPr/>
        <p:txBody>
          <a:bodyPr>
            <a:normAutofit fontScale="90000"/>
          </a:bodyPr>
          <a:lstStyle/>
          <a:p>
            <a:r>
              <a:rPr lang="en-US" dirty="0"/>
              <a:t>Opportunistic Candidate Forwarding</a:t>
            </a:r>
          </a:p>
        </p:txBody>
      </p:sp>
    </p:spTree>
    <p:extLst>
      <p:ext uri="{BB962C8B-B14F-4D97-AF65-F5344CB8AC3E}">
        <p14:creationId xmlns:p14="http://schemas.microsoft.com/office/powerpoint/2010/main" val="1976696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5F613-DC64-FFD7-5CAB-1E301CD1CAB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D3E285-53FA-92F2-14E2-6D4681CFFD08}"/>
              </a:ext>
            </a:extLst>
          </p:cNvPr>
          <p:cNvSpPr>
            <a:spLocks noGrp="1"/>
          </p:cNvSpPr>
          <p:nvPr>
            <p:ph idx="1"/>
          </p:nvPr>
        </p:nvSpPr>
        <p:spPr/>
        <p:txBody>
          <a:bodyPr>
            <a:normAutofit fontScale="92500" lnSpcReduction="10000"/>
          </a:bodyPr>
          <a:lstStyle/>
          <a:p>
            <a:r>
              <a:rPr lang="en-US" sz="2400" dirty="0"/>
              <a:t>Machine learning introduces </a:t>
            </a:r>
            <a:r>
              <a:rPr lang="en-US" sz="2400" b="1" dirty="0"/>
              <a:t>self-learning routing intelligence</a:t>
            </a:r>
            <a:r>
              <a:rPr lang="en-US" sz="2400" dirty="0"/>
              <a:t>, enabling dual-radio nodes to adapt forwarding </a:t>
            </a:r>
            <a:r>
              <a:rPr lang="en-US" sz="2400" dirty="0" err="1"/>
              <a:t>behaviour</a:t>
            </a:r>
            <a:r>
              <a:rPr lang="en-US" sz="2400" dirty="0"/>
              <a:t> dynamically through </a:t>
            </a:r>
            <a:r>
              <a:rPr lang="en-US" sz="2400" b="1" dirty="0"/>
              <a:t>reinforcement learning (e.g., Q-learning)</a:t>
            </a:r>
            <a:r>
              <a:rPr lang="en-US" sz="2400" dirty="0"/>
              <a:t> or predictive models.</a:t>
            </a:r>
          </a:p>
          <a:p>
            <a:r>
              <a:rPr lang="en-US" sz="2400" b="1" dirty="0"/>
              <a:t>Mechanism:</a:t>
            </a:r>
            <a:endParaRPr lang="en-US" sz="2400" dirty="0"/>
          </a:p>
          <a:p>
            <a:r>
              <a:rPr lang="en-US" sz="2400" dirty="0"/>
              <a:t>Each node observes local conditions (RSSI, energy, congestion, message success).</a:t>
            </a:r>
          </a:p>
          <a:p>
            <a:r>
              <a:rPr lang="en-US" sz="2400" dirty="0"/>
              <a:t>The node selects an </a:t>
            </a:r>
            <a:r>
              <a:rPr lang="en-US" sz="2400" b="1" dirty="0"/>
              <a:t>action</a:t>
            </a:r>
            <a:r>
              <a:rPr lang="en-US" sz="2400" dirty="0"/>
              <a:t>: use BLE, use LoRa, forward, or remain silent.</a:t>
            </a:r>
          </a:p>
          <a:p>
            <a:r>
              <a:rPr lang="en-US" sz="2400" dirty="0"/>
              <a:t>The environment provides a </a:t>
            </a:r>
            <a:r>
              <a:rPr lang="en-US" sz="2400" b="1" dirty="0"/>
              <a:t>reward</a:t>
            </a:r>
            <a:r>
              <a:rPr lang="en-US" sz="2400" dirty="0"/>
              <a:t> based on delivery success and energy use.</a:t>
            </a:r>
          </a:p>
          <a:p>
            <a:r>
              <a:rPr lang="en-US" sz="2400" dirty="0"/>
              <a:t>The node updates its routing policy to </a:t>
            </a:r>
            <a:r>
              <a:rPr lang="en-US" sz="2400" dirty="0" err="1"/>
              <a:t>maximise</a:t>
            </a:r>
            <a:r>
              <a:rPr lang="en-US" sz="2400" dirty="0"/>
              <a:t> long-term performance.</a:t>
            </a:r>
          </a:p>
          <a:p>
            <a:r>
              <a:rPr lang="en-US" sz="2400" b="1" dirty="0"/>
              <a:t>Advantages:</a:t>
            </a:r>
            <a:endParaRPr lang="en-US" sz="2400" dirty="0"/>
          </a:p>
          <a:p>
            <a:r>
              <a:rPr lang="en-US" sz="2400" dirty="0"/>
              <a:t>Learns optimal forwarding strategies over time.</a:t>
            </a:r>
          </a:p>
          <a:p>
            <a:r>
              <a:rPr lang="en-US" sz="2400" dirty="0"/>
              <a:t>Requires no </a:t>
            </a:r>
            <a:r>
              <a:rPr lang="en-US" sz="2400" dirty="0" err="1"/>
              <a:t>centralised</a:t>
            </a:r>
            <a:r>
              <a:rPr lang="en-US" sz="2400" dirty="0"/>
              <a:t> routing management.</a:t>
            </a:r>
          </a:p>
          <a:p>
            <a:r>
              <a:rPr lang="en-US" sz="2400" dirty="0"/>
              <a:t>Enhances lifetime and delivery success in dynamic environments.</a:t>
            </a:r>
          </a:p>
          <a:p>
            <a:endParaRPr lang="en-US" sz="2400" b="1" dirty="0"/>
          </a:p>
        </p:txBody>
      </p:sp>
      <p:sp>
        <p:nvSpPr>
          <p:cNvPr id="4" name="TextBox 3">
            <a:extLst>
              <a:ext uri="{FF2B5EF4-FFF2-40B4-BE49-F238E27FC236}">
                <a16:creationId xmlns:a16="http://schemas.microsoft.com/office/drawing/2014/main" id="{EB027ED0-F035-D223-E8FB-0626EBD9FD98}"/>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7" name="Title 6">
            <a:extLst>
              <a:ext uri="{FF2B5EF4-FFF2-40B4-BE49-F238E27FC236}">
                <a16:creationId xmlns:a16="http://schemas.microsoft.com/office/drawing/2014/main" id="{CDF5E603-4688-BBF8-750E-DE276ABA1F19}"/>
              </a:ext>
            </a:extLst>
          </p:cNvPr>
          <p:cNvSpPr>
            <a:spLocks noGrp="1"/>
          </p:cNvSpPr>
          <p:nvPr>
            <p:ph type="title"/>
          </p:nvPr>
        </p:nvSpPr>
        <p:spPr/>
        <p:txBody>
          <a:bodyPr>
            <a:normAutofit fontScale="90000"/>
          </a:bodyPr>
          <a:lstStyle/>
          <a:p>
            <a:r>
              <a:rPr lang="en-US" dirty="0"/>
              <a:t>Machine-Learning–Based Adaptive Routing</a:t>
            </a:r>
          </a:p>
        </p:txBody>
      </p:sp>
    </p:spTree>
    <p:extLst>
      <p:ext uri="{BB962C8B-B14F-4D97-AF65-F5344CB8AC3E}">
        <p14:creationId xmlns:p14="http://schemas.microsoft.com/office/powerpoint/2010/main" val="1130377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C3C7-38FB-B99E-7BF5-2678636410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56B360-B39C-BF8E-22D0-5F3DED61CE64}"/>
              </a:ext>
            </a:extLst>
          </p:cNvPr>
          <p:cNvSpPr>
            <a:spLocks noGrp="1"/>
          </p:cNvSpPr>
          <p:nvPr>
            <p:ph idx="1"/>
          </p:nvPr>
        </p:nvSpPr>
        <p:spPr/>
        <p:txBody>
          <a:bodyPr>
            <a:normAutofit fontScale="77500" lnSpcReduction="20000"/>
          </a:bodyPr>
          <a:lstStyle/>
          <a:p>
            <a:r>
              <a:rPr lang="en-US" dirty="0"/>
              <a:t>This approach merges two classical routing philosophies to leverage each protocol’s strengths — </a:t>
            </a:r>
            <a:r>
              <a:rPr lang="en-US" b="1" dirty="0" err="1"/>
              <a:t>LoRaWAN</a:t>
            </a:r>
            <a:r>
              <a:rPr lang="en-US" b="1" dirty="0"/>
              <a:t> uses proactive (table-based) routing</a:t>
            </a:r>
            <a:r>
              <a:rPr lang="en-US" dirty="0"/>
              <a:t>, while </a:t>
            </a:r>
            <a:r>
              <a:rPr lang="en-US" b="1" dirty="0"/>
              <a:t>BLE Mesh employs reactive (on-demand)</a:t>
            </a:r>
            <a:r>
              <a:rPr lang="en-US" dirty="0"/>
              <a:t> routing.</a:t>
            </a:r>
          </a:p>
          <a:p>
            <a:r>
              <a:rPr lang="en-US" b="1" dirty="0"/>
              <a:t>Mechanism:</a:t>
            </a:r>
            <a:endParaRPr lang="en-US" dirty="0"/>
          </a:p>
          <a:p>
            <a:r>
              <a:rPr lang="en-US" b="1" dirty="0"/>
              <a:t>LoRa Tier: </a:t>
            </a:r>
            <a:r>
              <a:rPr lang="en-US" dirty="0"/>
              <a:t>Maintains stable, long-term routing paths (proactive). Suitable for periodic reporting and backhaul reliability.</a:t>
            </a:r>
          </a:p>
          <a:p>
            <a:r>
              <a:rPr lang="en-US" b="1" dirty="0"/>
              <a:t>BLE Tier: </a:t>
            </a:r>
            <a:r>
              <a:rPr lang="en-US" dirty="0"/>
              <a:t>Routes established only when needed (reactive). Ideal for dense networks where topology changes frequently.</a:t>
            </a:r>
          </a:p>
          <a:p>
            <a:r>
              <a:rPr lang="en-US" b="1" dirty="0"/>
              <a:t>Bridging Strategy: </a:t>
            </a:r>
            <a:r>
              <a:rPr lang="en-US" dirty="0"/>
              <a:t>BLE clusters send aggregated or event-driven data to the LoRa tier. LoRa ensures deterministic delivery to the backend.</a:t>
            </a:r>
          </a:p>
          <a:p>
            <a:r>
              <a:rPr lang="en-US" b="1" dirty="0"/>
              <a:t>Advantages:</a:t>
            </a:r>
            <a:endParaRPr lang="en-US" dirty="0"/>
          </a:p>
          <a:p>
            <a:r>
              <a:rPr lang="en-US" dirty="0"/>
              <a:t>Balances responsiveness (BLE) with reliability (LoRa).</a:t>
            </a:r>
          </a:p>
          <a:p>
            <a:r>
              <a:rPr lang="en-US" dirty="0"/>
              <a:t>Reduces routing overhead compared to full proactive or reactive systems.</a:t>
            </a:r>
          </a:p>
          <a:p>
            <a:r>
              <a:rPr lang="en-US" dirty="0"/>
              <a:t>Enables scalable hybrid architectures with predictable latency.</a:t>
            </a:r>
          </a:p>
          <a:p>
            <a:endParaRPr lang="en-US" sz="2400" b="1" dirty="0"/>
          </a:p>
        </p:txBody>
      </p:sp>
      <p:sp>
        <p:nvSpPr>
          <p:cNvPr id="4" name="TextBox 3">
            <a:extLst>
              <a:ext uri="{FF2B5EF4-FFF2-40B4-BE49-F238E27FC236}">
                <a16:creationId xmlns:a16="http://schemas.microsoft.com/office/drawing/2014/main" id="{A703F40F-D9DE-FB50-5635-500A523B687F}"/>
              </a:ext>
            </a:extLst>
          </p:cNvPr>
          <p:cNvSpPr txBox="1"/>
          <p:nvPr/>
        </p:nvSpPr>
        <p:spPr>
          <a:xfrm>
            <a:off x="5106406" y="6374096"/>
            <a:ext cx="7085594" cy="461665"/>
          </a:xfrm>
          <a:prstGeom prst="rect">
            <a:avLst/>
          </a:prstGeom>
          <a:solidFill>
            <a:srgbClr val="002B49"/>
          </a:solidFill>
        </p:spPr>
        <p:txBody>
          <a:bodyPr wrap="none" rtlCol="0">
            <a:spAutoFit/>
          </a:bodyPr>
          <a:lstStyle/>
          <a:p>
            <a:pPr algn="r"/>
            <a:r>
              <a:rPr lang="en-IT" sz="1200" dirty="0">
                <a:solidFill>
                  <a:schemeClr val="bg1">
                    <a:lumMod val="95000"/>
                  </a:schemeClr>
                </a:solidFill>
                <a:hlinkClick r:id="rId2">
                  <a:extLst>
                    <a:ext uri="{A12FA001-AC4F-418D-AE19-62706E023703}">
                      <ahyp:hlinkClr xmlns:ahyp="http://schemas.microsoft.com/office/drawing/2018/hyperlinkcolor" val="tx"/>
                    </a:ext>
                  </a:extLst>
                </a:hlinkClick>
              </a:rPr>
              <a:t>luca.barbierato@polito.it</a:t>
            </a:r>
            <a:endParaRPr lang="en-IT" sz="1200" dirty="0">
              <a:solidFill>
                <a:schemeClr val="bg1">
                  <a:lumMod val="95000"/>
                </a:schemeClr>
              </a:solidFill>
            </a:endParaRPr>
          </a:p>
          <a:p>
            <a:pPr algn="r"/>
            <a:r>
              <a:rPr lang="en-US" sz="1200" dirty="0">
                <a:solidFill>
                  <a:schemeClr val="bg1">
                    <a:lumMod val="95000"/>
                  </a:schemeClr>
                </a:solidFill>
              </a:rPr>
              <a:t>Integrating </a:t>
            </a:r>
            <a:r>
              <a:rPr lang="en-US" sz="1200" dirty="0" err="1">
                <a:solidFill>
                  <a:schemeClr val="bg1">
                    <a:lumMod val="95000"/>
                  </a:schemeClr>
                </a:solidFill>
              </a:rPr>
              <a:t>LoRaWAN</a:t>
            </a:r>
            <a:r>
              <a:rPr lang="en-US" sz="1200" dirty="0">
                <a:solidFill>
                  <a:schemeClr val="bg1">
                    <a:lumMod val="95000"/>
                  </a:schemeClr>
                </a:solidFill>
              </a:rPr>
              <a:t> and Bluetooth Mesh: Challenges and Opportunities in Mixed Routing </a:t>
            </a:r>
          </a:p>
        </p:txBody>
      </p:sp>
      <p:sp>
        <p:nvSpPr>
          <p:cNvPr id="7" name="Title 6">
            <a:extLst>
              <a:ext uri="{FF2B5EF4-FFF2-40B4-BE49-F238E27FC236}">
                <a16:creationId xmlns:a16="http://schemas.microsoft.com/office/drawing/2014/main" id="{C4F8DF87-FECB-3001-3771-ED37D597F207}"/>
              </a:ext>
            </a:extLst>
          </p:cNvPr>
          <p:cNvSpPr>
            <a:spLocks noGrp="1"/>
          </p:cNvSpPr>
          <p:nvPr>
            <p:ph type="title"/>
          </p:nvPr>
        </p:nvSpPr>
        <p:spPr/>
        <p:txBody>
          <a:bodyPr>
            <a:normAutofit fontScale="90000"/>
          </a:bodyPr>
          <a:lstStyle/>
          <a:p>
            <a:r>
              <a:rPr lang="en-US" dirty="0"/>
              <a:t>Hybrid Proactive (LoRa) + Reactive (BLE) Methods</a:t>
            </a:r>
          </a:p>
        </p:txBody>
      </p:sp>
    </p:spTree>
    <p:extLst>
      <p:ext uri="{BB962C8B-B14F-4D97-AF65-F5344CB8AC3E}">
        <p14:creationId xmlns:p14="http://schemas.microsoft.com/office/powerpoint/2010/main" val="39004678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0547489"/>
      </p:ext>
    </p:extLst>
  </p:cSld>
  <p:clrMapOvr>
    <a:masterClrMapping/>
  </p:clrMapOvr>
</p:sld>
</file>

<file path=ppt/theme/theme1.xml><?xml version="1.0" encoding="utf-8"?>
<a:theme xmlns:a="http://schemas.openxmlformats.org/drawingml/2006/main" name="COPERTINE">
  <a:themeElements>
    <a:clrScheme name="PoliTO_Template">
      <a:dk1>
        <a:srgbClr val="002B49"/>
      </a:dk1>
      <a:lt1>
        <a:srgbClr val="FFFFFF"/>
      </a:lt1>
      <a:dk2>
        <a:srgbClr val="000000"/>
      </a:dk2>
      <a:lt2>
        <a:srgbClr val="EED9CC"/>
      </a:lt2>
      <a:accent1>
        <a:srgbClr val="EF7B00"/>
      </a:accent1>
      <a:accent2>
        <a:srgbClr val="00B1DF"/>
      </a:accent2>
      <a:accent3>
        <a:srgbClr val="C4E7FB"/>
      </a:accent3>
      <a:accent4>
        <a:srgbClr val="F1C64C"/>
      </a:accent4>
      <a:accent5>
        <a:srgbClr val="FFE9AF"/>
      </a:accent5>
      <a:accent6>
        <a:srgbClr val="92CCAE"/>
      </a:accent6>
      <a:hlink>
        <a:srgbClr val="175673"/>
      </a:hlink>
      <a:folHlink>
        <a:srgbClr val="EC6055"/>
      </a:folHlink>
    </a:clrScheme>
    <a:fontScheme name="PoliTO_Template">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lito template_ITA" id="{B4DE900A-7F1E-FB4B-BE2A-0D4B6B8B958A}" vid="{413DD7D1-C3E5-6A4B-BFB7-237394F1067C}"/>
    </a:ext>
  </a:extLst>
</a:theme>
</file>

<file path=ppt/theme/theme2.xml><?xml version="1.0" encoding="utf-8"?>
<a:theme xmlns:a="http://schemas.openxmlformats.org/drawingml/2006/main" name="CONTENUTI 1 _ titoli blu">
  <a:themeElements>
    <a:clrScheme name="PoliTO_Template">
      <a:dk1>
        <a:srgbClr val="002B49"/>
      </a:dk1>
      <a:lt1>
        <a:srgbClr val="FFFFFF"/>
      </a:lt1>
      <a:dk2>
        <a:srgbClr val="000000"/>
      </a:dk2>
      <a:lt2>
        <a:srgbClr val="EED9CC"/>
      </a:lt2>
      <a:accent1>
        <a:srgbClr val="EF7B00"/>
      </a:accent1>
      <a:accent2>
        <a:srgbClr val="00B1DF"/>
      </a:accent2>
      <a:accent3>
        <a:srgbClr val="C4E7FB"/>
      </a:accent3>
      <a:accent4>
        <a:srgbClr val="F1C64C"/>
      </a:accent4>
      <a:accent5>
        <a:srgbClr val="FFE9AF"/>
      </a:accent5>
      <a:accent6>
        <a:srgbClr val="92CCAE"/>
      </a:accent6>
      <a:hlink>
        <a:srgbClr val="175673"/>
      </a:hlink>
      <a:folHlink>
        <a:srgbClr val="EC6055"/>
      </a:folHlink>
    </a:clrScheme>
    <a:fontScheme name="PoliTO_Template">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FF"/>
        </a:solidFill>
        <a:ln>
          <a:noFill/>
        </a:ln>
        <a:extLst>
          <a:ext uri="{91240B29-F687-4F45-9708-019B960494DF}">
            <a14:hiddenLine xmlns:a14="http://schemas.microsoft.com/office/drawing/2010/main" w="9525">
              <a:solidFill>
                <a:srgbClr val="000000"/>
              </a:solidFill>
              <a:round/>
              <a:headEnd/>
              <a:tailEnd/>
            </a14:hiddenLine>
          </a:ext>
        </a:extLst>
      </a:spPr>
      <a:bodyPr vert="horz" wrap="square" lIns="91440" tIns="45720" rIns="91440" bIns="45720" numCol="1" anchor="t" anchorCtr="0" compatLnSpc="1">
        <a:prstTxWarp prst="textNoShape">
          <a:avLst/>
        </a:prstTxWarp>
      </a:bodyPr>
      <a:lstStyle>
        <a:defPPr>
          <a:defRPr/>
        </a:defPPr>
      </a:lstStyle>
    </a:spDef>
  </a:objectDefaults>
  <a:extraClrSchemeLst/>
  <a:extLst>
    <a:ext uri="{05A4C25C-085E-4340-85A3-A5531E510DB2}">
      <thm15:themeFamily xmlns:thm15="http://schemas.microsoft.com/office/thememl/2012/main" name="Polito template_ITA" id="{B4DE900A-7F1E-FB4B-BE2A-0D4B6B8B958A}" vid="{A7BD8485-1F4D-B940-AD4F-9A9144EBD7DF}"/>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D4CAB1AA5B43F4D9AAF01BADE0E3A4F" ma:contentTypeVersion="8" ma:contentTypeDescription="Creare un nuovo documento." ma:contentTypeScope="" ma:versionID="59c7fa7676cd10170f585e95f6181454">
  <xsd:schema xmlns:xsd="http://www.w3.org/2001/XMLSchema" xmlns:xs="http://www.w3.org/2001/XMLSchema" xmlns:p="http://schemas.microsoft.com/office/2006/metadata/properties" xmlns:ns2="ee8ce87a-fc1e-415b-8f19-964dc6e332da" targetNamespace="http://schemas.microsoft.com/office/2006/metadata/properties" ma:root="true" ma:fieldsID="e3f9aa92bd1d0291e55783ad41e7d77e" ns2:_="">
    <xsd:import namespace="ee8ce87a-fc1e-415b-8f19-964dc6e332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8ce87a-fc1e-415b-8f19-964dc6e332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6FE114-0C58-4EEA-8876-F3C08EF0B541}">
  <ds:schemaRefs>
    <ds:schemaRef ds:uri="http://schemas.microsoft.com/sharepoint/v3/contenttype/forms"/>
  </ds:schemaRefs>
</ds:datastoreItem>
</file>

<file path=customXml/itemProps2.xml><?xml version="1.0" encoding="utf-8"?>
<ds:datastoreItem xmlns:ds="http://schemas.openxmlformats.org/officeDocument/2006/customXml" ds:itemID="{80F9F511-3832-4B05-91B3-5180D7ACFDC9}">
  <ds:schemaRefs>
    <ds:schemaRef ds:uri="http://purl.org/dc/terms/"/>
    <ds:schemaRef ds:uri="ee8ce87a-fc1e-415b-8f19-964dc6e332da"/>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elements/1.1/"/>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1B4A7BA3-74A2-491B-AF81-6CB1FF0218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8ce87a-fc1e-415b-8f19-964dc6e33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COPERTINE</Template>
  <TotalTime>10587</TotalTime>
  <Words>6324</Words>
  <Application>Microsoft Macintosh PowerPoint</Application>
  <PresentationFormat>Widescreen</PresentationFormat>
  <Paragraphs>848</Paragraphs>
  <Slides>59</Slides>
  <Notes>22</Notes>
  <HiddenSlides>14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59</vt:i4>
      </vt:variant>
    </vt:vector>
  </HeadingPairs>
  <TitlesOfParts>
    <vt:vector size="70" baseType="lpstr">
      <vt:lpstr>Poppins</vt:lpstr>
      <vt:lpstr>Arial</vt:lpstr>
      <vt:lpstr>Cambria Math</vt:lpstr>
      <vt:lpstr>Aptos</vt:lpstr>
      <vt:lpstr>Calibri</vt:lpstr>
      <vt:lpstr>System Font Regular</vt:lpstr>
      <vt:lpstr>HelveticaNeue Regular</vt:lpstr>
      <vt:lpstr>Poppins Medium</vt:lpstr>
      <vt:lpstr>Wingdings</vt:lpstr>
      <vt:lpstr>COPERTINE</vt:lpstr>
      <vt:lpstr>CONTENUTI 1 _ titoli blu</vt:lpstr>
      <vt:lpstr>PowerPoint Presentation</vt:lpstr>
      <vt:lpstr>Jiang et al. (2021)</vt:lpstr>
      <vt:lpstr>Milk predictions of buffalo</vt:lpstr>
      <vt:lpstr>Precision livestock farming (PLF) </vt:lpstr>
      <vt:lpstr>Heat Stress is affecting …</vt:lpstr>
      <vt:lpstr>Temperature-Humidity Index (THI)</vt:lpstr>
      <vt:lpstr>THI refers to be an important KPI in milk production.</vt:lpstr>
      <vt:lpstr>Studies on Milk Prediction</vt:lpstr>
      <vt:lpstr>Effect of HS on cow milk yield by Hassan, 2025</vt:lpstr>
      <vt:lpstr>individual models for predicting cow milk production in Korea, by Song,2025 </vt:lpstr>
      <vt:lpstr>predict the next month's daily cow milk yield in Australia by Ji,2022 </vt:lpstr>
      <vt:lpstr>predict SCC in the Italian Mediterranean Buffaloes by Bobbo, 2022 </vt:lpstr>
      <vt:lpstr>Matteo’s work slide 1</vt:lpstr>
      <vt:lpstr>Matteo’s work slide 2</vt:lpstr>
      <vt:lpstr>Matteo’s work slide 3</vt:lpstr>
      <vt:lpstr>PowerPoint Presentation</vt:lpstr>
      <vt:lpstr>Hierarchy in time series (HTS)</vt:lpstr>
      <vt:lpstr>Hierarchy in time series (HTS)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Jiang et al. (2021)</vt:lpstr>
      <vt:lpstr>Routing Strategies for Mixed Networks</vt:lpstr>
      <vt:lpstr>Cross-Layer Best-Radio Selection</vt:lpstr>
      <vt:lpstr>Opportunistic Candidate Forwarding</vt:lpstr>
      <vt:lpstr>Machine-Learning–Based Adaptive Routing</vt:lpstr>
      <vt:lpstr>Hybrid Proactive (LoRa) + Reactive (BLE) Methods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Messori</dc:creator>
  <cp:lastModifiedBy>Sheikh Ahmadi Gandab  Seyed Mohammad</cp:lastModifiedBy>
  <cp:revision>13</cp:revision>
  <dcterms:created xsi:type="dcterms:W3CDTF">2024-10-30T07:55:12Z</dcterms:created>
  <dcterms:modified xsi:type="dcterms:W3CDTF">2025-12-30T13:33:24Z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0x010100AD4CAB1AA5B43F4D9AAF01BADE0E3A4F</vt:lpwstr>
  </property>
</Properties>
</file>