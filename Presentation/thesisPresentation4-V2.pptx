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7" r:id="rId4"/>
    <p:sldMasterId id="2147483767" r:id="rId5"/>
  </p:sldMasterIdLst>
  <p:notesMasterIdLst>
    <p:notesMasterId r:id="rId21"/>
  </p:notesMasterIdLst>
  <p:handoutMasterIdLst>
    <p:handoutMasterId r:id="rId22"/>
  </p:handoutMasterIdLst>
  <p:sldIdLst>
    <p:sldId id="256" r:id="rId6"/>
    <p:sldId id="366" r:id="rId7"/>
    <p:sldId id="367" r:id="rId8"/>
    <p:sldId id="427" r:id="rId9"/>
    <p:sldId id="428" r:id="rId10"/>
    <p:sldId id="429" r:id="rId11"/>
    <p:sldId id="430" r:id="rId12"/>
    <p:sldId id="431" r:id="rId13"/>
    <p:sldId id="433" r:id="rId14"/>
    <p:sldId id="434" r:id="rId15"/>
    <p:sldId id="438" r:id="rId16"/>
    <p:sldId id="435" r:id="rId17"/>
    <p:sldId id="436" r:id="rId18"/>
    <p:sldId id="439" r:id="rId19"/>
    <p:sldId id="421" r:id="rId20"/>
  </p:sldIdLst>
  <p:sldSz cx="12192000" cy="6858000"/>
  <p:notesSz cx="6858000" cy="9144000"/>
  <p:embeddedFontLst>
    <p:embeddedFont>
      <p:font typeface="Poppins" pitchFamily="2" charset="77"/>
      <p:regular r:id="rId23"/>
      <p:bold r:id="rId24"/>
      <p:italic r:id="rId25"/>
      <p:boldItalic r:id="rId26"/>
    </p:embeddedFont>
    <p:embeddedFont>
      <p:font typeface="Poppins Medium" panose="00000600000000000000" pitchFamily="2" charset="77"/>
      <p:regular r:id="rId27"/>
      <p:italic r:id="rId28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A49"/>
    <a:srgbClr val="F2F2F2"/>
    <a:srgbClr val="016BB6"/>
    <a:srgbClr val="002B49"/>
    <a:srgbClr val="80AF98"/>
    <a:srgbClr val="AF7550"/>
    <a:srgbClr val="B2BD29"/>
    <a:srgbClr val="E9E7E7"/>
    <a:srgbClr val="006BB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96120" autoAdjust="0"/>
  </p:normalViewPr>
  <p:slideViewPr>
    <p:cSldViewPr snapToGrid="0" showGuides="1">
      <p:cViewPr>
        <p:scale>
          <a:sx n="157" d="100"/>
          <a:sy n="157" d="100"/>
        </p:scale>
        <p:origin x="920" y="8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904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5" d="100"/>
          <a:sy n="95" d="100"/>
        </p:scale>
        <p:origin x="372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D6D0A9E-DD06-C7B0-946D-31F9B20149A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087193-AB98-65AF-F701-EBFEDD042C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33D1A-776C-2B44-AB57-E14B633AE185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C31572-0E60-DFDC-759E-36E167E25E0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70B3F7-BC69-9660-AD95-517F134729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FF382-66A3-E447-A138-6DDB2D92E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9183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AFB3AD-FAF9-A04B-9767-E49F4F24F3E6}" type="datetimeFigureOut">
              <a:rPr lang="it-IT" smtClean="0"/>
              <a:t>06/05/26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8FE5C-85ED-194D-A826-552950995C6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16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8FE5C-85ED-194D-A826-552950995C66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1442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2D847-AF6B-CA80-9E40-1A7C6B8E0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BCD7AB-CF56-AAE3-801B-9AFCFE3CC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591CBF-DD73-0594-5E51-0B06E12C4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F7349-08C9-E07E-D038-3BDA6D622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8FE5C-85ED-194D-A826-552950995C66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5967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EAD5B-E8A8-73F9-6E4A-277A8F385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07B312-CE27-0D12-3BA8-DA6567CB5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49224C-7E9F-E12F-E603-211ECD28C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C0C7B-592E-2203-B2A9-4DBD076F80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8FE5C-85ED-194D-A826-552950995C66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8534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A3C01-C62A-CEF7-D4ED-C8DCC099B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F8E34-F86C-2295-B12E-E92F601B9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46ECC6-464C-8076-882D-5BD73E793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0B15D-8F4D-8E39-6693-217E57F49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8FE5C-85ED-194D-A826-552950995C66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4933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FFE5E-815D-9198-557F-29ECE68AD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39A6B7-9CA1-72FE-1CE7-CF42C9EAC5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776FB-8082-560A-9EDB-458E752490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347AB-2F14-D743-2A11-7BA0537E6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8FE5C-85ED-194D-A826-552950995C66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8207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7A880-1387-5CC0-B614-E525D86C1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2641D3-0EB0-D344-8106-D85D2415B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352FD1-AD6D-A6B0-D5AE-9CAEC0ED3C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2EF28-9960-490B-3EB8-064BD531ED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8FE5C-85ED-194D-A826-552950995C66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5362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 _ Apert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55988862-B47E-48D4-9426-E775261B7C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11070" cy="68580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7FA2C98-6DE1-4D78-AE6F-0BAAE6E1D8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5410098"/>
            <a:ext cx="2166253" cy="952602"/>
          </a:xfrm>
          <a:prstGeom prst="rect">
            <a:avLst/>
          </a:prstGeom>
        </p:spPr>
      </p:pic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27DE37F3-51F4-48BE-8599-73297EEF3BD3}"/>
              </a:ext>
            </a:extLst>
          </p:cNvPr>
          <p:cNvCxnSpPr/>
          <p:nvPr userDrawn="1"/>
        </p:nvCxnSpPr>
        <p:spPr>
          <a:xfrm>
            <a:off x="6705088" y="5410098"/>
            <a:ext cx="1552353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5BB8A5A3-9EC2-4C88-8FAC-05F96F00D7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02817" y="888227"/>
            <a:ext cx="5040000" cy="3024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  <p:sp>
        <p:nvSpPr>
          <p:cNvPr id="9" name="Segnaposto testo 9">
            <a:extLst>
              <a:ext uri="{FF2B5EF4-FFF2-40B4-BE49-F238E27FC236}">
                <a16:creationId xmlns:a16="http://schemas.microsoft.com/office/drawing/2014/main" id="{95F7323E-8285-4667-83C4-2BED21A60E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2413" y="4249738"/>
            <a:ext cx="5040312" cy="100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2521428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 Chius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72F68884-7283-48EF-B315-53827BAF1A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5410098"/>
            <a:ext cx="2166253" cy="95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576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Apertu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DA394C85-E2AD-479A-B76F-DFA5BB41B2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139" y="2787188"/>
            <a:ext cx="2857722" cy="1255543"/>
          </a:xfrm>
          <a:prstGeom prst="rect">
            <a:avLst/>
          </a:prstGeom>
        </p:spPr>
      </p:pic>
      <p:sp>
        <p:nvSpPr>
          <p:cNvPr id="3" name="Segnaposto immagine 10">
            <a:extLst>
              <a:ext uri="{FF2B5EF4-FFF2-40B4-BE49-F238E27FC236}">
                <a16:creationId xmlns:a16="http://schemas.microsoft.com/office/drawing/2014/main" id="{9CCE0AB1-41FD-4EDC-AB39-9282210F552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051544" y="0"/>
            <a:ext cx="9140456" cy="6858000"/>
          </a:xfrm>
          <a:custGeom>
            <a:avLst/>
            <a:gdLst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0456" h="6858000">
                <a:moveTo>
                  <a:pt x="0" y="0"/>
                </a:moveTo>
                <a:lnTo>
                  <a:pt x="9140456" y="0"/>
                </a:lnTo>
                <a:lnTo>
                  <a:pt x="9140456" y="6858000"/>
                </a:lnTo>
                <a:lnTo>
                  <a:pt x="0" y="6858000"/>
                </a:lnTo>
                <a:cubicBezTo>
                  <a:pt x="1265276" y="5858538"/>
                  <a:pt x="2647507" y="2509284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FontTx/>
              <a:buNone/>
              <a:defRPr>
                <a:latin typeface="Poppins" panose="00000500000000000000" pitchFamily="2" charset="0"/>
              </a:defRPr>
            </a:lvl1pPr>
          </a:lstStyle>
          <a:p>
            <a:r>
              <a:rPr lang="it-IT" dirty="0"/>
              <a:t>   </a:t>
            </a:r>
          </a:p>
        </p:txBody>
      </p:sp>
      <p:sp>
        <p:nvSpPr>
          <p:cNvPr id="5" name="Segnaposto testo 6">
            <a:extLst>
              <a:ext uri="{FF2B5EF4-FFF2-40B4-BE49-F238E27FC236}">
                <a16:creationId xmlns:a16="http://schemas.microsoft.com/office/drawing/2014/main" id="{049324E1-916B-44BE-A2CA-01572E502A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2817" y="888227"/>
            <a:ext cx="5040000" cy="3024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  <p:sp>
        <p:nvSpPr>
          <p:cNvPr id="6" name="Segnaposto testo 9">
            <a:extLst>
              <a:ext uri="{FF2B5EF4-FFF2-40B4-BE49-F238E27FC236}">
                <a16:creationId xmlns:a16="http://schemas.microsoft.com/office/drawing/2014/main" id="{BC83BF07-630E-48B5-9C07-F0CEF6A2BF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2413" y="4249738"/>
            <a:ext cx="5040312" cy="100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98F9590B-AA34-4576-A95D-7E6FD9F1FF0F}"/>
              </a:ext>
            </a:extLst>
          </p:cNvPr>
          <p:cNvCxnSpPr/>
          <p:nvPr userDrawn="1"/>
        </p:nvCxnSpPr>
        <p:spPr>
          <a:xfrm>
            <a:off x="6705088" y="5410098"/>
            <a:ext cx="1552353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06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hiusu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C5F8C436-50BB-46D3-92D1-A32E72258D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139" y="2787188"/>
            <a:ext cx="2857722" cy="125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932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24993FE2-BDC7-854D-9E60-5881B6A9F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 dirty="0"/>
              <a:t>Fare clic per modificare il titolo</a:t>
            </a:r>
          </a:p>
        </p:txBody>
      </p:sp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03A3DA46-7DB4-F940-B006-60DA29DE672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0000" y="984487"/>
            <a:ext cx="11880000" cy="51715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it-IT" dirty="0"/>
              <a:t>Fare clic per modificare il testo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2779714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4FB4A7-FF62-53E7-CC8F-E29751CD5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51485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2C61AA3E-D013-404E-8B75-86054DB2A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00" y="2441500"/>
            <a:ext cx="11880000" cy="1975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>
              <a:defRPr/>
            </a:lvl1pPr>
          </a:lstStyle>
          <a:p>
            <a:r>
              <a:rPr lang="it-IT" dirty="0"/>
              <a:t>Fare clic per modificare il titolo</a:t>
            </a:r>
          </a:p>
        </p:txBody>
      </p:sp>
    </p:spTree>
    <p:extLst>
      <p:ext uri="{BB962C8B-B14F-4D97-AF65-F5344CB8AC3E}">
        <p14:creationId xmlns:p14="http://schemas.microsoft.com/office/powerpoint/2010/main" val="42031176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9640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 _ Apert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55988862-B47E-48D4-9426-E775261B7C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11070" cy="68580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7FA2C98-6DE1-4D78-AE6F-0BAAE6E1D8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5410098"/>
            <a:ext cx="2166253" cy="952602"/>
          </a:xfrm>
          <a:prstGeom prst="rect">
            <a:avLst/>
          </a:prstGeom>
        </p:spPr>
      </p:pic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27DE37F3-51F4-48BE-8599-73297EEF3BD3}"/>
              </a:ext>
            </a:extLst>
          </p:cNvPr>
          <p:cNvCxnSpPr/>
          <p:nvPr userDrawn="1"/>
        </p:nvCxnSpPr>
        <p:spPr>
          <a:xfrm>
            <a:off x="6705088" y="5410098"/>
            <a:ext cx="1552353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5BB8A5A3-9EC2-4C88-8FAC-05F96F00D7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02817" y="888227"/>
            <a:ext cx="5040000" cy="3024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  <p:sp>
        <p:nvSpPr>
          <p:cNvPr id="9" name="Segnaposto testo 9">
            <a:extLst>
              <a:ext uri="{FF2B5EF4-FFF2-40B4-BE49-F238E27FC236}">
                <a16:creationId xmlns:a16="http://schemas.microsoft.com/office/drawing/2014/main" id="{95F7323E-8285-4667-83C4-2BED21A60E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2413" y="4249738"/>
            <a:ext cx="5040312" cy="100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3103873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035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9" r:id="rId3"/>
    <p:sldLayoutId id="214748368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orient="horz" pos="164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 userDrawn="1"/>
        </p:nvSpPr>
        <p:spPr bwMode="auto">
          <a:xfrm>
            <a:off x="0" y="6308725"/>
            <a:ext cx="12192000" cy="54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it-IT"/>
          </a:p>
        </p:txBody>
      </p:sp>
      <p:pic>
        <p:nvPicPr>
          <p:cNvPr id="6" name="Immagine 5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11" y="6465212"/>
            <a:ext cx="951065" cy="269625"/>
          </a:xfrm>
          <a:prstGeom prst="rect">
            <a:avLst/>
          </a:prstGeom>
        </p:spPr>
      </p:pic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ECFCC25-4FD9-414D-AE29-E50F7351E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 dirty="0"/>
              <a:t>Fare clic per modificare il titolo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FA7E6D1-1565-475C-8B80-AB85A6073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0000" y="984487"/>
            <a:ext cx="11880000" cy="51715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it-IT" dirty="0"/>
              <a:t>Fare clic per modificare il testo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Segnaposto testo 3">
            <a:extLst>
              <a:ext uri="{FF2B5EF4-FFF2-40B4-BE49-F238E27FC236}">
                <a16:creationId xmlns:a16="http://schemas.microsoft.com/office/drawing/2014/main" id="{AFBBB134-F3B5-014C-81C1-EC3290A3567D}"/>
              </a:ext>
            </a:extLst>
          </p:cNvPr>
          <p:cNvSpPr txBox="1">
            <a:spLocks/>
          </p:cNvSpPr>
          <p:nvPr userDrawn="1"/>
        </p:nvSpPr>
        <p:spPr>
          <a:xfrm>
            <a:off x="3649451" y="6373047"/>
            <a:ext cx="8421867" cy="236542"/>
          </a:xfrm>
          <a:prstGeom prst="rect">
            <a:avLst/>
          </a:prstGeo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marR="0" indent="0" algn="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kern="1200" spc="3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 err="1"/>
              <a:t>mohammad.sheikh@studenti.polito.it</a:t>
            </a:r>
            <a:endParaRPr lang="it-IT" dirty="0"/>
          </a:p>
        </p:txBody>
      </p:sp>
      <p:sp>
        <p:nvSpPr>
          <p:cNvPr id="10" name="Segnaposto testo 6">
            <a:extLst>
              <a:ext uri="{FF2B5EF4-FFF2-40B4-BE49-F238E27FC236}">
                <a16:creationId xmlns:a16="http://schemas.microsoft.com/office/drawing/2014/main" id="{3AEC9288-CBBA-2949-AD51-BD9C863E1BE8}"/>
              </a:ext>
            </a:extLst>
          </p:cNvPr>
          <p:cNvSpPr txBox="1">
            <a:spLocks/>
          </p:cNvSpPr>
          <p:nvPr userDrawn="1"/>
        </p:nvSpPr>
        <p:spPr>
          <a:xfrm>
            <a:off x="3649451" y="6583362"/>
            <a:ext cx="8451065" cy="215816"/>
          </a:xfrm>
          <a:prstGeom prst="rect">
            <a:avLst/>
          </a:prstGeo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spc="3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kern="1200" spc="3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3365820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78" r:id="rId2"/>
    <p:sldLayoutId id="2147483784" r:id="rId3"/>
    <p:sldLayoutId id="2147483783" r:id="rId4"/>
    <p:sldLayoutId id="214748378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marR="0" indent="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2000" kern="1200" spc="300">
          <a:solidFill>
            <a:schemeClr val="tx1"/>
          </a:solidFill>
          <a:latin typeface="Poppins" panose="00000500000000000000" pitchFamily="2" charset="0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166">
          <p15:clr>
            <a:srgbClr val="F26B43"/>
          </p15:clr>
        </p15:guide>
        <p15:guide id="4" pos="7514">
          <p15:clr>
            <a:srgbClr val="F26B43"/>
          </p15:clr>
        </p15:guide>
        <p15:guide id="5" orient="horz" pos="164">
          <p15:clr>
            <a:srgbClr val="F26B43"/>
          </p15:clr>
        </p15:guide>
        <p15:guide id="6" orient="horz" pos="4156">
          <p15:clr>
            <a:srgbClr val="F26B43"/>
          </p15:clr>
        </p15:guide>
        <p15:guide id="7" orient="horz" pos="380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58957977-25F6-6147-A328-F518E0A2B0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9698" y="888227"/>
            <a:ext cx="11505901" cy="3024000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Predictive Analytics of Climate Stress Impact on the Italian Mediterranean Buffalo</a:t>
            </a:r>
          </a:p>
          <a:p>
            <a:r>
              <a:rPr lang="en-US" sz="2400" b="1" dirty="0"/>
              <a:t>Physiological and Productive Responses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FFE42D3-F4C1-0542-A5D5-F64C362A9D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75886" y="4781075"/>
            <a:ext cx="2763714" cy="722589"/>
          </a:xfrm>
        </p:spPr>
        <p:txBody>
          <a:bodyPr anchor="ctr">
            <a:normAutofit/>
          </a:bodyPr>
          <a:lstStyle/>
          <a:p>
            <a:pPr algn="ctr"/>
            <a:r>
              <a:rPr lang="it-IT" sz="2000" b="1" dirty="0"/>
              <a:t>Mohammad Sheikh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5687C7-54CD-67CF-6E2C-A748E4823F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403"/>
          <a:stretch/>
        </p:blipFill>
        <p:spPr>
          <a:xfrm>
            <a:off x="5204629" y="5561039"/>
            <a:ext cx="1590839" cy="8561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318D630-6F19-3CA6-B35B-CBADA07415D3}"/>
              </a:ext>
            </a:extLst>
          </p:cNvPr>
          <p:cNvSpPr txBox="1"/>
          <p:nvPr/>
        </p:nvSpPr>
        <p:spPr>
          <a:xfrm>
            <a:off x="6795468" y="59395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chemeClr val="accent1"/>
                </a:solidFill>
              </a:rPr>
              <a:t>Dipartimento</a:t>
            </a:r>
            <a:r>
              <a:rPr lang="en-GB" dirty="0">
                <a:solidFill>
                  <a:schemeClr val="accent1"/>
                </a:solidFill>
              </a:rPr>
              <a:t> di </a:t>
            </a:r>
            <a:r>
              <a:rPr lang="en-GB" dirty="0" err="1">
                <a:solidFill>
                  <a:schemeClr val="accent1"/>
                </a:solidFill>
              </a:rPr>
              <a:t>Automatica</a:t>
            </a:r>
            <a:r>
              <a:rPr lang="en-GB" dirty="0">
                <a:solidFill>
                  <a:schemeClr val="accent1"/>
                </a:solidFill>
              </a:rPr>
              <a:t> e Informatica</a:t>
            </a:r>
          </a:p>
          <a:p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09F753-137C-55E6-5518-E19AAA51D047}"/>
              </a:ext>
            </a:extLst>
          </p:cNvPr>
          <p:cNvSpPr txBox="1"/>
          <p:nvPr/>
        </p:nvSpPr>
        <p:spPr>
          <a:xfrm>
            <a:off x="6795468" y="560044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chemeClr val="accent1"/>
                </a:solidFill>
              </a:rPr>
              <a:t>Department of Control and Computer Engineering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F452FE7-E166-BF1B-2940-6137B6999FC1}"/>
              </a:ext>
            </a:extLst>
          </p:cNvPr>
          <p:cNvCxnSpPr>
            <a:cxnSpLocks/>
          </p:cNvCxnSpPr>
          <p:nvPr/>
        </p:nvCxnSpPr>
        <p:spPr>
          <a:xfrm>
            <a:off x="5287064" y="5406887"/>
            <a:ext cx="6752536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egnaposto testo 2">
            <a:extLst>
              <a:ext uri="{FF2B5EF4-FFF2-40B4-BE49-F238E27FC236}">
                <a16:creationId xmlns:a16="http://schemas.microsoft.com/office/drawing/2014/main" id="{C6D7D03C-9B5A-1FDC-B092-BC0A1CE96270}"/>
              </a:ext>
            </a:extLst>
          </p:cNvPr>
          <p:cNvSpPr txBox="1">
            <a:spLocks/>
          </p:cNvSpPr>
          <p:nvPr/>
        </p:nvSpPr>
        <p:spPr>
          <a:xfrm>
            <a:off x="5195268" y="4163420"/>
            <a:ext cx="3200400" cy="182568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Prof. Luca Barbierato</a:t>
            </a:r>
          </a:p>
          <a:p>
            <a:r>
              <a:rPr lang="it-IT" sz="2000" b="1" dirty="0"/>
              <a:t>Prof. Matteo </a:t>
            </a:r>
            <a:r>
              <a:rPr lang="it-IT" sz="2000" b="1" dirty="0" err="1"/>
              <a:t>Santinello</a:t>
            </a:r>
            <a:r>
              <a:rPr lang="it-IT" sz="2000" b="1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13776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4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C0B032-353C-D9A9-694D-B1F13C399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05494884-6E58-B123-4AD0-B0341A2416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8393" y="1917000"/>
            <a:ext cx="6300557" cy="3024000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dirty="0"/>
              <a:t>Dataset Overview &amp; Base Variables</a:t>
            </a:r>
            <a:endParaRPr lang="en-US" sz="4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D6A22C-3BA3-0274-0BA9-87B112011B1B}"/>
              </a:ext>
            </a:extLst>
          </p:cNvPr>
          <p:cNvSpPr/>
          <p:nvPr/>
        </p:nvSpPr>
        <p:spPr bwMode="auto">
          <a:xfrm>
            <a:off x="6574971" y="5036457"/>
            <a:ext cx="2220686" cy="653143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930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0A032-D838-B0BA-9BB4-7C5E3C077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BB642-8C2A-361F-9CB0-0F3E10376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Dataset Overview &amp; Base Variables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9C2676-9125-A5D2-F9BA-FEC9B3B5F067}"/>
              </a:ext>
            </a:extLst>
          </p:cNvPr>
          <p:cNvSpPr txBox="1"/>
          <p:nvPr/>
        </p:nvSpPr>
        <p:spPr>
          <a:xfrm>
            <a:off x="551542" y="1151234"/>
            <a:ext cx="4642963" cy="1810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b="1" dirty="0"/>
              <a:t>Animal Data</a:t>
            </a:r>
          </a:p>
          <a:p>
            <a:pPr>
              <a:lnSpc>
                <a:spcPct val="150000"/>
              </a:lnSpc>
            </a:pPr>
            <a:r>
              <a:rPr lang="en-US" sz="1900" dirty="0"/>
              <a:t>Total Number of Data : 2,593,267</a:t>
            </a:r>
          </a:p>
          <a:p>
            <a:pPr>
              <a:lnSpc>
                <a:spcPct val="150000"/>
              </a:lnSpc>
            </a:pPr>
            <a:r>
              <a:rPr lang="en-US" sz="1900" dirty="0"/>
              <a:t>Null values : 1873 in </a:t>
            </a:r>
            <a:r>
              <a:rPr lang="en-US" sz="1900" u="sng" dirty="0"/>
              <a:t>DTB</a:t>
            </a:r>
          </a:p>
          <a:p>
            <a:pPr>
              <a:lnSpc>
                <a:spcPct val="150000"/>
              </a:lnSpc>
            </a:pPr>
            <a:r>
              <a:rPr lang="en-US" sz="1900" dirty="0"/>
              <a:t>error values : 118,300 in </a:t>
            </a:r>
            <a:r>
              <a:rPr lang="en-US" sz="1900" u="sng" dirty="0"/>
              <a:t>All Variables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05831D-8617-BF06-7602-776480C20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206" y="1227501"/>
            <a:ext cx="5829300" cy="4724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022180-B09C-53B3-D60D-90FB6F0B7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05" y="3429000"/>
            <a:ext cx="4800600" cy="18669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11447E-539F-8342-1694-478F81B0FF24}"/>
              </a:ext>
            </a:extLst>
          </p:cNvPr>
          <p:cNvSpPr txBox="1"/>
          <p:nvPr/>
        </p:nvSpPr>
        <p:spPr>
          <a:xfrm>
            <a:off x="693472" y="5240292"/>
            <a:ext cx="4201465" cy="932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900" dirty="0"/>
              <a:t>Descriptive statistics for numerical columns</a:t>
            </a:r>
          </a:p>
        </p:txBody>
      </p:sp>
    </p:spTree>
    <p:extLst>
      <p:ext uri="{BB962C8B-B14F-4D97-AF65-F5344CB8AC3E}">
        <p14:creationId xmlns:p14="http://schemas.microsoft.com/office/powerpoint/2010/main" val="1122171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DE628-4324-C149-D212-96EE4CD67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05835-8676-0C02-E856-8D697A368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Dataset Overview &amp; Base Variables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0D4DFB-04D4-A729-C9D3-F47ACF57EC0B}"/>
              </a:ext>
            </a:extLst>
          </p:cNvPr>
          <p:cNvSpPr txBox="1"/>
          <p:nvPr/>
        </p:nvSpPr>
        <p:spPr>
          <a:xfrm>
            <a:off x="530700" y="828000"/>
            <a:ext cx="11194188" cy="1371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b="1" dirty="0"/>
              <a:t>Farm Data</a:t>
            </a:r>
          </a:p>
          <a:p>
            <a:pPr>
              <a:lnSpc>
                <a:spcPct val="150000"/>
              </a:lnSpc>
            </a:pPr>
            <a:r>
              <a:rPr lang="en-US" sz="1900" dirty="0"/>
              <a:t>Total Number of Data : 329</a:t>
            </a:r>
          </a:p>
          <a:p>
            <a:pPr>
              <a:lnSpc>
                <a:spcPct val="150000"/>
              </a:lnSpc>
            </a:pPr>
            <a:r>
              <a:rPr lang="en-US" sz="1900" dirty="0"/>
              <a:t>Null values : 1 in </a:t>
            </a:r>
            <a:r>
              <a:rPr lang="en-US" sz="1900" u="sng" dirty="0" err="1"/>
              <a:t>Provinc</a:t>
            </a:r>
            <a:endParaRPr lang="en-US" sz="1900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E39478-4688-12AB-A0F5-A25F973DB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072" y="1266443"/>
            <a:ext cx="6230816" cy="432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57D60B-AE8C-2B04-7B48-2B4EB32B5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00" y="2199529"/>
            <a:ext cx="4469887" cy="392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972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4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948FB9-2B88-46B7-5A6B-FA7CC02A0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C04C4A7C-249D-AA56-8A15-65FF5C767C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8393" y="1917000"/>
            <a:ext cx="6300557" cy="3024000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dirty="0"/>
              <a:t>Calculated Variables (</a:t>
            </a:r>
            <a:r>
              <a:rPr lang="en-US" sz="4400" dirty="0" err="1"/>
              <a:t>FeatureEngineering</a:t>
            </a:r>
            <a:r>
              <a:rPr lang="en-US" sz="4400" dirty="0"/>
              <a:t>)</a:t>
            </a:r>
            <a:endParaRPr lang="en-US" sz="4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FBCF70-2E87-B461-CB5A-2A889F262E3C}"/>
              </a:ext>
            </a:extLst>
          </p:cNvPr>
          <p:cNvSpPr/>
          <p:nvPr/>
        </p:nvSpPr>
        <p:spPr bwMode="auto">
          <a:xfrm>
            <a:off x="6574971" y="5036457"/>
            <a:ext cx="2220686" cy="653143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7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94CB6-7BA3-71A8-E552-DF561CD58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AADB066F-43BB-6793-CCFC-6D6B8165DF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756" r="8898"/>
          <a:stretch>
            <a:fillRect/>
          </a:stretch>
        </p:blipFill>
        <p:spPr>
          <a:xfrm>
            <a:off x="5450507" y="4024842"/>
            <a:ext cx="3071045" cy="18994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34A8F4-CFBA-D0BA-EFEA-D698357A7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Feature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9A6544-8644-870F-C64E-E18818B57E66}"/>
              </a:ext>
            </a:extLst>
          </p:cNvPr>
          <p:cNvSpPr txBox="1"/>
          <p:nvPr/>
        </p:nvSpPr>
        <p:spPr>
          <a:xfrm>
            <a:off x="530699" y="3277211"/>
            <a:ext cx="6039065" cy="494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New 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652936-A705-F678-8703-25606103F5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9053" b="26674"/>
          <a:stretch>
            <a:fillRect/>
          </a:stretch>
        </p:blipFill>
        <p:spPr>
          <a:xfrm>
            <a:off x="1350018" y="4371199"/>
            <a:ext cx="3879759" cy="1304040"/>
          </a:xfrm>
          <a:prstGeom prst="rect">
            <a:avLst/>
          </a:prstGeom>
        </p:spPr>
      </p:pic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5C1F1DC0-EF47-95AA-5663-871D78078780}"/>
              </a:ext>
            </a:extLst>
          </p:cNvPr>
          <p:cNvCxnSpPr>
            <a:cxnSpLocks/>
            <a:endCxn id="14" idx="2"/>
          </p:cNvCxnSpPr>
          <p:nvPr/>
        </p:nvCxnSpPr>
        <p:spPr>
          <a:xfrm rot="16200000" flipV="1">
            <a:off x="6360093" y="3831492"/>
            <a:ext cx="774711" cy="54578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7BB6998-85DD-D8DA-69B6-CF14CAAD8DE4}"/>
              </a:ext>
            </a:extLst>
          </p:cNvPr>
          <p:cNvSpPr txBox="1"/>
          <p:nvPr/>
        </p:nvSpPr>
        <p:spPr>
          <a:xfrm>
            <a:off x="5589781" y="3286143"/>
            <a:ext cx="17695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Date of Calving</a:t>
            </a:r>
            <a:endParaRPr lang="en-US" sz="1600" u="sng" dirty="0"/>
          </a:p>
        </p:txBody>
      </p: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4B8CA995-6D5B-65BF-ED24-DDF8E39E9676}"/>
              </a:ext>
            </a:extLst>
          </p:cNvPr>
          <p:cNvCxnSpPr>
            <a:cxnSpLocks/>
          </p:cNvCxnSpPr>
          <p:nvPr/>
        </p:nvCxnSpPr>
        <p:spPr>
          <a:xfrm flipV="1">
            <a:off x="8140928" y="3665820"/>
            <a:ext cx="900134" cy="85845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FD5484B-0C40-2727-982B-F3BCCED1FE81}"/>
              </a:ext>
            </a:extLst>
          </p:cNvPr>
          <p:cNvSpPr txBox="1"/>
          <p:nvPr/>
        </p:nvSpPr>
        <p:spPr>
          <a:xfrm>
            <a:off x="8309403" y="3267677"/>
            <a:ext cx="14633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Date of Birth</a:t>
            </a:r>
            <a:endParaRPr lang="en-US" sz="1600" u="sng" dirty="0"/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C6D135E7-D13C-4222-6A26-8193A291DF7E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7020340" y="4982986"/>
            <a:ext cx="1552976" cy="43383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A0AA9D3-20C6-7E56-929E-D63F4753BC01}"/>
              </a:ext>
            </a:extLst>
          </p:cNvPr>
          <p:cNvSpPr txBox="1"/>
          <p:nvPr/>
        </p:nvSpPr>
        <p:spPr>
          <a:xfrm>
            <a:off x="8573316" y="4767542"/>
            <a:ext cx="14633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Date of Test</a:t>
            </a:r>
            <a:endParaRPr lang="en-US" sz="1600" u="sng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2743F4E-63F0-23C8-7B03-5DFBDF00B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466" y="1679008"/>
            <a:ext cx="2565400" cy="11176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7232427B-D43F-9D4F-CF4A-D1CE23150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300" y="1679008"/>
            <a:ext cx="2565400" cy="11176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EFA595E4-389B-D958-9A84-2BEE595A68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3134" y="1650687"/>
            <a:ext cx="2743200" cy="11176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8BFE6132-0FD0-2F5C-5B62-C914F58AE61B}"/>
              </a:ext>
            </a:extLst>
          </p:cNvPr>
          <p:cNvSpPr txBox="1"/>
          <p:nvPr/>
        </p:nvSpPr>
        <p:spPr>
          <a:xfrm>
            <a:off x="530700" y="1007157"/>
            <a:ext cx="6039065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Scaled variables</a:t>
            </a:r>
          </a:p>
        </p:txBody>
      </p:sp>
    </p:spTree>
    <p:extLst>
      <p:ext uri="{BB962C8B-B14F-4D97-AF65-F5344CB8AC3E}">
        <p14:creationId xmlns:p14="http://schemas.microsoft.com/office/powerpoint/2010/main" val="3390749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F9E13-5016-824B-8FF2-72D86A18D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A270D-7CD1-9112-41DE-7B4B51F9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Feature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B491F9-9A9E-EEC8-9E37-B7B9B1F175A9}"/>
              </a:ext>
            </a:extLst>
          </p:cNvPr>
          <p:cNvSpPr txBox="1"/>
          <p:nvPr/>
        </p:nvSpPr>
        <p:spPr>
          <a:xfrm>
            <a:off x="530699" y="799537"/>
            <a:ext cx="2918179" cy="494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New Variables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433CC-7D50-D2CF-A333-42111DC65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556" y="1277666"/>
            <a:ext cx="5913784" cy="3731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F248EF-73F6-C5AA-D7A7-4EDA167FC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047" y="1740768"/>
            <a:ext cx="7772400" cy="3435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3CFA49-767B-3E8E-769D-8F32645AD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556" y="2219361"/>
            <a:ext cx="5913784" cy="3903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E27FDD-A0FC-9C6B-D60E-7CD961AC20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2739" y="2509479"/>
            <a:ext cx="2871304" cy="7090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970726C-186D-F00F-F9E5-75D886D39D0A}"/>
              </a:ext>
            </a:extLst>
          </p:cNvPr>
          <p:cNvSpPr txBox="1"/>
          <p:nvPr/>
        </p:nvSpPr>
        <p:spPr>
          <a:xfrm>
            <a:off x="530698" y="2966367"/>
            <a:ext cx="3830287" cy="494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Component Thresholds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14E1DBB-5DCC-084C-A8A5-5C721931380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74284"/>
          <a:stretch>
            <a:fillRect/>
          </a:stretch>
        </p:blipFill>
        <p:spPr>
          <a:xfrm>
            <a:off x="96932" y="3575208"/>
            <a:ext cx="5884526" cy="70907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6614725-08FE-F6D2-4F5A-9BA542B3825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537" t="24199" r="9754" b="50085"/>
          <a:stretch>
            <a:fillRect/>
          </a:stretch>
        </p:blipFill>
        <p:spPr>
          <a:xfrm>
            <a:off x="646649" y="4393540"/>
            <a:ext cx="4631635" cy="70907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4DEDF0B-A25A-781E-F57E-CD8378DE611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10" t="49130" r="1477" b="25154"/>
          <a:stretch>
            <a:fillRect/>
          </a:stretch>
        </p:blipFill>
        <p:spPr>
          <a:xfrm>
            <a:off x="252396" y="5211872"/>
            <a:ext cx="5685184" cy="70907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543FE94-0ED5-E97B-E83C-EDEEBEE24AB2}"/>
              </a:ext>
            </a:extLst>
          </p:cNvPr>
          <p:cNvCxnSpPr>
            <a:cxnSpLocks/>
          </p:cNvCxnSpPr>
          <p:nvPr/>
        </p:nvCxnSpPr>
        <p:spPr>
          <a:xfrm>
            <a:off x="6289966" y="3650796"/>
            <a:ext cx="0" cy="25006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414C0DD7-2E62-2E3E-72EF-466499CBB14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517" t="75278" r="5203" b="1221"/>
          <a:stretch>
            <a:fillRect/>
          </a:stretch>
        </p:blipFill>
        <p:spPr>
          <a:xfrm>
            <a:off x="6554008" y="3544838"/>
            <a:ext cx="5253677" cy="64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3A5D3F1-CBB0-2289-CE88-1BC0A93AB82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47367"/>
          <a:stretch>
            <a:fillRect/>
          </a:stretch>
        </p:blipFill>
        <p:spPr>
          <a:xfrm>
            <a:off x="6554008" y="4238641"/>
            <a:ext cx="4587253" cy="91155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6B0CB6F-183E-06BF-E464-25AA8DC2649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7495" t="77656" r="32826" b="4256"/>
          <a:stretch>
            <a:fillRect/>
          </a:stretch>
        </p:blipFill>
        <p:spPr>
          <a:xfrm>
            <a:off x="6642353" y="5241740"/>
            <a:ext cx="1967344" cy="3385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31808A-836F-E185-B985-E9D786A044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6893" y="5785502"/>
            <a:ext cx="1802804" cy="3659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0B3B9B-5C2E-E1CA-7515-24B2E3D2C3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47449" y="5241740"/>
            <a:ext cx="995261" cy="33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946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15161-01B0-2D92-5F5B-8AB8916D2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3E65C-95DF-906B-3722-774020B81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Dataset Overview &amp; Base Variables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EF3656-3C07-A754-73ED-85BBB9E459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17"/>
          <a:stretch>
            <a:fillRect/>
          </a:stretch>
        </p:blipFill>
        <p:spPr>
          <a:xfrm>
            <a:off x="24103" y="827999"/>
            <a:ext cx="12162894" cy="484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827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4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9221B3-AF11-985E-325A-1CFEBA5A9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3717F475-B55D-B21F-1627-3B0DD62F96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8393" y="1917000"/>
            <a:ext cx="6300557" cy="3024000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dirty="0"/>
              <a:t>Weather Data</a:t>
            </a:r>
            <a:endParaRPr lang="en-US" sz="4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A810B4-1C9F-69CB-E963-2A006813E899}"/>
              </a:ext>
            </a:extLst>
          </p:cNvPr>
          <p:cNvSpPr/>
          <p:nvPr/>
        </p:nvSpPr>
        <p:spPr bwMode="auto">
          <a:xfrm>
            <a:off x="6574971" y="5036457"/>
            <a:ext cx="2220686" cy="653143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233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1B0CE-2524-BF71-3CE2-0A24264F7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B47F-EF0B-944D-C9EB-74D75701D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Weather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AA6C0E-3550-79E4-81D4-438DAA14D303}"/>
              </a:ext>
            </a:extLst>
          </p:cNvPr>
          <p:cNvSpPr txBox="1"/>
          <p:nvPr/>
        </p:nvSpPr>
        <p:spPr>
          <a:xfrm>
            <a:off x="5281798" y="963126"/>
            <a:ext cx="6570229" cy="4297173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Open-</a:t>
            </a:r>
            <a:r>
              <a:rPr lang="en-US" sz="2400" b="1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Meteo</a:t>
            </a:r>
            <a:r>
              <a:rPr 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weather API</a:t>
            </a:r>
            <a:endParaRPr lang="en-US" sz="2000" b="1" kern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Aft>
                <a:spcPts val="600"/>
              </a:spcAft>
            </a:pPr>
            <a:endParaRPr lang="en-US" sz="2200" kern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Aft>
                <a:spcPts val="600"/>
              </a:spcAft>
            </a:pPr>
            <a:r>
              <a:rPr lang="en-US" sz="2300" dirty="0"/>
              <a:t>Period : Hourly</a:t>
            </a:r>
          </a:p>
          <a:p>
            <a:pPr>
              <a:spcAft>
                <a:spcPts val="600"/>
              </a:spcAft>
            </a:pPr>
            <a:r>
              <a:rPr lang="en-US" sz="2300" dirty="0"/>
              <a:t>Start Date : 2013-01-01</a:t>
            </a:r>
          </a:p>
          <a:p>
            <a:pPr>
              <a:spcAft>
                <a:spcPts val="600"/>
              </a:spcAft>
            </a:pPr>
            <a:r>
              <a:rPr lang="en-US" sz="2300" dirty="0"/>
              <a:t>End Date : 2025-12-31</a:t>
            </a:r>
          </a:p>
          <a:p>
            <a:pPr>
              <a:spcAft>
                <a:spcPts val="600"/>
              </a:spcAft>
            </a:pPr>
            <a:r>
              <a:rPr lang="en-US" sz="2300" dirty="0"/>
              <a:t>Location : </a:t>
            </a:r>
            <a:r>
              <a:rPr lang="en-US" sz="2300" u="sng" dirty="0"/>
              <a:t>329</a:t>
            </a:r>
            <a:r>
              <a:rPr lang="en-US" sz="2300" dirty="0"/>
              <a:t> individual locations</a:t>
            </a:r>
          </a:p>
          <a:p>
            <a:pPr>
              <a:spcAft>
                <a:spcPts val="600"/>
              </a:spcAft>
            </a:pPr>
            <a:r>
              <a:rPr lang="en-US" sz="2300" dirty="0"/>
              <a:t>Variables 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/>
              <a:t>Temperature_2m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/>
              <a:t>relative_humidity_2m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/>
              <a:t>wind_speed_10m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3816B1-CE86-17E6-5C21-B9E952A71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00" y="1018500"/>
            <a:ext cx="4902200" cy="42418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833A55-5208-D45D-E0A0-DABD5ACF17ED}"/>
              </a:ext>
            </a:extLst>
          </p:cNvPr>
          <p:cNvCxnSpPr/>
          <p:nvPr/>
        </p:nvCxnSpPr>
        <p:spPr>
          <a:xfrm>
            <a:off x="5167500" y="1018500"/>
            <a:ext cx="0" cy="4241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242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91ED0-DDF0-DA94-C0DA-D597DB43E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Additional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8C3694-D518-9FEA-5943-ADCA4F8270DD}"/>
              </a:ext>
            </a:extLst>
          </p:cNvPr>
          <p:cNvSpPr txBox="1"/>
          <p:nvPr/>
        </p:nvSpPr>
        <p:spPr>
          <a:xfrm>
            <a:off x="530700" y="1074338"/>
            <a:ext cx="1264850" cy="494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THI_1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6D9B8E-F9F5-FFEA-6ECB-DB34E01F3E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70" b="71478"/>
          <a:stretch>
            <a:fillRect/>
          </a:stretch>
        </p:blipFill>
        <p:spPr>
          <a:xfrm>
            <a:off x="1920239" y="1074338"/>
            <a:ext cx="6632171" cy="6440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4B1515-2523-44E8-A21C-9F59923FB1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80" t="33849" b="29422"/>
          <a:stretch>
            <a:fillRect/>
          </a:stretch>
        </p:blipFill>
        <p:spPr>
          <a:xfrm>
            <a:off x="1920239" y="1727475"/>
            <a:ext cx="5916338" cy="8293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04991B-E3BC-C443-5E1E-E7B26F71D6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30" t="80343"/>
          <a:stretch>
            <a:fillRect/>
          </a:stretch>
        </p:blipFill>
        <p:spPr>
          <a:xfrm>
            <a:off x="1920239" y="3693487"/>
            <a:ext cx="7078287" cy="4438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674415-E940-8F4A-A761-387770ACF348}"/>
              </a:ext>
            </a:extLst>
          </p:cNvPr>
          <p:cNvSpPr txBox="1"/>
          <p:nvPr/>
        </p:nvSpPr>
        <p:spPr>
          <a:xfrm>
            <a:off x="530700" y="1805650"/>
            <a:ext cx="1264850" cy="494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THI_2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441EB2-4E3A-25FC-A5C0-47781CAE25A0}"/>
              </a:ext>
            </a:extLst>
          </p:cNvPr>
          <p:cNvSpPr txBox="1"/>
          <p:nvPr/>
        </p:nvSpPr>
        <p:spPr>
          <a:xfrm>
            <a:off x="530700" y="3580325"/>
            <a:ext cx="1264850" cy="494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WHI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07B12D-12C0-276E-8C69-CB6CA335A1A7}"/>
              </a:ext>
            </a:extLst>
          </p:cNvPr>
          <p:cNvSpPr txBox="1"/>
          <p:nvPr/>
        </p:nvSpPr>
        <p:spPr>
          <a:xfrm>
            <a:off x="530700" y="2803140"/>
            <a:ext cx="2744515" cy="494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THI </a:t>
            </a:r>
            <a:r>
              <a:rPr lang="en-US" sz="1900" b="1" dirty="0" err="1"/>
              <a:t>Composit</a:t>
            </a:r>
            <a:r>
              <a:rPr lang="en-US" sz="1900" b="1" dirty="0"/>
              <a:t>  </a:t>
            </a:r>
            <a:r>
              <a:rPr lang="en-US" sz="1900" dirty="0"/>
              <a:t>=</a:t>
            </a:r>
            <a:endParaRPr lang="en-US" sz="19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9C5B8A-B165-9C9B-9A51-35378CFE5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575" y="2769467"/>
            <a:ext cx="5665387" cy="7407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289FE72-F7A9-7FA0-C0CE-568801901787}"/>
              </a:ext>
            </a:extLst>
          </p:cNvPr>
          <p:cNvSpPr txBox="1"/>
          <p:nvPr/>
        </p:nvSpPr>
        <p:spPr>
          <a:xfrm>
            <a:off x="530699" y="4472558"/>
            <a:ext cx="8242263" cy="494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Aggregate </a:t>
            </a:r>
            <a:r>
              <a:rPr lang="en-US" sz="1900" dirty="0"/>
              <a:t>on</a:t>
            </a:r>
            <a:r>
              <a:rPr lang="en-US" sz="1900" b="1" dirty="0"/>
              <a:t> </a:t>
            </a:r>
            <a:r>
              <a:rPr lang="en-US" sz="1900" dirty="0"/>
              <a:t>THI_1, THI_2, WHI (min, max, mean)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0FD23F-0AAB-E12B-9E19-78D3E542982A}"/>
              </a:ext>
            </a:extLst>
          </p:cNvPr>
          <p:cNvSpPr txBox="1"/>
          <p:nvPr/>
        </p:nvSpPr>
        <p:spPr>
          <a:xfrm>
            <a:off x="530699" y="5115722"/>
            <a:ext cx="10774610" cy="494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Lag Features </a:t>
            </a:r>
            <a:r>
              <a:rPr lang="en-US" sz="1900" dirty="0"/>
              <a:t>on</a:t>
            </a:r>
            <a:r>
              <a:rPr lang="en-US" sz="1900" b="1" dirty="0"/>
              <a:t> </a:t>
            </a:r>
            <a:r>
              <a:rPr lang="en-US" sz="1900" dirty="0"/>
              <a:t>THI_1, THI_2, WHI, Temperature, Humidity, Wind(1-day, 2-day, 3-day)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83DE44-7223-3C92-17F4-FA97C0112183}"/>
              </a:ext>
            </a:extLst>
          </p:cNvPr>
          <p:cNvSpPr txBox="1"/>
          <p:nvPr/>
        </p:nvSpPr>
        <p:spPr>
          <a:xfrm>
            <a:off x="530699" y="5609243"/>
            <a:ext cx="10774610" cy="494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Lag Features </a:t>
            </a:r>
            <a:r>
              <a:rPr lang="en-US" sz="1900" dirty="0"/>
              <a:t>on</a:t>
            </a:r>
            <a:r>
              <a:rPr lang="en-US" sz="1900" b="1" dirty="0"/>
              <a:t> </a:t>
            </a:r>
            <a:r>
              <a:rPr lang="en-US" sz="1900" dirty="0"/>
              <a:t>Milk, Protein(1-record, 2-record) </a:t>
            </a:r>
          </a:p>
        </p:txBody>
      </p:sp>
    </p:spTree>
    <p:extLst>
      <p:ext uri="{BB962C8B-B14F-4D97-AF65-F5344CB8AC3E}">
        <p14:creationId xmlns:p14="http://schemas.microsoft.com/office/powerpoint/2010/main" val="3946220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4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830381-55BA-95AD-D566-81DB76D84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D48FE463-E7D8-27A2-46A2-896288ECD6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8393" y="1917000"/>
            <a:ext cx="6300557" cy="3024000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dirty="0"/>
              <a:t>Merged Data</a:t>
            </a:r>
            <a:endParaRPr lang="en-US" sz="4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321CA5-A3C0-A8A1-2B3C-F9A63C209A34}"/>
              </a:ext>
            </a:extLst>
          </p:cNvPr>
          <p:cNvSpPr/>
          <p:nvPr/>
        </p:nvSpPr>
        <p:spPr bwMode="auto">
          <a:xfrm>
            <a:off x="6574971" y="5036457"/>
            <a:ext cx="2220686" cy="653143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6955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1A81A-0A35-7F74-91FE-87561A591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282B1-9111-67B6-EA86-A44677FF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Merged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B37A06-5779-5350-BA41-2200662B666D}"/>
              </a:ext>
            </a:extLst>
          </p:cNvPr>
          <p:cNvSpPr txBox="1"/>
          <p:nvPr/>
        </p:nvSpPr>
        <p:spPr>
          <a:xfrm>
            <a:off x="618923" y="997308"/>
            <a:ext cx="2142934" cy="5265839"/>
          </a:xfrm>
          <a:prstGeom prst="rect">
            <a:avLst/>
          </a:prstGeom>
        </p:spPr>
        <p:txBody>
          <a:bodyPr anchor="t">
            <a:no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671,655 records</a:t>
            </a:r>
          </a:p>
          <a:p>
            <a:pPr>
              <a:spcAft>
                <a:spcPts val="600"/>
              </a:spcAft>
            </a:pPr>
            <a:r>
              <a:rPr lang="en-US" b="1" dirty="0"/>
              <a:t>81,119 Animals</a:t>
            </a:r>
          </a:p>
          <a:p>
            <a:pPr>
              <a:spcAft>
                <a:spcPts val="600"/>
              </a:spcAft>
            </a:pPr>
            <a:r>
              <a:rPr lang="en-US" b="1" dirty="0"/>
              <a:t>314 Farms</a:t>
            </a:r>
          </a:p>
          <a:p>
            <a:pPr>
              <a:spcAft>
                <a:spcPts val="600"/>
              </a:spcAft>
            </a:pPr>
            <a:r>
              <a:rPr lang="en-US" b="1" dirty="0"/>
              <a:t>57 columns: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Farm_Code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Animal_ID</a:t>
            </a:r>
            <a:r>
              <a:rPr lang="en-US" dirty="0"/>
              <a:t>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dtb</a:t>
            </a:r>
            <a:r>
              <a:rPr lang="en-US" dirty="0"/>
              <a:t>
</a:t>
            </a:r>
            <a:r>
              <a:rPr lang="en-US" dirty="0" err="1"/>
              <a:t>dtc</a:t>
            </a:r>
            <a:r>
              <a:rPr lang="en-US" dirty="0"/>
              <a:t>
</a:t>
            </a:r>
            <a:r>
              <a:rPr lang="en-US" dirty="0" err="1"/>
              <a:t>dtt</a:t>
            </a:r>
            <a:r>
              <a:rPr lang="en-US" dirty="0"/>
              <a:t>
parity
</a:t>
            </a:r>
            <a:r>
              <a:rPr lang="en-US" dirty="0" err="1"/>
              <a:t>milk_kg</a:t>
            </a:r>
            <a:endParaRPr lang="en-US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fat_p</a:t>
            </a:r>
            <a:r>
              <a:rPr lang="en-US" dirty="0"/>
              <a:t>
</a:t>
            </a:r>
            <a:r>
              <a:rPr lang="en-US" dirty="0" err="1"/>
              <a:t>protein_p</a:t>
            </a:r>
            <a:r>
              <a:rPr lang="en-US" dirty="0"/>
              <a:t>
cells
NM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15BEC3-5B71-1419-F022-83F0D93B8FDD}"/>
              </a:ext>
            </a:extLst>
          </p:cNvPr>
          <p:cNvSpPr txBox="1"/>
          <p:nvPr/>
        </p:nvSpPr>
        <p:spPr>
          <a:xfrm>
            <a:off x="7490815" y="291636"/>
            <a:ext cx="2941211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THI_2_min
THI_2_max
</a:t>
            </a:r>
            <a:r>
              <a:rPr lang="en-US" dirty="0" err="1"/>
              <a:t>WHI_avg</a:t>
            </a:r>
            <a:r>
              <a:rPr lang="en-US" dirty="0"/>
              <a:t>
</a:t>
            </a:r>
            <a:r>
              <a:rPr lang="en-US" dirty="0" err="1"/>
              <a:t>WHI_min</a:t>
            </a:r>
            <a:r>
              <a:rPr lang="en-US" dirty="0"/>
              <a:t>
</a:t>
            </a:r>
            <a:r>
              <a:rPr lang="en-US" dirty="0" err="1"/>
              <a:t>WHI_max</a:t>
            </a:r>
            <a:endParaRPr lang="fa-IR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t_avg_lag1/2/3
h_avg_lag1/2/3
ws_avg_lag1/2/3
THI_1_avg_lag1/2/3
THI_2_avg_lag1/2/3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WHI_avg_lag1/2/3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THI_1_Compose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THI_2_Compose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Milk_kg_lag1/2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Protein_p_lag1/2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29F073-BBBD-7B16-5BE0-E018B6BF9053}"/>
              </a:ext>
            </a:extLst>
          </p:cNvPr>
          <p:cNvSpPr txBox="1"/>
          <p:nvPr/>
        </p:nvSpPr>
        <p:spPr>
          <a:xfrm>
            <a:off x="3569772" y="291636"/>
            <a:ext cx="2710004" cy="6386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ECM</a:t>
            </a:r>
            <a:endParaRPr lang="en-US" sz="18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SCS
AFC</a:t>
            </a:r>
            <a:endParaRPr lang="en-US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DIM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err="1"/>
              <a:t>temperature_avg</a:t>
            </a:r>
            <a:r>
              <a:rPr lang="en-US" sz="1800" dirty="0"/>
              <a:t>
</a:t>
            </a:r>
            <a:r>
              <a:rPr lang="en-US" sz="1800" dirty="0" err="1"/>
              <a:t>temperature_max</a:t>
            </a:r>
            <a:r>
              <a:rPr lang="en-US" sz="1800" dirty="0"/>
              <a:t>
</a:t>
            </a:r>
            <a:r>
              <a:rPr lang="en-US" sz="1800" dirty="0" err="1"/>
              <a:t>temperature_min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humidity_avg</a:t>
            </a:r>
            <a:endParaRPr lang="en-US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humidity_max</a:t>
            </a:r>
            <a:r>
              <a:rPr lang="en-US" dirty="0"/>
              <a:t>
</a:t>
            </a:r>
            <a:r>
              <a:rPr lang="en-US" dirty="0" err="1"/>
              <a:t>humidity_min</a:t>
            </a:r>
            <a:r>
              <a:rPr lang="en-US" dirty="0"/>
              <a:t>
</a:t>
            </a:r>
            <a:r>
              <a:rPr lang="en-US" dirty="0" err="1"/>
              <a:t>wind_speed_avg</a:t>
            </a:r>
            <a:endParaRPr lang="fa-IR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wind_speed_max</a:t>
            </a:r>
            <a:r>
              <a:rPr lang="en-US" dirty="0"/>
              <a:t> 
</a:t>
            </a:r>
            <a:r>
              <a:rPr lang="en-US" dirty="0" err="1"/>
              <a:t>wind_speed_min</a:t>
            </a:r>
            <a:r>
              <a:rPr lang="en-US" dirty="0"/>
              <a:t>
THI_1_avg
THI_1_min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THI_1_max
THI_2_avg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759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D446E-84E8-49B7-27EF-275D9E82E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1D767-169A-D0B8-7957-FE8CC48C8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 anchor="ctr">
            <a:normAutofit/>
          </a:bodyPr>
          <a:lstStyle/>
          <a:p>
            <a:r>
              <a:rPr lang="en-US" sz="3200" dirty="0"/>
              <a:t>Correlation </a:t>
            </a:r>
            <a:r>
              <a:rPr lang="en-US" sz="3200" dirty="0" err="1"/>
              <a:t>HeatMap</a:t>
            </a:r>
            <a:endParaRPr lang="en-U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33BE41-58B2-CB6F-0353-CD55C9FB2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913" y="8093"/>
            <a:ext cx="7062019" cy="62026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3ADE25-A9AE-0449-9AAB-2DDEFF19F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14" y="1337702"/>
            <a:ext cx="3910814" cy="19219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2D79B3-9F83-1685-6B92-73DDA6DD3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713" y="3251590"/>
            <a:ext cx="3910813" cy="195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581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B8453-6EAD-E46A-30DC-C6085B53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D75A5EED-870E-4D99-2D2E-D1D38BC6A8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9698" y="888227"/>
            <a:ext cx="11505901" cy="3024000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Predictive Analytics of Climate Stress Impact on the Italian Mediterranean Buffalo</a:t>
            </a:r>
          </a:p>
          <a:p>
            <a:r>
              <a:rPr lang="en-US" sz="2400" b="1" dirty="0"/>
              <a:t>Physiological and Productive Responses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EFA5FE9-E117-4AFD-C1B4-0521EF71D1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75886" y="4781075"/>
            <a:ext cx="2763714" cy="722589"/>
          </a:xfrm>
        </p:spPr>
        <p:txBody>
          <a:bodyPr anchor="ctr">
            <a:normAutofit/>
          </a:bodyPr>
          <a:lstStyle/>
          <a:p>
            <a:pPr algn="ctr"/>
            <a:r>
              <a:rPr lang="it-IT" sz="2000" b="1" dirty="0"/>
              <a:t>Mohammad Sheikh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6BDFE6-577D-28B6-C3AB-96C270AB64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403"/>
          <a:stretch/>
        </p:blipFill>
        <p:spPr>
          <a:xfrm>
            <a:off x="5204629" y="5561039"/>
            <a:ext cx="1590839" cy="8561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68DC29-694F-D7B8-8DE5-8B14BC409FFE}"/>
              </a:ext>
            </a:extLst>
          </p:cNvPr>
          <p:cNvSpPr txBox="1"/>
          <p:nvPr/>
        </p:nvSpPr>
        <p:spPr>
          <a:xfrm>
            <a:off x="6795468" y="59395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chemeClr val="accent1"/>
                </a:solidFill>
              </a:rPr>
              <a:t>Dipartimento</a:t>
            </a:r>
            <a:r>
              <a:rPr lang="en-GB" dirty="0">
                <a:solidFill>
                  <a:schemeClr val="accent1"/>
                </a:solidFill>
              </a:rPr>
              <a:t> di </a:t>
            </a:r>
            <a:r>
              <a:rPr lang="en-GB" dirty="0" err="1">
                <a:solidFill>
                  <a:schemeClr val="accent1"/>
                </a:solidFill>
              </a:rPr>
              <a:t>Automatica</a:t>
            </a:r>
            <a:r>
              <a:rPr lang="en-GB" dirty="0">
                <a:solidFill>
                  <a:schemeClr val="accent1"/>
                </a:solidFill>
              </a:rPr>
              <a:t> e Informatica</a:t>
            </a:r>
          </a:p>
          <a:p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2E53D0-BB9C-A482-E5B7-989E96A45641}"/>
              </a:ext>
            </a:extLst>
          </p:cNvPr>
          <p:cNvSpPr txBox="1"/>
          <p:nvPr/>
        </p:nvSpPr>
        <p:spPr>
          <a:xfrm>
            <a:off x="6795468" y="560044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chemeClr val="accent1"/>
                </a:solidFill>
              </a:rPr>
              <a:t>Department of Control and Computer Engineering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11F971-9757-D85C-BB51-34BE7B2D807F}"/>
              </a:ext>
            </a:extLst>
          </p:cNvPr>
          <p:cNvCxnSpPr>
            <a:cxnSpLocks/>
          </p:cNvCxnSpPr>
          <p:nvPr/>
        </p:nvCxnSpPr>
        <p:spPr>
          <a:xfrm>
            <a:off x="5287064" y="5406887"/>
            <a:ext cx="6752536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egnaposto testo 2">
            <a:extLst>
              <a:ext uri="{FF2B5EF4-FFF2-40B4-BE49-F238E27FC236}">
                <a16:creationId xmlns:a16="http://schemas.microsoft.com/office/drawing/2014/main" id="{F5BD78BC-A553-BBA7-3124-064E6A1872C8}"/>
              </a:ext>
            </a:extLst>
          </p:cNvPr>
          <p:cNvSpPr txBox="1">
            <a:spLocks/>
          </p:cNvSpPr>
          <p:nvPr/>
        </p:nvSpPr>
        <p:spPr>
          <a:xfrm>
            <a:off x="5195268" y="4163420"/>
            <a:ext cx="3200400" cy="182568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Prof. Luca Barbierato</a:t>
            </a:r>
          </a:p>
          <a:p>
            <a:r>
              <a:rPr lang="it-IT" sz="2000" b="1" dirty="0"/>
              <a:t>Prof. Matteo </a:t>
            </a:r>
            <a:r>
              <a:rPr lang="it-IT" sz="2000" b="1" dirty="0" err="1"/>
              <a:t>Santinello</a:t>
            </a:r>
            <a:r>
              <a:rPr lang="it-IT" sz="2000" b="1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011227986"/>
      </p:ext>
    </p:extLst>
  </p:cSld>
  <p:clrMapOvr>
    <a:masterClrMapping/>
  </p:clrMapOvr>
</p:sld>
</file>

<file path=ppt/theme/theme1.xml><?xml version="1.0" encoding="utf-8"?>
<a:theme xmlns:a="http://schemas.openxmlformats.org/drawingml/2006/main" name="COPERTINE">
  <a:themeElements>
    <a:clrScheme name="PoliTO_Template">
      <a:dk1>
        <a:srgbClr val="002B49"/>
      </a:dk1>
      <a:lt1>
        <a:srgbClr val="FFFFFF"/>
      </a:lt1>
      <a:dk2>
        <a:srgbClr val="000000"/>
      </a:dk2>
      <a:lt2>
        <a:srgbClr val="EED9CC"/>
      </a:lt2>
      <a:accent1>
        <a:srgbClr val="EF7B00"/>
      </a:accent1>
      <a:accent2>
        <a:srgbClr val="00B1DF"/>
      </a:accent2>
      <a:accent3>
        <a:srgbClr val="C4E7FB"/>
      </a:accent3>
      <a:accent4>
        <a:srgbClr val="F1C64C"/>
      </a:accent4>
      <a:accent5>
        <a:srgbClr val="FFE9AF"/>
      </a:accent5>
      <a:accent6>
        <a:srgbClr val="92CCAE"/>
      </a:accent6>
      <a:hlink>
        <a:srgbClr val="175673"/>
      </a:hlink>
      <a:folHlink>
        <a:srgbClr val="EC6055"/>
      </a:folHlink>
    </a:clrScheme>
    <a:fontScheme name="PoliTO_Template">
      <a:majorFont>
        <a:latin typeface="Poppins Medium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lito template_ITA" id="{B4DE900A-7F1E-FB4B-BE2A-0D4B6B8B958A}" vid="{413DD7D1-C3E5-6A4B-BFB7-237394F1067C}"/>
    </a:ext>
  </a:extLst>
</a:theme>
</file>

<file path=ppt/theme/theme2.xml><?xml version="1.0" encoding="utf-8"?>
<a:theme xmlns:a="http://schemas.openxmlformats.org/drawingml/2006/main" name="CONTENUTI 1 _ titoli blu">
  <a:themeElements>
    <a:clrScheme name="PoliTO_Template">
      <a:dk1>
        <a:srgbClr val="002B49"/>
      </a:dk1>
      <a:lt1>
        <a:srgbClr val="FFFFFF"/>
      </a:lt1>
      <a:dk2>
        <a:srgbClr val="000000"/>
      </a:dk2>
      <a:lt2>
        <a:srgbClr val="EED9CC"/>
      </a:lt2>
      <a:accent1>
        <a:srgbClr val="EF7B00"/>
      </a:accent1>
      <a:accent2>
        <a:srgbClr val="00B1DF"/>
      </a:accent2>
      <a:accent3>
        <a:srgbClr val="C4E7FB"/>
      </a:accent3>
      <a:accent4>
        <a:srgbClr val="F1C64C"/>
      </a:accent4>
      <a:accent5>
        <a:srgbClr val="FFE9AF"/>
      </a:accent5>
      <a:accent6>
        <a:srgbClr val="92CCAE"/>
      </a:accent6>
      <a:hlink>
        <a:srgbClr val="175673"/>
      </a:hlink>
      <a:folHlink>
        <a:srgbClr val="EC6055"/>
      </a:folHlink>
    </a:clrScheme>
    <a:fontScheme name="PoliTO_Template">
      <a:majorFont>
        <a:latin typeface="Poppins Medium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round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Polito template_ITA" id="{B4DE900A-7F1E-FB4B-BE2A-0D4B6B8B958A}" vid="{A7BD8485-1F4D-B940-AD4F-9A9144EBD7DF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D4CAB1AA5B43F4D9AAF01BADE0E3A4F" ma:contentTypeVersion="8" ma:contentTypeDescription="Creare un nuovo documento." ma:contentTypeScope="" ma:versionID="59c7fa7676cd10170f585e95f6181454">
  <xsd:schema xmlns:xsd="http://www.w3.org/2001/XMLSchema" xmlns:xs="http://www.w3.org/2001/XMLSchema" xmlns:p="http://schemas.microsoft.com/office/2006/metadata/properties" xmlns:ns2="ee8ce87a-fc1e-415b-8f19-964dc6e332da" targetNamespace="http://schemas.microsoft.com/office/2006/metadata/properties" ma:root="true" ma:fieldsID="e3f9aa92bd1d0291e55783ad41e7d77e" ns2:_="">
    <xsd:import namespace="ee8ce87a-fc1e-415b-8f19-964dc6e332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8ce87a-fc1e-415b-8f19-964dc6e332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0F9F511-3832-4B05-91B3-5180D7ACFDC9}">
  <ds:schemaRefs>
    <ds:schemaRef ds:uri="http://purl.org/dc/terms/"/>
    <ds:schemaRef ds:uri="ee8ce87a-fc1e-415b-8f19-964dc6e332da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B4A7BA3-74A2-491B-AF81-6CB1FF0218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e8ce87a-fc1e-415b-8f19-964dc6e332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46FE114-0C58-4EEA-8876-F3C08EF0B5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COPERTINE</Template>
  <TotalTime>70365</TotalTime>
  <Words>461</Words>
  <Application>Microsoft Macintosh PowerPoint</Application>
  <PresentationFormat>Widescreen</PresentationFormat>
  <Paragraphs>88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Poppins</vt:lpstr>
      <vt:lpstr>Aptos</vt:lpstr>
      <vt:lpstr>Calibri</vt:lpstr>
      <vt:lpstr>Poppins Medium</vt:lpstr>
      <vt:lpstr>COPERTINE</vt:lpstr>
      <vt:lpstr>CONTENUTI 1 _ titoli blu</vt:lpstr>
      <vt:lpstr>PowerPoint Presentation</vt:lpstr>
      <vt:lpstr>PowerPoint Presentation</vt:lpstr>
      <vt:lpstr>Dataset Overview &amp; Base Variables</vt:lpstr>
      <vt:lpstr>Dataset Overview &amp; Base Variables</vt:lpstr>
      <vt:lpstr>PowerPoint Presentation</vt:lpstr>
      <vt:lpstr>Feature Engineering</vt:lpstr>
      <vt:lpstr>Feature Engineering</vt:lpstr>
      <vt:lpstr>Dataset Overview &amp; Base Variables</vt:lpstr>
      <vt:lpstr>PowerPoint Presentation</vt:lpstr>
      <vt:lpstr>Weather Data</vt:lpstr>
      <vt:lpstr>Additional Features</vt:lpstr>
      <vt:lpstr>PowerPoint Presentation</vt:lpstr>
      <vt:lpstr>Merged Data</vt:lpstr>
      <vt:lpstr>Correlation HeatMap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Massimo Messori</dc:creator>
  <cp:lastModifiedBy>mohamad shaikh.ahmadi</cp:lastModifiedBy>
  <cp:revision>34</cp:revision>
  <dcterms:created xsi:type="dcterms:W3CDTF">2024-10-30T07:55:12Z</dcterms:created>
  <dcterms:modified xsi:type="dcterms:W3CDTF">2026-05-06T15:47:46Z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0x010100AD4CAB1AA5B43F4D9AAF01BADE0E3A4F</vt:lpwstr>
  </property>
</Properties>
</file>