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7" r:id="rId4"/>
    <p:sldMasterId id="2147483767" r:id="rId5"/>
  </p:sldMasterIdLst>
  <p:notesMasterIdLst>
    <p:notesMasterId r:id="rId23"/>
  </p:notesMasterIdLst>
  <p:handoutMasterIdLst>
    <p:handoutMasterId r:id="rId24"/>
  </p:handoutMasterIdLst>
  <p:sldIdLst>
    <p:sldId id="256" r:id="rId6"/>
    <p:sldId id="366" r:id="rId7"/>
    <p:sldId id="367" r:id="rId8"/>
    <p:sldId id="423" r:id="rId9"/>
    <p:sldId id="424" r:id="rId10"/>
    <p:sldId id="425" r:id="rId11"/>
    <p:sldId id="427" r:id="rId12"/>
    <p:sldId id="428" r:id="rId13"/>
    <p:sldId id="429" r:id="rId14"/>
    <p:sldId id="430" r:id="rId15"/>
    <p:sldId id="431" r:id="rId16"/>
    <p:sldId id="432" r:id="rId17"/>
    <p:sldId id="433" r:id="rId18"/>
    <p:sldId id="434" r:id="rId19"/>
    <p:sldId id="435" r:id="rId20"/>
    <p:sldId id="436" r:id="rId21"/>
    <p:sldId id="421" r:id="rId22"/>
  </p:sldIdLst>
  <p:sldSz cx="12192000" cy="6858000"/>
  <p:notesSz cx="6858000" cy="9144000"/>
  <p:embeddedFontLst>
    <p:embeddedFont>
      <p:font typeface="Poppins" pitchFamily="2" charset="77"/>
      <p:regular r:id="rId25"/>
      <p:bold r:id="rId26"/>
      <p:italic r:id="rId27"/>
      <p:boldItalic r:id="rId28"/>
    </p:embeddedFont>
    <p:embeddedFont>
      <p:font typeface="Poppins Medium" panose="00000600000000000000" pitchFamily="2" charset="77"/>
      <p:regular r:id="rId29"/>
      <p:italic r:id="rId30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A49"/>
    <a:srgbClr val="F2F2F2"/>
    <a:srgbClr val="016BB6"/>
    <a:srgbClr val="002B49"/>
    <a:srgbClr val="80AF98"/>
    <a:srgbClr val="AF7550"/>
    <a:srgbClr val="B2BD29"/>
    <a:srgbClr val="E9E7E7"/>
    <a:srgbClr val="006BB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91" autoAdjust="0"/>
    <p:restoredTop sz="96143" autoAdjust="0"/>
  </p:normalViewPr>
  <p:slideViewPr>
    <p:cSldViewPr snapToGrid="0" showGuides="1">
      <p:cViewPr varScale="1">
        <p:scale>
          <a:sx n="117" d="100"/>
          <a:sy n="117" d="100"/>
        </p:scale>
        <p:origin x="544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904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37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6D0A9E-DD06-C7B0-946D-31F9B20149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87193-AB98-65AF-F701-EBFEDD042C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33D1A-776C-2B44-AB57-E14B633AE185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31572-0E60-DFDC-759E-36E167E25E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0B3F7-BC69-9660-AD95-517F134729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FF382-66A3-E447-A138-6DDB2D92E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183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AFB3AD-FAF9-A04B-9767-E49F4F24F3E6}" type="datetimeFigureOut">
              <a:rPr lang="it-IT" smtClean="0"/>
              <a:t>16/04/26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8FE5C-85ED-194D-A826-552950995C6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1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1442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2D847-AF6B-CA80-9E40-1A7C6B8E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CD7AB-CF56-AAE3-801B-9AFCFE3CC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91CBF-DD73-0594-5E51-0B06E12C4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F7349-08C9-E07E-D038-3BDA6D622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5967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EAD5B-E8A8-73F9-6E4A-277A8F38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7B312-CE27-0D12-3BA8-DA6567CB5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9224C-7E9F-E12F-E603-211ECD28C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C0C7B-592E-2203-B2A9-4DBD076F8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8534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A3C01-C62A-CEF7-D4ED-C8DCC099B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F8E34-F86C-2295-B12E-E92F601B9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6ECC6-464C-8076-882D-5BD73E793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0B15D-8F4D-8E39-6693-217E57F49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4933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FFE5E-815D-9198-557F-29ECE68A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9A6B7-9CA1-72FE-1CE7-CF42C9EAC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776FB-8082-560A-9EDB-458E75249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347AB-2F14-D743-2A11-7BA0537E6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8207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7A880-1387-5CC0-B614-E525D86C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641D3-0EB0-D344-8106-D85D2415B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52FD1-AD6D-A6B0-D5AE-9CAEC0ED3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2EF28-9960-490B-3EB8-064BD531E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8FE5C-85ED-194D-A826-552950995C66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5362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 _ Ap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5988862-B47E-48D4-9426-E775261B7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107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FA2C98-6DE1-4D78-AE6F-0BAAE6E1D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7DE37F3-51F4-48BE-8599-73297EEF3BD3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5BB8A5A3-9EC2-4C88-8FAC-05F96F00D7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95F7323E-8285-4667-83C4-2BED21A60E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252142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2F68884-7283-48EF-B315-53827BAF1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7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Apert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A394C85-E2AD-479A-B76F-DFA5BB41B2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39" y="2787188"/>
            <a:ext cx="2857722" cy="1255543"/>
          </a:xfrm>
          <a:prstGeom prst="rect">
            <a:avLst/>
          </a:prstGeom>
        </p:spPr>
      </p:pic>
      <p:sp>
        <p:nvSpPr>
          <p:cNvPr id="3" name="Segnaposto immagine 10">
            <a:extLst>
              <a:ext uri="{FF2B5EF4-FFF2-40B4-BE49-F238E27FC236}">
                <a16:creationId xmlns:a16="http://schemas.microsoft.com/office/drawing/2014/main" id="{9CCE0AB1-41FD-4EDC-AB39-9282210F552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51544" y="0"/>
            <a:ext cx="9140456" cy="6858000"/>
          </a:xfrm>
          <a:custGeom>
            <a:avLst/>
            <a:gdLst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0456" h="6858000">
                <a:moveTo>
                  <a:pt x="0" y="0"/>
                </a:moveTo>
                <a:lnTo>
                  <a:pt x="9140456" y="0"/>
                </a:lnTo>
                <a:lnTo>
                  <a:pt x="9140456" y="6858000"/>
                </a:lnTo>
                <a:lnTo>
                  <a:pt x="0" y="6858000"/>
                </a:lnTo>
                <a:cubicBezTo>
                  <a:pt x="1265276" y="5858538"/>
                  <a:pt x="2647507" y="250928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>
                <a:latin typeface="Poppins" panose="00000500000000000000" pitchFamily="2" charset="0"/>
              </a:defRPr>
            </a:lvl1pPr>
          </a:lstStyle>
          <a:p>
            <a:r>
              <a:rPr lang="it-IT" dirty="0"/>
              <a:t>   </a:t>
            </a:r>
          </a:p>
        </p:txBody>
      </p:sp>
      <p:sp>
        <p:nvSpPr>
          <p:cNvPr id="5" name="Segnaposto testo 6">
            <a:extLst>
              <a:ext uri="{FF2B5EF4-FFF2-40B4-BE49-F238E27FC236}">
                <a16:creationId xmlns:a16="http://schemas.microsoft.com/office/drawing/2014/main" id="{049324E1-916B-44BE-A2CA-01572E502A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6" name="Segnaposto testo 9">
            <a:extLst>
              <a:ext uri="{FF2B5EF4-FFF2-40B4-BE49-F238E27FC236}">
                <a16:creationId xmlns:a16="http://schemas.microsoft.com/office/drawing/2014/main" id="{BC83BF07-630E-48B5-9C07-F0CEF6A2BF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98F9590B-AA34-4576-A95D-7E6FD9F1FF0F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6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hius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5F8C436-50BB-46D3-92D1-A32E72258D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39" y="2787188"/>
            <a:ext cx="2857722" cy="125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3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24993FE2-BDC7-854D-9E60-5881B6A9F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dirty="0"/>
              <a:t>Fare clic per modificare il titolo</a:t>
            </a: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03A3DA46-7DB4-F940-B006-60DA29DE672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00" y="984487"/>
            <a:ext cx="11880000" cy="51715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it-IT" dirty="0"/>
              <a:t>Fare clic per modificare il testo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277971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4FB4A7-FF62-53E7-CC8F-E29751CD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5148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2C61AA3E-D013-404E-8B75-86054DB2A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00" y="2441500"/>
            <a:ext cx="11880000" cy="1975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/>
            </a:lvl1pPr>
          </a:lstStyle>
          <a:p>
            <a:r>
              <a:rPr lang="it-IT" dirty="0"/>
              <a:t>Fare clic per modificare il titolo</a:t>
            </a:r>
          </a:p>
        </p:txBody>
      </p:sp>
    </p:spTree>
    <p:extLst>
      <p:ext uri="{BB962C8B-B14F-4D97-AF65-F5344CB8AC3E}">
        <p14:creationId xmlns:p14="http://schemas.microsoft.com/office/powerpoint/2010/main" val="4203117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64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 _ Ap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5988862-B47E-48D4-9426-E775261B7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107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FA2C98-6DE1-4D78-AE6F-0BAAE6E1D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7DE37F3-51F4-48BE-8599-73297EEF3BD3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5BB8A5A3-9EC2-4C88-8FAC-05F96F00D7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95F7323E-8285-4667-83C4-2BED21A60E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103873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35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9" r:id="rId3"/>
    <p:sldLayoutId id="214748368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164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pic>
        <p:nvPicPr>
          <p:cNvPr id="6" name="Immagine 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1" y="6465212"/>
            <a:ext cx="951065" cy="269625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ECFCC25-4FD9-414D-AE29-E50F7351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dirty="0"/>
              <a:t>Fare clic per modificare il titolo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FA7E6D1-1565-475C-8B80-AB85A6073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000" y="984487"/>
            <a:ext cx="11880000" cy="51715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it-IT" dirty="0"/>
              <a:t>Fare clic per modificare il testo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AFBBB134-F3B5-014C-81C1-EC3290A3567D}"/>
              </a:ext>
            </a:extLst>
          </p:cNvPr>
          <p:cNvSpPr txBox="1">
            <a:spLocks/>
          </p:cNvSpPr>
          <p:nvPr userDrawn="1"/>
        </p:nvSpPr>
        <p:spPr>
          <a:xfrm>
            <a:off x="3649451" y="6373047"/>
            <a:ext cx="8421867" cy="236542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marR="0" indent="0" algn="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kern="1200" spc="3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/>
              <a:t>mohammad.sheikh@studenti.polito.it</a:t>
            </a:r>
            <a:endParaRPr lang="it-IT" dirty="0"/>
          </a:p>
        </p:txBody>
      </p:sp>
      <p:sp>
        <p:nvSpPr>
          <p:cNvPr id="10" name="Segnaposto testo 6">
            <a:extLst>
              <a:ext uri="{FF2B5EF4-FFF2-40B4-BE49-F238E27FC236}">
                <a16:creationId xmlns:a16="http://schemas.microsoft.com/office/drawing/2014/main" id="{3AEC9288-CBBA-2949-AD51-BD9C863E1BE8}"/>
              </a:ext>
            </a:extLst>
          </p:cNvPr>
          <p:cNvSpPr txBox="1">
            <a:spLocks/>
          </p:cNvSpPr>
          <p:nvPr userDrawn="1"/>
        </p:nvSpPr>
        <p:spPr>
          <a:xfrm>
            <a:off x="3649451" y="6583362"/>
            <a:ext cx="8451065" cy="215816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spc="3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kern="1200" spc="3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3365820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78" r:id="rId2"/>
    <p:sldLayoutId id="2147483784" r:id="rId3"/>
    <p:sldLayoutId id="2147483783" r:id="rId4"/>
    <p:sldLayoutId id="214748378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marR="0" indent="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 spc="300">
          <a:solidFill>
            <a:schemeClr val="tx1"/>
          </a:solidFill>
          <a:latin typeface="Poppins" panose="00000500000000000000" pitchFamily="2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166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164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380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8957977-25F6-6147-A328-F518E0A2B0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9698" y="888227"/>
            <a:ext cx="11505901" cy="3024000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Predictive Analytics of Climate Stress Impact on the Italian Mediterranean Buffalo</a:t>
            </a:r>
          </a:p>
          <a:p>
            <a:r>
              <a:rPr lang="en-US" sz="2400" b="1" dirty="0"/>
              <a:t>Physiological and Productive Responses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FFE42D3-F4C1-0542-A5D5-F64C362A9D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75886" y="4781075"/>
            <a:ext cx="2763714" cy="722589"/>
          </a:xfrm>
        </p:spPr>
        <p:txBody>
          <a:bodyPr anchor="ctr">
            <a:normAutofit/>
          </a:bodyPr>
          <a:lstStyle/>
          <a:p>
            <a:pPr algn="ctr"/>
            <a:r>
              <a:rPr lang="it-IT" sz="2000" b="1" dirty="0"/>
              <a:t>Mohammad Sheikh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5687C7-54CD-67CF-6E2C-A748E4823F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403"/>
          <a:stretch/>
        </p:blipFill>
        <p:spPr>
          <a:xfrm>
            <a:off x="5204629" y="5561039"/>
            <a:ext cx="1590839" cy="8561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18D630-6F19-3CA6-B35B-CBADA07415D3}"/>
              </a:ext>
            </a:extLst>
          </p:cNvPr>
          <p:cNvSpPr txBox="1"/>
          <p:nvPr/>
        </p:nvSpPr>
        <p:spPr>
          <a:xfrm>
            <a:off x="6795468" y="59395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accent1"/>
                </a:solidFill>
              </a:rPr>
              <a:t>Dipartimento</a:t>
            </a:r>
            <a:r>
              <a:rPr lang="en-GB" dirty="0">
                <a:solidFill>
                  <a:schemeClr val="accent1"/>
                </a:solidFill>
              </a:rPr>
              <a:t> di </a:t>
            </a:r>
            <a:r>
              <a:rPr lang="en-GB" dirty="0" err="1">
                <a:solidFill>
                  <a:schemeClr val="accent1"/>
                </a:solidFill>
              </a:rPr>
              <a:t>Automatica</a:t>
            </a:r>
            <a:r>
              <a:rPr lang="en-GB" dirty="0">
                <a:solidFill>
                  <a:schemeClr val="accent1"/>
                </a:solidFill>
              </a:rPr>
              <a:t> e Informatica</a:t>
            </a:r>
          </a:p>
          <a:p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09F753-137C-55E6-5518-E19AAA51D047}"/>
              </a:ext>
            </a:extLst>
          </p:cNvPr>
          <p:cNvSpPr txBox="1"/>
          <p:nvPr/>
        </p:nvSpPr>
        <p:spPr>
          <a:xfrm>
            <a:off x="6795468" y="560044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accent1"/>
                </a:solidFill>
              </a:rPr>
              <a:t>Department of Control and Computer Engineering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452FE7-E166-BF1B-2940-6137B6999FC1}"/>
              </a:ext>
            </a:extLst>
          </p:cNvPr>
          <p:cNvCxnSpPr>
            <a:cxnSpLocks/>
          </p:cNvCxnSpPr>
          <p:nvPr/>
        </p:nvCxnSpPr>
        <p:spPr>
          <a:xfrm>
            <a:off x="5287064" y="5406887"/>
            <a:ext cx="675253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egnaposto testo 2">
            <a:extLst>
              <a:ext uri="{FF2B5EF4-FFF2-40B4-BE49-F238E27FC236}">
                <a16:creationId xmlns:a16="http://schemas.microsoft.com/office/drawing/2014/main" id="{C6D7D03C-9B5A-1FDC-B092-BC0A1CE96270}"/>
              </a:ext>
            </a:extLst>
          </p:cNvPr>
          <p:cNvSpPr txBox="1">
            <a:spLocks/>
          </p:cNvSpPr>
          <p:nvPr/>
        </p:nvSpPr>
        <p:spPr>
          <a:xfrm>
            <a:off x="5195268" y="4163420"/>
            <a:ext cx="3200400" cy="182568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Prof. Luca Barbierato</a:t>
            </a:r>
          </a:p>
          <a:p>
            <a:r>
              <a:rPr lang="it-IT" sz="2000" b="1" dirty="0"/>
              <a:t>Prof. Matteo </a:t>
            </a:r>
            <a:r>
              <a:rPr lang="it-IT" sz="2000" b="1" dirty="0" err="1"/>
              <a:t>Santinello</a:t>
            </a:r>
            <a:r>
              <a:rPr lang="it-IT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3776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0B032-353C-D9A9-694D-B1F13C399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5494884-6E58-B123-4AD0-B0341A2416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8393" y="1917000"/>
            <a:ext cx="6300557" cy="3024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Dataset Overview &amp; Base Variables</a:t>
            </a:r>
            <a:endParaRPr lang="en-US" sz="4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D6A22C-3BA3-0274-0BA9-87B112011B1B}"/>
              </a:ext>
            </a:extLst>
          </p:cNvPr>
          <p:cNvSpPr/>
          <p:nvPr/>
        </p:nvSpPr>
        <p:spPr bwMode="auto">
          <a:xfrm>
            <a:off x="6574971" y="5036457"/>
            <a:ext cx="2220686" cy="65314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3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A032-D838-B0BA-9BB4-7C5E3C077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B642-8C2A-361F-9CB0-0F3E10376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Dataset Overview &amp; Base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C2676-9125-A5D2-F9BA-FEC9B3B5F067}"/>
              </a:ext>
            </a:extLst>
          </p:cNvPr>
          <p:cNvSpPr txBox="1"/>
          <p:nvPr/>
        </p:nvSpPr>
        <p:spPr>
          <a:xfrm>
            <a:off x="551542" y="1151234"/>
            <a:ext cx="4642963" cy="1810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/>
              <a:t>Animal Data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Total Number of Data : 2,593,267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Null values : 1873 in </a:t>
            </a:r>
            <a:r>
              <a:rPr lang="en-US" sz="1900" u="sng" dirty="0"/>
              <a:t>DTB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error values : 118,300 in </a:t>
            </a:r>
            <a:r>
              <a:rPr lang="en-US" sz="1900" u="sng" dirty="0"/>
              <a:t>All Variables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05831D-8617-BF06-7602-776480C20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206" y="1227501"/>
            <a:ext cx="5829300" cy="4724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022180-B09C-53B3-D60D-90FB6F0B7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05" y="3429000"/>
            <a:ext cx="4800600" cy="1866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11447E-539F-8342-1694-478F81B0FF24}"/>
              </a:ext>
            </a:extLst>
          </p:cNvPr>
          <p:cNvSpPr txBox="1"/>
          <p:nvPr/>
        </p:nvSpPr>
        <p:spPr>
          <a:xfrm>
            <a:off x="693472" y="5240292"/>
            <a:ext cx="4201465" cy="932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900" dirty="0"/>
              <a:t>Descriptive statistics for numerical columns</a:t>
            </a:r>
          </a:p>
        </p:txBody>
      </p:sp>
    </p:spTree>
    <p:extLst>
      <p:ext uri="{BB962C8B-B14F-4D97-AF65-F5344CB8AC3E}">
        <p14:creationId xmlns:p14="http://schemas.microsoft.com/office/powerpoint/2010/main" val="1122171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D9746-0F99-92AF-8126-4705CB35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0DB5-3263-D09B-E035-DB1335B0D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Dataset Overview &amp; Base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EB8236-95F0-992A-0CDB-B4839F20D300}"/>
              </a:ext>
            </a:extLst>
          </p:cNvPr>
          <p:cNvSpPr txBox="1"/>
          <p:nvPr/>
        </p:nvSpPr>
        <p:spPr>
          <a:xfrm>
            <a:off x="522906" y="988864"/>
            <a:ext cx="11194188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data visualizations for numerical columns. [Unprocessed]</a:t>
            </a:r>
            <a:endParaRPr lang="en-US" sz="1900" u="sn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86857C-B7E2-E3B9-8615-216D073984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2879" b="50046"/>
          <a:stretch>
            <a:fillRect/>
          </a:stretch>
        </p:blipFill>
        <p:spPr bwMode="auto">
          <a:xfrm>
            <a:off x="1310587" y="1693638"/>
            <a:ext cx="9618825" cy="409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911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A7805-3FD0-674E-9C87-F12889835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50B10-9718-6099-CCEB-3598C0BBB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Dataset Overview &amp; Base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768A4F-89D0-D040-189B-57BE73143895}"/>
              </a:ext>
            </a:extLst>
          </p:cNvPr>
          <p:cNvSpPr txBox="1"/>
          <p:nvPr/>
        </p:nvSpPr>
        <p:spPr>
          <a:xfrm>
            <a:off x="522906" y="988864"/>
            <a:ext cx="11194188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data visualizations for numerical columns. [Unprocessed]</a:t>
            </a:r>
            <a:endParaRPr lang="en-US" sz="1900" u="sn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553992-9DEB-5200-1632-6F8AB6889E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" t="49935" r="32939" b="111"/>
          <a:stretch>
            <a:fillRect/>
          </a:stretch>
        </p:blipFill>
        <p:spPr bwMode="auto">
          <a:xfrm>
            <a:off x="1310587" y="1693638"/>
            <a:ext cx="9618825" cy="409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975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1E6E2-A903-F809-ACF7-D38BF533D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06BCC-70B9-60ED-1DA3-65C393EA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Dataset Overview &amp; Base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D69770-DD35-0B20-C570-DA7446489CED}"/>
              </a:ext>
            </a:extLst>
          </p:cNvPr>
          <p:cNvSpPr txBox="1"/>
          <p:nvPr/>
        </p:nvSpPr>
        <p:spPr>
          <a:xfrm>
            <a:off x="522906" y="988864"/>
            <a:ext cx="11194188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data visualizations for numerical columns. [Unprocessed]</a:t>
            </a:r>
            <a:endParaRPr lang="en-US" sz="1900" u="sn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1766A8-955A-4F99-6EA3-306DE00DF9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27" t="-126" r="-34146" b="50171"/>
          <a:stretch>
            <a:fillRect/>
          </a:stretch>
        </p:blipFill>
        <p:spPr bwMode="auto">
          <a:xfrm>
            <a:off x="1310587" y="1693638"/>
            <a:ext cx="9618825" cy="409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C9B5C9-7255-0D9C-5CC3-EBF5C564A0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76" t="50039" r="-35995" b="7"/>
          <a:stretch>
            <a:fillRect/>
          </a:stretch>
        </p:blipFill>
        <p:spPr bwMode="auto">
          <a:xfrm>
            <a:off x="6166006" y="1772998"/>
            <a:ext cx="9618825" cy="409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499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DE628-4324-C149-D212-96EE4CD6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5835-8676-0C02-E856-8D697A368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Dataset Overview &amp; Base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D4DFB-04D4-A729-C9D3-F47ACF57EC0B}"/>
              </a:ext>
            </a:extLst>
          </p:cNvPr>
          <p:cNvSpPr txBox="1"/>
          <p:nvPr/>
        </p:nvSpPr>
        <p:spPr>
          <a:xfrm>
            <a:off x="530700" y="828000"/>
            <a:ext cx="11194188" cy="1371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/>
              <a:t>Farm Data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Total Number of Data : 329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Null values : 1 in </a:t>
            </a:r>
            <a:r>
              <a:rPr lang="en-US" sz="1900" u="sng" dirty="0" err="1"/>
              <a:t>Provinc</a:t>
            </a:r>
            <a:endParaRPr lang="en-US" sz="1900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E39478-4688-12AB-A0F5-A25F973DB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72" y="1266443"/>
            <a:ext cx="6230816" cy="432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57D60B-AE8C-2B04-7B48-2B4EB32B5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00" y="2199529"/>
            <a:ext cx="4469887" cy="392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72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48FB9-2B88-46B7-5A6B-FA7CC02A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C04C4A7C-249D-AA56-8A15-65FF5C767C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8393" y="1917000"/>
            <a:ext cx="6300557" cy="3024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Calculated Variables (</a:t>
            </a:r>
            <a:r>
              <a:rPr lang="en-US" sz="4400" dirty="0" err="1"/>
              <a:t>FeatureEngineering</a:t>
            </a:r>
            <a:r>
              <a:rPr lang="en-US" sz="4400" dirty="0"/>
              <a:t>)</a:t>
            </a:r>
            <a:endParaRPr lang="en-US" sz="4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FBCF70-2E87-B461-CB5A-2A889F262E3C}"/>
              </a:ext>
            </a:extLst>
          </p:cNvPr>
          <p:cNvSpPr/>
          <p:nvPr/>
        </p:nvSpPr>
        <p:spPr bwMode="auto">
          <a:xfrm>
            <a:off x="6574971" y="5036457"/>
            <a:ext cx="2220686" cy="65314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94CB6-7BA3-71A8-E552-DF561CD58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AADB066F-43BB-6793-CCFC-6D6B8165D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756" r="8898"/>
          <a:stretch>
            <a:fillRect/>
          </a:stretch>
        </p:blipFill>
        <p:spPr>
          <a:xfrm>
            <a:off x="5450507" y="4024842"/>
            <a:ext cx="3071045" cy="18994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34A8F4-CFBA-D0BA-EFEA-D698357A7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Feature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A6544-8644-870F-C64E-E18818B57E66}"/>
              </a:ext>
            </a:extLst>
          </p:cNvPr>
          <p:cNvSpPr txBox="1"/>
          <p:nvPr/>
        </p:nvSpPr>
        <p:spPr>
          <a:xfrm>
            <a:off x="530699" y="3277211"/>
            <a:ext cx="6039065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New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652936-A705-F678-8703-25606103F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053" b="26674"/>
          <a:stretch>
            <a:fillRect/>
          </a:stretch>
        </p:blipFill>
        <p:spPr>
          <a:xfrm>
            <a:off x="1350018" y="4371199"/>
            <a:ext cx="3879759" cy="1304040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5C1F1DC0-EF47-95AA-5663-871D78078780}"/>
              </a:ext>
            </a:extLst>
          </p:cNvPr>
          <p:cNvCxnSpPr>
            <a:cxnSpLocks/>
            <a:endCxn id="14" idx="2"/>
          </p:cNvCxnSpPr>
          <p:nvPr/>
        </p:nvCxnSpPr>
        <p:spPr>
          <a:xfrm rot="16200000" flipV="1">
            <a:off x="6360093" y="3831492"/>
            <a:ext cx="774711" cy="54578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BB6998-85DD-D8DA-69B6-CF14CAAD8DE4}"/>
              </a:ext>
            </a:extLst>
          </p:cNvPr>
          <p:cNvSpPr txBox="1"/>
          <p:nvPr/>
        </p:nvSpPr>
        <p:spPr>
          <a:xfrm>
            <a:off x="5589781" y="3286143"/>
            <a:ext cx="17695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Date of Calving</a:t>
            </a:r>
            <a:endParaRPr lang="en-US" sz="1600" u="sng" dirty="0"/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4B8CA995-6D5B-65BF-ED24-DDF8E39E9676}"/>
              </a:ext>
            </a:extLst>
          </p:cNvPr>
          <p:cNvCxnSpPr>
            <a:cxnSpLocks/>
          </p:cNvCxnSpPr>
          <p:nvPr/>
        </p:nvCxnSpPr>
        <p:spPr>
          <a:xfrm flipV="1">
            <a:off x="8140928" y="3665820"/>
            <a:ext cx="900134" cy="85845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FD5484B-0C40-2727-982B-F3BCCED1FE81}"/>
              </a:ext>
            </a:extLst>
          </p:cNvPr>
          <p:cNvSpPr txBox="1"/>
          <p:nvPr/>
        </p:nvSpPr>
        <p:spPr>
          <a:xfrm>
            <a:off x="8309403" y="3267677"/>
            <a:ext cx="146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Date of Birth</a:t>
            </a:r>
            <a:endParaRPr lang="en-US" sz="1600" u="sng" dirty="0"/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C6D135E7-D13C-4222-6A26-8193A291DF7E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7020340" y="4982986"/>
            <a:ext cx="1552976" cy="43383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A0AA9D3-20C6-7E56-929E-D63F4753BC01}"/>
              </a:ext>
            </a:extLst>
          </p:cNvPr>
          <p:cNvSpPr txBox="1"/>
          <p:nvPr/>
        </p:nvSpPr>
        <p:spPr>
          <a:xfrm>
            <a:off x="8573316" y="4767542"/>
            <a:ext cx="14633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Date of Test</a:t>
            </a:r>
            <a:endParaRPr lang="en-US" sz="1600" u="sng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2743F4E-63F0-23C8-7B03-5DFBDF00B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466" y="1679008"/>
            <a:ext cx="2565400" cy="11176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232427B-D43F-9D4F-CF4A-D1CE23150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300" y="1679008"/>
            <a:ext cx="2565400" cy="11176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FA595E4-389B-D958-9A84-2BEE595A6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3134" y="1650687"/>
            <a:ext cx="2743200" cy="11176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BFE6132-0FD0-2F5C-5B62-C914F58AE61B}"/>
              </a:ext>
            </a:extLst>
          </p:cNvPr>
          <p:cNvSpPr txBox="1"/>
          <p:nvPr/>
        </p:nvSpPr>
        <p:spPr>
          <a:xfrm>
            <a:off x="530700" y="1007157"/>
            <a:ext cx="6039065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Scaled variables</a:t>
            </a:r>
          </a:p>
        </p:txBody>
      </p:sp>
    </p:spTree>
    <p:extLst>
      <p:ext uri="{BB962C8B-B14F-4D97-AF65-F5344CB8AC3E}">
        <p14:creationId xmlns:p14="http://schemas.microsoft.com/office/powerpoint/2010/main" val="3390749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F9E13-5016-824B-8FF2-72D86A18D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A270D-7CD1-9112-41DE-7B4B51F9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Feature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B491F9-9A9E-EEC8-9E37-B7B9B1F175A9}"/>
              </a:ext>
            </a:extLst>
          </p:cNvPr>
          <p:cNvSpPr txBox="1"/>
          <p:nvPr/>
        </p:nvSpPr>
        <p:spPr>
          <a:xfrm>
            <a:off x="530699" y="799537"/>
            <a:ext cx="2918179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New Variables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433CC-7D50-D2CF-A333-42111DC65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556" y="1277666"/>
            <a:ext cx="5913784" cy="3731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F248EF-73F6-C5AA-D7A7-4EDA167FC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047" y="1740768"/>
            <a:ext cx="7772400" cy="343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3CFA49-767B-3E8E-769D-8F32645AD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556" y="2219361"/>
            <a:ext cx="5913784" cy="3903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E27FDD-A0FC-9C6B-D60E-7CD961AC2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2739" y="2509479"/>
            <a:ext cx="2871304" cy="7090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70726C-186D-F00F-F9E5-75D886D39D0A}"/>
              </a:ext>
            </a:extLst>
          </p:cNvPr>
          <p:cNvSpPr txBox="1"/>
          <p:nvPr/>
        </p:nvSpPr>
        <p:spPr>
          <a:xfrm>
            <a:off x="530698" y="2966367"/>
            <a:ext cx="3830287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Component Thresholds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4E1DBB-5DCC-084C-A8A5-5C721931380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4284"/>
          <a:stretch>
            <a:fillRect/>
          </a:stretch>
        </p:blipFill>
        <p:spPr>
          <a:xfrm>
            <a:off x="96932" y="3575208"/>
            <a:ext cx="5884526" cy="7090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6614725-08FE-F6D2-4F5A-9BA542B382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537" t="24199" r="9754" b="50085"/>
          <a:stretch>
            <a:fillRect/>
          </a:stretch>
        </p:blipFill>
        <p:spPr>
          <a:xfrm>
            <a:off x="646649" y="4393540"/>
            <a:ext cx="4631635" cy="7090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4DEDF0B-A25A-781E-F57E-CD8378DE61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10" t="49130" r="1477" b="25154"/>
          <a:stretch>
            <a:fillRect/>
          </a:stretch>
        </p:blipFill>
        <p:spPr>
          <a:xfrm>
            <a:off x="252396" y="5211872"/>
            <a:ext cx="5685184" cy="70907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543FE94-0ED5-E97B-E83C-EDEEBEE24AB2}"/>
              </a:ext>
            </a:extLst>
          </p:cNvPr>
          <p:cNvCxnSpPr>
            <a:cxnSpLocks/>
          </p:cNvCxnSpPr>
          <p:nvPr/>
        </p:nvCxnSpPr>
        <p:spPr>
          <a:xfrm>
            <a:off x="6289966" y="3650796"/>
            <a:ext cx="0" cy="25006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414C0DD7-2E62-2E3E-72EF-466499CBB1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517" t="73063" r="5203" b="1221"/>
          <a:stretch>
            <a:fillRect/>
          </a:stretch>
        </p:blipFill>
        <p:spPr>
          <a:xfrm>
            <a:off x="6554008" y="3575208"/>
            <a:ext cx="5253677" cy="70907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3A5D3F1-CBB0-2289-CE88-1BC0A93AB82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47367"/>
          <a:stretch>
            <a:fillRect/>
          </a:stretch>
        </p:blipFill>
        <p:spPr>
          <a:xfrm>
            <a:off x="6554008" y="4371644"/>
            <a:ext cx="4587253" cy="91155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6B0CB6F-183E-06BF-E464-25AA8DC264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7495" t="77656" r="32826" b="4256"/>
          <a:stretch>
            <a:fillRect/>
          </a:stretch>
        </p:blipFill>
        <p:spPr>
          <a:xfrm>
            <a:off x="8030978" y="5436596"/>
            <a:ext cx="1967344" cy="33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46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15161-01B0-2D92-5F5B-8AB8916D2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E65C-95DF-906B-3722-774020B81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Dataset Overview &amp; Base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14B8D-8938-399B-93E7-EA5E3769D461}"/>
              </a:ext>
            </a:extLst>
          </p:cNvPr>
          <p:cNvSpPr txBox="1"/>
          <p:nvPr/>
        </p:nvSpPr>
        <p:spPr>
          <a:xfrm>
            <a:off x="610827" y="1862508"/>
            <a:ext cx="1464158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/>
              <a:t>Base Data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91C4E05-C2D4-AB73-FDE6-193EC8588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t="1" r="-2240" b="49787"/>
          <a:stretch>
            <a:fillRect/>
          </a:stretch>
        </p:blipFill>
        <p:spPr bwMode="auto">
          <a:xfrm>
            <a:off x="2861127" y="916425"/>
            <a:ext cx="8491860" cy="238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0E700996-B3BB-B46E-22BB-E0664463E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95"/>
          <a:stretch>
            <a:fillRect/>
          </a:stretch>
        </p:blipFill>
        <p:spPr bwMode="auto">
          <a:xfrm>
            <a:off x="2937584" y="3493496"/>
            <a:ext cx="8338946" cy="237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94EFDC-9CD0-5B8F-5BB3-F08FFB969574}"/>
              </a:ext>
            </a:extLst>
          </p:cNvPr>
          <p:cNvSpPr txBox="1"/>
          <p:nvPr/>
        </p:nvSpPr>
        <p:spPr>
          <a:xfrm>
            <a:off x="610827" y="3997540"/>
            <a:ext cx="1464158" cy="1371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900" b="1" dirty="0"/>
              <a:t>After Removing outliers</a:t>
            </a:r>
          </a:p>
        </p:txBody>
      </p:sp>
    </p:spTree>
    <p:extLst>
      <p:ext uri="{BB962C8B-B14F-4D97-AF65-F5344CB8AC3E}">
        <p14:creationId xmlns:p14="http://schemas.microsoft.com/office/powerpoint/2010/main" val="3823827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B784F-2253-4481-3E50-1CFC6A48D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F0D1A-BA7A-3B15-A09E-CA4484C77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>
            <a:normAutofit/>
          </a:bodyPr>
          <a:lstStyle/>
          <a:p>
            <a:r>
              <a:rPr lang="en-US" sz="3600" dirty="0"/>
              <a:t>Dataset Overview &amp; Base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B3179-6EC6-6929-A5ED-59595762ED78}"/>
              </a:ext>
            </a:extLst>
          </p:cNvPr>
          <p:cNvSpPr txBox="1"/>
          <p:nvPr/>
        </p:nvSpPr>
        <p:spPr>
          <a:xfrm>
            <a:off x="610827" y="1862508"/>
            <a:ext cx="1464158" cy="494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/>
              <a:t>Base Data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1C534D-C3FB-8AB6-E9A3-BD7235FCFE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t="50503" r="-2240" b="-715"/>
          <a:stretch>
            <a:fillRect/>
          </a:stretch>
        </p:blipFill>
        <p:spPr bwMode="auto">
          <a:xfrm>
            <a:off x="2861127" y="916425"/>
            <a:ext cx="8491860" cy="238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E49E6C12-30E6-9CF4-43E7-9CF50D4C3C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0246" r="163" b="-151"/>
          <a:stretch>
            <a:fillRect/>
          </a:stretch>
        </p:blipFill>
        <p:spPr bwMode="auto">
          <a:xfrm>
            <a:off x="2861127" y="3493494"/>
            <a:ext cx="8325362" cy="237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6D7A1E-B4DE-5A61-806C-6A7DC2217CC1}"/>
              </a:ext>
            </a:extLst>
          </p:cNvPr>
          <p:cNvSpPr txBox="1"/>
          <p:nvPr/>
        </p:nvSpPr>
        <p:spPr>
          <a:xfrm>
            <a:off x="610827" y="3997540"/>
            <a:ext cx="1464158" cy="1371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900" b="1" dirty="0"/>
              <a:t>After Removing outliers</a:t>
            </a:r>
          </a:p>
        </p:txBody>
      </p:sp>
    </p:spTree>
    <p:extLst>
      <p:ext uri="{BB962C8B-B14F-4D97-AF65-F5344CB8AC3E}">
        <p14:creationId xmlns:p14="http://schemas.microsoft.com/office/powerpoint/2010/main" val="3875911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221B3-AF11-985E-325A-1CFEBA5A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717F475-B55D-B21F-1627-3B0DD62F96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8393" y="1917000"/>
            <a:ext cx="6300557" cy="3024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Weather Data</a:t>
            </a:r>
            <a:endParaRPr lang="en-US" sz="4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A810B4-1C9F-69CB-E963-2A006813E899}"/>
              </a:ext>
            </a:extLst>
          </p:cNvPr>
          <p:cNvSpPr/>
          <p:nvPr/>
        </p:nvSpPr>
        <p:spPr bwMode="auto">
          <a:xfrm>
            <a:off x="6574971" y="5036457"/>
            <a:ext cx="2220686" cy="65314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33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1B0CE-2524-BF71-3CE2-0A24264F7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B47F-EF0B-944D-C9EB-74D75701D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Weather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AA6C0E-3550-79E4-81D4-438DAA14D303}"/>
              </a:ext>
            </a:extLst>
          </p:cNvPr>
          <p:cNvSpPr txBox="1"/>
          <p:nvPr/>
        </p:nvSpPr>
        <p:spPr>
          <a:xfrm>
            <a:off x="5281798" y="963126"/>
            <a:ext cx="6570229" cy="429717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Open-</a:t>
            </a:r>
            <a:r>
              <a:rPr lang="en-US" sz="2400" b="1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Meteo</a:t>
            </a:r>
            <a:r>
              <a:rPr 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weather API</a:t>
            </a:r>
            <a:endParaRPr lang="en-US" sz="2000" b="1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Aft>
                <a:spcPts val="600"/>
              </a:spcAft>
            </a:pPr>
            <a:endParaRPr lang="en-US" sz="2200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en-US" sz="2300" dirty="0"/>
              <a:t>Period : Hourly</a:t>
            </a:r>
          </a:p>
          <a:p>
            <a:pPr>
              <a:spcAft>
                <a:spcPts val="600"/>
              </a:spcAft>
            </a:pPr>
            <a:r>
              <a:rPr lang="en-US" sz="2300" dirty="0"/>
              <a:t>Start Date : 2013-01-01</a:t>
            </a:r>
          </a:p>
          <a:p>
            <a:pPr>
              <a:spcAft>
                <a:spcPts val="600"/>
              </a:spcAft>
            </a:pPr>
            <a:r>
              <a:rPr lang="en-US" sz="2300" dirty="0"/>
              <a:t>End Date : 2025-12-31</a:t>
            </a:r>
          </a:p>
          <a:p>
            <a:pPr>
              <a:spcAft>
                <a:spcPts val="600"/>
              </a:spcAft>
            </a:pPr>
            <a:r>
              <a:rPr lang="en-US" sz="2300" dirty="0"/>
              <a:t>Location : </a:t>
            </a:r>
            <a:r>
              <a:rPr lang="en-US" sz="2300" u="sng" dirty="0"/>
              <a:t>329</a:t>
            </a:r>
            <a:r>
              <a:rPr lang="en-US" sz="2300" dirty="0"/>
              <a:t> individual locations</a:t>
            </a:r>
          </a:p>
          <a:p>
            <a:pPr>
              <a:spcAft>
                <a:spcPts val="600"/>
              </a:spcAft>
            </a:pPr>
            <a:r>
              <a:rPr lang="en-US" sz="2300" dirty="0"/>
              <a:t>Variables 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Temperature_2m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relative_humidity_2m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wind_speed_10m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3816B1-CE86-17E6-5C21-B9E952A71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00" y="1018500"/>
            <a:ext cx="4902200" cy="42418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833A55-5208-D45D-E0A0-DABD5ACF17ED}"/>
              </a:ext>
            </a:extLst>
          </p:cNvPr>
          <p:cNvCxnSpPr/>
          <p:nvPr/>
        </p:nvCxnSpPr>
        <p:spPr>
          <a:xfrm>
            <a:off x="5167500" y="1018500"/>
            <a:ext cx="0" cy="4241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242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830381-55BA-95AD-D566-81DB76D84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48FE463-E7D8-27A2-46A2-896288ECD6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8393" y="1917000"/>
            <a:ext cx="6300557" cy="302400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Merged Data</a:t>
            </a:r>
            <a:endParaRPr lang="en-US" sz="4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321CA5-A3C0-A8A1-2B3C-F9A63C209A34}"/>
              </a:ext>
            </a:extLst>
          </p:cNvPr>
          <p:cNvSpPr/>
          <p:nvPr/>
        </p:nvSpPr>
        <p:spPr bwMode="auto">
          <a:xfrm>
            <a:off x="6574971" y="5036457"/>
            <a:ext cx="2220686" cy="653143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95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1A81A-0A35-7F74-91FE-87561A591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82B1-9111-67B6-EA86-A44677FF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180000"/>
            <a:ext cx="11880000" cy="6480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Merged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37A06-5779-5350-BA41-2200662B666D}"/>
              </a:ext>
            </a:extLst>
          </p:cNvPr>
          <p:cNvSpPr txBox="1"/>
          <p:nvPr/>
        </p:nvSpPr>
        <p:spPr>
          <a:xfrm>
            <a:off x="618922" y="997309"/>
            <a:ext cx="2710005" cy="5077566"/>
          </a:xfrm>
          <a:prstGeom prst="rect">
            <a:avLst/>
          </a:prstGeom>
        </p:spPr>
        <p:txBody>
          <a:bodyPr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2,593,267 rows</a:t>
            </a:r>
          </a:p>
          <a:p>
            <a:pPr>
              <a:spcAft>
                <a:spcPts val="600"/>
              </a:spcAft>
            </a:pPr>
            <a:r>
              <a:rPr lang="en-US" dirty="0"/>
              <a:t>33 columns: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Farm_Code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Animal_ID</a:t>
            </a:r>
            <a:r>
              <a:rPr lang="en-US" dirty="0"/>
              <a:t>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dtb</a:t>
            </a:r>
            <a:r>
              <a:rPr lang="en-US" dirty="0"/>
              <a:t>
</a:t>
            </a:r>
            <a:r>
              <a:rPr lang="en-US" dirty="0" err="1"/>
              <a:t>dtc</a:t>
            </a:r>
            <a:r>
              <a:rPr lang="en-US" dirty="0"/>
              <a:t>
</a:t>
            </a:r>
            <a:r>
              <a:rPr lang="en-US" dirty="0" err="1"/>
              <a:t>dtt</a:t>
            </a:r>
            <a:r>
              <a:rPr lang="en-US" dirty="0"/>
              <a:t>
parity
</a:t>
            </a:r>
            <a:r>
              <a:rPr lang="en-US" dirty="0" err="1"/>
              <a:t>milk_kg</a:t>
            </a: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fat_p</a:t>
            </a:r>
            <a:r>
              <a:rPr lang="en-US" dirty="0"/>
              <a:t>
</a:t>
            </a:r>
            <a:r>
              <a:rPr lang="en-US" dirty="0" err="1"/>
              <a:t>protein_p</a:t>
            </a:r>
            <a:r>
              <a:rPr lang="en-US" dirty="0"/>
              <a:t>
cells
NM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5BEC3-5B71-1419-F022-83F0D93B8FDD}"/>
              </a:ext>
            </a:extLst>
          </p:cNvPr>
          <p:cNvSpPr txBox="1"/>
          <p:nvPr/>
        </p:nvSpPr>
        <p:spPr>
          <a:xfrm>
            <a:off x="7559640" y="1692639"/>
            <a:ext cx="2779415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wind_speed_max</a:t>
            </a:r>
            <a:r>
              <a:rPr lang="en-US" dirty="0"/>
              <a:t> 
</a:t>
            </a:r>
            <a:r>
              <a:rPr lang="en-US" dirty="0" err="1"/>
              <a:t>wind_speed_min</a:t>
            </a:r>
            <a:r>
              <a:rPr lang="en-US" dirty="0"/>
              <a:t>
THI_1_avg
THI_1_min
THI_1_max
THI_2_avg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THI_2_min
THI_2_max
</a:t>
            </a:r>
            <a:r>
              <a:rPr lang="en-US" dirty="0" err="1"/>
              <a:t>WHI_avg</a:t>
            </a:r>
            <a:r>
              <a:rPr lang="en-US" dirty="0"/>
              <a:t>
</a:t>
            </a:r>
            <a:r>
              <a:rPr lang="en-US" dirty="0" err="1"/>
              <a:t>WHI_min</a:t>
            </a:r>
            <a:r>
              <a:rPr lang="en-US" dirty="0"/>
              <a:t>
</a:t>
            </a:r>
            <a:r>
              <a:rPr lang="en-US" dirty="0" err="1"/>
              <a:t>WHI_max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29F073-BBBD-7B16-5BE0-E018B6BF9053}"/>
              </a:ext>
            </a:extLst>
          </p:cNvPr>
          <p:cNvSpPr txBox="1"/>
          <p:nvPr/>
        </p:nvSpPr>
        <p:spPr>
          <a:xfrm>
            <a:off x="3805746" y="1692639"/>
            <a:ext cx="2710004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ECM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SCS
AFC</a:t>
            </a: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DIM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/>
              <a:t>temperature_avg</a:t>
            </a:r>
            <a:r>
              <a:rPr lang="en-US" sz="1800" dirty="0"/>
              <a:t>
</a:t>
            </a:r>
            <a:r>
              <a:rPr lang="en-US" sz="1800" dirty="0" err="1"/>
              <a:t>temperature_max</a:t>
            </a:r>
            <a:r>
              <a:rPr lang="en-US" sz="1800" dirty="0"/>
              <a:t>
</a:t>
            </a:r>
            <a:r>
              <a:rPr lang="en-US" sz="1800" dirty="0" err="1"/>
              <a:t>temperature_min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humidity_avg</a:t>
            </a:r>
            <a:endParaRPr lang="en-US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humidity_max</a:t>
            </a:r>
            <a:r>
              <a:rPr lang="en-US" dirty="0"/>
              <a:t>
</a:t>
            </a:r>
            <a:r>
              <a:rPr lang="en-US" dirty="0" err="1"/>
              <a:t>humidity_min</a:t>
            </a:r>
            <a:r>
              <a:rPr lang="en-US" dirty="0"/>
              <a:t>
</a:t>
            </a:r>
            <a:r>
              <a:rPr lang="en-US" dirty="0" err="1"/>
              <a:t>wind_speed_avg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759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8453-6EAD-E46A-30DC-C6085B53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75A5EED-870E-4D99-2D2E-D1D38BC6A8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9698" y="888227"/>
            <a:ext cx="11505901" cy="3024000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Predictive Analytics of Climate Stress Impact on the Italian Mediterranean Buffalo</a:t>
            </a:r>
          </a:p>
          <a:p>
            <a:r>
              <a:rPr lang="en-US" sz="2400" b="1" dirty="0"/>
              <a:t>Physiological and Productive Responses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EFA5FE9-E117-4AFD-C1B4-0521EF71D1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75886" y="4781075"/>
            <a:ext cx="2763714" cy="722589"/>
          </a:xfrm>
        </p:spPr>
        <p:txBody>
          <a:bodyPr anchor="ctr">
            <a:normAutofit/>
          </a:bodyPr>
          <a:lstStyle/>
          <a:p>
            <a:pPr algn="ctr"/>
            <a:r>
              <a:rPr lang="it-IT" sz="2000" b="1" dirty="0"/>
              <a:t>Mohammad Sheikh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6BDFE6-577D-28B6-C3AB-96C270AB64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403"/>
          <a:stretch/>
        </p:blipFill>
        <p:spPr>
          <a:xfrm>
            <a:off x="5204629" y="5561039"/>
            <a:ext cx="1590839" cy="8561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68DC29-694F-D7B8-8DE5-8B14BC409FFE}"/>
              </a:ext>
            </a:extLst>
          </p:cNvPr>
          <p:cNvSpPr txBox="1"/>
          <p:nvPr/>
        </p:nvSpPr>
        <p:spPr>
          <a:xfrm>
            <a:off x="6795468" y="59395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chemeClr val="accent1"/>
                </a:solidFill>
              </a:rPr>
              <a:t>Dipartimento</a:t>
            </a:r>
            <a:r>
              <a:rPr lang="en-GB" dirty="0">
                <a:solidFill>
                  <a:schemeClr val="accent1"/>
                </a:solidFill>
              </a:rPr>
              <a:t> di </a:t>
            </a:r>
            <a:r>
              <a:rPr lang="en-GB" dirty="0" err="1">
                <a:solidFill>
                  <a:schemeClr val="accent1"/>
                </a:solidFill>
              </a:rPr>
              <a:t>Automatica</a:t>
            </a:r>
            <a:r>
              <a:rPr lang="en-GB" dirty="0">
                <a:solidFill>
                  <a:schemeClr val="accent1"/>
                </a:solidFill>
              </a:rPr>
              <a:t> e Informatica</a:t>
            </a:r>
          </a:p>
          <a:p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2E53D0-BB9C-A482-E5B7-989E96A45641}"/>
              </a:ext>
            </a:extLst>
          </p:cNvPr>
          <p:cNvSpPr txBox="1"/>
          <p:nvPr/>
        </p:nvSpPr>
        <p:spPr>
          <a:xfrm>
            <a:off x="6795468" y="560044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accent1"/>
                </a:solidFill>
              </a:rPr>
              <a:t>Department of Control and Computer Engineering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11F971-9757-D85C-BB51-34BE7B2D807F}"/>
              </a:ext>
            </a:extLst>
          </p:cNvPr>
          <p:cNvCxnSpPr>
            <a:cxnSpLocks/>
          </p:cNvCxnSpPr>
          <p:nvPr/>
        </p:nvCxnSpPr>
        <p:spPr>
          <a:xfrm>
            <a:off x="5287064" y="5406887"/>
            <a:ext cx="675253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egnaposto testo 2">
            <a:extLst>
              <a:ext uri="{FF2B5EF4-FFF2-40B4-BE49-F238E27FC236}">
                <a16:creationId xmlns:a16="http://schemas.microsoft.com/office/drawing/2014/main" id="{F5BD78BC-A553-BBA7-3124-064E6A1872C8}"/>
              </a:ext>
            </a:extLst>
          </p:cNvPr>
          <p:cNvSpPr txBox="1">
            <a:spLocks/>
          </p:cNvSpPr>
          <p:nvPr/>
        </p:nvSpPr>
        <p:spPr>
          <a:xfrm>
            <a:off x="5195268" y="4163420"/>
            <a:ext cx="3200400" cy="182568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Prof. Luca Barbierato</a:t>
            </a:r>
          </a:p>
          <a:p>
            <a:r>
              <a:rPr lang="it-IT" sz="2000" b="1" dirty="0"/>
              <a:t>Prof. Matteo </a:t>
            </a:r>
            <a:r>
              <a:rPr lang="it-IT" sz="2000" b="1" dirty="0" err="1"/>
              <a:t>Santinello</a:t>
            </a:r>
            <a:r>
              <a:rPr lang="it-IT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11227986"/>
      </p:ext>
    </p:extLst>
  </p:cSld>
  <p:clrMapOvr>
    <a:masterClrMapping/>
  </p:clrMapOvr>
</p:sld>
</file>

<file path=ppt/theme/theme1.xml><?xml version="1.0" encoding="utf-8"?>
<a:theme xmlns:a="http://schemas.openxmlformats.org/drawingml/2006/main" name="COPERTINE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lito template_ITA" id="{B4DE900A-7F1E-FB4B-BE2A-0D4B6B8B958A}" vid="{413DD7D1-C3E5-6A4B-BFB7-237394F1067C}"/>
    </a:ext>
  </a:extLst>
</a:theme>
</file>

<file path=ppt/theme/theme2.xml><?xml version="1.0" encoding="utf-8"?>
<a:theme xmlns:a="http://schemas.openxmlformats.org/drawingml/2006/main" name="CONTENUTI 1 _ titoli blu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round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olito template_ITA" id="{B4DE900A-7F1E-FB4B-BE2A-0D4B6B8B958A}" vid="{A7BD8485-1F4D-B940-AD4F-9A9144EBD7DF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D4CAB1AA5B43F4D9AAF01BADE0E3A4F" ma:contentTypeVersion="8" ma:contentTypeDescription="Creare un nuovo documento." ma:contentTypeScope="" ma:versionID="59c7fa7676cd10170f585e95f6181454">
  <xsd:schema xmlns:xsd="http://www.w3.org/2001/XMLSchema" xmlns:xs="http://www.w3.org/2001/XMLSchema" xmlns:p="http://schemas.microsoft.com/office/2006/metadata/properties" xmlns:ns2="ee8ce87a-fc1e-415b-8f19-964dc6e332da" targetNamespace="http://schemas.microsoft.com/office/2006/metadata/properties" ma:root="true" ma:fieldsID="e3f9aa92bd1d0291e55783ad41e7d77e" ns2:_="">
    <xsd:import namespace="ee8ce87a-fc1e-415b-8f19-964dc6e33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8ce87a-fc1e-415b-8f19-964dc6e332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4A7BA3-74A2-491B-AF81-6CB1FF0218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8ce87a-fc1e-415b-8f19-964dc6e332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F9F511-3832-4B05-91B3-5180D7ACFDC9}">
  <ds:schemaRefs>
    <ds:schemaRef ds:uri="http://purl.org/dc/terms/"/>
    <ds:schemaRef ds:uri="ee8ce87a-fc1e-415b-8f19-964dc6e332da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46FE114-0C58-4EEA-8876-F3C08EF0B5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COPERTINE</Template>
  <TotalTime>70215</TotalTime>
  <Words>389</Words>
  <Application>Microsoft Macintosh PowerPoint</Application>
  <PresentationFormat>Widescreen</PresentationFormat>
  <Paragraphs>81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Poppins</vt:lpstr>
      <vt:lpstr>Aptos</vt:lpstr>
      <vt:lpstr>Calibri</vt:lpstr>
      <vt:lpstr>Poppins Medium</vt:lpstr>
      <vt:lpstr>Arial</vt:lpstr>
      <vt:lpstr>COPERTINE</vt:lpstr>
      <vt:lpstr>CONTENUTI 1 _ titoli blu</vt:lpstr>
      <vt:lpstr>PowerPoint Presentation</vt:lpstr>
      <vt:lpstr>PowerPoint Presentation</vt:lpstr>
      <vt:lpstr>Dataset Overview &amp; Base Variables</vt:lpstr>
      <vt:lpstr>Dataset Overview &amp; Base Variables</vt:lpstr>
      <vt:lpstr>Dataset Overview &amp; Base Variables</vt:lpstr>
      <vt:lpstr>Dataset Overview &amp; Base Variables</vt:lpstr>
      <vt:lpstr>Dataset Overview &amp; Base Variables</vt:lpstr>
      <vt:lpstr>PowerPoint Presentation</vt:lpstr>
      <vt:lpstr>Feature Engineering</vt:lpstr>
      <vt:lpstr>Feature Engineering</vt:lpstr>
      <vt:lpstr>Dataset Overview &amp; Base Variables</vt:lpstr>
      <vt:lpstr>Dataset Overview &amp; Base Variables</vt:lpstr>
      <vt:lpstr>PowerPoint Presentation</vt:lpstr>
      <vt:lpstr>Weather Data</vt:lpstr>
      <vt:lpstr>PowerPoint Presentation</vt:lpstr>
      <vt:lpstr>Merged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Massimo Messori</dc:creator>
  <cp:lastModifiedBy>Sheikh Ahmadi Gandab  Seyed Mohammad</cp:lastModifiedBy>
  <cp:revision>33</cp:revision>
  <dcterms:created xsi:type="dcterms:W3CDTF">2024-10-30T07:55:12Z</dcterms:created>
  <dcterms:modified xsi:type="dcterms:W3CDTF">2026-04-16T17:46:38Z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0x010100AD4CAB1AA5B43F4D9AAF01BADE0E3A4F</vt:lpwstr>
  </property>
</Properties>
</file>