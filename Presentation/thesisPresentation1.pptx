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93" r:id="rId2"/>
    <p:sldId id="257" r:id="rId3"/>
    <p:sldId id="274" r:id="rId4"/>
    <p:sldId id="272" r:id="rId5"/>
    <p:sldId id="273" r:id="rId6"/>
    <p:sldId id="258" r:id="rId7"/>
    <p:sldId id="261" r:id="rId8"/>
    <p:sldId id="262" r:id="rId9"/>
    <p:sldId id="264" r:id="rId10"/>
    <p:sldId id="259" r:id="rId11"/>
    <p:sldId id="260" r:id="rId12"/>
    <p:sldId id="265" r:id="rId13"/>
    <p:sldId id="269" r:id="rId14"/>
    <p:sldId id="263" r:id="rId15"/>
    <p:sldId id="270" r:id="rId16"/>
    <p:sldId id="266" r:id="rId17"/>
    <p:sldId id="268" r:id="rId18"/>
    <p:sldId id="271" r:id="rId19"/>
    <p:sldId id="275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9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B3B3"/>
    <a:srgbClr val="1B41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26"/>
    <p:restoredTop sz="94501"/>
  </p:normalViewPr>
  <p:slideViewPr>
    <p:cSldViewPr snapToGrid="0">
      <p:cViewPr varScale="1">
        <p:scale>
          <a:sx n="104" d="100"/>
          <a:sy n="104" d="100"/>
        </p:scale>
        <p:origin x="24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6FEB6-ED80-024A-98DF-9501660FA0B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770B2-34DD-8442-AC65-87A3EFFB3F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74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B770B2-34DD-8442-AC65-87A3EFFB3F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53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F729-938E-04F0-BCB2-18B82DCBF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07A96-EB02-AF7F-34E0-786239456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B780F-003D-862E-A374-B265E0000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965B-D52A-094D-B5E2-79AEB94E123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1EE01-83FE-B654-9AB5-6911F6D4E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94DBA-4284-1A57-D847-361E5BBF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54D11-4114-9746-AE57-51143CCC4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59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FCD50-F3EF-5176-A47A-7501F488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817-6631-0BF8-14FE-A40C242A8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9FE88-CB0B-0F77-2AD4-2DA5B607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965B-D52A-094D-B5E2-79AEB94E123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02D52-E80D-BFF2-5BF4-516589F20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C4CA7-2000-2342-8D8B-53081A0A5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54D11-4114-9746-AE57-51143CCC4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57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63FCE-F728-759C-ABE6-6EE1CC8FA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D41F6-2626-0CAC-5CF5-C61503A76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A172-1841-EC22-4A60-0D2FAE3EB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965B-D52A-094D-B5E2-79AEB94E123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7A108-F322-CEDF-CE0C-3C2C73C2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8CF3-1E8E-155D-A4FE-0F2AAF90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54D11-4114-9746-AE57-51143CCC4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65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667C-F0F5-9B0C-136A-3D1D90E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67B89-5B4E-E134-729F-C7B2C98E0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88859-46E0-97E5-9E56-3903295F0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56044-6875-DD44-E98D-8DAD997F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965B-D52A-094D-B5E2-79AEB94E123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CFC74-1871-526C-5640-2E9E7B06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DFCBF-7B95-C022-090B-76CB6E9D9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54D11-4114-9746-AE57-51143CCC4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94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0A935-6A49-ECAB-8E6C-1D654B66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57213-859A-1726-97F1-AD1BC1AE6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9B8D7-3350-96F0-D183-1A154AC5A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B5ABB9-FF2B-593C-40C8-22EB2AEC07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C04451-F984-3AD9-11B7-FE8B3BD000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37A1FD-BB94-0F43-5C1B-7FFD20084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965B-D52A-094D-B5E2-79AEB94E123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390032-B3CA-865B-9BE0-95717E948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2415CA-780F-7D5A-F202-58135996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54D11-4114-9746-AE57-51143CCC4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11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F604-E164-C772-79F5-1E89BEA1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93D484-4F94-A027-32CE-A9DCF389F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965B-D52A-094D-B5E2-79AEB94E123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828BD-8F37-D829-91CE-CBD86EECD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5D42A-DF9C-B877-57AF-2B0E2A3EC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54D11-4114-9746-AE57-51143CCC4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69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79DEF-8A2F-18A6-DEF2-C6404BEF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965B-D52A-094D-B5E2-79AEB94E123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2975C-FDC5-1DAE-7DAB-237FF2884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03F46-5B83-09FD-E92F-DC77F051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54D11-4114-9746-AE57-51143CCC4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50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7EF1-6D1B-E15D-388C-EB8EA5750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4EC10-F5FA-AF9E-AA89-846EAA09E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804F8-C76D-5B72-5BE3-80C100405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57DB4-EADD-F1B9-A7D8-D28EA6D57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965B-D52A-094D-B5E2-79AEB94E123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69C65-FB82-18E9-8DC4-4F2D23FCE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266FF-FD8D-6472-8E78-5EF30619D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54D11-4114-9746-AE57-51143CCC4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95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B0496-20B9-1855-455B-EAB455E38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9911FC-BF8C-81BF-4119-8FB6EB317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01074-F05B-BD88-ABC8-59DCCF343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57E7C-5724-3D96-82C8-EC95F84D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965B-D52A-094D-B5E2-79AEB94E123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57134-CF13-59BE-BF12-045AF92F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7992E-8885-5592-6338-0B198935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54D11-4114-9746-AE57-51143CCC4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42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8DF86-4267-182A-77DD-5D5D88A6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FD070-5455-287B-15F4-DCA92C70C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4D886-CC25-865C-52EA-A5CF350F6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965B-D52A-094D-B5E2-79AEB94E123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4415D-61BA-3E29-96F1-48B66D5D6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BA16E-49B9-A317-B975-D90C0234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54D11-4114-9746-AE57-51143CCC4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30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70E875-BA3A-6F9A-8383-E485F8386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1CEBC-F08E-F227-E31D-8EE93AE2D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03443-9A00-A7AF-E749-BF10C3A3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965B-D52A-094D-B5E2-79AEB94E123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A4AA6-5201-F25B-0C8B-05DD71BC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09C3A-96F0-ADD0-45C4-7A7C32E2D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54D11-4114-9746-AE57-51143CCC4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0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8B15D-8146-84B7-3A49-FEC516008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7FBB4-D793-6654-E319-227D2AFD7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0CF70-55A0-FDCB-6689-13CF63C9D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86965B-D52A-094D-B5E2-79AEB94E123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1297B-CB83-E419-75F6-24F51002D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F0735-C555-0523-EA75-E77225871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B54D11-4114-9746-AE57-51143CCC4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6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hdphoto" Target="../media/hdphoto1.wdp"/><Relationship Id="rId7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jpeg"/><Relationship Id="rId7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11" Type="http://schemas.openxmlformats.org/officeDocument/2006/relationships/image" Target="../media/image4.gif"/><Relationship Id="rId5" Type="http://schemas.openxmlformats.org/officeDocument/2006/relationships/image" Target="../media/image14.png"/><Relationship Id="rId10" Type="http://schemas.openxmlformats.org/officeDocument/2006/relationships/image" Target="../media/image3.png"/><Relationship Id="rId4" Type="http://schemas.openxmlformats.org/officeDocument/2006/relationships/image" Target="../media/image13.jpe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12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3.png"/><Relationship Id="rId5" Type="http://schemas.openxmlformats.org/officeDocument/2006/relationships/image" Target="../media/image13.jpeg"/><Relationship Id="rId10" Type="http://schemas.openxmlformats.org/officeDocument/2006/relationships/image" Target="../media/image2.png"/><Relationship Id="rId4" Type="http://schemas.openxmlformats.org/officeDocument/2006/relationships/image" Target="../media/image12.jpe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jpeg"/><Relationship Id="rId7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11" Type="http://schemas.openxmlformats.org/officeDocument/2006/relationships/image" Target="../media/image4.gif"/><Relationship Id="rId5" Type="http://schemas.openxmlformats.org/officeDocument/2006/relationships/image" Target="../media/image14.png"/><Relationship Id="rId10" Type="http://schemas.openxmlformats.org/officeDocument/2006/relationships/image" Target="../media/image3.png"/><Relationship Id="rId4" Type="http://schemas.openxmlformats.org/officeDocument/2006/relationships/image" Target="../media/image13.jpeg"/><Relationship Id="rId9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openxmlformats.org/officeDocument/2006/relationships/image" Target="../media/image6.jpeg"/><Relationship Id="rId7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openxmlformats.org/officeDocument/2006/relationships/image" Target="../media/image6.jpeg"/><Relationship Id="rId7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25A5E-C00F-DBCE-AA2C-37CBB8AC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82520A-28BB-D839-612D-309F682F63C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1266" y="4029165"/>
            <a:ext cx="12308114" cy="34955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A30057-C20A-6EA2-EFFF-0368F25894B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9"/>
            <a:ext cx="12308114" cy="2944043"/>
          </a:xfrm>
          <a:prstGeom prst="rect">
            <a:avLst/>
          </a:prstGeom>
        </p:spPr>
      </p:pic>
      <p:pic>
        <p:nvPicPr>
          <p:cNvPr id="1028" name="Picture 4" descr="Home – Planet">
            <a:extLst>
              <a:ext uri="{FF2B5EF4-FFF2-40B4-BE49-F238E27FC236}">
                <a16:creationId xmlns:a16="http://schemas.microsoft.com/office/drawing/2014/main" id="{219BD3E3-E4EE-BFC8-34D4-54C5C984A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0" y="288828"/>
            <a:ext cx="4939115" cy="2167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D05F62-265F-7BC0-6619-BE423B0B23F8}"/>
              </a:ext>
            </a:extLst>
          </p:cNvPr>
          <p:cNvSpPr txBox="1"/>
          <p:nvPr/>
        </p:nvSpPr>
        <p:spPr>
          <a:xfrm>
            <a:off x="2466497" y="3105834"/>
            <a:ext cx="7259005" cy="64633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Hierarchical Time Series Analysis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906653-7522-0033-4075-D9518EB2022C}"/>
              </a:ext>
            </a:extLst>
          </p:cNvPr>
          <p:cNvGrpSpPr/>
          <p:nvPr/>
        </p:nvGrpSpPr>
        <p:grpSpPr>
          <a:xfrm>
            <a:off x="6076930" y="399008"/>
            <a:ext cx="6115070" cy="1882835"/>
            <a:chOff x="6076930" y="399008"/>
            <a:chExt cx="6115070" cy="1882835"/>
          </a:xfrm>
        </p:grpSpPr>
        <p:pic>
          <p:nvPicPr>
            <p:cNvPr id="1026" name="Picture 2" descr="Logo Università di Napoli Federico II">
              <a:extLst>
                <a:ext uri="{FF2B5EF4-FFF2-40B4-BE49-F238E27FC236}">
                  <a16:creationId xmlns:a16="http://schemas.microsoft.com/office/drawing/2014/main" id="{9C96A904-2FD8-37C5-3349-37D314665E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Master Degree | International Relations | Italia">
              <a:extLst>
                <a:ext uri="{FF2B5EF4-FFF2-40B4-BE49-F238E27FC236}">
                  <a16:creationId xmlns:a16="http://schemas.microsoft.com/office/drawing/2014/main" id="{92CF128D-EE59-AA3C-19A1-070B36BB20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066CD7B-4757-7F6B-DFA6-EBBE83B18157}"/>
              </a:ext>
            </a:extLst>
          </p:cNvPr>
          <p:cNvSpPr txBox="1"/>
          <p:nvPr/>
        </p:nvSpPr>
        <p:spPr>
          <a:xfrm>
            <a:off x="1049217" y="4108409"/>
            <a:ext cx="10093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A7351-3808-0317-0AFF-1A4171E49507}"/>
              </a:ext>
            </a:extLst>
          </p:cNvPr>
          <p:cNvSpPr txBox="1"/>
          <p:nvPr/>
        </p:nvSpPr>
        <p:spPr>
          <a:xfrm>
            <a:off x="0" y="5483494"/>
            <a:ext cx="3009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Presented by</a:t>
            </a: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Mohammad Sheikh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CCF7FD-6300-7BF6-3B18-9934482847DB}"/>
              </a:ext>
            </a:extLst>
          </p:cNvPr>
          <p:cNvSpPr txBox="1"/>
          <p:nvPr/>
        </p:nvSpPr>
        <p:spPr>
          <a:xfrm>
            <a:off x="9090502" y="5483494"/>
            <a:ext cx="3101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sz="2400" b="1" dirty="0"/>
              <a:t>Supervisors</a:t>
            </a:r>
          </a:p>
          <a:p>
            <a:pPr algn="r">
              <a:buNone/>
            </a:pPr>
            <a:r>
              <a:rPr lang="en-US" sz="2400" b="1" dirty="0">
                <a:solidFill>
                  <a:schemeClr val="bg1"/>
                </a:solidFill>
              </a:rPr>
              <a:t>Dr. Luca </a:t>
            </a:r>
            <a:r>
              <a:rPr lang="en-US" sz="2400" b="1" dirty="0" err="1">
                <a:solidFill>
                  <a:schemeClr val="bg1"/>
                </a:solidFill>
              </a:rPr>
              <a:t>Barbierato</a:t>
            </a:r>
            <a:endParaRPr lang="en-US" sz="2400" b="1" dirty="0">
              <a:solidFill>
                <a:schemeClr val="bg1"/>
              </a:solidFill>
            </a:endParaRPr>
          </a:p>
          <a:p>
            <a:pPr algn="r">
              <a:buNone/>
            </a:pPr>
            <a:r>
              <a:rPr lang="en-US" sz="2400" b="1" dirty="0">
                <a:solidFill>
                  <a:schemeClr val="bg1"/>
                </a:solidFill>
              </a:rPr>
              <a:t>Dr. Matteo </a:t>
            </a:r>
            <a:r>
              <a:rPr lang="en-US" sz="2400" b="1" dirty="0" err="1">
                <a:solidFill>
                  <a:schemeClr val="bg1"/>
                </a:solidFill>
              </a:rPr>
              <a:t>Santinello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8D3CBF-BF82-A425-C1F2-F60388EF1E2E}"/>
              </a:ext>
            </a:extLst>
          </p:cNvPr>
          <p:cNvSpPr txBox="1"/>
          <p:nvPr/>
        </p:nvSpPr>
        <p:spPr>
          <a:xfrm>
            <a:off x="4999036" y="6488668"/>
            <a:ext cx="2193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</a:rPr>
              <a:t>November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3A181-17C6-A9F6-6761-60542B682E0B}"/>
              </a:ext>
            </a:extLst>
          </p:cNvPr>
          <p:cNvSpPr txBox="1"/>
          <p:nvPr/>
        </p:nvSpPr>
        <p:spPr>
          <a:xfrm>
            <a:off x="1474500" y="8090427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3989800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234CC-5FC3-44AC-BBB6-ADF3D0899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0C3FA5-CDA6-E58B-F6B0-5B89F9F2F45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1028" name="Picture 4" descr="Home – Planet">
            <a:extLst>
              <a:ext uri="{FF2B5EF4-FFF2-40B4-BE49-F238E27FC236}">
                <a16:creationId xmlns:a16="http://schemas.microsoft.com/office/drawing/2014/main" id="{4E2A1E32-B928-07E3-7038-BC1DAF267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E4689F-E343-2418-5DAD-661DAFF6EE9C}"/>
              </a:ext>
            </a:extLst>
          </p:cNvPr>
          <p:cNvSpPr txBox="1"/>
          <p:nvPr/>
        </p:nvSpPr>
        <p:spPr>
          <a:xfrm>
            <a:off x="338602" y="1704850"/>
            <a:ext cx="2362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Prediction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164948-1D57-DC5F-9CC8-F011721CCF01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7" name="Picture 2" descr="Logo Università di Napoli Federico II">
              <a:extLst>
                <a:ext uri="{FF2B5EF4-FFF2-40B4-BE49-F238E27FC236}">
                  <a16:creationId xmlns:a16="http://schemas.microsoft.com/office/drawing/2014/main" id="{BAED1FB0-3CC6-1B75-4177-8226944F3B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 descr="Master Degree | International Relations | Italia">
              <a:extLst>
                <a:ext uri="{FF2B5EF4-FFF2-40B4-BE49-F238E27FC236}">
                  <a16:creationId xmlns:a16="http://schemas.microsoft.com/office/drawing/2014/main" id="{E050EDE7-7FE9-7084-367E-5727492EFD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6" name="Picture 12" descr="Classification Flat Icon. Colored Sign From Machine Learning Collection.  Creative Classification Icon Illustration For Web Design, Infographics And  More Royalty Free SVG, Cliparts, Vectors, and Stock Illustration. Image  173534523.">
            <a:extLst>
              <a:ext uri="{FF2B5EF4-FFF2-40B4-BE49-F238E27FC236}">
                <a16:creationId xmlns:a16="http://schemas.microsoft.com/office/drawing/2014/main" id="{FA63AC82-C04A-8C93-A9BF-AA2EA6679C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" t="17684" r="8417" b="26244"/>
          <a:stretch>
            <a:fillRect/>
          </a:stretch>
        </p:blipFill>
        <p:spPr bwMode="auto">
          <a:xfrm>
            <a:off x="4667210" y="3022207"/>
            <a:ext cx="2857579" cy="1785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lustering Icon Grafica di aimagenarium · Creative Fabrica">
            <a:extLst>
              <a:ext uri="{FF2B5EF4-FFF2-40B4-BE49-F238E27FC236}">
                <a16:creationId xmlns:a16="http://schemas.microsoft.com/office/drawing/2014/main" id="{CF450DEE-2BC1-76EB-0FC5-7DEE1952DE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3" t="9663" r="28107" b="29361"/>
          <a:stretch>
            <a:fillRect/>
          </a:stretch>
        </p:blipFill>
        <p:spPr bwMode="auto">
          <a:xfrm>
            <a:off x="9315950" y="2950703"/>
            <a:ext cx="2133601" cy="196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2A1B04-7D40-5D3A-42D5-A05F746FC99C}"/>
              </a:ext>
            </a:extLst>
          </p:cNvPr>
          <p:cNvSpPr txBox="1"/>
          <p:nvPr/>
        </p:nvSpPr>
        <p:spPr>
          <a:xfrm>
            <a:off x="9086758" y="1704210"/>
            <a:ext cx="2362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Clustering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6946D0-C854-01FA-E2DE-F674199EDE37}"/>
              </a:ext>
            </a:extLst>
          </p:cNvPr>
          <p:cNvSpPr txBox="1"/>
          <p:nvPr/>
        </p:nvSpPr>
        <p:spPr>
          <a:xfrm>
            <a:off x="4497048" y="1708353"/>
            <a:ext cx="313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Classification</a:t>
            </a:r>
          </a:p>
        </p:txBody>
      </p:sp>
      <p:pic>
        <p:nvPicPr>
          <p:cNvPr id="14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6DD7F6C3-A1F0-3951-5C76-706158AA79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75"/>
          <a:stretch>
            <a:fillRect/>
          </a:stretch>
        </p:blipFill>
        <p:spPr bwMode="auto">
          <a:xfrm>
            <a:off x="-248114" y="2328959"/>
            <a:ext cx="3536224" cy="2585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B43F35-1927-241A-2AB2-3A140E13E8B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33752" y="5929314"/>
            <a:ext cx="12308114" cy="10636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6D80E4-8F36-4F39-E845-DB6FE749D2A2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999676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640DF-6915-BF7B-95EB-D9920D879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CCB6CC-A695-7825-E854-F052887D6BC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CEC83-43F5-03D0-E74F-87093F1A5692}"/>
              </a:ext>
            </a:extLst>
          </p:cNvPr>
          <p:cNvSpPr txBox="1"/>
          <p:nvPr/>
        </p:nvSpPr>
        <p:spPr>
          <a:xfrm>
            <a:off x="338602" y="1704850"/>
            <a:ext cx="2362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Prediction </a:t>
            </a:r>
          </a:p>
        </p:txBody>
      </p:sp>
      <p:pic>
        <p:nvPicPr>
          <p:cNvPr id="3074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C5417A1B-C060-AB05-F9FD-63F925C45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484B5E-8ACD-7B52-EF08-D1B301250C94}"/>
              </a:ext>
            </a:extLst>
          </p:cNvPr>
          <p:cNvSpPr txBox="1"/>
          <p:nvPr/>
        </p:nvSpPr>
        <p:spPr>
          <a:xfrm>
            <a:off x="338601" y="2533447"/>
            <a:ext cx="99912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The hierarchy is a mathematical constraint.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The numbers must add up.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1EC16B-8D4B-3607-1CCE-F4B25A29C00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12" name="Picture 4" descr="Home – Planet">
            <a:extLst>
              <a:ext uri="{FF2B5EF4-FFF2-40B4-BE49-F238E27FC236}">
                <a16:creationId xmlns:a16="http://schemas.microsoft.com/office/drawing/2014/main" id="{699A0895-7836-36A2-8924-B3BECA2A2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D70C988-DB0F-8A4E-6645-1D93A43D1532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4" name="Picture 2" descr="Logo Università di Napoli Federico II">
              <a:extLst>
                <a:ext uri="{FF2B5EF4-FFF2-40B4-BE49-F238E27FC236}">
                  <a16:creationId xmlns:a16="http://schemas.microsoft.com/office/drawing/2014/main" id="{6F00A79B-49FD-AB03-E7EE-A0032FE12B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Master Degree | International Relations | Italia">
              <a:extLst>
                <a:ext uri="{FF2B5EF4-FFF2-40B4-BE49-F238E27FC236}">
                  <a16:creationId xmlns:a16="http://schemas.microsoft.com/office/drawing/2014/main" id="{E326FC91-D456-D4C6-2814-EC20139E8C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802D3D6-FA26-4810-DAB1-980DC0A13905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1559196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8E51-E20D-66D6-1EE6-A63DDB54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10" descr="Store Execution Software | RELEX Solutions">
            <a:extLst>
              <a:ext uri="{FF2B5EF4-FFF2-40B4-BE49-F238E27FC236}">
                <a16:creationId xmlns:a16="http://schemas.microsoft.com/office/drawing/2014/main" id="{85D91177-EAE0-69AD-1FF4-A556C6C5D5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4667" y1="39111" x2="14667" y2="39111"/>
                        <a14:foregroundMark x1="14667" y1="39111" x2="14667" y2="44444"/>
                        <a14:foregroundMark x1="15556" y1="33333" x2="15111" y2="40444"/>
                        <a14:foregroundMark x1="15111" y1="16444" x2="15556" y2="82667"/>
                        <a14:foregroundMark x1="15556" y1="82667" x2="36889" y2="82667"/>
                        <a14:foregroundMark x1="36889" y1="82667" x2="71556" y2="83556"/>
                        <a14:foregroundMark x1="71556" y1="83556" x2="83556" y2="83111"/>
                        <a14:backgroundMark x1="54222" y1="39556" x2="42667" y2="55111"/>
                        <a14:backgroundMark x1="42667" y1="55111" x2="41333" y2="59556"/>
                        <a14:backgroundMark x1="80889" y1="32444" x2="52444" y2="48889"/>
                        <a14:backgroundMark x1="77333" y1="20889" x2="49778" y2="71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49401" t="1" b="-41794"/>
          <a:stretch>
            <a:fillRect/>
          </a:stretch>
        </p:blipFill>
        <p:spPr bwMode="auto">
          <a:xfrm>
            <a:off x="6757261" y="1877538"/>
            <a:ext cx="4269102" cy="405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AF4FF5-4F5D-2187-65C8-FE6B3894B4D6}"/>
              </a:ext>
            </a:extLst>
          </p:cNvPr>
          <p:cNvSpPr txBox="1"/>
          <p:nvPr/>
        </p:nvSpPr>
        <p:spPr>
          <a:xfrm>
            <a:off x="178525" y="1610117"/>
            <a:ext cx="2611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Example </a:t>
            </a:r>
          </a:p>
          <a:p>
            <a:endParaRPr lang="en-US" sz="3600" b="1" dirty="0">
              <a:solidFill>
                <a:srgbClr val="1B415D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0B7F7D-D4EF-CB25-2837-0A6990AA460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86506" y="5929314"/>
            <a:ext cx="12308114" cy="1063680"/>
          </a:xfrm>
          <a:prstGeom prst="rect">
            <a:avLst/>
          </a:prstGeom>
        </p:spPr>
      </p:pic>
      <p:pic>
        <p:nvPicPr>
          <p:cNvPr id="3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B645C5F7-EEDF-0E94-16A3-0E1ECAC06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8DCDBBE-3FDC-FB61-6875-0405DDA0A19E}"/>
              </a:ext>
            </a:extLst>
          </p:cNvPr>
          <p:cNvSpPr txBox="1"/>
          <p:nvPr/>
        </p:nvSpPr>
        <p:spPr>
          <a:xfrm>
            <a:off x="273269" y="2546893"/>
            <a:ext cx="68271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B415D"/>
                </a:solidFill>
              </a:rPr>
              <a:t>How many tourists are going to visit Italy?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1A4B77-9311-D6E8-5CE0-2DC0A30CE61B}"/>
              </a:ext>
            </a:extLst>
          </p:cNvPr>
          <p:cNvSpPr txBox="1"/>
          <p:nvPr/>
        </p:nvSpPr>
        <p:spPr>
          <a:xfrm>
            <a:off x="273269" y="3572050"/>
            <a:ext cx="5018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B415D"/>
                </a:solidFill>
              </a:rPr>
              <a:t>How about Piemonte?</a:t>
            </a:r>
          </a:p>
        </p:txBody>
      </p:sp>
      <p:pic>
        <p:nvPicPr>
          <p:cNvPr id="4106" name="Picture 10" descr="Store Execution Software | RELEX Solutions">
            <a:extLst>
              <a:ext uri="{FF2B5EF4-FFF2-40B4-BE49-F238E27FC236}">
                <a16:creationId xmlns:a16="http://schemas.microsoft.com/office/drawing/2014/main" id="{83ABE084-271C-6B77-0B1E-F5B2DBB7B4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5" t="27938" r="17030" b="21638"/>
          <a:stretch>
            <a:fillRect/>
          </a:stretch>
        </p:blipFill>
        <p:spPr bwMode="auto">
          <a:xfrm>
            <a:off x="8921080" y="2612415"/>
            <a:ext cx="1814947" cy="144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C6CC070-E1A3-6045-35F8-D795A2BE3BA0}"/>
              </a:ext>
            </a:extLst>
          </p:cNvPr>
          <p:cNvSpPr txBox="1"/>
          <p:nvPr/>
        </p:nvSpPr>
        <p:spPr>
          <a:xfrm>
            <a:off x="280170" y="4597208"/>
            <a:ext cx="5018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B415D"/>
                </a:solidFill>
              </a:rPr>
              <a:t>How about Torino?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549B3-43C4-61BC-AEFB-BB86BAF8BFA8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5" name="Picture 4" descr="Home – Planet">
            <a:extLst>
              <a:ext uri="{FF2B5EF4-FFF2-40B4-BE49-F238E27FC236}">
                <a16:creationId xmlns:a16="http://schemas.microsoft.com/office/drawing/2014/main" id="{9FABD112-0474-E25F-4D7B-9F2D4E041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8EC8100-B53F-A1C1-D441-559BE991761E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3" name="Picture 2" descr="Logo Università di Napoli Federico II">
              <a:extLst>
                <a:ext uri="{FF2B5EF4-FFF2-40B4-BE49-F238E27FC236}">
                  <a16:creationId xmlns:a16="http://schemas.microsoft.com/office/drawing/2014/main" id="{6D22EB6F-BA43-39BF-C8C2-3584E0034A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Master Degree | International Relations | Italia">
              <a:extLst>
                <a:ext uri="{FF2B5EF4-FFF2-40B4-BE49-F238E27FC236}">
                  <a16:creationId xmlns:a16="http://schemas.microsoft.com/office/drawing/2014/main" id="{CE9F4F20-3A90-CA57-EC86-04172265BD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9763F3C-F143-FD40-E7CF-4B1C00915BB0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690768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D5F05-BFDF-DED5-2D42-165449EDE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39846EE-B497-0E2C-E9D5-FFF776EC913E}"/>
              </a:ext>
            </a:extLst>
          </p:cNvPr>
          <p:cNvGrpSpPr>
            <a:grpSpLocks noChangeAspect="1"/>
          </p:cNvGrpSpPr>
          <p:nvPr/>
        </p:nvGrpSpPr>
        <p:grpSpPr>
          <a:xfrm>
            <a:off x="5154480" y="1156066"/>
            <a:ext cx="4674074" cy="4509810"/>
            <a:chOff x="3650746" y="1394279"/>
            <a:chExt cx="4542971" cy="4383314"/>
          </a:xfrm>
        </p:grpSpPr>
        <p:pic>
          <p:nvPicPr>
            <p:cNvPr id="2" name="Picture 2" descr="map of italy with regions">
              <a:extLst>
                <a:ext uri="{FF2B5EF4-FFF2-40B4-BE49-F238E27FC236}">
                  <a16:creationId xmlns:a16="http://schemas.microsoft.com/office/drawing/2014/main" id="{60BAF3F8-0E9F-DD1A-A74E-8BAA41B435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14"/>
            <a:stretch>
              <a:fillRect/>
            </a:stretch>
          </p:blipFill>
          <p:spPr bwMode="auto">
            <a:xfrm>
              <a:off x="3650746" y="1394279"/>
              <a:ext cx="4542971" cy="43833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 descr="map of italy with regions">
              <a:extLst>
                <a:ext uri="{FF2B5EF4-FFF2-40B4-BE49-F238E27FC236}">
                  <a16:creationId xmlns:a16="http://schemas.microsoft.com/office/drawing/2014/main" id="{B9B49B3B-F64C-A08A-26EE-ED7AC3AC21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798" r="57038" b="3514"/>
            <a:stretch>
              <a:fillRect/>
            </a:stretch>
          </p:blipFill>
          <p:spPr bwMode="auto">
            <a:xfrm>
              <a:off x="3650746" y="5114470"/>
              <a:ext cx="1951769" cy="3492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180BB41-42E2-257D-D68B-4D7FBFBCB6B8}"/>
              </a:ext>
            </a:extLst>
          </p:cNvPr>
          <p:cNvSpPr txBox="1"/>
          <p:nvPr/>
        </p:nvSpPr>
        <p:spPr>
          <a:xfrm>
            <a:off x="178526" y="1363991"/>
            <a:ext cx="5897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Italy has 20 Regions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45BF86-161F-F5B5-ECFE-C96C7B506E2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159BD717-FBAB-00F1-1847-AE75D8BD9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487936-B249-6E58-518D-D88DA303A19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10" name="Picture 4" descr="Home – Planet">
            <a:extLst>
              <a:ext uri="{FF2B5EF4-FFF2-40B4-BE49-F238E27FC236}">
                <a16:creationId xmlns:a16="http://schemas.microsoft.com/office/drawing/2014/main" id="{586FBE9E-C0CD-CC96-8A51-476533B88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08AFC24-0270-F711-ABE9-B5EE42AEA295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2" name="Picture 2" descr="Logo Università di Napoli Federico II">
              <a:extLst>
                <a:ext uri="{FF2B5EF4-FFF2-40B4-BE49-F238E27FC236}">
                  <a16:creationId xmlns:a16="http://schemas.microsoft.com/office/drawing/2014/main" id="{CC08FB10-04D7-46CC-B510-6A7C3D8F75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Master Degree | International Relations | Italia">
              <a:extLst>
                <a:ext uri="{FF2B5EF4-FFF2-40B4-BE49-F238E27FC236}">
                  <a16:creationId xmlns:a16="http://schemas.microsoft.com/office/drawing/2014/main" id="{FBC3FA92-0EDB-69EB-2FBF-FE12961A01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E9191B6-BE04-DE09-7E43-9DF69B91FE60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4072522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5F728-CD8C-D6F4-F41E-BBA59FAF3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1D0787E-19D8-DF01-B525-80AE616F5571}"/>
              </a:ext>
            </a:extLst>
          </p:cNvPr>
          <p:cNvSpPr txBox="1"/>
          <p:nvPr/>
        </p:nvSpPr>
        <p:spPr>
          <a:xfrm>
            <a:off x="3147358" y="2551837"/>
            <a:ext cx="58972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We need forecasts for the whole of Italy, for each region and for each city.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3888AC-D069-9A88-CD69-9067904C66F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36D3C004-0BF6-DB91-4961-5B90DB01C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1A4ABB-7E67-DB48-5DE6-E0702D27372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7" name="Picture 4" descr="Home – Planet">
            <a:extLst>
              <a:ext uri="{FF2B5EF4-FFF2-40B4-BE49-F238E27FC236}">
                <a16:creationId xmlns:a16="http://schemas.microsoft.com/office/drawing/2014/main" id="{1641ABA4-F276-B1DB-ECE7-6B0575218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D466D86-E8CB-D9FB-84F1-86E843149150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0" name="Picture 2" descr="Logo Università di Napoli Federico II">
              <a:extLst>
                <a:ext uri="{FF2B5EF4-FFF2-40B4-BE49-F238E27FC236}">
                  <a16:creationId xmlns:a16="http://schemas.microsoft.com/office/drawing/2014/main" id="{88400EC6-7189-0344-2F16-AF8E9F562E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Master Degree | International Relations | Italia">
              <a:extLst>
                <a:ext uri="{FF2B5EF4-FFF2-40B4-BE49-F238E27FC236}">
                  <a16:creationId xmlns:a16="http://schemas.microsoft.com/office/drawing/2014/main" id="{652791D2-78D1-3F24-7739-F9313A30CE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3BD214B-F43A-9145-1E54-36C65EDDC511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1928955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12D0-CEA4-BDCE-6FB7-DAC879B9D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B746AFF-E647-BEDD-9445-B3426D849B18}"/>
              </a:ext>
            </a:extLst>
          </p:cNvPr>
          <p:cNvSpPr txBox="1"/>
          <p:nvPr/>
        </p:nvSpPr>
        <p:spPr>
          <a:xfrm>
            <a:off x="3147358" y="3105834"/>
            <a:ext cx="5897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Approach 1 : Top Down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7121F3-55DF-1303-2B7B-72224B4B469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EFDEBB09-587B-A9DF-440C-95BEBB15E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4E1B5F-4CCD-7034-4D09-6B9107C2DFB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7" name="Picture 4" descr="Home – Planet">
            <a:extLst>
              <a:ext uri="{FF2B5EF4-FFF2-40B4-BE49-F238E27FC236}">
                <a16:creationId xmlns:a16="http://schemas.microsoft.com/office/drawing/2014/main" id="{B0F0B43F-1ADE-D0B4-F51B-3A9086F95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E8E4F7E-850C-6989-4BE0-1259CA366D20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0" name="Picture 2" descr="Logo Università di Napoli Federico II">
              <a:extLst>
                <a:ext uri="{FF2B5EF4-FFF2-40B4-BE49-F238E27FC236}">
                  <a16:creationId xmlns:a16="http://schemas.microsoft.com/office/drawing/2014/main" id="{E09A5510-77A7-52E7-6A2E-36569F0901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Master Degree | International Relations | Italia">
              <a:extLst>
                <a:ext uri="{FF2B5EF4-FFF2-40B4-BE49-F238E27FC236}">
                  <a16:creationId xmlns:a16="http://schemas.microsoft.com/office/drawing/2014/main" id="{5026FD89-991F-36E1-D8DB-2126C22721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D5CF350-E3E8-7801-1BD7-EB90352FE05B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1671217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4495D-58DF-0C01-2CEC-D0592603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420+ Italian Flag Logo Stock Illustrations, Royalty-Free Vector Graphics &amp;  Clip Art - iStock">
            <a:extLst>
              <a:ext uri="{FF2B5EF4-FFF2-40B4-BE49-F238E27FC236}">
                <a16:creationId xmlns:a16="http://schemas.microsoft.com/office/drawing/2014/main" id="{BD5EB477-5864-69CE-5931-0357DBC3A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121" y="1229158"/>
            <a:ext cx="1484086" cy="148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6AAF4B-7738-CA5E-9406-574CD4E9D723}"/>
              </a:ext>
            </a:extLst>
          </p:cNvPr>
          <p:cNvSpPr txBox="1"/>
          <p:nvPr/>
        </p:nvSpPr>
        <p:spPr>
          <a:xfrm>
            <a:off x="3800171" y="2875002"/>
            <a:ext cx="769258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B415D"/>
                </a:solidFill>
              </a:rPr>
              <a:t>Lazio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5A5A46-EE80-CB08-5DF0-457C5B0206E4}"/>
              </a:ext>
            </a:extLst>
          </p:cNvPr>
          <p:cNvSpPr txBox="1"/>
          <p:nvPr/>
        </p:nvSpPr>
        <p:spPr>
          <a:xfrm>
            <a:off x="8230317" y="2883745"/>
            <a:ext cx="1240972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B415D"/>
                </a:solidFill>
              </a:rPr>
              <a:t>Lombardy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8328EA3-F149-A839-4C99-39A87BF9E15C}"/>
              </a:ext>
            </a:extLst>
          </p:cNvPr>
          <p:cNvGrpSpPr/>
          <p:nvPr/>
        </p:nvGrpSpPr>
        <p:grpSpPr>
          <a:xfrm>
            <a:off x="2438766" y="4168250"/>
            <a:ext cx="1340283" cy="1774177"/>
            <a:chOff x="1484037" y="4165208"/>
            <a:chExt cx="1340283" cy="1774177"/>
          </a:xfrm>
        </p:grpSpPr>
        <p:pic>
          <p:nvPicPr>
            <p:cNvPr id="14" name="Picture 13" descr="10 interesting facts about the Colosseum you (probably) didn't know |  Trainline">
              <a:extLst>
                <a:ext uri="{FF2B5EF4-FFF2-40B4-BE49-F238E27FC236}">
                  <a16:creationId xmlns:a16="http://schemas.microsoft.com/office/drawing/2014/main" id="{D6E6EC9A-6F56-DA73-6837-D54F3785E1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" r="360"/>
            <a:stretch>
              <a:fillRect/>
            </a:stretch>
          </p:blipFill>
          <p:spPr bwMode="auto">
            <a:xfrm>
              <a:off x="1484037" y="4165208"/>
              <a:ext cx="1340283" cy="1340282"/>
            </a:xfrm>
            <a:custGeom>
              <a:avLst/>
              <a:gdLst>
                <a:gd name="connsiteX0" fmla="*/ 1309719 w 2619438"/>
                <a:gd name="connsiteY0" fmla="*/ 0 h 2619437"/>
                <a:gd name="connsiteX1" fmla="*/ 2619438 w 2619438"/>
                <a:gd name="connsiteY1" fmla="*/ 1309719 h 2619437"/>
                <a:gd name="connsiteX2" fmla="*/ 1443630 w 2619438"/>
                <a:gd name="connsiteY2" fmla="*/ 2612676 h 2619437"/>
                <a:gd name="connsiteX3" fmla="*/ 1309739 w 2619438"/>
                <a:gd name="connsiteY3" fmla="*/ 2619437 h 2619437"/>
                <a:gd name="connsiteX4" fmla="*/ 1309699 w 2619438"/>
                <a:gd name="connsiteY4" fmla="*/ 2619437 h 2619437"/>
                <a:gd name="connsiteX5" fmla="*/ 1175808 w 2619438"/>
                <a:gd name="connsiteY5" fmla="*/ 2612676 h 2619437"/>
                <a:gd name="connsiteX6" fmla="*/ 0 w 2619438"/>
                <a:gd name="connsiteY6" fmla="*/ 1309719 h 2619437"/>
                <a:gd name="connsiteX7" fmla="*/ 1309719 w 2619438"/>
                <a:gd name="connsiteY7" fmla="*/ 0 h 2619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9438" h="2619437">
                  <a:moveTo>
                    <a:pt x="1309719" y="0"/>
                  </a:moveTo>
                  <a:cubicBezTo>
                    <a:pt x="2033057" y="0"/>
                    <a:pt x="2619438" y="586381"/>
                    <a:pt x="2619438" y="1309719"/>
                  </a:cubicBezTo>
                  <a:cubicBezTo>
                    <a:pt x="2619438" y="1987849"/>
                    <a:pt x="2104064" y="2545606"/>
                    <a:pt x="1443630" y="2612676"/>
                  </a:cubicBezTo>
                  <a:lnTo>
                    <a:pt x="1309739" y="2619437"/>
                  </a:lnTo>
                  <a:lnTo>
                    <a:pt x="1309699" y="2619437"/>
                  </a:lnTo>
                  <a:lnTo>
                    <a:pt x="1175808" y="2612676"/>
                  </a:lnTo>
                  <a:cubicBezTo>
                    <a:pt x="515374" y="2545606"/>
                    <a:pt x="0" y="1987849"/>
                    <a:pt x="0" y="1309719"/>
                  </a:cubicBezTo>
                  <a:cubicBezTo>
                    <a:pt x="0" y="586381"/>
                    <a:pt x="586381" y="0"/>
                    <a:pt x="1309719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4A5F54-28B4-03EA-CB47-6D1C63AF13AB}"/>
                </a:ext>
              </a:extLst>
            </p:cNvPr>
            <p:cNvSpPr txBox="1"/>
            <p:nvPr/>
          </p:nvSpPr>
          <p:spPr>
            <a:xfrm>
              <a:off x="1769548" y="5570053"/>
              <a:ext cx="857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B415D"/>
                  </a:solidFill>
                </a:rPr>
                <a:t>Rome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B33D4A9-5B43-32BC-0059-88765708641F}"/>
              </a:ext>
            </a:extLst>
          </p:cNvPr>
          <p:cNvGrpSpPr/>
          <p:nvPr/>
        </p:nvGrpSpPr>
        <p:grpSpPr>
          <a:xfrm>
            <a:off x="4723751" y="4201102"/>
            <a:ext cx="1345424" cy="1774177"/>
            <a:chOff x="3509606" y="4165208"/>
            <a:chExt cx="1345424" cy="1774177"/>
          </a:xfrm>
        </p:grpSpPr>
        <p:pic>
          <p:nvPicPr>
            <p:cNvPr id="16" name="Picture 15" descr="Cosa vedere a Rieti in un giorno: itinerario a piedi">
              <a:extLst>
                <a:ext uri="{FF2B5EF4-FFF2-40B4-BE49-F238E27FC236}">
                  <a16:creationId xmlns:a16="http://schemas.microsoft.com/office/drawing/2014/main" id="{FA09696C-7DEE-7860-9FB8-EF29DFBD00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7" r="20967"/>
            <a:stretch>
              <a:fillRect/>
            </a:stretch>
          </p:blipFill>
          <p:spPr bwMode="auto">
            <a:xfrm>
              <a:off x="3509606" y="4165208"/>
              <a:ext cx="1345424" cy="1340282"/>
            </a:xfrm>
            <a:custGeom>
              <a:avLst/>
              <a:gdLst>
                <a:gd name="connsiteX0" fmla="*/ 972369 w 2206172"/>
                <a:gd name="connsiteY0" fmla="*/ 0 h 2197739"/>
                <a:gd name="connsiteX1" fmla="*/ 1233803 w 2206172"/>
                <a:gd name="connsiteY1" fmla="*/ 0 h 2197739"/>
                <a:gd name="connsiteX2" fmla="*/ 1325397 w 2206172"/>
                <a:gd name="connsiteY2" fmla="*/ 13979 h 2197739"/>
                <a:gd name="connsiteX3" fmla="*/ 2206172 w 2206172"/>
                <a:gd name="connsiteY3" fmla="*/ 1094654 h 2197739"/>
                <a:gd name="connsiteX4" fmla="*/ 1215870 w 2206172"/>
                <a:gd name="connsiteY4" fmla="*/ 2192045 h 2197739"/>
                <a:gd name="connsiteX5" fmla="*/ 1103106 w 2206172"/>
                <a:gd name="connsiteY5" fmla="*/ 2197739 h 2197739"/>
                <a:gd name="connsiteX6" fmla="*/ 1103066 w 2206172"/>
                <a:gd name="connsiteY6" fmla="*/ 2197739 h 2197739"/>
                <a:gd name="connsiteX7" fmla="*/ 990302 w 2206172"/>
                <a:gd name="connsiteY7" fmla="*/ 2192045 h 2197739"/>
                <a:gd name="connsiteX8" fmla="*/ 0 w 2206172"/>
                <a:gd name="connsiteY8" fmla="*/ 1094654 h 2197739"/>
                <a:gd name="connsiteX9" fmla="*/ 880776 w 2206172"/>
                <a:gd name="connsiteY9" fmla="*/ 13979 h 219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6172" h="2197739">
                  <a:moveTo>
                    <a:pt x="972369" y="0"/>
                  </a:moveTo>
                  <a:lnTo>
                    <a:pt x="1233803" y="0"/>
                  </a:lnTo>
                  <a:lnTo>
                    <a:pt x="1325397" y="13979"/>
                  </a:lnTo>
                  <a:cubicBezTo>
                    <a:pt x="1828055" y="116838"/>
                    <a:pt x="2206172" y="561588"/>
                    <a:pt x="2206172" y="1094654"/>
                  </a:cubicBezTo>
                  <a:cubicBezTo>
                    <a:pt x="2206172" y="1665796"/>
                    <a:pt x="1772109" y="2135556"/>
                    <a:pt x="1215870" y="2192045"/>
                  </a:cubicBezTo>
                  <a:lnTo>
                    <a:pt x="1103106" y="2197739"/>
                  </a:lnTo>
                  <a:lnTo>
                    <a:pt x="1103066" y="2197739"/>
                  </a:lnTo>
                  <a:lnTo>
                    <a:pt x="990302" y="2192045"/>
                  </a:lnTo>
                  <a:cubicBezTo>
                    <a:pt x="434064" y="2135556"/>
                    <a:pt x="0" y="1665796"/>
                    <a:pt x="0" y="1094654"/>
                  </a:cubicBezTo>
                  <a:cubicBezTo>
                    <a:pt x="0" y="561588"/>
                    <a:pt x="378118" y="116838"/>
                    <a:pt x="880776" y="13979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822D38-B3DF-6AB3-BB7E-200317545D46}"/>
                </a:ext>
              </a:extLst>
            </p:cNvPr>
            <p:cNvSpPr txBox="1"/>
            <p:nvPr/>
          </p:nvSpPr>
          <p:spPr>
            <a:xfrm>
              <a:off x="3797689" y="5570053"/>
              <a:ext cx="769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B415D"/>
                  </a:solidFill>
                </a:rPr>
                <a:t>Rieti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2418EB6-D0DB-B2C9-26E0-DED1480A5357}"/>
              </a:ext>
            </a:extLst>
          </p:cNvPr>
          <p:cNvGrpSpPr/>
          <p:nvPr/>
        </p:nvGrpSpPr>
        <p:grpSpPr>
          <a:xfrm>
            <a:off x="7113814" y="4165208"/>
            <a:ext cx="1333500" cy="1777219"/>
            <a:chOff x="7113814" y="4165208"/>
            <a:chExt cx="1333500" cy="1777219"/>
          </a:xfrm>
        </p:grpSpPr>
        <p:pic>
          <p:nvPicPr>
            <p:cNvPr id="7" name="Picture 6" descr="Vivi la magia del Duomo di Milano di notte">
              <a:extLst>
                <a:ext uri="{FF2B5EF4-FFF2-40B4-BE49-F238E27FC236}">
                  <a16:creationId xmlns:a16="http://schemas.microsoft.com/office/drawing/2014/main" id="{E0D24B2C-B129-87BC-335E-25FB032E9A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4" t="11998" r="22335" b="7017"/>
            <a:stretch>
              <a:fillRect/>
            </a:stretch>
          </p:blipFill>
          <p:spPr bwMode="auto">
            <a:xfrm>
              <a:off x="7113814" y="4165208"/>
              <a:ext cx="1333500" cy="1333500"/>
            </a:xfrm>
            <a:custGeom>
              <a:avLst/>
              <a:gdLst>
                <a:gd name="connsiteX0" fmla="*/ 914400 w 1828800"/>
                <a:gd name="connsiteY0" fmla="*/ 0 h 1828800"/>
                <a:gd name="connsiteX1" fmla="*/ 1828800 w 1828800"/>
                <a:gd name="connsiteY1" fmla="*/ 914400 h 1828800"/>
                <a:gd name="connsiteX2" fmla="*/ 914400 w 1828800"/>
                <a:gd name="connsiteY2" fmla="*/ 1828800 h 1828800"/>
                <a:gd name="connsiteX3" fmla="*/ 0 w 1828800"/>
                <a:gd name="connsiteY3" fmla="*/ 914400 h 1828800"/>
                <a:gd name="connsiteX4" fmla="*/ 914400 w 1828800"/>
                <a:gd name="connsiteY4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800" h="1828800">
                  <a:moveTo>
                    <a:pt x="914400" y="0"/>
                  </a:moveTo>
                  <a:cubicBezTo>
                    <a:pt x="1419409" y="0"/>
                    <a:pt x="1828800" y="409391"/>
                    <a:pt x="1828800" y="914400"/>
                  </a:cubicBezTo>
                  <a:cubicBezTo>
                    <a:pt x="1828800" y="1419409"/>
                    <a:pt x="1419409" y="1828800"/>
                    <a:pt x="914400" y="1828800"/>
                  </a:cubicBezTo>
                  <a:cubicBezTo>
                    <a:pt x="409391" y="1828800"/>
                    <a:pt x="0" y="1419409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noFill/>
            <a:effectLst>
              <a:softEdge rad="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00FFBD3-7A6E-BBEA-13C9-EDF211A49A4A}"/>
                </a:ext>
              </a:extLst>
            </p:cNvPr>
            <p:cNvSpPr txBox="1"/>
            <p:nvPr/>
          </p:nvSpPr>
          <p:spPr>
            <a:xfrm>
              <a:off x="7395935" y="5573095"/>
              <a:ext cx="769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B415D"/>
                  </a:solidFill>
                </a:rPr>
                <a:t>Milan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887FC66-01FF-E857-4063-A400B64B3680}"/>
              </a:ext>
            </a:extLst>
          </p:cNvPr>
          <p:cNvGrpSpPr/>
          <p:nvPr/>
        </p:nvGrpSpPr>
        <p:grpSpPr>
          <a:xfrm>
            <a:off x="9231085" y="4165208"/>
            <a:ext cx="1336375" cy="1777219"/>
            <a:chOff x="9231085" y="4165208"/>
            <a:chExt cx="1336375" cy="1777219"/>
          </a:xfrm>
        </p:grpSpPr>
        <p:pic>
          <p:nvPicPr>
            <p:cNvPr id="24" name="Picture 23" descr="Cernobbio - Cosa vedere e come arrivare">
              <a:extLst>
                <a:ext uri="{FF2B5EF4-FFF2-40B4-BE49-F238E27FC236}">
                  <a16:creationId xmlns:a16="http://schemas.microsoft.com/office/drawing/2014/main" id="{A6C409FD-D943-3524-5B2A-34F1C824DF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36" r="20022" b="2677"/>
            <a:stretch>
              <a:fillRect/>
            </a:stretch>
          </p:blipFill>
          <p:spPr bwMode="auto">
            <a:xfrm>
              <a:off x="9231085" y="4165208"/>
              <a:ext cx="1336375" cy="1333500"/>
            </a:xfrm>
            <a:custGeom>
              <a:avLst/>
              <a:gdLst>
                <a:gd name="connsiteX0" fmla="*/ 896223 w 1959430"/>
                <a:gd name="connsiteY0" fmla="*/ 0 h 1955214"/>
                <a:gd name="connsiteX1" fmla="*/ 1063207 w 1959430"/>
                <a:gd name="connsiteY1" fmla="*/ 0 h 1955214"/>
                <a:gd name="connsiteX2" fmla="*/ 1079885 w 1959430"/>
                <a:gd name="connsiteY2" fmla="*/ 842 h 1955214"/>
                <a:gd name="connsiteX3" fmla="*/ 1959430 w 1959430"/>
                <a:gd name="connsiteY3" fmla="*/ 975499 h 1955214"/>
                <a:gd name="connsiteX4" fmla="*/ 979715 w 1959430"/>
                <a:gd name="connsiteY4" fmla="*/ 1955214 h 1955214"/>
                <a:gd name="connsiteX5" fmla="*/ 0 w 1959430"/>
                <a:gd name="connsiteY5" fmla="*/ 975499 h 1955214"/>
                <a:gd name="connsiteX6" fmla="*/ 879545 w 1959430"/>
                <a:gd name="connsiteY6" fmla="*/ 842 h 195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9430" h="1955214">
                  <a:moveTo>
                    <a:pt x="896223" y="0"/>
                  </a:moveTo>
                  <a:lnTo>
                    <a:pt x="1063207" y="0"/>
                  </a:lnTo>
                  <a:lnTo>
                    <a:pt x="1079885" y="842"/>
                  </a:lnTo>
                  <a:cubicBezTo>
                    <a:pt x="1573913" y="51013"/>
                    <a:pt x="1959430" y="468235"/>
                    <a:pt x="1959430" y="975499"/>
                  </a:cubicBezTo>
                  <a:cubicBezTo>
                    <a:pt x="1959430" y="1516581"/>
                    <a:pt x="1520797" y="1955214"/>
                    <a:pt x="979715" y="1955214"/>
                  </a:cubicBezTo>
                  <a:cubicBezTo>
                    <a:pt x="438633" y="1955214"/>
                    <a:pt x="0" y="1516581"/>
                    <a:pt x="0" y="975499"/>
                  </a:cubicBezTo>
                  <a:cubicBezTo>
                    <a:pt x="0" y="468235"/>
                    <a:pt x="385517" y="51013"/>
                    <a:pt x="879545" y="842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6E757E1-CBF1-9A0C-F839-0848ED16E5DB}"/>
                </a:ext>
              </a:extLst>
            </p:cNvPr>
            <p:cNvSpPr txBox="1"/>
            <p:nvPr/>
          </p:nvSpPr>
          <p:spPr>
            <a:xfrm>
              <a:off x="9231085" y="5573095"/>
              <a:ext cx="1336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1B415D"/>
                  </a:solidFill>
                </a:rPr>
                <a:t>Cernobbio</a:t>
              </a:r>
              <a:endParaRPr lang="en-US" b="1" dirty="0">
                <a:solidFill>
                  <a:srgbClr val="1B415D"/>
                </a:solidFill>
              </a:endParaRP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BF12247-CB0F-EF18-A588-4F357DFACD8C}"/>
              </a:ext>
            </a:extLst>
          </p:cNvPr>
          <p:cNvCxnSpPr>
            <a:cxnSpLocks/>
          </p:cNvCxnSpPr>
          <p:nvPr/>
        </p:nvCxnSpPr>
        <p:spPr>
          <a:xfrm>
            <a:off x="434068" y="1843002"/>
            <a:ext cx="267483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5831455-C8AC-866A-DC4C-EE809FB19FC9}"/>
              </a:ext>
            </a:extLst>
          </p:cNvPr>
          <p:cNvSpPr txBox="1"/>
          <p:nvPr/>
        </p:nvSpPr>
        <p:spPr>
          <a:xfrm>
            <a:off x="1029446" y="1374466"/>
            <a:ext cx="1484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B415D"/>
                </a:solidFill>
              </a:rPr>
              <a:t>Forecast</a:t>
            </a:r>
          </a:p>
        </p:txBody>
      </p:sp>
      <p:grpSp>
        <p:nvGrpSpPr>
          <p:cNvPr id="7187" name="Group 7186">
            <a:extLst>
              <a:ext uri="{FF2B5EF4-FFF2-40B4-BE49-F238E27FC236}">
                <a16:creationId xmlns:a16="http://schemas.microsoft.com/office/drawing/2014/main" id="{52347709-A6DB-88A1-AA0E-8F9E77B085C6}"/>
              </a:ext>
            </a:extLst>
          </p:cNvPr>
          <p:cNvGrpSpPr/>
          <p:nvPr/>
        </p:nvGrpSpPr>
        <p:grpSpPr>
          <a:xfrm>
            <a:off x="4141381" y="1843002"/>
            <a:ext cx="1989317" cy="1028735"/>
            <a:chOff x="4141381" y="1843002"/>
            <a:chExt cx="1989317" cy="1028735"/>
          </a:xfrm>
        </p:grpSpPr>
        <p:grpSp>
          <p:nvGrpSpPr>
            <p:cNvPr id="7168" name="Group 7167">
              <a:extLst>
                <a:ext uri="{FF2B5EF4-FFF2-40B4-BE49-F238E27FC236}">
                  <a16:creationId xmlns:a16="http://schemas.microsoft.com/office/drawing/2014/main" id="{71CCB2B1-6ABE-5E7E-46F3-0645AE2C753D}"/>
                </a:ext>
              </a:extLst>
            </p:cNvPr>
            <p:cNvGrpSpPr/>
            <p:nvPr/>
          </p:nvGrpSpPr>
          <p:grpSpPr>
            <a:xfrm>
              <a:off x="4141381" y="1843002"/>
              <a:ext cx="1989317" cy="1028735"/>
              <a:chOff x="4141381" y="1843002"/>
              <a:chExt cx="1989317" cy="1028735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C7A7F87-2E1B-FE8B-64F1-43D451C701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1381" y="1881137"/>
                <a:ext cx="1989317" cy="0"/>
              </a:xfrm>
              <a:prstGeom prst="line">
                <a:avLst/>
              </a:prstGeom>
              <a:ln w="76200"/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A86BFB1B-2E0A-BAED-F137-3E38774C91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8437" y="1843002"/>
                <a:ext cx="0" cy="1028735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7178" name="TextBox 7177">
              <a:extLst>
                <a:ext uri="{FF2B5EF4-FFF2-40B4-BE49-F238E27FC236}">
                  <a16:creationId xmlns:a16="http://schemas.microsoft.com/office/drawing/2014/main" id="{05A58681-67CA-333E-DBA8-B426075E1535}"/>
                </a:ext>
              </a:extLst>
            </p:cNvPr>
            <p:cNvSpPr txBox="1"/>
            <p:nvPr/>
          </p:nvSpPr>
          <p:spPr>
            <a:xfrm>
              <a:off x="4702629" y="1955880"/>
              <a:ext cx="587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1B415D"/>
                  </a:solidFill>
                </a:rPr>
                <a:t>2/3</a:t>
              </a:r>
            </a:p>
          </p:txBody>
        </p:sp>
      </p:grpSp>
      <p:grpSp>
        <p:nvGrpSpPr>
          <p:cNvPr id="7188" name="Group 7187">
            <a:extLst>
              <a:ext uri="{FF2B5EF4-FFF2-40B4-BE49-F238E27FC236}">
                <a16:creationId xmlns:a16="http://schemas.microsoft.com/office/drawing/2014/main" id="{4206D3CC-9769-6C88-3833-9362AC06170B}"/>
              </a:ext>
            </a:extLst>
          </p:cNvPr>
          <p:cNvGrpSpPr/>
          <p:nvPr/>
        </p:nvGrpSpPr>
        <p:grpSpPr>
          <a:xfrm>
            <a:off x="7075714" y="1843002"/>
            <a:ext cx="1833312" cy="1028735"/>
            <a:chOff x="7075714" y="1843002"/>
            <a:chExt cx="1833312" cy="1028735"/>
          </a:xfrm>
        </p:grpSpPr>
        <p:grpSp>
          <p:nvGrpSpPr>
            <p:cNvPr id="7169" name="Group 7168">
              <a:extLst>
                <a:ext uri="{FF2B5EF4-FFF2-40B4-BE49-F238E27FC236}">
                  <a16:creationId xmlns:a16="http://schemas.microsoft.com/office/drawing/2014/main" id="{DA659CAB-1396-1321-E98A-967EE0F4E428}"/>
                </a:ext>
              </a:extLst>
            </p:cNvPr>
            <p:cNvGrpSpPr/>
            <p:nvPr/>
          </p:nvGrpSpPr>
          <p:grpSpPr>
            <a:xfrm>
              <a:off x="7075714" y="1843002"/>
              <a:ext cx="1833312" cy="1028735"/>
              <a:chOff x="7075714" y="1843002"/>
              <a:chExt cx="1833312" cy="1028735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03A408D-C352-EE87-8977-C4FA09A399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75714" y="1871577"/>
                <a:ext cx="1833312" cy="0"/>
              </a:xfrm>
              <a:prstGeom prst="line">
                <a:avLst/>
              </a:prstGeom>
              <a:ln w="76200"/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C2348808-ACD2-EB07-170B-C7676B20D7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3713" y="1843002"/>
                <a:ext cx="0" cy="1028735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7180" name="TextBox 7179">
              <a:extLst>
                <a:ext uri="{FF2B5EF4-FFF2-40B4-BE49-F238E27FC236}">
                  <a16:creationId xmlns:a16="http://schemas.microsoft.com/office/drawing/2014/main" id="{593E145F-1D9A-C12D-0959-65B2A11C3E74}"/>
                </a:ext>
              </a:extLst>
            </p:cNvPr>
            <p:cNvSpPr txBox="1"/>
            <p:nvPr/>
          </p:nvSpPr>
          <p:spPr>
            <a:xfrm>
              <a:off x="7578191" y="1945965"/>
              <a:ext cx="587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1B415D"/>
                  </a:solidFill>
                </a:rPr>
                <a:t>1/3</a:t>
              </a:r>
            </a:p>
          </p:txBody>
        </p:sp>
      </p:grpSp>
      <p:grpSp>
        <p:nvGrpSpPr>
          <p:cNvPr id="7192" name="Group 7191">
            <a:extLst>
              <a:ext uri="{FF2B5EF4-FFF2-40B4-BE49-F238E27FC236}">
                <a16:creationId xmlns:a16="http://schemas.microsoft.com/office/drawing/2014/main" id="{CABFD968-D86B-5BBE-BED5-300CD209603F}"/>
              </a:ext>
            </a:extLst>
          </p:cNvPr>
          <p:cNvGrpSpPr/>
          <p:nvPr/>
        </p:nvGrpSpPr>
        <p:grpSpPr>
          <a:xfrm>
            <a:off x="3055488" y="3055458"/>
            <a:ext cx="770313" cy="1112792"/>
            <a:chOff x="3055488" y="3055458"/>
            <a:chExt cx="770313" cy="1112792"/>
          </a:xfrm>
        </p:grpSpPr>
        <p:grpSp>
          <p:nvGrpSpPr>
            <p:cNvPr id="7172" name="Group 7171">
              <a:extLst>
                <a:ext uri="{FF2B5EF4-FFF2-40B4-BE49-F238E27FC236}">
                  <a16:creationId xmlns:a16="http://schemas.microsoft.com/office/drawing/2014/main" id="{2F0074B0-55EA-04FD-471C-D8ABD8BAF15C}"/>
                </a:ext>
              </a:extLst>
            </p:cNvPr>
            <p:cNvGrpSpPr/>
            <p:nvPr/>
          </p:nvGrpSpPr>
          <p:grpSpPr>
            <a:xfrm>
              <a:off x="3055488" y="3055458"/>
              <a:ext cx="732157" cy="1112792"/>
              <a:chOff x="3055488" y="3055458"/>
              <a:chExt cx="732157" cy="1112792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F99C5D8-E74F-28AD-C8FB-C3CCD19FFC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055488" y="3057918"/>
                <a:ext cx="732157" cy="1750"/>
              </a:xfrm>
              <a:prstGeom prst="line">
                <a:avLst/>
              </a:prstGeom>
              <a:ln w="76200"/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60EFA0D6-B061-94D1-7D1F-2DE205C205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90245" y="3055458"/>
                <a:ext cx="0" cy="1112792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7183" name="TextBox 7182">
              <a:extLst>
                <a:ext uri="{FF2B5EF4-FFF2-40B4-BE49-F238E27FC236}">
                  <a16:creationId xmlns:a16="http://schemas.microsoft.com/office/drawing/2014/main" id="{95C5A45F-E13C-8EBD-B3B6-8869E0E7A36A}"/>
                </a:ext>
              </a:extLst>
            </p:cNvPr>
            <p:cNvSpPr txBox="1"/>
            <p:nvPr/>
          </p:nvSpPr>
          <p:spPr>
            <a:xfrm>
              <a:off x="3238799" y="3113652"/>
              <a:ext cx="587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1B415D"/>
                  </a:solidFill>
                </a:rPr>
                <a:t>4/5</a:t>
              </a:r>
            </a:p>
          </p:txBody>
        </p:sp>
      </p:grpSp>
      <p:grpSp>
        <p:nvGrpSpPr>
          <p:cNvPr id="7191" name="Group 7190">
            <a:extLst>
              <a:ext uri="{FF2B5EF4-FFF2-40B4-BE49-F238E27FC236}">
                <a16:creationId xmlns:a16="http://schemas.microsoft.com/office/drawing/2014/main" id="{C25B51E1-B033-C639-8283-6136CB8C984A}"/>
              </a:ext>
            </a:extLst>
          </p:cNvPr>
          <p:cNvGrpSpPr/>
          <p:nvPr/>
        </p:nvGrpSpPr>
        <p:grpSpPr>
          <a:xfrm>
            <a:off x="4583505" y="3036669"/>
            <a:ext cx="822960" cy="1145644"/>
            <a:chOff x="4583505" y="3036669"/>
            <a:chExt cx="822960" cy="1145644"/>
          </a:xfrm>
        </p:grpSpPr>
        <p:grpSp>
          <p:nvGrpSpPr>
            <p:cNvPr id="7171" name="Group 7170">
              <a:extLst>
                <a:ext uri="{FF2B5EF4-FFF2-40B4-BE49-F238E27FC236}">
                  <a16:creationId xmlns:a16="http://schemas.microsoft.com/office/drawing/2014/main" id="{8DAE3BD8-7379-DC47-45A7-743983CD2824}"/>
                </a:ext>
              </a:extLst>
            </p:cNvPr>
            <p:cNvGrpSpPr/>
            <p:nvPr/>
          </p:nvGrpSpPr>
          <p:grpSpPr>
            <a:xfrm>
              <a:off x="4583505" y="3036669"/>
              <a:ext cx="822960" cy="1145644"/>
              <a:chOff x="4583505" y="3036669"/>
              <a:chExt cx="822960" cy="1145644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A7BDDF98-A4D2-299D-9C6E-CD49B31058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3505" y="3073619"/>
                <a:ext cx="822960" cy="0"/>
              </a:xfrm>
              <a:prstGeom prst="line">
                <a:avLst/>
              </a:prstGeom>
              <a:ln w="76200"/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7B979220-C0AC-663C-1046-D46BD75C81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00202" y="3036669"/>
                <a:ext cx="0" cy="1145644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7184" name="TextBox 7183">
              <a:extLst>
                <a:ext uri="{FF2B5EF4-FFF2-40B4-BE49-F238E27FC236}">
                  <a16:creationId xmlns:a16="http://schemas.microsoft.com/office/drawing/2014/main" id="{51D5E5FD-375C-F7DF-F775-0E45BE1E4F2F}"/>
                </a:ext>
              </a:extLst>
            </p:cNvPr>
            <p:cNvSpPr txBox="1"/>
            <p:nvPr/>
          </p:nvSpPr>
          <p:spPr>
            <a:xfrm>
              <a:off x="4769627" y="3138183"/>
              <a:ext cx="587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1B415D"/>
                  </a:solidFill>
                </a:rPr>
                <a:t>1/5</a:t>
              </a:r>
            </a:p>
          </p:txBody>
        </p:sp>
      </p:grpSp>
      <p:grpSp>
        <p:nvGrpSpPr>
          <p:cNvPr id="7189" name="Group 7188">
            <a:extLst>
              <a:ext uri="{FF2B5EF4-FFF2-40B4-BE49-F238E27FC236}">
                <a16:creationId xmlns:a16="http://schemas.microsoft.com/office/drawing/2014/main" id="{06F8D073-693D-E706-468C-9A7EC719DC20}"/>
              </a:ext>
            </a:extLst>
          </p:cNvPr>
          <p:cNvGrpSpPr/>
          <p:nvPr/>
        </p:nvGrpSpPr>
        <p:grpSpPr>
          <a:xfrm>
            <a:off x="7747862" y="3068411"/>
            <a:ext cx="614902" cy="1096797"/>
            <a:chOff x="7747862" y="3068411"/>
            <a:chExt cx="614902" cy="1096797"/>
          </a:xfrm>
        </p:grpSpPr>
        <p:grpSp>
          <p:nvGrpSpPr>
            <p:cNvPr id="7176" name="Group 7175">
              <a:extLst>
                <a:ext uri="{FF2B5EF4-FFF2-40B4-BE49-F238E27FC236}">
                  <a16:creationId xmlns:a16="http://schemas.microsoft.com/office/drawing/2014/main" id="{EA6E03C5-B20E-A874-696B-BBE405979EA2}"/>
                </a:ext>
              </a:extLst>
            </p:cNvPr>
            <p:cNvGrpSpPr/>
            <p:nvPr/>
          </p:nvGrpSpPr>
          <p:grpSpPr>
            <a:xfrm>
              <a:off x="7747862" y="3068411"/>
              <a:ext cx="457200" cy="1096797"/>
              <a:chOff x="7747862" y="3068411"/>
              <a:chExt cx="457200" cy="1096797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9CC26B9-DBC2-D2C6-58AF-357FDE453F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47862" y="3068411"/>
                <a:ext cx="457200" cy="0"/>
              </a:xfrm>
              <a:prstGeom prst="line">
                <a:avLst/>
              </a:prstGeom>
              <a:ln w="76200"/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0A782158-00EA-FFFE-8E26-1CEF78EDF7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68830" y="3079883"/>
                <a:ext cx="2805" cy="1085325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7185" name="TextBox 7184">
              <a:extLst>
                <a:ext uri="{FF2B5EF4-FFF2-40B4-BE49-F238E27FC236}">
                  <a16:creationId xmlns:a16="http://schemas.microsoft.com/office/drawing/2014/main" id="{A358F21B-888C-AA9C-044A-6A0B1D3D5551}"/>
                </a:ext>
              </a:extLst>
            </p:cNvPr>
            <p:cNvSpPr txBox="1"/>
            <p:nvPr/>
          </p:nvSpPr>
          <p:spPr>
            <a:xfrm>
              <a:off x="7775762" y="3126277"/>
              <a:ext cx="587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1B415D"/>
                  </a:solidFill>
                </a:rPr>
                <a:t>8/9</a:t>
              </a:r>
            </a:p>
          </p:txBody>
        </p:sp>
      </p:grpSp>
      <p:grpSp>
        <p:nvGrpSpPr>
          <p:cNvPr id="7190" name="Group 7189">
            <a:extLst>
              <a:ext uri="{FF2B5EF4-FFF2-40B4-BE49-F238E27FC236}">
                <a16:creationId xmlns:a16="http://schemas.microsoft.com/office/drawing/2014/main" id="{40F291A5-514B-D70A-FF72-13E6C26C7E2D}"/>
              </a:ext>
            </a:extLst>
          </p:cNvPr>
          <p:cNvGrpSpPr/>
          <p:nvPr/>
        </p:nvGrpSpPr>
        <p:grpSpPr>
          <a:xfrm>
            <a:off x="9408663" y="3022883"/>
            <a:ext cx="587002" cy="1128540"/>
            <a:chOff x="9408663" y="3022883"/>
            <a:chExt cx="587002" cy="1128540"/>
          </a:xfrm>
        </p:grpSpPr>
        <p:grpSp>
          <p:nvGrpSpPr>
            <p:cNvPr id="7174" name="Group 7173">
              <a:extLst>
                <a:ext uri="{FF2B5EF4-FFF2-40B4-BE49-F238E27FC236}">
                  <a16:creationId xmlns:a16="http://schemas.microsoft.com/office/drawing/2014/main" id="{238DF898-7ACD-0C8A-5186-AF3348B5F04B}"/>
                </a:ext>
              </a:extLst>
            </p:cNvPr>
            <p:cNvGrpSpPr/>
            <p:nvPr/>
          </p:nvGrpSpPr>
          <p:grpSpPr>
            <a:xfrm>
              <a:off x="9471289" y="3022883"/>
              <a:ext cx="466344" cy="1128540"/>
              <a:chOff x="9471289" y="3022883"/>
              <a:chExt cx="466344" cy="112854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A00DFE4-8A3C-026D-212C-F8540CA39E39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 flipV="1">
                <a:off x="9471289" y="3058793"/>
                <a:ext cx="466344" cy="0"/>
              </a:xfrm>
              <a:prstGeom prst="line">
                <a:avLst/>
              </a:prstGeom>
              <a:ln w="76200"/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C175DF1-B5AF-B6F9-BACF-6541937180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33038" y="3022883"/>
                <a:ext cx="0" cy="112854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7186" name="TextBox 7185">
              <a:extLst>
                <a:ext uri="{FF2B5EF4-FFF2-40B4-BE49-F238E27FC236}">
                  <a16:creationId xmlns:a16="http://schemas.microsoft.com/office/drawing/2014/main" id="{95D39ADC-6B9C-C62C-EEA8-5CB6AF15C4B8}"/>
                </a:ext>
              </a:extLst>
            </p:cNvPr>
            <p:cNvSpPr txBox="1"/>
            <p:nvPr/>
          </p:nvSpPr>
          <p:spPr>
            <a:xfrm>
              <a:off x="9408663" y="3129680"/>
              <a:ext cx="5870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1B415D"/>
                  </a:solidFill>
                </a:rPr>
                <a:t>1/9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B78EB04-18DC-58EB-9DA3-8DE6FA41C3AE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07EE1678-D82C-3CDE-85CC-4FB655271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027612-14F4-FEF8-D2DE-EB1AFEA7FF1B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9" name="Picture 4" descr="Home – Planet">
            <a:extLst>
              <a:ext uri="{FF2B5EF4-FFF2-40B4-BE49-F238E27FC236}">
                <a16:creationId xmlns:a16="http://schemas.microsoft.com/office/drawing/2014/main" id="{9CE0FDBD-F65E-A1B6-8D0D-AF456A48C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F248777A-89F0-FA5D-BBD6-C2E2ABDDC48D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2" name="Picture 2" descr="Logo Università di Napoli Federico II">
              <a:extLst>
                <a:ext uri="{FF2B5EF4-FFF2-40B4-BE49-F238E27FC236}">
                  <a16:creationId xmlns:a16="http://schemas.microsoft.com/office/drawing/2014/main" id="{68E7CCC9-F8C7-8658-F66D-7B8A734ADF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Master Degree | International Relations | Italia">
              <a:extLst>
                <a:ext uri="{FF2B5EF4-FFF2-40B4-BE49-F238E27FC236}">
                  <a16:creationId xmlns:a16="http://schemas.microsoft.com/office/drawing/2014/main" id="{5DDBF612-46B4-AFDC-8B9D-FBCDD9C2CB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DD180AD-2278-56DA-9FE0-620AC409FC5A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1819705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A163-D489-1FF9-F2DA-6C6F5194B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E36199E-273E-61F3-417D-7D5EE813ED69}"/>
              </a:ext>
            </a:extLst>
          </p:cNvPr>
          <p:cNvSpPr txBox="1"/>
          <p:nvPr/>
        </p:nvSpPr>
        <p:spPr>
          <a:xfrm>
            <a:off x="3147358" y="3105834"/>
            <a:ext cx="5897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Problem : it is not accurate on the bottom levels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7EB355-7914-F23F-E3AD-E7625D64EEF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D33F5903-553A-C2CE-1882-ADFB0FE8E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EDD3FE-439E-B28A-0990-78A84875047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7" name="Picture 4" descr="Home – Planet">
            <a:extLst>
              <a:ext uri="{FF2B5EF4-FFF2-40B4-BE49-F238E27FC236}">
                <a16:creationId xmlns:a16="http://schemas.microsoft.com/office/drawing/2014/main" id="{0C2A71A4-3743-A3B7-B156-E372A839D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53144BC-3896-22A4-EA94-ED37CC1E0E15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0" name="Picture 2" descr="Logo Università di Napoli Federico II">
              <a:extLst>
                <a:ext uri="{FF2B5EF4-FFF2-40B4-BE49-F238E27FC236}">
                  <a16:creationId xmlns:a16="http://schemas.microsoft.com/office/drawing/2014/main" id="{AC7FCF39-9794-2BCC-A919-45B7802008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Master Degree | International Relations | Italia">
              <a:extLst>
                <a:ext uri="{FF2B5EF4-FFF2-40B4-BE49-F238E27FC236}">
                  <a16:creationId xmlns:a16="http://schemas.microsoft.com/office/drawing/2014/main" id="{E819C3C7-76C7-748A-2E81-C837091932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C04AF76-5B97-87C8-9734-C3067457A711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2939951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EAA1F-0DB3-7C42-E809-D9E4D751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8D5C1EA-D404-C6B9-23E1-00FE896A7C3B}"/>
              </a:ext>
            </a:extLst>
          </p:cNvPr>
          <p:cNvSpPr txBox="1"/>
          <p:nvPr/>
        </p:nvSpPr>
        <p:spPr>
          <a:xfrm>
            <a:off x="3147358" y="3105834"/>
            <a:ext cx="5897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Approach 2 : Bottom 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07C959-13FE-528D-A7A4-E0034C40E7C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1EDDA240-84CC-9C31-D7C3-170A7147C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8F3FA0-3A4A-3443-9DF1-62D29625B92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7" name="Picture 4" descr="Home – Planet">
            <a:extLst>
              <a:ext uri="{FF2B5EF4-FFF2-40B4-BE49-F238E27FC236}">
                <a16:creationId xmlns:a16="http://schemas.microsoft.com/office/drawing/2014/main" id="{26DB7F53-A9C2-4F69-453C-54ADB35AC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32C074B-A834-1E2E-546F-DE205819F5B9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0" name="Picture 2" descr="Logo Università di Napoli Federico II">
              <a:extLst>
                <a:ext uri="{FF2B5EF4-FFF2-40B4-BE49-F238E27FC236}">
                  <a16:creationId xmlns:a16="http://schemas.microsoft.com/office/drawing/2014/main" id="{122A2146-5947-535E-C8B0-D26D97DDCE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Master Degree | International Relations | Italia">
              <a:extLst>
                <a:ext uri="{FF2B5EF4-FFF2-40B4-BE49-F238E27FC236}">
                  <a16:creationId xmlns:a16="http://schemas.microsoft.com/office/drawing/2014/main" id="{46F5DAD9-C11A-C522-3A38-27D4A60153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9FE9DF-7988-5602-6E36-F75DF6DED854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2743370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84B43-DE27-A879-D57D-6B69230A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420+ Italian Flag Logo Stock Illustrations, Royalty-Free Vector Graphics &amp;  Clip Art - iStock">
            <a:extLst>
              <a:ext uri="{FF2B5EF4-FFF2-40B4-BE49-F238E27FC236}">
                <a16:creationId xmlns:a16="http://schemas.microsoft.com/office/drawing/2014/main" id="{552A787E-E18D-57F6-E3B6-F014A9349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121" y="1229158"/>
            <a:ext cx="1484086" cy="148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906ED2-8132-7B7A-EDA0-0B27B03E085F}"/>
              </a:ext>
            </a:extLst>
          </p:cNvPr>
          <p:cNvSpPr txBox="1"/>
          <p:nvPr/>
        </p:nvSpPr>
        <p:spPr>
          <a:xfrm>
            <a:off x="3800171" y="2875002"/>
            <a:ext cx="769258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B415D"/>
                </a:solidFill>
              </a:rPr>
              <a:t>Lazio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0A7CC0-2E74-E9BD-FB4C-C26803483079}"/>
              </a:ext>
            </a:extLst>
          </p:cNvPr>
          <p:cNvSpPr txBox="1"/>
          <p:nvPr/>
        </p:nvSpPr>
        <p:spPr>
          <a:xfrm>
            <a:off x="8230317" y="2883745"/>
            <a:ext cx="1240972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B415D"/>
                </a:solidFill>
              </a:rPr>
              <a:t>Lombardy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300F83-5EFB-D47A-BCA2-CAD81E92DD4D}"/>
              </a:ext>
            </a:extLst>
          </p:cNvPr>
          <p:cNvGrpSpPr/>
          <p:nvPr/>
        </p:nvGrpSpPr>
        <p:grpSpPr>
          <a:xfrm>
            <a:off x="2438766" y="4168250"/>
            <a:ext cx="1340283" cy="1774177"/>
            <a:chOff x="1484037" y="4165208"/>
            <a:chExt cx="1340283" cy="1774177"/>
          </a:xfrm>
        </p:grpSpPr>
        <p:pic>
          <p:nvPicPr>
            <p:cNvPr id="14" name="Picture 13" descr="10 interesting facts about the Colosseum you (probably) didn't know |  Trainline">
              <a:extLst>
                <a:ext uri="{FF2B5EF4-FFF2-40B4-BE49-F238E27FC236}">
                  <a16:creationId xmlns:a16="http://schemas.microsoft.com/office/drawing/2014/main" id="{557B99A6-112C-BACC-3E0A-F853576403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" r="360"/>
            <a:stretch>
              <a:fillRect/>
            </a:stretch>
          </p:blipFill>
          <p:spPr bwMode="auto">
            <a:xfrm>
              <a:off x="1484037" y="4165208"/>
              <a:ext cx="1340283" cy="1340282"/>
            </a:xfrm>
            <a:custGeom>
              <a:avLst/>
              <a:gdLst>
                <a:gd name="connsiteX0" fmla="*/ 1309719 w 2619438"/>
                <a:gd name="connsiteY0" fmla="*/ 0 h 2619437"/>
                <a:gd name="connsiteX1" fmla="*/ 2619438 w 2619438"/>
                <a:gd name="connsiteY1" fmla="*/ 1309719 h 2619437"/>
                <a:gd name="connsiteX2" fmla="*/ 1443630 w 2619438"/>
                <a:gd name="connsiteY2" fmla="*/ 2612676 h 2619437"/>
                <a:gd name="connsiteX3" fmla="*/ 1309739 w 2619438"/>
                <a:gd name="connsiteY3" fmla="*/ 2619437 h 2619437"/>
                <a:gd name="connsiteX4" fmla="*/ 1309699 w 2619438"/>
                <a:gd name="connsiteY4" fmla="*/ 2619437 h 2619437"/>
                <a:gd name="connsiteX5" fmla="*/ 1175808 w 2619438"/>
                <a:gd name="connsiteY5" fmla="*/ 2612676 h 2619437"/>
                <a:gd name="connsiteX6" fmla="*/ 0 w 2619438"/>
                <a:gd name="connsiteY6" fmla="*/ 1309719 h 2619437"/>
                <a:gd name="connsiteX7" fmla="*/ 1309719 w 2619438"/>
                <a:gd name="connsiteY7" fmla="*/ 0 h 2619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9438" h="2619437">
                  <a:moveTo>
                    <a:pt x="1309719" y="0"/>
                  </a:moveTo>
                  <a:cubicBezTo>
                    <a:pt x="2033057" y="0"/>
                    <a:pt x="2619438" y="586381"/>
                    <a:pt x="2619438" y="1309719"/>
                  </a:cubicBezTo>
                  <a:cubicBezTo>
                    <a:pt x="2619438" y="1987849"/>
                    <a:pt x="2104064" y="2545606"/>
                    <a:pt x="1443630" y="2612676"/>
                  </a:cubicBezTo>
                  <a:lnTo>
                    <a:pt x="1309739" y="2619437"/>
                  </a:lnTo>
                  <a:lnTo>
                    <a:pt x="1309699" y="2619437"/>
                  </a:lnTo>
                  <a:lnTo>
                    <a:pt x="1175808" y="2612676"/>
                  </a:lnTo>
                  <a:cubicBezTo>
                    <a:pt x="515374" y="2545606"/>
                    <a:pt x="0" y="1987849"/>
                    <a:pt x="0" y="1309719"/>
                  </a:cubicBezTo>
                  <a:cubicBezTo>
                    <a:pt x="0" y="586381"/>
                    <a:pt x="586381" y="0"/>
                    <a:pt x="1309719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28CB948-7C00-D877-4A19-960EED8E3691}"/>
                </a:ext>
              </a:extLst>
            </p:cNvPr>
            <p:cNvSpPr txBox="1"/>
            <p:nvPr/>
          </p:nvSpPr>
          <p:spPr>
            <a:xfrm>
              <a:off x="1769548" y="5570053"/>
              <a:ext cx="857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B415D"/>
                  </a:solidFill>
                </a:rPr>
                <a:t>Rome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CE6812-CB2A-2C96-27D5-AF47DDF730F7}"/>
              </a:ext>
            </a:extLst>
          </p:cNvPr>
          <p:cNvGrpSpPr/>
          <p:nvPr/>
        </p:nvGrpSpPr>
        <p:grpSpPr>
          <a:xfrm>
            <a:off x="4723751" y="4201102"/>
            <a:ext cx="1345424" cy="1774177"/>
            <a:chOff x="3509606" y="4165208"/>
            <a:chExt cx="1345424" cy="1774177"/>
          </a:xfrm>
        </p:grpSpPr>
        <p:pic>
          <p:nvPicPr>
            <p:cNvPr id="16" name="Picture 15" descr="Cosa vedere a Rieti in un giorno: itinerario a piedi">
              <a:extLst>
                <a:ext uri="{FF2B5EF4-FFF2-40B4-BE49-F238E27FC236}">
                  <a16:creationId xmlns:a16="http://schemas.microsoft.com/office/drawing/2014/main" id="{1BA922C0-6E59-97EF-BFC8-C05850BDC4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7" r="20967"/>
            <a:stretch>
              <a:fillRect/>
            </a:stretch>
          </p:blipFill>
          <p:spPr bwMode="auto">
            <a:xfrm>
              <a:off x="3509606" y="4165208"/>
              <a:ext cx="1345424" cy="1340282"/>
            </a:xfrm>
            <a:custGeom>
              <a:avLst/>
              <a:gdLst>
                <a:gd name="connsiteX0" fmla="*/ 972369 w 2206172"/>
                <a:gd name="connsiteY0" fmla="*/ 0 h 2197739"/>
                <a:gd name="connsiteX1" fmla="*/ 1233803 w 2206172"/>
                <a:gd name="connsiteY1" fmla="*/ 0 h 2197739"/>
                <a:gd name="connsiteX2" fmla="*/ 1325397 w 2206172"/>
                <a:gd name="connsiteY2" fmla="*/ 13979 h 2197739"/>
                <a:gd name="connsiteX3" fmla="*/ 2206172 w 2206172"/>
                <a:gd name="connsiteY3" fmla="*/ 1094654 h 2197739"/>
                <a:gd name="connsiteX4" fmla="*/ 1215870 w 2206172"/>
                <a:gd name="connsiteY4" fmla="*/ 2192045 h 2197739"/>
                <a:gd name="connsiteX5" fmla="*/ 1103106 w 2206172"/>
                <a:gd name="connsiteY5" fmla="*/ 2197739 h 2197739"/>
                <a:gd name="connsiteX6" fmla="*/ 1103066 w 2206172"/>
                <a:gd name="connsiteY6" fmla="*/ 2197739 h 2197739"/>
                <a:gd name="connsiteX7" fmla="*/ 990302 w 2206172"/>
                <a:gd name="connsiteY7" fmla="*/ 2192045 h 2197739"/>
                <a:gd name="connsiteX8" fmla="*/ 0 w 2206172"/>
                <a:gd name="connsiteY8" fmla="*/ 1094654 h 2197739"/>
                <a:gd name="connsiteX9" fmla="*/ 880776 w 2206172"/>
                <a:gd name="connsiteY9" fmla="*/ 13979 h 219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6172" h="2197739">
                  <a:moveTo>
                    <a:pt x="972369" y="0"/>
                  </a:moveTo>
                  <a:lnTo>
                    <a:pt x="1233803" y="0"/>
                  </a:lnTo>
                  <a:lnTo>
                    <a:pt x="1325397" y="13979"/>
                  </a:lnTo>
                  <a:cubicBezTo>
                    <a:pt x="1828055" y="116838"/>
                    <a:pt x="2206172" y="561588"/>
                    <a:pt x="2206172" y="1094654"/>
                  </a:cubicBezTo>
                  <a:cubicBezTo>
                    <a:pt x="2206172" y="1665796"/>
                    <a:pt x="1772109" y="2135556"/>
                    <a:pt x="1215870" y="2192045"/>
                  </a:cubicBezTo>
                  <a:lnTo>
                    <a:pt x="1103106" y="2197739"/>
                  </a:lnTo>
                  <a:lnTo>
                    <a:pt x="1103066" y="2197739"/>
                  </a:lnTo>
                  <a:lnTo>
                    <a:pt x="990302" y="2192045"/>
                  </a:lnTo>
                  <a:cubicBezTo>
                    <a:pt x="434064" y="2135556"/>
                    <a:pt x="0" y="1665796"/>
                    <a:pt x="0" y="1094654"/>
                  </a:cubicBezTo>
                  <a:cubicBezTo>
                    <a:pt x="0" y="561588"/>
                    <a:pt x="378118" y="116838"/>
                    <a:pt x="880776" y="13979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9B82D15-8223-633F-94B4-C954CF4FF640}"/>
                </a:ext>
              </a:extLst>
            </p:cNvPr>
            <p:cNvSpPr txBox="1"/>
            <p:nvPr/>
          </p:nvSpPr>
          <p:spPr>
            <a:xfrm>
              <a:off x="3797689" y="5570053"/>
              <a:ext cx="769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B415D"/>
                  </a:solidFill>
                </a:rPr>
                <a:t>Rieti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0F35D69-374D-FE25-608F-B09F6045FC22}"/>
              </a:ext>
            </a:extLst>
          </p:cNvPr>
          <p:cNvGrpSpPr/>
          <p:nvPr/>
        </p:nvGrpSpPr>
        <p:grpSpPr>
          <a:xfrm>
            <a:off x="7113814" y="4165208"/>
            <a:ext cx="1333500" cy="1777219"/>
            <a:chOff x="7113814" y="4165208"/>
            <a:chExt cx="1333500" cy="1777219"/>
          </a:xfrm>
        </p:grpSpPr>
        <p:pic>
          <p:nvPicPr>
            <p:cNvPr id="7" name="Picture 6" descr="Vivi la magia del Duomo di Milano di notte">
              <a:extLst>
                <a:ext uri="{FF2B5EF4-FFF2-40B4-BE49-F238E27FC236}">
                  <a16:creationId xmlns:a16="http://schemas.microsoft.com/office/drawing/2014/main" id="{4EEFCA3D-4F6E-D508-DDF3-25ACC3ED4B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4" t="11998" r="22335" b="7017"/>
            <a:stretch>
              <a:fillRect/>
            </a:stretch>
          </p:blipFill>
          <p:spPr bwMode="auto">
            <a:xfrm>
              <a:off x="7113814" y="4165208"/>
              <a:ext cx="1333500" cy="1333500"/>
            </a:xfrm>
            <a:custGeom>
              <a:avLst/>
              <a:gdLst>
                <a:gd name="connsiteX0" fmla="*/ 914400 w 1828800"/>
                <a:gd name="connsiteY0" fmla="*/ 0 h 1828800"/>
                <a:gd name="connsiteX1" fmla="*/ 1828800 w 1828800"/>
                <a:gd name="connsiteY1" fmla="*/ 914400 h 1828800"/>
                <a:gd name="connsiteX2" fmla="*/ 914400 w 1828800"/>
                <a:gd name="connsiteY2" fmla="*/ 1828800 h 1828800"/>
                <a:gd name="connsiteX3" fmla="*/ 0 w 1828800"/>
                <a:gd name="connsiteY3" fmla="*/ 914400 h 1828800"/>
                <a:gd name="connsiteX4" fmla="*/ 914400 w 1828800"/>
                <a:gd name="connsiteY4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800" h="1828800">
                  <a:moveTo>
                    <a:pt x="914400" y="0"/>
                  </a:moveTo>
                  <a:cubicBezTo>
                    <a:pt x="1419409" y="0"/>
                    <a:pt x="1828800" y="409391"/>
                    <a:pt x="1828800" y="914400"/>
                  </a:cubicBezTo>
                  <a:cubicBezTo>
                    <a:pt x="1828800" y="1419409"/>
                    <a:pt x="1419409" y="1828800"/>
                    <a:pt x="914400" y="1828800"/>
                  </a:cubicBezTo>
                  <a:cubicBezTo>
                    <a:pt x="409391" y="1828800"/>
                    <a:pt x="0" y="1419409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noFill/>
            <a:effectLst>
              <a:softEdge rad="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8C881E7-7104-AF29-3F3A-A570C7E55402}"/>
                </a:ext>
              </a:extLst>
            </p:cNvPr>
            <p:cNvSpPr txBox="1"/>
            <p:nvPr/>
          </p:nvSpPr>
          <p:spPr>
            <a:xfrm>
              <a:off x="7395935" y="5573095"/>
              <a:ext cx="769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B415D"/>
                  </a:solidFill>
                </a:rPr>
                <a:t>Milan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21239E-9F17-D191-3BA2-070D01B0306B}"/>
              </a:ext>
            </a:extLst>
          </p:cNvPr>
          <p:cNvGrpSpPr/>
          <p:nvPr/>
        </p:nvGrpSpPr>
        <p:grpSpPr>
          <a:xfrm>
            <a:off x="9231085" y="4165208"/>
            <a:ext cx="1336375" cy="1777219"/>
            <a:chOff x="9231085" y="4165208"/>
            <a:chExt cx="1336375" cy="1777219"/>
          </a:xfrm>
        </p:grpSpPr>
        <p:pic>
          <p:nvPicPr>
            <p:cNvPr id="24" name="Picture 23" descr="Cernobbio - Cosa vedere e come arrivare">
              <a:extLst>
                <a:ext uri="{FF2B5EF4-FFF2-40B4-BE49-F238E27FC236}">
                  <a16:creationId xmlns:a16="http://schemas.microsoft.com/office/drawing/2014/main" id="{BA5FC27E-D1ED-2AF5-EBE9-9A38C02012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36" r="20022" b="2677"/>
            <a:stretch>
              <a:fillRect/>
            </a:stretch>
          </p:blipFill>
          <p:spPr bwMode="auto">
            <a:xfrm>
              <a:off x="9231085" y="4165208"/>
              <a:ext cx="1336375" cy="1333500"/>
            </a:xfrm>
            <a:custGeom>
              <a:avLst/>
              <a:gdLst>
                <a:gd name="connsiteX0" fmla="*/ 896223 w 1959430"/>
                <a:gd name="connsiteY0" fmla="*/ 0 h 1955214"/>
                <a:gd name="connsiteX1" fmla="*/ 1063207 w 1959430"/>
                <a:gd name="connsiteY1" fmla="*/ 0 h 1955214"/>
                <a:gd name="connsiteX2" fmla="*/ 1079885 w 1959430"/>
                <a:gd name="connsiteY2" fmla="*/ 842 h 1955214"/>
                <a:gd name="connsiteX3" fmla="*/ 1959430 w 1959430"/>
                <a:gd name="connsiteY3" fmla="*/ 975499 h 1955214"/>
                <a:gd name="connsiteX4" fmla="*/ 979715 w 1959430"/>
                <a:gd name="connsiteY4" fmla="*/ 1955214 h 1955214"/>
                <a:gd name="connsiteX5" fmla="*/ 0 w 1959430"/>
                <a:gd name="connsiteY5" fmla="*/ 975499 h 1955214"/>
                <a:gd name="connsiteX6" fmla="*/ 879545 w 1959430"/>
                <a:gd name="connsiteY6" fmla="*/ 842 h 195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9430" h="1955214">
                  <a:moveTo>
                    <a:pt x="896223" y="0"/>
                  </a:moveTo>
                  <a:lnTo>
                    <a:pt x="1063207" y="0"/>
                  </a:lnTo>
                  <a:lnTo>
                    <a:pt x="1079885" y="842"/>
                  </a:lnTo>
                  <a:cubicBezTo>
                    <a:pt x="1573913" y="51013"/>
                    <a:pt x="1959430" y="468235"/>
                    <a:pt x="1959430" y="975499"/>
                  </a:cubicBezTo>
                  <a:cubicBezTo>
                    <a:pt x="1959430" y="1516581"/>
                    <a:pt x="1520797" y="1955214"/>
                    <a:pt x="979715" y="1955214"/>
                  </a:cubicBezTo>
                  <a:cubicBezTo>
                    <a:pt x="438633" y="1955214"/>
                    <a:pt x="0" y="1516581"/>
                    <a:pt x="0" y="975499"/>
                  </a:cubicBezTo>
                  <a:cubicBezTo>
                    <a:pt x="0" y="468235"/>
                    <a:pt x="385517" y="51013"/>
                    <a:pt x="879545" y="842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742664-34D3-33BF-7D27-E9A9CDACF9DD}"/>
                </a:ext>
              </a:extLst>
            </p:cNvPr>
            <p:cNvSpPr txBox="1"/>
            <p:nvPr/>
          </p:nvSpPr>
          <p:spPr>
            <a:xfrm>
              <a:off x="9231085" y="5573095"/>
              <a:ext cx="1336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1B415D"/>
                  </a:solidFill>
                </a:rPr>
                <a:t>Cernobbio</a:t>
              </a:r>
              <a:endParaRPr lang="en-US" b="1" dirty="0">
                <a:solidFill>
                  <a:srgbClr val="1B415D"/>
                </a:solidFill>
              </a:endParaRPr>
            </a:p>
          </p:txBody>
        </p:sp>
      </p:grpSp>
      <p:grpSp>
        <p:nvGrpSpPr>
          <p:cNvPr id="7173" name="Group 7172">
            <a:extLst>
              <a:ext uri="{FF2B5EF4-FFF2-40B4-BE49-F238E27FC236}">
                <a16:creationId xmlns:a16="http://schemas.microsoft.com/office/drawing/2014/main" id="{01428896-D781-AE38-0EA7-A15C13B62C4A}"/>
              </a:ext>
            </a:extLst>
          </p:cNvPr>
          <p:cNvGrpSpPr/>
          <p:nvPr/>
        </p:nvGrpSpPr>
        <p:grpSpPr>
          <a:xfrm>
            <a:off x="3073845" y="3055458"/>
            <a:ext cx="694115" cy="1110076"/>
            <a:chOff x="3073845" y="3055458"/>
            <a:chExt cx="694115" cy="1110076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92BC7B8-2CDE-3325-FF99-EE95B48423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6056" y="3055458"/>
              <a:ext cx="2851" cy="1110076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B676D3F-56D5-9E07-4DFA-32E9EC49C9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73845" y="3059667"/>
              <a:ext cx="694115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179" name="Group 7178">
            <a:extLst>
              <a:ext uri="{FF2B5EF4-FFF2-40B4-BE49-F238E27FC236}">
                <a16:creationId xmlns:a16="http://schemas.microsoft.com/office/drawing/2014/main" id="{66D71234-3669-39DA-141A-89585C334FA7}"/>
              </a:ext>
            </a:extLst>
          </p:cNvPr>
          <p:cNvGrpSpPr/>
          <p:nvPr/>
        </p:nvGrpSpPr>
        <p:grpSpPr>
          <a:xfrm>
            <a:off x="7734054" y="3072233"/>
            <a:ext cx="507156" cy="1097280"/>
            <a:chOff x="7734054" y="3072233"/>
            <a:chExt cx="507156" cy="109728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DE3F9C0-5790-8D85-279B-6908E8EE0048}"/>
                </a:ext>
              </a:extLst>
            </p:cNvPr>
            <p:cNvCxnSpPr/>
            <p:nvPr/>
          </p:nvCxnSpPr>
          <p:spPr>
            <a:xfrm flipH="1" flipV="1">
              <a:off x="7768766" y="3072233"/>
              <a:ext cx="0" cy="1097280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95094B4-2011-030A-289C-6257C818FA98}"/>
                </a:ext>
              </a:extLst>
            </p:cNvPr>
            <p:cNvCxnSpPr>
              <a:cxnSpLocks/>
            </p:cNvCxnSpPr>
            <p:nvPr/>
          </p:nvCxnSpPr>
          <p:spPr>
            <a:xfrm>
              <a:off x="7734054" y="3086749"/>
              <a:ext cx="507156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175" name="Group 7174">
            <a:extLst>
              <a:ext uri="{FF2B5EF4-FFF2-40B4-BE49-F238E27FC236}">
                <a16:creationId xmlns:a16="http://schemas.microsoft.com/office/drawing/2014/main" id="{AD4098F4-459D-17BD-8985-8A6835F8AF45}"/>
              </a:ext>
            </a:extLst>
          </p:cNvPr>
          <p:cNvGrpSpPr/>
          <p:nvPr/>
        </p:nvGrpSpPr>
        <p:grpSpPr>
          <a:xfrm>
            <a:off x="4569429" y="3073155"/>
            <a:ext cx="868680" cy="1122048"/>
            <a:chOff x="4569429" y="3073155"/>
            <a:chExt cx="868680" cy="112204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888847F-B821-EBC1-0A6C-48DEF0B4B1BA}"/>
                </a:ext>
              </a:extLst>
            </p:cNvPr>
            <p:cNvCxnSpPr/>
            <p:nvPr/>
          </p:nvCxnSpPr>
          <p:spPr>
            <a:xfrm flipH="1" flipV="1">
              <a:off x="5403719" y="3109878"/>
              <a:ext cx="0" cy="1085325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20FE574-1DD7-6CBA-DDE4-F4D283662D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429" y="3073155"/>
              <a:ext cx="868680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181" name="Group 7180">
            <a:extLst>
              <a:ext uri="{FF2B5EF4-FFF2-40B4-BE49-F238E27FC236}">
                <a16:creationId xmlns:a16="http://schemas.microsoft.com/office/drawing/2014/main" id="{38C967B4-A2E7-0F5C-5B4E-3C04ED571495}"/>
              </a:ext>
            </a:extLst>
          </p:cNvPr>
          <p:cNvGrpSpPr/>
          <p:nvPr/>
        </p:nvGrpSpPr>
        <p:grpSpPr>
          <a:xfrm>
            <a:off x="9475161" y="3055458"/>
            <a:ext cx="502920" cy="1109750"/>
            <a:chOff x="9475161" y="3055458"/>
            <a:chExt cx="502920" cy="110975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E49D628-F58D-E3A0-C55E-C8272F0F5E50}"/>
                </a:ext>
              </a:extLst>
            </p:cNvPr>
            <p:cNvCxnSpPr/>
            <p:nvPr/>
          </p:nvCxnSpPr>
          <p:spPr>
            <a:xfrm flipH="1" flipV="1">
              <a:off x="9938739" y="3079883"/>
              <a:ext cx="0" cy="1085325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DF78055-05F6-A11A-F551-EF2BD10983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75161" y="3055458"/>
              <a:ext cx="502920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177" name="Group 7176">
            <a:extLst>
              <a:ext uri="{FF2B5EF4-FFF2-40B4-BE49-F238E27FC236}">
                <a16:creationId xmlns:a16="http://schemas.microsoft.com/office/drawing/2014/main" id="{73AF4354-E219-0355-83FF-62C377B935A4}"/>
              </a:ext>
            </a:extLst>
          </p:cNvPr>
          <p:cNvGrpSpPr/>
          <p:nvPr/>
        </p:nvGrpSpPr>
        <p:grpSpPr>
          <a:xfrm>
            <a:off x="4141381" y="1843002"/>
            <a:ext cx="1998162" cy="1028735"/>
            <a:chOff x="4141381" y="1843002"/>
            <a:chExt cx="1998162" cy="1028735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4DB5A0C-2844-F649-BF88-E19601CD4A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7036" y="1843002"/>
              <a:ext cx="970" cy="1028735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FAACE483-318E-7966-227E-92893BA13B86}"/>
                </a:ext>
              </a:extLst>
            </p:cNvPr>
            <p:cNvCxnSpPr>
              <a:cxnSpLocks/>
            </p:cNvCxnSpPr>
            <p:nvPr/>
          </p:nvCxnSpPr>
          <p:spPr>
            <a:xfrm>
              <a:off x="4141381" y="1843002"/>
              <a:ext cx="1998162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182" name="Group 7181">
            <a:extLst>
              <a:ext uri="{FF2B5EF4-FFF2-40B4-BE49-F238E27FC236}">
                <a16:creationId xmlns:a16="http://schemas.microsoft.com/office/drawing/2014/main" id="{94D6A2AA-A6B0-AFF4-0CC1-C914CA84322B}"/>
              </a:ext>
            </a:extLst>
          </p:cNvPr>
          <p:cNvGrpSpPr/>
          <p:nvPr/>
        </p:nvGrpSpPr>
        <p:grpSpPr>
          <a:xfrm>
            <a:off x="7119100" y="1843002"/>
            <a:ext cx="1772786" cy="1028735"/>
            <a:chOff x="7119100" y="1843002"/>
            <a:chExt cx="1772786" cy="1028735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15641DC-A1FE-66EF-8B39-F2410A293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52446" y="1843002"/>
              <a:ext cx="0" cy="1028735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F5B199F-6AC6-4081-28AD-C18D6F02C4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9100" y="1844558"/>
              <a:ext cx="1772786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187" name="Group 7186">
            <a:extLst>
              <a:ext uri="{FF2B5EF4-FFF2-40B4-BE49-F238E27FC236}">
                <a16:creationId xmlns:a16="http://schemas.microsoft.com/office/drawing/2014/main" id="{3C3C432E-A321-E6AB-E379-7B3246BB220E}"/>
              </a:ext>
            </a:extLst>
          </p:cNvPr>
          <p:cNvGrpSpPr/>
          <p:nvPr/>
        </p:nvGrpSpPr>
        <p:grpSpPr>
          <a:xfrm>
            <a:off x="29343" y="5314190"/>
            <a:ext cx="2079459" cy="438212"/>
            <a:chOff x="29343" y="5314190"/>
            <a:chExt cx="2079459" cy="438212"/>
          </a:xfrm>
        </p:grpSpPr>
        <p:cxnSp>
          <p:nvCxnSpPr>
            <p:cNvPr id="7183" name="Straight Arrow Connector 7182">
              <a:extLst>
                <a:ext uri="{FF2B5EF4-FFF2-40B4-BE49-F238E27FC236}">
                  <a16:creationId xmlns:a16="http://schemas.microsoft.com/office/drawing/2014/main" id="{2BC8A943-2729-9FEF-6BE8-681E3A3637D4}"/>
                </a:ext>
              </a:extLst>
            </p:cNvPr>
            <p:cNvCxnSpPr>
              <a:cxnSpLocks/>
            </p:cNvCxnSpPr>
            <p:nvPr/>
          </p:nvCxnSpPr>
          <p:spPr>
            <a:xfrm>
              <a:off x="29343" y="5752402"/>
              <a:ext cx="2079459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7184" name="TextBox 7183">
              <a:extLst>
                <a:ext uri="{FF2B5EF4-FFF2-40B4-BE49-F238E27FC236}">
                  <a16:creationId xmlns:a16="http://schemas.microsoft.com/office/drawing/2014/main" id="{E866F1AA-AC51-B938-A8AB-73230DFDE611}"/>
                </a:ext>
              </a:extLst>
            </p:cNvPr>
            <p:cNvSpPr txBox="1"/>
            <p:nvPr/>
          </p:nvSpPr>
          <p:spPr>
            <a:xfrm>
              <a:off x="266705" y="5314190"/>
              <a:ext cx="14840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B415D"/>
                  </a:solidFill>
                </a:rPr>
                <a:t>Forecast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8B110DB-1211-2A59-C946-5CB01E14DE45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C6564CF9-57D2-0ED7-EBC6-B2B25D3EA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E299BB-B844-D857-6E98-69897DC629F5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9" name="Picture 4" descr="Home – Planet">
            <a:extLst>
              <a:ext uri="{FF2B5EF4-FFF2-40B4-BE49-F238E27FC236}">
                <a16:creationId xmlns:a16="http://schemas.microsoft.com/office/drawing/2014/main" id="{B57A461C-2905-F0F9-506E-2B92C94BE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8C482BF-4523-A5FA-4C8E-9DC8976AC8EE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2" name="Picture 2" descr="Logo Università di Napoli Federico II">
              <a:extLst>
                <a:ext uri="{FF2B5EF4-FFF2-40B4-BE49-F238E27FC236}">
                  <a16:creationId xmlns:a16="http://schemas.microsoft.com/office/drawing/2014/main" id="{59BCC9A4-9DFD-5FDF-9873-808BFC253C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Master Degree | International Relations | Italia">
              <a:extLst>
                <a:ext uri="{FF2B5EF4-FFF2-40B4-BE49-F238E27FC236}">
                  <a16:creationId xmlns:a16="http://schemas.microsoft.com/office/drawing/2014/main" id="{A55C494E-79E5-BE93-54EF-B98066194A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2F404C3-3B0C-792A-375F-E45AD7F27DBA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258509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2EF68-16D1-3912-39A3-98FC93C0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4073584-5FE0-7ED0-7D4E-6C363ED3CB02}"/>
              </a:ext>
            </a:extLst>
          </p:cNvPr>
          <p:cNvSpPr txBox="1"/>
          <p:nvPr/>
        </p:nvSpPr>
        <p:spPr>
          <a:xfrm>
            <a:off x="3147358" y="3105834"/>
            <a:ext cx="58972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Problem : add up problem, sum of child forecasting is not equal to their parent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1056CF-262F-C793-0969-A2695A9E521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210BFDB5-0F33-57C0-B427-FED577452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075E84-7C1F-B9BB-8622-7512813875A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7" name="Picture 4" descr="Home – Planet">
            <a:extLst>
              <a:ext uri="{FF2B5EF4-FFF2-40B4-BE49-F238E27FC236}">
                <a16:creationId xmlns:a16="http://schemas.microsoft.com/office/drawing/2014/main" id="{CACECA69-3D49-65FC-E768-DB7AFBA59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3E11545-6060-6551-302C-36E7771DECC7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0" name="Picture 2" descr="Logo Università di Napoli Federico II">
              <a:extLst>
                <a:ext uri="{FF2B5EF4-FFF2-40B4-BE49-F238E27FC236}">
                  <a16:creationId xmlns:a16="http://schemas.microsoft.com/office/drawing/2014/main" id="{E57F8106-A246-EE62-2027-CA02411E2A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Master Degree | International Relations | Italia">
              <a:extLst>
                <a:ext uri="{FF2B5EF4-FFF2-40B4-BE49-F238E27FC236}">
                  <a16:creationId xmlns:a16="http://schemas.microsoft.com/office/drawing/2014/main" id="{D8A86B98-A04D-FA09-85CA-B1DA64574A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B2FD2CF-0730-9163-3DFC-313624DE69FB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3754060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C2095-7F07-3D63-2CA6-D8AB81C50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6FA1B1F-479F-203E-3A81-1C8E97567300}"/>
              </a:ext>
            </a:extLst>
          </p:cNvPr>
          <p:cNvSpPr txBox="1"/>
          <p:nvPr/>
        </p:nvSpPr>
        <p:spPr>
          <a:xfrm>
            <a:off x="3147358" y="3105834"/>
            <a:ext cx="5897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What is optimal solution?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FDD779-20F2-EB10-068F-9C1CCB1D15FF}"/>
              </a:ext>
            </a:extLst>
          </p:cNvPr>
          <p:cNvSpPr txBox="1"/>
          <p:nvPr/>
        </p:nvSpPr>
        <p:spPr>
          <a:xfrm>
            <a:off x="3147358" y="3889299"/>
            <a:ext cx="5897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Hierarchical Reconciliation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9699E3-A487-FE26-9C71-E8C8098F680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6989E030-F695-0DA1-7A63-567B8708D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F0F3A4-4476-48C5-6571-73D26630DE3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8" name="Picture 4" descr="Home – Planet">
            <a:extLst>
              <a:ext uri="{FF2B5EF4-FFF2-40B4-BE49-F238E27FC236}">
                <a16:creationId xmlns:a16="http://schemas.microsoft.com/office/drawing/2014/main" id="{A1C66B50-D3A5-7446-225D-A85A7AB11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44CFEE5-C85F-E10E-E09E-CC2B113C945F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1" name="Picture 2" descr="Logo Università di Napoli Federico II">
              <a:extLst>
                <a:ext uri="{FF2B5EF4-FFF2-40B4-BE49-F238E27FC236}">
                  <a16:creationId xmlns:a16="http://schemas.microsoft.com/office/drawing/2014/main" id="{6F838C19-CC09-6480-B0DD-116D783576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Master Degree | International Relations | Italia">
              <a:extLst>
                <a:ext uri="{FF2B5EF4-FFF2-40B4-BE49-F238E27FC236}">
                  <a16:creationId xmlns:a16="http://schemas.microsoft.com/office/drawing/2014/main" id="{70262817-F68C-1A6B-562B-2D47782565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333C333-3B43-BD86-3C9B-8FD4002EBE6E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3963070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30843-CDB1-FAC9-5098-6E99D403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420+ Italian Flag Logo Stock Illustrations, Royalty-Free Vector Graphics &amp;  Clip Art - iStock">
            <a:extLst>
              <a:ext uri="{FF2B5EF4-FFF2-40B4-BE49-F238E27FC236}">
                <a16:creationId xmlns:a16="http://schemas.microsoft.com/office/drawing/2014/main" id="{4F665217-4800-CD26-D5F8-0286883E0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121" y="1229158"/>
            <a:ext cx="1484086" cy="1484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B36FD6-018C-E113-5D6A-7E5BF40C08B8}"/>
              </a:ext>
            </a:extLst>
          </p:cNvPr>
          <p:cNvSpPr txBox="1"/>
          <p:nvPr/>
        </p:nvSpPr>
        <p:spPr>
          <a:xfrm>
            <a:off x="3800171" y="2875002"/>
            <a:ext cx="769258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B415D"/>
                </a:solidFill>
              </a:rPr>
              <a:t>Lazio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E2B5D-67BC-B7C7-936D-8164A79C433B}"/>
              </a:ext>
            </a:extLst>
          </p:cNvPr>
          <p:cNvSpPr txBox="1"/>
          <p:nvPr/>
        </p:nvSpPr>
        <p:spPr>
          <a:xfrm>
            <a:off x="8230317" y="2883745"/>
            <a:ext cx="1240972" cy="369332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B415D"/>
                </a:solidFill>
              </a:rPr>
              <a:t>Lombardy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0A361D-A4EA-2FE9-7BB0-FE182E82BB24}"/>
              </a:ext>
            </a:extLst>
          </p:cNvPr>
          <p:cNvGrpSpPr/>
          <p:nvPr/>
        </p:nvGrpSpPr>
        <p:grpSpPr>
          <a:xfrm>
            <a:off x="2438766" y="4168250"/>
            <a:ext cx="1340283" cy="1774177"/>
            <a:chOff x="1484037" y="4165208"/>
            <a:chExt cx="1340283" cy="1774177"/>
          </a:xfrm>
        </p:grpSpPr>
        <p:pic>
          <p:nvPicPr>
            <p:cNvPr id="14" name="Picture 13" descr="10 interesting facts about the Colosseum you (probably) didn't know |  Trainline">
              <a:extLst>
                <a:ext uri="{FF2B5EF4-FFF2-40B4-BE49-F238E27FC236}">
                  <a16:creationId xmlns:a16="http://schemas.microsoft.com/office/drawing/2014/main" id="{37A02B7C-0931-75E5-8AE1-797B01AB18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0" r="360"/>
            <a:stretch>
              <a:fillRect/>
            </a:stretch>
          </p:blipFill>
          <p:spPr bwMode="auto">
            <a:xfrm>
              <a:off x="1484037" y="4165208"/>
              <a:ext cx="1340283" cy="1340282"/>
            </a:xfrm>
            <a:custGeom>
              <a:avLst/>
              <a:gdLst>
                <a:gd name="connsiteX0" fmla="*/ 1309719 w 2619438"/>
                <a:gd name="connsiteY0" fmla="*/ 0 h 2619437"/>
                <a:gd name="connsiteX1" fmla="*/ 2619438 w 2619438"/>
                <a:gd name="connsiteY1" fmla="*/ 1309719 h 2619437"/>
                <a:gd name="connsiteX2" fmla="*/ 1443630 w 2619438"/>
                <a:gd name="connsiteY2" fmla="*/ 2612676 h 2619437"/>
                <a:gd name="connsiteX3" fmla="*/ 1309739 w 2619438"/>
                <a:gd name="connsiteY3" fmla="*/ 2619437 h 2619437"/>
                <a:gd name="connsiteX4" fmla="*/ 1309699 w 2619438"/>
                <a:gd name="connsiteY4" fmla="*/ 2619437 h 2619437"/>
                <a:gd name="connsiteX5" fmla="*/ 1175808 w 2619438"/>
                <a:gd name="connsiteY5" fmla="*/ 2612676 h 2619437"/>
                <a:gd name="connsiteX6" fmla="*/ 0 w 2619438"/>
                <a:gd name="connsiteY6" fmla="*/ 1309719 h 2619437"/>
                <a:gd name="connsiteX7" fmla="*/ 1309719 w 2619438"/>
                <a:gd name="connsiteY7" fmla="*/ 0 h 2619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19438" h="2619437">
                  <a:moveTo>
                    <a:pt x="1309719" y="0"/>
                  </a:moveTo>
                  <a:cubicBezTo>
                    <a:pt x="2033057" y="0"/>
                    <a:pt x="2619438" y="586381"/>
                    <a:pt x="2619438" y="1309719"/>
                  </a:cubicBezTo>
                  <a:cubicBezTo>
                    <a:pt x="2619438" y="1987849"/>
                    <a:pt x="2104064" y="2545606"/>
                    <a:pt x="1443630" y="2612676"/>
                  </a:cubicBezTo>
                  <a:lnTo>
                    <a:pt x="1309739" y="2619437"/>
                  </a:lnTo>
                  <a:lnTo>
                    <a:pt x="1309699" y="2619437"/>
                  </a:lnTo>
                  <a:lnTo>
                    <a:pt x="1175808" y="2612676"/>
                  </a:lnTo>
                  <a:cubicBezTo>
                    <a:pt x="515374" y="2545606"/>
                    <a:pt x="0" y="1987849"/>
                    <a:pt x="0" y="1309719"/>
                  </a:cubicBezTo>
                  <a:cubicBezTo>
                    <a:pt x="0" y="586381"/>
                    <a:pt x="586381" y="0"/>
                    <a:pt x="1309719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75F14A5-E8B4-934D-9C38-2DF33082D5B5}"/>
                </a:ext>
              </a:extLst>
            </p:cNvPr>
            <p:cNvSpPr txBox="1"/>
            <p:nvPr/>
          </p:nvSpPr>
          <p:spPr>
            <a:xfrm>
              <a:off x="1769548" y="5570053"/>
              <a:ext cx="857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B415D"/>
                  </a:solidFill>
                </a:rPr>
                <a:t>Rome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1959E9C-491E-1A4B-810C-A92CBD66DF40}"/>
              </a:ext>
            </a:extLst>
          </p:cNvPr>
          <p:cNvGrpSpPr/>
          <p:nvPr/>
        </p:nvGrpSpPr>
        <p:grpSpPr>
          <a:xfrm>
            <a:off x="4723751" y="4201102"/>
            <a:ext cx="1345424" cy="1774177"/>
            <a:chOff x="3509606" y="4165208"/>
            <a:chExt cx="1345424" cy="1774177"/>
          </a:xfrm>
        </p:grpSpPr>
        <p:pic>
          <p:nvPicPr>
            <p:cNvPr id="16" name="Picture 15" descr="Cosa vedere a Rieti in un giorno: itinerario a piedi">
              <a:extLst>
                <a:ext uri="{FF2B5EF4-FFF2-40B4-BE49-F238E27FC236}">
                  <a16:creationId xmlns:a16="http://schemas.microsoft.com/office/drawing/2014/main" id="{DE903ED2-A9B8-F8FB-22CF-981AC6D2BF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97" r="20967"/>
            <a:stretch>
              <a:fillRect/>
            </a:stretch>
          </p:blipFill>
          <p:spPr bwMode="auto">
            <a:xfrm>
              <a:off x="3509606" y="4165208"/>
              <a:ext cx="1345424" cy="1340282"/>
            </a:xfrm>
            <a:custGeom>
              <a:avLst/>
              <a:gdLst>
                <a:gd name="connsiteX0" fmla="*/ 972369 w 2206172"/>
                <a:gd name="connsiteY0" fmla="*/ 0 h 2197739"/>
                <a:gd name="connsiteX1" fmla="*/ 1233803 w 2206172"/>
                <a:gd name="connsiteY1" fmla="*/ 0 h 2197739"/>
                <a:gd name="connsiteX2" fmla="*/ 1325397 w 2206172"/>
                <a:gd name="connsiteY2" fmla="*/ 13979 h 2197739"/>
                <a:gd name="connsiteX3" fmla="*/ 2206172 w 2206172"/>
                <a:gd name="connsiteY3" fmla="*/ 1094654 h 2197739"/>
                <a:gd name="connsiteX4" fmla="*/ 1215870 w 2206172"/>
                <a:gd name="connsiteY4" fmla="*/ 2192045 h 2197739"/>
                <a:gd name="connsiteX5" fmla="*/ 1103106 w 2206172"/>
                <a:gd name="connsiteY5" fmla="*/ 2197739 h 2197739"/>
                <a:gd name="connsiteX6" fmla="*/ 1103066 w 2206172"/>
                <a:gd name="connsiteY6" fmla="*/ 2197739 h 2197739"/>
                <a:gd name="connsiteX7" fmla="*/ 990302 w 2206172"/>
                <a:gd name="connsiteY7" fmla="*/ 2192045 h 2197739"/>
                <a:gd name="connsiteX8" fmla="*/ 0 w 2206172"/>
                <a:gd name="connsiteY8" fmla="*/ 1094654 h 2197739"/>
                <a:gd name="connsiteX9" fmla="*/ 880776 w 2206172"/>
                <a:gd name="connsiteY9" fmla="*/ 13979 h 219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06172" h="2197739">
                  <a:moveTo>
                    <a:pt x="972369" y="0"/>
                  </a:moveTo>
                  <a:lnTo>
                    <a:pt x="1233803" y="0"/>
                  </a:lnTo>
                  <a:lnTo>
                    <a:pt x="1325397" y="13979"/>
                  </a:lnTo>
                  <a:cubicBezTo>
                    <a:pt x="1828055" y="116838"/>
                    <a:pt x="2206172" y="561588"/>
                    <a:pt x="2206172" y="1094654"/>
                  </a:cubicBezTo>
                  <a:cubicBezTo>
                    <a:pt x="2206172" y="1665796"/>
                    <a:pt x="1772109" y="2135556"/>
                    <a:pt x="1215870" y="2192045"/>
                  </a:cubicBezTo>
                  <a:lnTo>
                    <a:pt x="1103106" y="2197739"/>
                  </a:lnTo>
                  <a:lnTo>
                    <a:pt x="1103066" y="2197739"/>
                  </a:lnTo>
                  <a:lnTo>
                    <a:pt x="990302" y="2192045"/>
                  </a:lnTo>
                  <a:cubicBezTo>
                    <a:pt x="434064" y="2135556"/>
                    <a:pt x="0" y="1665796"/>
                    <a:pt x="0" y="1094654"/>
                  </a:cubicBezTo>
                  <a:cubicBezTo>
                    <a:pt x="0" y="561588"/>
                    <a:pt x="378118" y="116838"/>
                    <a:pt x="880776" y="13979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4512295-8B11-0B12-E037-CEBD92993E60}"/>
                </a:ext>
              </a:extLst>
            </p:cNvPr>
            <p:cNvSpPr txBox="1"/>
            <p:nvPr/>
          </p:nvSpPr>
          <p:spPr>
            <a:xfrm>
              <a:off x="3797689" y="5570053"/>
              <a:ext cx="769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B415D"/>
                  </a:solidFill>
                </a:rPr>
                <a:t>Rieti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6184F7-3230-ABBC-51D4-5786AFF57608}"/>
              </a:ext>
            </a:extLst>
          </p:cNvPr>
          <p:cNvGrpSpPr/>
          <p:nvPr/>
        </p:nvGrpSpPr>
        <p:grpSpPr>
          <a:xfrm>
            <a:off x="7113814" y="4165208"/>
            <a:ext cx="1333500" cy="1777219"/>
            <a:chOff x="7113814" y="4165208"/>
            <a:chExt cx="1333500" cy="1777219"/>
          </a:xfrm>
        </p:grpSpPr>
        <p:pic>
          <p:nvPicPr>
            <p:cNvPr id="7" name="Picture 6" descr="Vivi la magia del Duomo di Milano di notte">
              <a:extLst>
                <a:ext uri="{FF2B5EF4-FFF2-40B4-BE49-F238E27FC236}">
                  <a16:creationId xmlns:a16="http://schemas.microsoft.com/office/drawing/2014/main" id="{AE192D41-2E91-5EF8-4732-7FAA1E310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674" t="11998" r="22335" b="7017"/>
            <a:stretch>
              <a:fillRect/>
            </a:stretch>
          </p:blipFill>
          <p:spPr bwMode="auto">
            <a:xfrm>
              <a:off x="7113814" y="4165208"/>
              <a:ext cx="1333500" cy="1333500"/>
            </a:xfrm>
            <a:custGeom>
              <a:avLst/>
              <a:gdLst>
                <a:gd name="connsiteX0" fmla="*/ 914400 w 1828800"/>
                <a:gd name="connsiteY0" fmla="*/ 0 h 1828800"/>
                <a:gd name="connsiteX1" fmla="*/ 1828800 w 1828800"/>
                <a:gd name="connsiteY1" fmla="*/ 914400 h 1828800"/>
                <a:gd name="connsiteX2" fmla="*/ 914400 w 1828800"/>
                <a:gd name="connsiteY2" fmla="*/ 1828800 h 1828800"/>
                <a:gd name="connsiteX3" fmla="*/ 0 w 1828800"/>
                <a:gd name="connsiteY3" fmla="*/ 914400 h 1828800"/>
                <a:gd name="connsiteX4" fmla="*/ 914400 w 1828800"/>
                <a:gd name="connsiteY4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8800" h="1828800">
                  <a:moveTo>
                    <a:pt x="914400" y="0"/>
                  </a:moveTo>
                  <a:cubicBezTo>
                    <a:pt x="1419409" y="0"/>
                    <a:pt x="1828800" y="409391"/>
                    <a:pt x="1828800" y="914400"/>
                  </a:cubicBezTo>
                  <a:cubicBezTo>
                    <a:pt x="1828800" y="1419409"/>
                    <a:pt x="1419409" y="1828800"/>
                    <a:pt x="914400" y="1828800"/>
                  </a:cubicBezTo>
                  <a:cubicBezTo>
                    <a:pt x="409391" y="1828800"/>
                    <a:pt x="0" y="1419409"/>
                    <a:pt x="0" y="914400"/>
                  </a:cubicBezTo>
                  <a:cubicBezTo>
                    <a:pt x="0" y="409391"/>
                    <a:pt x="409391" y="0"/>
                    <a:pt x="914400" y="0"/>
                  </a:cubicBezTo>
                  <a:close/>
                </a:path>
              </a:pathLst>
            </a:custGeom>
            <a:noFill/>
            <a:effectLst>
              <a:softEdge rad="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782FEFE-BC9B-1D20-84D9-BD598DE3BE8B}"/>
                </a:ext>
              </a:extLst>
            </p:cNvPr>
            <p:cNvSpPr txBox="1"/>
            <p:nvPr/>
          </p:nvSpPr>
          <p:spPr>
            <a:xfrm>
              <a:off x="7395935" y="5573095"/>
              <a:ext cx="7692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1B415D"/>
                  </a:solidFill>
                </a:rPr>
                <a:t>Milan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1DC9275-E100-8595-2F16-8D2A224C2744}"/>
              </a:ext>
            </a:extLst>
          </p:cNvPr>
          <p:cNvGrpSpPr/>
          <p:nvPr/>
        </p:nvGrpSpPr>
        <p:grpSpPr>
          <a:xfrm>
            <a:off x="9231085" y="4165208"/>
            <a:ext cx="1336375" cy="1777219"/>
            <a:chOff x="9231085" y="4165208"/>
            <a:chExt cx="1336375" cy="1777219"/>
          </a:xfrm>
        </p:grpSpPr>
        <p:pic>
          <p:nvPicPr>
            <p:cNvPr id="24" name="Picture 23" descr="Cernobbio - Cosa vedere e come arrivare">
              <a:extLst>
                <a:ext uri="{FF2B5EF4-FFF2-40B4-BE49-F238E27FC236}">
                  <a16:creationId xmlns:a16="http://schemas.microsoft.com/office/drawing/2014/main" id="{0A970DB1-051C-5BD9-FBE0-2020EA7D9F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36" r="20022" b="2677"/>
            <a:stretch>
              <a:fillRect/>
            </a:stretch>
          </p:blipFill>
          <p:spPr bwMode="auto">
            <a:xfrm>
              <a:off x="9231085" y="4165208"/>
              <a:ext cx="1336375" cy="1333500"/>
            </a:xfrm>
            <a:custGeom>
              <a:avLst/>
              <a:gdLst>
                <a:gd name="connsiteX0" fmla="*/ 896223 w 1959430"/>
                <a:gd name="connsiteY0" fmla="*/ 0 h 1955214"/>
                <a:gd name="connsiteX1" fmla="*/ 1063207 w 1959430"/>
                <a:gd name="connsiteY1" fmla="*/ 0 h 1955214"/>
                <a:gd name="connsiteX2" fmla="*/ 1079885 w 1959430"/>
                <a:gd name="connsiteY2" fmla="*/ 842 h 1955214"/>
                <a:gd name="connsiteX3" fmla="*/ 1959430 w 1959430"/>
                <a:gd name="connsiteY3" fmla="*/ 975499 h 1955214"/>
                <a:gd name="connsiteX4" fmla="*/ 979715 w 1959430"/>
                <a:gd name="connsiteY4" fmla="*/ 1955214 h 1955214"/>
                <a:gd name="connsiteX5" fmla="*/ 0 w 1959430"/>
                <a:gd name="connsiteY5" fmla="*/ 975499 h 1955214"/>
                <a:gd name="connsiteX6" fmla="*/ 879545 w 1959430"/>
                <a:gd name="connsiteY6" fmla="*/ 842 h 195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9430" h="1955214">
                  <a:moveTo>
                    <a:pt x="896223" y="0"/>
                  </a:moveTo>
                  <a:lnTo>
                    <a:pt x="1063207" y="0"/>
                  </a:lnTo>
                  <a:lnTo>
                    <a:pt x="1079885" y="842"/>
                  </a:lnTo>
                  <a:cubicBezTo>
                    <a:pt x="1573913" y="51013"/>
                    <a:pt x="1959430" y="468235"/>
                    <a:pt x="1959430" y="975499"/>
                  </a:cubicBezTo>
                  <a:cubicBezTo>
                    <a:pt x="1959430" y="1516581"/>
                    <a:pt x="1520797" y="1955214"/>
                    <a:pt x="979715" y="1955214"/>
                  </a:cubicBezTo>
                  <a:cubicBezTo>
                    <a:pt x="438633" y="1955214"/>
                    <a:pt x="0" y="1516581"/>
                    <a:pt x="0" y="975499"/>
                  </a:cubicBezTo>
                  <a:cubicBezTo>
                    <a:pt x="0" y="468235"/>
                    <a:pt x="385517" y="51013"/>
                    <a:pt x="879545" y="842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1D61DBC-DD38-2235-1477-C564B7C5E9D3}"/>
                </a:ext>
              </a:extLst>
            </p:cNvPr>
            <p:cNvSpPr txBox="1"/>
            <p:nvPr/>
          </p:nvSpPr>
          <p:spPr>
            <a:xfrm>
              <a:off x="9231085" y="5573095"/>
              <a:ext cx="1336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1B415D"/>
                  </a:solidFill>
                </a:rPr>
                <a:t>Cernobbio</a:t>
              </a:r>
              <a:endParaRPr lang="en-US" b="1" dirty="0">
                <a:solidFill>
                  <a:srgbClr val="1B415D"/>
                </a:solidFill>
              </a:endParaRPr>
            </a:p>
          </p:txBody>
        </p: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773BCE-8827-0420-1208-2A04E9603D8A}"/>
              </a:ext>
            </a:extLst>
          </p:cNvPr>
          <p:cNvCxnSpPr>
            <a:cxnSpLocks/>
          </p:cNvCxnSpPr>
          <p:nvPr/>
        </p:nvCxnSpPr>
        <p:spPr>
          <a:xfrm>
            <a:off x="181246" y="1851922"/>
            <a:ext cx="20816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C3BCC0D-3E64-2394-CCD0-C8369D1B8E5C}"/>
              </a:ext>
            </a:extLst>
          </p:cNvPr>
          <p:cNvSpPr txBox="1"/>
          <p:nvPr/>
        </p:nvSpPr>
        <p:spPr>
          <a:xfrm>
            <a:off x="562799" y="1383386"/>
            <a:ext cx="1154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B415D"/>
                </a:solidFill>
              </a:rPr>
              <a:t>Forecast</a:t>
            </a:r>
          </a:p>
        </p:txBody>
      </p:sp>
      <p:grpSp>
        <p:nvGrpSpPr>
          <p:cNvPr id="7168" name="Group 7167">
            <a:extLst>
              <a:ext uri="{FF2B5EF4-FFF2-40B4-BE49-F238E27FC236}">
                <a16:creationId xmlns:a16="http://schemas.microsoft.com/office/drawing/2014/main" id="{5AC11319-D5D8-19E8-8BF5-C3F6FF9E5FCB}"/>
              </a:ext>
            </a:extLst>
          </p:cNvPr>
          <p:cNvGrpSpPr/>
          <p:nvPr/>
        </p:nvGrpSpPr>
        <p:grpSpPr>
          <a:xfrm>
            <a:off x="4141381" y="1843002"/>
            <a:ext cx="1989317" cy="1028735"/>
            <a:chOff x="4141381" y="1843002"/>
            <a:chExt cx="1989317" cy="1028735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07745C5-91F2-A6A2-21DA-3C8F780F9F30}"/>
                </a:ext>
              </a:extLst>
            </p:cNvPr>
            <p:cNvCxnSpPr>
              <a:cxnSpLocks/>
            </p:cNvCxnSpPr>
            <p:nvPr/>
          </p:nvCxnSpPr>
          <p:spPr>
            <a:xfrm>
              <a:off x="4141381" y="1881137"/>
              <a:ext cx="1989317" cy="0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F0594ED-D774-F5DD-98A2-1C3FA2BDD618}"/>
                </a:ext>
              </a:extLst>
            </p:cNvPr>
            <p:cNvCxnSpPr>
              <a:cxnSpLocks/>
            </p:cNvCxnSpPr>
            <p:nvPr/>
          </p:nvCxnSpPr>
          <p:spPr>
            <a:xfrm>
              <a:off x="4158437" y="1843002"/>
              <a:ext cx="0" cy="102873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169" name="Group 7168">
            <a:extLst>
              <a:ext uri="{FF2B5EF4-FFF2-40B4-BE49-F238E27FC236}">
                <a16:creationId xmlns:a16="http://schemas.microsoft.com/office/drawing/2014/main" id="{6577E580-8EE6-CB51-5E8D-BC003FC3C5AC}"/>
              </a:ext>
            </a:extLst>
          </p:cNvPr>
          <p:cNvGrpSpPr/>
          <p:nvPr/>
        </p:nvGrpSpPr>
        <p:grpSpPr>
          <a:xfrm>
            <a:off x="7075714" y="1843002"/>
            <a:ext cx="1833312" cy="1028735"/>
            <a:chOff x="7075714" y="1843002"/>
            <a:chExt cx="1833312" cy="1028735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4A09B1F-3BB6-C31E-E08C-57735CF45BC7}"/>
                </a:ext>
              </a:extLst>
            </p:cNvPr>
            <p:cNvCxnSpPr>
              <a:cxnSpLocks/>
            </p:cNvCxnSpPr>
            <p:nvPr/>
          </p:nvCxnSpPr>
          <p:spPr>
            <a:xfrm>
              <a:off x="7075714" y="1871577"/>
              <a:ext cx="1833312" cy="0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87A4EE5-18AB-3877-EE1E-2E944A51FA85}"/>
                </a:ext>
              </a:extLst>
            </p:cNvPr>
            <p:cNvCxnSpPr>
              <a:cxnSpLocks/>
            </p:cNvCxnSpPr>
            <p:nvPr/>
          </p:nvCxnSpPr>
          <p:spPr>
            <a:xfrm>
              <a:off x="8883713" y="1843002"/>
              <a:ext cx="0" cy="102873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172" name="Group 7171">
            <a:extLst>
              <a:ext uri="{FF2B5EF4-FFF2-40B4-BE49-F238E27FC236}">
                <a16:creationId xmlns:a16="http://schemas.microsoft.com/office/drawing/2014/main" id="{0E7AAEF2-6225-BD71-AE83-F51DE64AF45B}"/>
              </a:ext>
            </a:extLst>
          </p:cNvPr>
          <p:cNvGrpSpPr/>
          <p:nvPr/>
        </p:nvGrpSpPr>
        <p:grpSpPr>
          <a:xfrm>
            <a:off x="3055488" y="2969598"/>
            <a:ext cx="732157" cy="1112792"/>
            <a:chOff x="3055488" y="3055458"/>
            <a:chExt cx="732157" cy="1112792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F56BD6-596C-7256-7B33-E1BDBFDF23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55488" y="3057918"/>
              <a:ext cx="732157" cy="1750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324A33B-98C0-11E8-B80C-AB00E6F9A3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90245" y="3055458"/>
              <a:ext cx="0" cy="1112792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171" name="Group 7170">
            <a:extLst>
              <a:ext uri="{FF2B5EF4-FFF2-40B4-BE49-F238E27FC236}">
                <a16:creationId xmlns:a16="http://schemas.microsoft.com/office/drawing/2014/main" id="{5C7C571D-6DD8-36AD-DEEE-F3023BBC6C96}"/>
              </a:ext>
            </a:extLst>
          </p:cNvPr>
          <p:cNvGrpSpPr/>
          <p:nvPr/>
        </p:nvGrpSpPr>
        <p:grpSpPr>
          <a:xfrm>
            <a:off x="4583505" y="2937930"/>
            <a:ext cx="822960" cy="1145644"/>
            <a:chOff x="4583505" y="3036669"/>
            <a:chExt cx="822960" cy="1145644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090C96C-CC27-2232-B995-E92F1A9258D7}"/>
                </a:ext>
              </a:extLst>
            </p:cNvPr>
            <p:cNvCxnSpPr>
              <a:cxnSpLocks/>
            </p:cNvCxnSpPr>
            <p:nvPr/>
          </p:nvCxnSpPr>
          <p:spPr>
            <a:xfrm>
              <a:off x="4583505" y="3073619"/>
              <a:ext cx="822960" cy="0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7D99604-27D0-178F-5E9F-BD1C5CDC4CE9}"/>
                </a:ext>
              </a:extLst>
            </p:cNvPr>
            <p:cNvCxnSpPr>
              <a:cxnSpLocks/>
            </p:cNvCxnSpPr>
            <p:nvPr/>
          </p:nvCxnSpPr>
          <p:spPr>
            <a:xfrm>
              <a:off x="5400202" y="3036669"/>
              <a:ext cx="0" cy="114564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176" name="Group 7175">
            <a:extLst>
              <a:ext uri="{FF2B5EF4-FFF2-40B4-BE49-F238E27FC236}">
                <a16:creationId xmlns:a16="http://schemas.microsoft.com/office/drawing/2014/main" id="{60BFE5CD-1336-F229-BC44-BB6E2D786006}"/>
              </a:ext>
            </a:extLst>
          </p:cNvPr>
          <p:cNvGrpSpPr/>
          <p:nvPr/>
        </p:nvGrpSpPr>
        <p:grpSpPr>
          <a:xfrm>
            <a:off x="7739276" y="2973965"/>
            <a:ext cx="457200" cy="1105383"/>
            <a:chOff x="7747862" y="3068411"/>
            <a:chExt cx="457200" cy="1105383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A991C6E-C49C-B9F4-C041-DEC2223EC1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7862" y="3068411"/>
              <a:ext cx="457200" cy="0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4B82C3A-34C6-E81A-8AF1-0D4719AEB8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81709" y="3088469"/>
              <a:ext cx="2805" cy="108532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174" name="Group 7173">
            <a:extLst>
              <a:ext uri="{FF2B5EF4-FFF2-40B4-BE49-F238E27FC236}">
                <a16:creationId xmlns:a16="http://schemas.microsoft.com/office/drawing/2014/main" id="{7C61E87C-060D-CC31-59E1-563A7B7CA6EB}"/>
              </a:ext>
            </a:extLst>
          </p:cNvPr>
          <p:cNvGrpSpPr/>
          <p:nvPr/>
        </p:nvGrpSpPr>
        <p:grpSpPr>
          <a:xfrm>
            <a:off x="9471289" y="2941316"/>
            <a:ext cx="466344" cy="1128540"/>
            <a:chOff x="9471289" y="3022883"/>
            <a:chExt cx="466344" cy="112854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490A66D-ECEE-CE0F-64A8-FB49C598898E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9471289" y="3058793"/>
              <a:ext cx="466344" cy="0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1D91DB6-CC3C-F254-78C0-A56FBF2A022B}"/>
                </a:ext>
              </a:extLst>
            </p:cNvPr>
            <p:cNvCxnSpPr>
              <a:cxnSpLocks/>
            </p:cNvCxnSpPr>
            <p:nvPr/>
          </p:nvCxnSpPr>
          <p:spPr>
            <a:xfrm>
              <a:off x="9933038" y="3022883"/>
              <a:ext cx="0" cy="112854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F59E934-A131-85E9-4A2B-D80F305A8F4B}"/>
              </a:ext>
            </a:extLst>
          </p:cNvPr>
          <p:cNvGrpSpPr/>
          <p:nvPr/>
        </p:nvGrpSpPr>
        <p:grpSpPr>
          <a:xfrm>
            <a:off x="3269908" y="3092762"/>
            <a:ext cx="495644" cy="1010101"/>
            <a:chOff x="3272316" y="3012618"/>
            <a:chExt cx="495644" cy="101010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200A98B-4305-13C3-80B3-6356280990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2316" y="3012618"/>
              <a:ext cx="0" cy="1010101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25B7F1D-1F24-6113-4F24-DE538F931C04}"/>
                </a:ext>
              </a:extLst>
            </p:cNvPr>
            <p:cNvCxnSpPr>
              <a:cxnSpLocks/>
            </p:cNvCxnSpPr>
            <p:nvPr/>
          </p:nvCxnSpPr>
          <p:spPr>
            <a:xfrm>
              <a:off x="3295107" y="3048934"/>
              <a:ext cx="472853" cy="10733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BB6BAE3-9CB3-B81D-740C-ADF9D7BFD874}"/>
              </a:ext>
            </a:extLst>
          </p:cNvPr>
          <p:cNvGrpSpPr/>
          <p:nvPr/>
        </p:nvGrpSpPr>
        <p:grpSpPr>
          <a:xfrm>
            <a:off x="7907628" y="3103867"/>
            <a:ext cx="309687" cy="931512"/>
            <a:chOff x="7931523" y="3049695"/>
            <a:chExt cx="309687" cy="931512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4A3780F-415B-BDA8-9C70-C44B6BF3A5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2988" y="3049695"/>
              <a:ext cx="0" cy="931512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66FD6FC-26BE-FD03-A66B-1F2EE69472B8}"/>
                </a:ext>
              </a:extLst>
            </p:cNvPr>
            <p:cNvCxnSpPr>
              <a:cxnSpLocks/>
            </p:cNvCxnSpPr>
            <p:nvPr/>
          </p:nvCxnSpPr>
          <p:spPr>
            <a:xfrm>
              <a:off x="7931523" y="3086749"/>
              <a:ext cx="309687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CD178AD-8FB9-1AE8-3CEC-1802166E9683}"/>
              </a:ext>
            </a:extLst>
          </p:cNvPr>
          <p:cNvGrpSpPr/>
          <p:nvPr/>
        </p:nvGrpSpPr>
        <p:grpSpPr>
          <a:xfrm>
            <a:off x="4590093" y="3092762"/>
            <a:ext cx="609621" cy="990812"/>
            <a:chOff x="4569429" y="3036839"/>
            <a:chExt cx="609621" cy="990812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AA4EB2A-B568-CA49-67F3-E908289D4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9050" y="3036839"/>
              <a:ext cx="0" cy="990812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2D697C65-A8CB-0741-BE81-36B8806CE9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9429" y="3073155"/>
              <a:ext cx="609621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2C68F47-DEF8-BE2C-CC21-FB99878BBA1A}"/>
              </a:ext>
            </a:extLst>
          </p:cNvPr>
          <p:cNvGrpSpPr/>
          <p:nvPr/>
        </p:nvGrpSpPr>
        <p:grpSpPr>
          <a:xfrm>
            <a:off x="9491953" y="3103867"/>
            <a:ext cx="287405" cy="914340"/>
            <a:chOff x="9475161" y="3015636"/>
            <a:chExt cx="287405" cy="914340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B3325DC-F03F-0128-A693-A6ED36A167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8273" y="3015636"/>
              <a:ext cx="0" cy="914340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D0959181-F7A7-6FD9-3DCF-A63AC329FB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75161" y="3055458"/>
              <a:ext cx="287405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722F747-0A28-21EC-5858-D5E9B5F12A3E}"/>
              </a:ext>
            </a:extLst>
          </p:cNvPr>
          <p:cNvGrpSpPr/>
          <p:nvPr/>
        </p:nvGrpSpPr>
        <p:grpSpPr>
          <a:xfrm>
            <a:off x="4303428" y="2062921"/>
            <a:ext cx="1792572" cy="774472"/>
            <a:chOff x="4141381" y="1843002"/>
            <a:chExt cx="1792572" cy="774472"/>
          </a:xfrm>
        </p:grpSpPr>
        <p:cxnSp>
          <p:nvCxnSpPr>
            <p:cNvPr id="7173" name="Straight Connector 7172">
              <a:extLst>
                <a:ext uri="{FF2B5EF4-FFF2-40B4-BE49-F238E27FC236}">
                  <a16:creationId xmlns:a16="http://schemas.microsoft.com/office/drawing/2014/main" id="{DDA0A490-044B-37FC-32C3-51037CDFB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006" y="1843002"/>
              <a:ext cx="0" cy="774472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175" name="Straight Arrow Connector 7174">
              <a:extLst>
                <a:ext uri="{FF2B5EF4-FFF2-40B4-BE49-F238E27FC236}">
                  <a16:creationId xmlns:a16="http://schemas.microsoft.com/office/drawing/2014/main" id="{CDAFDB87-3168-A5C7-0A3E-9E24BA4138DD}"/>
                </a:ext>
              </a:extLst>
            </p:cNvPr>
            <p:cNvCxnSpPr>
              <a:cxnSpLocks/>
            </p:cNvCxnSpPr>
            <p:nvPr/>
          </p:nvCxnSpPr>
          <p:spPr>
            <a:xfrm>
              <a:off x="4141381" y="1843002"/>
              <a:ext cx="1792572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177" name="Group 7176">
            <a:extLst>
              <a:ext uri="{FF2B5EF4-FFF2-40B4-BE49-F238E27FC236}">
                <a16:creationId xmlns:a16="http://schemas.microsoft.com/office/drawing/2014/main" id="{169E6EDF-9818-8BB3-DAE5-68A9408DB488}"/>
              </a:ext>
            </a:extLst>
          </p:cNvPr>
          <p:cNvGrpSpPr/>
          <p:nvPr/>
        </p:nvGrpSpPr>
        <p:grpSpPr>
          <a:xfrm>
            <a:off x="7061226" y="2028577"/>
            <a:ext cx="1629746" cy="808816"/>
            <a:chOff x="7119100" y="1804365"/>
            <a:chExt cx="1629746" cy="808816"/>
          </a:xfrm>
        </p:grpSpPr>
        <p:cxnSp>
          <p:nvCxnSpPr>
            <p:cNvPr id="7179" name="Straight Connector 7178">
              <a:extLst>
                <a:ext uri="{FF2B5EF4-FFF2-40B4-BE49-F238E27FC236}">
                  <a16:creationId xmlns:a16="http://schemas.microsoft.com/office/drawing/2014/main" id="{4A5F14BE-A3F9-6069-E1F7-C1871A895E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0260" y="1804365"/>
              <a:ext cx="0" cy="808816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181" name="Straight Arrow Connector 7180">
              <a:extLst>
                <a:ext uri="{FF2B5EF4-FFF2-40B4-BE49-F238E27FC236}">
                  <a16:creationId xmlns:a16="http://schemas.microsoft.com/office/drawing/2014/main" id="{57DA34EA-A457-87FC-CEBC-1384440EFA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9100" y="1844558"/>
              <a:ext cx="1629746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7206" name="Straight Arrow Connector 7205">
            <a:extLst>
              <a:ext uri="{FF2B5EF4-FFF2-40B4-BE49-F238E27FC236}">
                <a16:creationId xmlns:a16="http://schemas.microsoft.com/office/drawing/2014/main" id="{94AA9E2A-B61E-6A80-42E7-6359257218B9}"/>
              </a:ext>
            </a:extLst>
          </p:cNvPr>
          <p:cNvCxnSpPr>
            <a:cxnSpLocks/>
          </p:cNvCxnSpPr>
          <p:nvPr/>
        </p:nvCxnSpPr>
        <p:spPr>
          <a:xfrm>
            <a:off x="216793" y="3041940"/>
            <a:ext cx="20816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207" name="TextBox 7206">
            <a:extLst>
              <a:ext uri="{FF2B5EF4-FFF2-40B4-BE49-F238E27FC236}">
                <a16:creationId xmlns:a16="http://schemas.microsoft.com/office/drawing/2014/main" id="{32AD03DE-AF0E-BBAE-FA0A-E11FD2A564D5}"/>
              </a:ext>
            </a:extLst>
          </p:cNvPr>
          <p:cNvSpPr txBox="1"/>
          <p:nvPr/>
        </p:nvSpPr>
        <p:spPr>
          <a:xfrm>
            <a:off x="640838" y="2536857"/>
            <a:ext cx="1154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B415D"/>
                </a:solidFill>
              </a:rPr>
              <a:t>Forecast</a:t>
            </a:r>
          </a:p>
        </p:txBody>
      </p:sp>
      <p:cxnSp>
        <p:nvCxnSpPr>
          <p:cNvPr id="7208" name="Straight Arrow Connector 7207">
            <a:extLst>
              <a:ext uri="{FF2B5EF4-FFF2-40B4-BE49-F238E27FC236}">
                <a16:creationId xmlns:a16="http://schemas.microsoft.com/office/drawing/2014/main" id="{54155091-7BFB-8B87-DC35-2A9E89705D64}"/>
              </a:ext>
            </a:extLst>
          </p:cNvPr>
          <p:cNvCxnSpPr>
            <a:cxnSpLocks/>
          </p:cNvCxnSpPr>
          <p:nvPr/>
        </p:nvCxnSpPr>
        <p:spPr>
          <a:xfrm>
            <a:off x="216793" y="4871243"/>
            <a:ext cx="20816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209" name="TextBox 7208">
            <a:extLst>
              <a:ext uri="{FF2B5EF4-FFF2-40B4-BE49-F238E27FC236}">
                <a16:creationId xmlns:a16="http://schemas.microsoft.com/office/drawing/2014/main" id="{A52AA86D-B525-7FC9-CCE8-9F50E07BA697}"/>
              </a:ext>
            </a:extLst>
          </p:cNvPr>
          <p:cNvSpPr txBox="1"/>
          <p:nvPr/>
        </p:nvSpPr>
        <p:spPr>
          <a:xfrm>
            <a:off x="562799" y="4384626"/>
            <a:ext cx="1154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B415D"/>
                </a:solidFill>
              </a:rPr>
              <a:t>Forecast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E3409-8C3F-606D-70AF-B320370091DE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045FD5AD-6343-2720-B235-C514F4074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0E84CC-560D-F2B9-864E-8691860562E9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23" name="Picture 4" descr="Home – Planet">
            <a:extLst>
              <a:ext uri="{FF2B5EF4-FFF2-40B4-BE49-F238E27FC236}">
                <a16:creationId xmlns:a16="http://schemas.microsoft.com/office/drawing/2014/main" id="{D453CA0E-C420-D0CF-97E2-516ADFA5C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C758D2D-09B3-D205-5F90-2CA4785C7AB4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28" name="Picture 2" descr="Logo Università di Napoli Federico II">
              <a:extLst>
                <a:ext uri="{FF2B5EF4-FFF2-40B4-BE49-F238E27FC236}">
                  <a16:creationId xmlns:a16="http://schemas.microsoft.com/office/drawing/2014/main" id="{B9D485F3-D079-B129-7491-BD4C06990A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12" descr="Master Degree | International Relations | Italia">
              <a:extLst>
                <a:ext uri="{FF2B5EF4-FFF2-40B4-BE49-F238E27FC236}">
                  <a16:creationId xmlns:a16="http://schemas.microsoft.com/office/drawing/2014/main" id="{225EEC3C-2284-3C67-A7B7-AE27299546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7357FE6-758C-4C7E-6C97-7947DECA2FC5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1761170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7207" grpId="0"/>
      <p:bldP spid="720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D3FF4-D218-9427-7F9B-44B98DB0D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BF5DC2E-A28B-9255-142E-BA3C3F9FE034}"/>
              </a:ext>
            </a:extLst>
          </p:cNvPr>
          <p:cNvSpPr txBox="1"/>
          <p:nvPr/>
        </p:nvSpPr>
        <p:spPr>
          <a:xfrm>
            <a:off x="404158" y="1584299"/>
            <a:ext cx="5897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Hierarchical Reconciliation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92A670-A985-829D-5244-BE99DE8D2B8A}"/>
              </a:ext>
            </a:extLst>
          </p:cNvPr>
          <p:cNvSpPr txBox="1"/>
          <p:nvPr/>
        </p:nvSpPr>
        <p:spPr>
          <a:xfrm>
            <a:off x="404157" y="2596637"/>
            <a:ext cx="115345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A model will be trained on the data[</a:t>
            </a:r>
            <a:r>
              <a:rPr lang="en-US" sz="3600" dirty="0" err="1">
                <a:solidFill>
                  <a:srgbClr val="1B415D"/>
                </a:solidFill>
              </a:rPr>
              <a:t>XGBoost</a:t>
            </a:r>
            <a:r>
              <a:rPr lang="en-US" sz="3600" dirty="0">
                <a:solidFill>
                  <a:srgbClr val="1B415D"/>
                </a:solidFill>
              </a:rPr>
              <a:t>, ...].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Forecast on the data using current model.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Reconcile the predicted values using statistical approaches.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C3FFF-79DF-DA12-3BAE-1775C10CE07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A1D35098-9205-B920-0DD7-32035CCF2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3209F1-07E5-4B99-EA69-8B32438686D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8" name="Picture 4" descr="Home – Planet">
            <a:extLst>
              <a:ext uri="{FF2B5EF4-FFF2-40B4-BE49-F238E27FC236}">
                <a16:creationId xmlns:a16="http://schemas.microsoft.com/office/drawing/2014/main" id="{DE66F4E0-64CC-E3E7-0E51-123607E5B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50448C8-DEF7-164A-70D7-FDFDE9B540C9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1" name="Picture 2" descr="Logo Università di Napoli Federico II">
              <a:extLst>
                <a:ext uri="{FF2B5EF4-FFF2-40B4-BE49-F238E27FC236}">
                  <a16:creationId xmlns:a16="http://schemas.microsoft.com/office/drawing/2014/main" id="{818D3854-BC03-873B-A306-3C4207B11C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Master Degree | International Relations | Italia">
              <a:extLst>
                <a:ext uri="{FF2B5EF4-FFF2-40B4-BE49-F238E27FC236}">
                  <a16:creationId xmlns:a16="http://schemas.microsoft.com/office/drawing/2014/main" id="{06B5D022-174C-F000-422E-2C2EABFA8C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828A1DA-233E-2C6F-BFEE-7B5A7F095B30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1735137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52764-5315-8E61-D14F-E74DCEFD6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0C90DA8-7ADD-9417-3EAF-7A62615A223F}"/>
              </a:ext>
            </a:extLst>
          </p:cNvPr>
          <p:cNvSpPr txBox="1"/>
          <p:nvPr/>
        </p:nvSpPr>
        <p:spPr>
          <a:xfrm>
            <a:off x="404158" y="1584299"/>
            <a:ext cx="5897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Hierarchical Reconciliation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3AAF26-0155-1237-5F57-D30C92E47625}"/>
              </a:ext>
            </a:extLst>
          </p:cNvPr>
          <p:cNvSpPr txBox="1"/>
          <p:nvPr/>
        </p:nvSpPr>
        <p:spPr>
          <a:xfrm>
            <a:off x="404158" y="2596637"/>
            <a:ext cx="96284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rgbClr val="1B415D"/>
                </a:solidFill>
              </a:rPr>
              <a:t>MinT</a:t>
            </a:r>
            <a:r>
              <a:rPr lang="en-US" sz="3600" b="1" dirty="0">
                <a:solidFill>
                  <a:srgbClr val="1B415D"/>
                </a:solidFill>
              </a:rPr>
              <a:t> : </a:t>
            </a:r>
            <a:r>
              <a:rPr lang="en-US" sz="3600" dirty="0">
                <a:solidFill>
                  <a:srgbClr val="1B415D"/>
                </a:solidFill>
              </a:rPr>
              <a:t>minimize the variance between reconciled values and base forecast error.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1B415D"/>
                </a:solidFill>
              </a:rPr>
              <a:t>ERM : </a:t>
            </a:r>
            <a:r>
              <a:rPr lang="en-US" sz="3600" dirty="0">
                <a:solidFill>
                  <a:srgbClr val="1B415D"/>
                </a:solidFill>
              </a:rPr>
              <a:t>minimize the error between actual values and reconciled values.</a:t>
            </a:r>
            <a:endParaRPr lang="en-US" sz="3600" b="1" dirty="0">
              <a:solidFill>
                <a:srgbClr val="1B415D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1B415D"/>
              </a:solidFill>
            </a:endParaRPr>
          </a:p>
          <a:p>
            <a:endParaRPr lang="en-US" sz="3600" b="1" dirty="0">
              <a:solidFill>
                <a:srgbClr val="1B415D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ABE3A8-23FF-39CA-6743-3EC09CE2B02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0493F558-407F-6DBA-6251-4E54B71AA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2585A1-C2D5-1F54-DA4E-B8634E3DF4F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8" name="Picture 4" descr="Home – Planet">
            <a:extLst>
              <a:ext uri="{FF2B5EF4-FFF2-40B4-BE49-F238E27FC236}">
                <a16:creationId xmlns:a16="http://schemas.microsoft.com/office/drawing/2014/main" id="{64D07A1B-6E07-40D5-5793-79EE5CB0B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0159228-8503-B1F1-AA6D-71CAC75587CC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1" name="Picture 2" descr="Logo Università di Napoli Federico II">
              <a:extLst>
                <a:ext uri="{FF2B5EF4-FFF2-40B4-BE49-F238E27FC236}">
                  <a16:creationId xmlns:a16="http://schemas.microsoft.com/office/drawing/2014/main" id="{7AECD53D-F23F-D2F1-86BD-555AA2E97F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Master Degree | International Relations | Italia">
              <a:extLst>
                <a:ext uri="{FF2B5EF4-FFF2-40B4-BE49-F238E27FC236}">
                  <a16:creationId xmlns:a16="http://schemas.microsoft.com/office/drawing/2014/main" id="{82BA5102-BBA1-BC56-3D12-23688567E5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FC98B1E-F38E-AF91-0613-84A8A7EB839C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671419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6C30-F5A5-FD50-A127-FB77C532D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DA46EA-491F-0BFA-C7F5-2AA68FC66848}"/>
              </a:ext>
            </a:extLst>
          </p:cNvPr>
          <p:cNvSpPr txBox="1"/>
          <p:nvPr/>
        </p:nvSpPr>
        <p:spPr>
          <a:xfrm>
            <a:off x="0" y="1584299"/>
            <a:ext cx="5897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Base model for prediction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48C08C-749B-B06A-0908-33477FB7F240}"/>
              </a:ext>
            </a:extLst>
          </p:cNvPr>
          <p:cNvSpPr txBox="1"/>
          <p:nvPr/>
        </p:nvSpPr>
        <p:spPr>
          <a:xfrm>
            <a:off x="198715" y="2422096"/>
            <a:ext cx="10825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 err="1">
                <a:solidFill>
                  <a:srgbClr val="1B415D"/>
                </a:solidFill>
              </a:rPr>
              <a:t>XGBoost</a:t>
            </a:r>
            <a:r>
              <a:rPr lang="en-US" sz="3600" b="1" dirty="0">
                <a:solidFill>
                  <a:srgbClr val="1B415D"/>
                </a:solidFill>
              </a:rPr>
              <a:t> + </a:t>
            </a:r>
            <a:r>
              <a:rPr lang="en-US" sz="3600" b="1" dirty="0" err="1">
                <a:solidFill>
                  <a:srgbClr val="1B415D"/>
                </a:solidFill>
              </a:rPr>
              <a:t>MinT</a:t>
            </a:r>
            <a:r>
              <a:rPr lang="en-US" sz="3600" b="1" dirty="0">
                <a:solidFill>
                  <a:srgbClr val="1B415D"/>
                </a:solidFill>
              </a:rPr>
              <a:t>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Handles Climate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Hierarchical Coherence Guaranteed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Highly interpretable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044D91-36C9-6FDF-6027-B34D5A9D74F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C72BC5F8-8F1D-B033-5297-67907DDDF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A3A8C5-2A96-5DB5-A9D0-CEB1B1EF928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8" name="Picture 4" descr="Home – Planet">
            <a:extLst>
              <a:ext uri="{FF2B5EF4-FFF2-40B4-BE49-F238E27FC236}">
                <a16:creationId xmlns:a16="http://schemas.microsoft.com/office/drawing/2014/main" id="{3D060707-E0E6-000A-E9A0-FB3EB428C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BFAA7A3-05FA-3074-A0A3-A079C21AA646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1" name="Picture 2" descr="Logo Università di Napoli Federico II">
              <a:extLst>
                <a:ext uri="{FF2B5EF4-FFF2-40B4-BE49-F238E27FC236}">
                  <a16:creationId xmlns:a16="http://schemas.microsoft.com/office/drawing/2014/main" id="{CC89E231-AC6C-5329-E9BB-9B942DF6FB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Master Degree | International Relations | Italia">
              <a:extLst>
                <a:ext uri="{FF2B5EF4-FFF2-40B4-BE49-F238E27FC236}">
                  <a16:creationId xmlns:a16="http://schemas.microsoft.com/office/drawing/2014/main" id="{863F6B40-D01E-1BEE-0DC3-DD354857D0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53CB7A5-9815-3EAF-8D93-E082251CA050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1066844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493C6-17DA-AD4D-6899-594AC36D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8A8096B-8BE5-84A0-3F42-9730CE1EFF8E}"/>
              </a:ext>
            </a:extLst>
          </p:cNvPr>
          <p:cNvSpPr txBox="1"/>
          <p:nvPr/>
        </p:nvSpPr>
        <p:spPr>
          <a:xfrm>
            <a:off x="0" y="1584299"/>
            <a:ext cx="5897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Base model for prediction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A93D90-EF19-0B69-DF54-0E1091178DF8}"/>
              </a:ext>
            </a:extLst>
          </p:cNvPr>
          <p:cNvSpPr txBox="1"/>
          <p:nvPr/>
        </p:nvSpPr>
        <p:spPr>
          <a:xfrm>
            <a:off x="198715" y="2422096"/>
            <a:ext cx="10825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1B415D"/>
                </a:solidFill>
              </a:rPr>
              <a:t>Neural Network- Based 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Handles Climate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Hierarchical Coherence NOT Guaranteed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Low interpretability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8C85E7-27A2-9159-2A3F-68158FF2DA7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B817ECD5-5D85-5422-8716-627962622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2016" y="5602929"/>
            <a:ext cx="2024360" cy="202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29B4C2-526C-BCE7-558C-B69E9C9EBC5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8" name="Picture 4" descr="Home – Planet">
            <a:extLst>
              <a:ext uri="{FF2B5EF4-FFF2-40B4-BE49-F238E27FC236}">
                <a16:creationId xmlns:a16="http://schemas.microsoft.com/office/drawing/2014/main" id="{D8BAA80D-22BF-491F-A6D5-B96E02116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8CEB00-2162-D4DD-2826-2776F48B6181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1" name="Picture 2" descr="Logo Università di Napoli Federico II">
              <a:extLst>
                <a:ext uri="{FF2B5EF4-FFF2-40B4-BE49-F238E27FC236}">
                  <a16:creationId xmlns:a16="http://schemas.microsoft.com/office/drawing/2014/main" id="{EDA1391A-9925-EE0A-7DF7-08EAE89639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Master Degree | International Relations | Italia">
              <a:extLst>
                <a:ext uri="{FF2B5EF4-FFF2-40B4-BE49-F238E27FC236}">
                  <a16:creationId xmlns:a16="http://schemas.microsoft.com/office/drawing/2014/main" id="{B863D792-078C-6C6C-348B-CAE62315A9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078EB73-43FD-4264-EB7C-E875BC20D931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3033884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BDDC6-6BF0-8969-5420-AA20DFC1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5288FB0-E08E-5935-A900-67B2F757168B}"/>
              </a:ext>
            </a:extLst>
          </p:cNvPr>
          <p:cNvSpPr txBox="1"/>
          <p:nvPr/>
        </p:nvSpPr>
        <p:spPr>
          <a:xfrm>
            <a:off x="338602" y="1704850"/>
            <a:ext cx="2362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Prediction </a:t>
            </a:r>
          </a:p>
        </p:txBody>
      </p:sp>
      <p:pic>
        <p:nvPicPr>
          <p:cNvPr id="1036" name="Picture 12" descr="Classification Flat Icon. Colored Sign From Machine Learning Collection.  Creative Classification Icon Illustration For Web Design, Infographics And  More Royalty Free SVG, Cliparts, Vectors, and Stock Illustration. Image  173534523.">
            <a:extLst>
              <a:ext uri="{FF2B5EF4-FFF2-40B4-BE49-F238E27FC236}">
                <a16:creationId xmlns:a16="http://schemas.microsoft.com/office/drawing/2014/main" id="{0D7C1A94-4B1A-8BA3-7247-0B9FB65AF9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" t="17684" r="8417" b="26244"/>
          <a:stretch>
            <a:fillRect/>
          </a:stretch>
        </p:blipFill>
        <p:spPr bwMode="auto">
          <a:xfrm>
            <a:off x="4667210" y="3022207"/>
            <a:ext cx="2857579" cy="1785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lustering Icon Grafica di aimagenarium · Creative Fabrica">
            <a:extLst>
              <a:ext uri="{FF2B5EF4-FFF2-40B4-BE49-F238E27FC236}">
                <a16:creationId xmlns:a16="http://schemas.microsoft.com/office/drawing/2014/main" id="{AFB96DD3-A283-7BBA-D66C-CEFBF0CB00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3" t="9663" r="28107" b="29361"/>
          <a:stretch>
            <a:fillRect/>
          </a:stretch>
        </p:blipFill>
        <p:spPr bwMode="auto">
          <a:xfrm>
            <a:off x="9315950" y="2950703"/>
            <a:ext cx="2133601" cy="196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3F469B-79F0-7851-9E18-110F7BF90C9B}"/>
              </a:ext>
            </a:extLst>
          </p:cNvPr>
          <p:cNvSpPr txBox="1"/>
          <p:nvPr/>
        </p:nvSpPr>
        <p:spPr>
          <a:xfrm>
            <a:off x="9086758" y="1704210"/>
            <a:ext cx="2362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Clustering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40611B-F308-0361-ABFD-74490F8594F4}"/>
              </a:ext>
            </a:extLst>
          </p:cNvPr>
          <p:cNvSpPr txBox="1"/>
          <p:nvPr/>
        </p:nvSpPr>
        <p:spPr>
          <a:xfrm>
            <a:off x="4497048" y="1708353"/>
            <a:ext cx="313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Classification</a:t>
            </a:r>
          </a:p>
        </p:txBody>
      </p:sp>
      <p:pic>
        <p:nvPicPr>
          <p:cNvPr id="14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BE5B132D-3DA5-DFE2-5035-26453378D1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75"/>
          <a:stretch>
            <a:fillRect/>
          </a:stretch>
        </p:blipFill>
        <p:spPr bwMode="auto">
          <a:xfrm>
            <a:off x="-248114" y="2328959"/>
            <a:ext cx="3536224" cy="2585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3AED6B-273E-ED27-FD11-FE2236AEC5D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-33752" y="5929314"/>
            <a:ext cx="12308114" cy="10636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92608B-7C24-F2B5-184E-0D2297ADCBF5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3" name="Picture 4" descr="Home – Planet">
            <a:extLst>
              <a:ext uri="{FF2B5EF4-FFF2-40B4-BE49-F238E27FC236}">
                <a16:creationId xmlns:a16="http://schemas.microsoft.com/office/drawing/2014/main" id="{F75DDFFB-A337-5DA1-0DD1-972620CCA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A8AD797-D37C-4246-1236-4BC1031F88CF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6" name="Picture 2" descr="Logo Università di Napoli Federico II">
              <a:extLst>
                <a:ext uri="{FF2B5EF4-FFF2-40B4-BE49-F238E27FC236}">
                  <a16:creationId xmlns:a16="http://schemas.microsoft.com/office/drawing/2014/main" id="{8D202AEB-E3A0-2F6B-E0D1-BEFA1D9E93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Master Degree | International Relations | Italia">
              <a:extLst>
                <a:ext uri="{FF2B5EF4-FFF2-40B4-BE49-F238E27FC236}">
                  <a16:creationId xmlns:a16="http://schemas.microsoft.com/office/drawing/2014/main" id="{A2E700AF-B8B9-E0DD-4361-04BCE24C30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FD140B9-A166-0DC6-9E8E-FC614FA14D66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2745739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D1F85-E2D7-3979-3ACB-09E11D0E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D3488A-75FA-7FA2-9F80-ABFB2AE2320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12" descr="Classification Flat Icon. Colored Sign From Machine Learning Collection.  Creative Classification Icon Illustration For Web Design, Infographics And  More Royalty Free SVG, Cliparts, Vectors, and Stock Illustration. Image  173534523.">
            <a:extLst>
              <a:ext uri="{FF2B5EF4-FFF2-40B4-BE49-F238E27FC236}">
                <a16:creationId xmlns:a16="http://schemas.microsoft.com/office/drawing/2014/main" id="{5B380D23-6877-35F8-18BA-B7A10CE827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" t="17684" r="8417" b="26244"/>
          <a:stretch>
            <a:fillRect/>
          </a:stretch>
        </p:blipFill>
        <p:spPr bwMode="auto">
          <a:xfrm>
            <a:off x="-179612" y="5844286"/>
            <a:ext cx="1837932" cy="114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C80EDA-8A27-CF63-A03B-C82B0D22B85B}"/>
              </a:ext>
            </a:extLst>
          </p:cNvPr>
          <p:cNvSpPr txBox="1"/>
          <p:nvPr/>
        </p:nvSpPr>
        <p:spPr>
          <a:xfrm>
            <a:off x="178526" y="1370928"/>
            <a:ext cx="313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Classification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B9A576-F75D-FEAD-72E6-AF78C0C711AF}"/>
              </a:ext>
            </a:extLst>
          </p:cNvPr>
          <p:cNvSpPr txBox="1"/>
          <p:nvPr/>
        </p:nvSpPr>
        <p:spPr>
          <a:xfrm>
            <a:off x="338601" y="2533447"/>
            <a:ext cx="108821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The hierarchy is not a constraint to be fixed.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Supervised task, needs to assign Labels.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Labeling is different for each approaches.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005A9A-D050-558C-58E1-49920A46156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9" name="Picture 4" descr="Home – Planet">
            <a:extLst>
              <a:ext uri="{FF2B5EF4-FFF2-40B4-BE49-F238E27FC236}">
                <a16:creationId xmlns:a16="http://schemas.microsoft.com/office/drawing/2014/main" id="{43B2B25C-1D85-839D-4E2B-16BEBA51A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CDF570B-2807-894E-A5B2-04697B27FCBE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1" name="Picture 2" descr="Logo Università di Napoli Federico II">
              <a:extLst>
                <a:ext uri="{FF2B5EF4-FFF2-40B4-BE49-F238E27FC236}">
                  <a16:creationId xmlns:a16="http://schemas.microsoft.com/office/drawing/2014/main" id="{88D80FBD-9CE4-3C1D-3CC0-DD042FB204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Master Degree | International Relations | Italia">
              <a:extLst>
                <a:ext uri="{FF2B5EF4-FFF2-40B4-BE49-F238E27FC236}">
                  <a16:creationId xmlns:a16="http://schemas.microsoft.com/office/drawing/2014/main" id="{6E0A1C72-3D4C-2C9F-62F5-69FA97F981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29250F6-965E-34DC-8ED8-E28341B0E4EF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4290679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0E3BF-E000-184F-B476-717B4F5CD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82DA5CB-28F0-9240-3EE9-574F833BB471}"/>
              </a:ext>
            </a:extLst>
          </p:cNvPr>
          <p:cNvSpPr txBox="1"/>
          <p:nvPr/>
        </p:nvSpPr>
        <p:spPr>
          <a:xfrm>
            <a:off x="2887614" y="3118190"/>
            <a:ext cx="6416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Approach 1 </a:t>
            </a:r>
          </a:p>
          <a:p>
            <a:pPr algn="ctr"/>
            <a:r>
              <a:rPr lang="en-US" sz="3600" b="1" dirty="0">
                <a:solidFill>
                  <a:srgbClr val="1B415D"/>
                </a:solidFill>
              </a:rPr>
              <a:t>Feature-Based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64B274-185C-68C6-90E0-946483D3A11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12" descr="Classification Flat Icon. Colored Sign From Machine Learning Collection.  Creative Classification Icon Illustration For Web Design, Infographics And  More Royalty Free SVG, Cliparts, Vectors, and Stock Illustration. Image  173534523.">
            <a:extLst>
              <a:ext uri="{FF2B5EF4-FFF2-40B4-BE49-F238E27FC236}">
                <a16:creationId xmlns:a16="http://schemas.microsoft.com/office/drawing/2014/main" id="{FBD22D01-5821-6A71-0803-3E6D5A8C33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" t="17684" r="8417" b="26244"/>
          <a:stretch>
            <a:fillRect/>
          </a:stretch>
        </p:blipFill>
        <p:spPr bwMode="auto">
          <a:xfrm>
            <a:off x="-179612" y="5844286"/>
            <a:ext cx="1837932" cy="114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9FE596-1EB1-7379-C95E-6AEB625E0C0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10" name="Picture 4" descr="Home – Planet">
            <a:extLst>
              <a:ext uri="{FF2B5EF4-FFF2-40B4-BE49-F238E27FC236}">
                <a16:creationId xmlns:a16="http://schemas.microsoft.com/office/drawing/2014/main" id="{8E7FF33E-50A0-90E3-302A-4A05921E4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E51E767-3303-F284-C920-CC836A3032D8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2" name="Picture 2" descr="Logo Università di Napoli Federico II">
              <a:extLst>
                <a:ext uri="{FF2B5EF4-FFF2-40B4-BE49-F238E27FC236}">
                  <a16:creationId xmlns:a16="http://schemas.microsoft.com/office/drawing/2014/main" id="{02BF350F-29D7-FCF2-A492-901BF4389B6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Master Degree | International Relations | Italia">
              <a:extLst>
                <a:ext uri="{FF2B5EF4-FFF2-40B4-BE49-F238E27FC236}">
                  <a16:creationId xmlns:a16="http://schemas.microsoft.com/office/drawing/2014/main" id="{CAD6228C-CC42-168F-0681-C15DA45931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C1E9DD1-3D70-FE50-28C9-1A27E3202B5B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2739828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CA53-5E43-A9E4-8A9F-A3DFCC03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BBB0C3-D6F8-5449-1FF6-71CA13D3BDC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12" descr="Classification Flat Icon. Colored Sign From Machine Learning Collection.  Creative Classification Icon Illustration For Web Design, Infographics And  More Royalty Free SVG, Cliparts, Vectors, and Stock Illustration. Image  173534523.">
            <a:extLst>
              <a:ext uri="{FF2B5EF4-FFF2-40B4-BE49-F238E27FC236}">
                <a16:creationId xmlns:a16="http://schemas.microsoft.com/office/drawing/2014/main" id="{7ADFE8EE-A36A-27EF-E8A3-1D2985DBBA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" t="17684" r="8417" b="26244"/>
          <a:stretch>
            <a:fillRect/>
          </a:stretch>
        </p:blipFill>
        <p:spPr bwMode="auto">
          <a:xfrm>
            <a:off x="-179612" y="5844286"/>
            <a:ext cx="1837932" cy="114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40D5EE-C77D-75DF-604E-4CE9D466A319}"/>
              </a:ext>
            </a:extLst>
          </p:cNvPr>
          <p:cNvSpPr txBox="1"/>
          <p:nvPr/>
        </p:nvSpPr>
        <p:spPr>
          <a:xfrm>
            <a:off x="178526" y="1370928"/>
            <a:ext cx="9224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Feature-Based Classification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E7AE9-FCC6-303A-9266-8C69625B6611}"/>
              </a:ext>
            </a:extLst>
          </p:cNvPr>
          <p:cNvSpPr txBox="1"/>
          <p:nvPr/>
        </p:nvSpPr>
        <p:spPr>
          <a:xfrm>
            <a:off x="338601" y="2533447"/>
            <a:ext cx="108821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Create tabular data based on avg of past days.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Assign label to each row as YES/NO.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Apply a model to train on the data. [Random Forest]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Classify based on level: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Animal at risk ? (Yes/No)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High stress event? (Yes/No)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29B9DA-3F63-2B5F-2375-5E71310FA43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9" name="Picture 4" descr="Home – Planet">
            <a:extLst>
              <a:ext uri="{FF2B5EF4-FFF2-40B4-BE49-F238E27FC236}">
                <a16:creationId xmlns:a16="http://schemas.microsoft.com/office/drawing/2014/main" id="{8D937C6D-3C5B-1F25-9CDE-5615E4BB0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9489D43-F64E-A972-1ADA-D44AA650C030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1" name="Picture 2" descr="Logo Università di Napoli Federico II">
              <a:extLst>
                <a:ext uri="{FF2B5EF4-FFF2-40B4-BE49-F238E27FC236}">
                  <a16:creationId xmlns:a16="http://schemas.microsoft.com/office/drawing/2014/main" id="{D98C7528-4A9F-B1FE-B5F1-A5B3F66FA1B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Master Degree | International Relations | Italia">
              <a:extLst>
                <a:ext uri="{FF2B5EF4-FFF2-40B4-BE49-F238E27FC236}">
                  <a16:creationId xmlns:a16="http://schemas.microsoft.com/office/drawing/2014/main" id="{901B288D-105D-7F61-47E1-4EDCE05325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DAB609F-B179-D4EA-59B9-7A85A4D972A5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2957745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87E44-76D9-D4F8-A675-01CA94DAB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CE0929-507A-FE59-6AEE-70175E0F07D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12" descr="Classification Flat Icon. Colored Sign From Machine Learning Collection.  Creative Classification Icon Illustration For Web Design, Infographics And  More Royalty Free SVG, Cliparts, Vectors, and Stock Illustration. Image  173534523.">
            <a:extLst>
              <a:ext uri="{FF2B5EF4-FFF2-40B4-BE49-F238E27FC236}">
                <a16:creationId xmlns:a16="http://schemas.microsoft.com/office/drawing/2014/main" id="{E2D4F625-CF84-3FBD-5AD5-9F471A818C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" t="17684" r="8417" b="26244"/>
          <a:stretch>
            <a:fillRect/>
          </a:stretch>
        </p:blipFill>
        <p:spPr bwMode="auto">
          <a:xfrm>
            <a:off x="-179612" y="5844286"/>
            <a:ext cx="1837932" cy="114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398AB6-61B4-C5A0-7E01-277E9C5007AF}"/>
              </a:ext>
            </a:extLst>
          </p:cNvPr>
          <p:cNvSpPr txBox="1"/>
          <p:nvPr/>
        </p:nvSpPr>
        <p:spPr>
          <a:xfrm>
            <a:off x="178526" y="1370928"/>
            <a:ext cx="9224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Feature-Based Classification : Labeling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E31332-4E83-10DE-AAEF-97D6FD188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4682"/>
              </p:ext>
            </p:extLst>
          </p:nvPr>
        </p:nvGraphicFramePr>
        <p:xfrm>
          <a:off x="4668791" y="2186467"/>
          <a:ext cx="7379046" cy="3319370"/>
        </p:xfrm>
        <a:graphic>
          <a:graphicData uri="http://schemas.openxmlformats.org/drawingml/2006/table">
            <a:tbl>
              <a:tblPr/>
              <a:tblGrid>
                <a:gridCol w="1229841">
                  <a:extLst>
                    <a:ext uri="{9D8B030D-6E8A-4147-A177-3AD203B41FA5}">
                      <a16:colId xmlns:a16="http://schemas.microsoft.com/office/drawing/2014/main" val="849944004"/>
                    </a:ext>
                  </a:extLst>
                </a:gridCol>
                <a:gridCol w="1229841">
                  <a:extLst>
                    <a:ext uri="{9D8B030D-6E8A-4147-A177-3AD203B41FA5}">
                      <a16:colId xmlns:a16="http://schemas.microsoft.com/office/drawing/2014/main" val="279171657"/>
                    </a:ext>
                  </a:extLst>
                </a:gridCol>
                <a:gridCol w="1229841">
                  <a:extLst>
                    <a:ext uri="{9D8B030D-6E8A-4147-A177-3AD203B41FA5}">
                      <a16:colId xmlns:a16="http://schemas.microsoft.com/office/drawing/2014/main" val="2432245287"/>
                    </a:ext>
                  </a:extLst>
                </a:gridCol>
                <a:gridCol w="1229841">
                  <a:extLst>
                    <a:ext uri="{9D8B030D-6E8A-4147-A177-3AD203B41FA5}">
                      <a16:colId xmlns:a16="http://schemas.microsoft.com/office/drawing/2014/main" val="136311547"/>
                    </a:ext>
                  </a:extLst>
                </a:gridCol>
                <a:gridCol w="1229841">
                  <a:extLst>
                    <a:ext uri="{9D8B030D-6E8A-4147-A177-3AD203B41FA5}">
                      <a16:colId xmlns:a16="http://schemas.microsoft.com/office/drawing/2014/main" val="652382732"/>
                    </a:ext>
                  </a:extLst>
                </a:gridCol>
                <a:gridCol w="1229841">
                  <a:extLst>
                    <a:ext uri="{9D8B030D-6E8A-4147-A177-3AD203B41FA5}">
                      <a16:colId xmlns:a16="http://schemas.microsoft.com/office/drawing/2014/main" val="3289342483"/>
                    </a:ext>
                  </a:extLst>
                </a:gridCol>
              </a:tblGrid>
              <a:tr h="7135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Animal_ID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Farm_ID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Day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Milk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SCC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THI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57788"/>
                  </a:ext>
                </a:extLst>
              </a:tr>
              <a:tr h="4343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052962"/>
                  </a:ext>
                </a:extLst>
              </a:tr>
              <a:tr h="4343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19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62437"/>
                  </a:ext>
                </a:extLst>
              </a:tr>
              <a:tr h="4343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120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26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789519"/>
                  </a:ext>
                </a:extLst>
              </a:tr>
              <a:tr h="4343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17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150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27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568047"/>
                  </a:ext>
                </a:extLst>
              </a:tr>
              <a:tr h="4343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260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959223"/>
                  </a:ext>
                </a:extLst>
              </a:tr>
              <a:tr h="4343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6423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198FC96-02AF-CFEE-1DE1-B6EFB8B43A77}"/>
              </a:ext>
            </a:extLst>
          </p:cNvPr>
          <p:cNvSpPr txBox="1"/>
          <p:nvPr/>
        </p:nvSpPr>
        <p:spPr>
          <a:xfrm>
            <a:off x="178525" y="3204471"/>
            <a:ext cx="3590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B415D"/>
                </a:solidFill>
              </a:rPr>
              <a:t>High SCC Event </a:t>
            </a:r>
            <a:r>
              <a:rPr lang="en-US" dirty="0">
                <a:solidFill>
                  <a:srgbClr val="1B415D"/>
                </a:solidFill>
                <a:sym typeface="Wingdings" pitchFamily="2" charset="2"/>
              </a:rPr>
              <a:t>  </a:t>
            </a:r>
            <a:r>
              <a:rPr lang="en-US" dirty="0">
                <a:solidFill>
                  <a:srgbClr val="1B415D"/>
                </a:solidFill>
                <a:latin typeface="Courier New" panose="02070309020205020404" pitchFamily="49" charset="0"/>
              </a:rPr>
              <a:t>SCC &gt; 250</a:t>
            </a:r>
            <a:endParaRPr lang="en-US" dirty="0">
              <a:solidFill>
                <a:srgbClr val="1B415D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C7BA52-BE8C-0022-2FA3-59072571FE45}"/>
              </a:ext>
            </a:extLst>
          </p:cNvPr>
          <p:cNvSpPr txBox="1"/>
          <p:nvPr/>
        </p:nvSpPr>
        <p:spPr>
          <a:xfrm>
            <a:off x="178526" y="2490147"/>
            <a:ext cx="3590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B415D"/>
                </a:solidFill>
              </a:rPr>
              <a:t>Goal:</a:t>
            </a:r>
            <a:r>
              <a:rPr lang="en-US" dirty="0">
                <a:solidFill>
                  <a:srgbClr val="1B415D"/>
                </a:solidFill>
              </a:rPr>
              <a:t> Predict a "High SCC Event"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1DC032-F5AC-05A4-F88D-895794B42A8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14" name="Picture 4" descr="Home – Planet">
            <a:extLst>
              <a:ext uri="{FF2B5EF4-FFF2-40B4-BE49-F238E27FC236}">
                <a16:creationId xmlns:a16="http://schemas.microsoft.com/office/drawing/2014/main" id="{E0B96143-FF36-49FF-2C2E-7E52531B0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C6152BD-856D-C3CB-2D3A-B945D5D883D8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6" name="Picture 2" descr="Logo Università di Napoli Federico II">
              <a:extLst>
                <a:ext uri="{FF2B5EF4-FFF2-40B4-BE49-F238E27FC236}">
                  <a16:creationId xmlns:a16="http://schemas.microsoft.com/office/drawing/2014/main" id="{7BBF14F7-57A7-D9D1-0ADB-1CDFB70FC6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Master Degree | International Relations | Italia">
              <a:extLst>
                <a:ext uri="{FF2B5EF4-FFF2-40B4-BE49-F238E27FC236}">
                  <a16:creationId xmlns:a16="http://schemas.microsoft.com/office/drawing/2014/main" id="{B18B36AE-54B7-C9C7-E30E-F03B5EBBCE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8C4DEA8-7B90-8BDF-3532-4D8D2DDC2E14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112930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51B2-36DF-7CAF-76AA-F856E88D9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A2423F-DC79-EF68-46E1-53CD2627D8E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12" descr="Classification Flat Icon. Colored Sign From Machine Learning Collection.  Creative Classification Icon Illustration For Web Design, Infographics And  More Royalty Free SVG, Cliparts, Vectors, and Stock Illustration. Image  173534523.">
            <a:extLst>
              <a:ext uri="{FF2B5EF4-FFF2-40B4-BE49-F238E27FC236}">
                <a16:creationId xmlns:a16="http://schemas.microsoft.com/office/drawing/2014/main" id="{AFB14F5B-6614-3F44-2086-D0C5F45DBA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" t="17684" r="8417" b="26244"/>
          <a:stretch>
            <a:fillRect/>
          </a:stretch>
        </p:blipFill>
        <p:spPr bwMode="auto">
          <a:xfrm>
            <a:off x="-179612" y="5844286"/>
            <a:ext cx="1837932" cy="114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341C07-6C7D-BECC-F5AE-E0C902599786}"/>
              </a:ext>
            </a:extLst>
          </p:cNvPr>
          <p:cNvSpPr txBox="1"/>
          <p:nvPr/>
        </p:nvSpPr>
        <p:spPr>
          <a:xfrm>
            <a:off x="178526" y="1370928"/>
            <a:ext cx="9224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Feature-Based Classification : Labeling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4A3352-98C4-587F-2B1D-49AD9B14F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251561"/>
              </p:ext>
            </p:extLst>
          </p:nvPr>
        </p:nvGraphicFramePr>
        <p:xfrm>
          <a:off x="642551" y="3446576"/>
          <a:ext cx="10711248" cy="1981200"/>
        </p:xfrm>
        <a:graphic>
          <a:graphicData uri="http://schemas.openxmlformats.org/drawingml/2006/table">
            <a:tbl>
              <a:tblPr/>
              <a:tblGrid>
                <a:gridCol w="1785208">
                  <a:extLst>
                    <a:ext uri="{9D8B030D-6E8A-4147-A177-3AD203B41FA5}">
                      <a16:colId xmlns:a16="http://schemas.microsoft.com/office/drawing/2014/main" val="1800137277"/>
                    </a:ext>
                  </a:extLst>
                </a:gridCol>
                <a:gridCol w="1785208">
                  <a:extLst>
                    <a:ext uri="{9D8B030D-6E8A-4147-A177-3AD203B41FA5}">
                      <a16:colId xmlns:a16="http://schemas.microsoft.com/office/drawing/2014/main" val="302241248"/>
                    </a:ext>
                  </a:extLst>
                </a:gridCol>
                <a:gridCol w="1785208">
                  <a:extLst>
                    <a:ext uri="{9D8B030D-6E8A-4147-A177-3AD203B41FA5}">
                      <a16:colId xmlns:a16="http://schemas.microsoft.com/office/drawing/2014/main" val="3428570155"/>
                    </a:ext>
                  </a:extLst>
                </a:gridCol>
                <a:gridCol w="1785208">
                  <a:extLst>
                    <a:ext uri="{9D8B030D-6E8A-4147-A177-3AD203B41FA5}">
                      <a16:colId xmlns:a16="http://schemas.microsoft.com/office/drawing/2014/main" val="148850475"/>
                    </a:ext>
                  </a:extLst>
                </a:gridCol>
                <a:gridCol w="1785208">
                  <a:extLst>
                    <a:ext uri="{9D8B030D-6E8A-4147-A177-3AD203B41FA5}">
                      <a16:colId xmlns:a16="http://schemas.microsoft.com/office/drawing/2014/main" val="805354466"/>
                    </a:ext>
                  </a:extLst>
                </a:gridCol>
                <a:gridCol w="1785208">
                  <a:extLst>
                    <a:ext uri="{9D8B030D-6E8A-4147-A177-3AD203B41FA5}">
                      <a16:colId xmlns:a16="http://schemas.microsoft.com/office/drawing/2014/main" val="26099099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Animal_ID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Day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scc_lag_1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avg_THI_last_3_days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Farm_ID (Hierarchical)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event_in_next_2_days (Label)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096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23.7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 (Yes)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487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120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25.3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 (Yes)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57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150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27.0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 (No)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9488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2BAD5A5-7B5D-5174-A399-F17542A68D41}"/>
              </a:ext>
            </a:extLst>
          </p:cNvPr>
          <p:cNvSpPr txBox="1"/>
          <p:nvPr/>
        </p:nvSpPr>
        <p:spPr>
          <a:xfrm>
            <a:off x="178526" y="3019612"/>
            <a:ext cx="3590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B415D"/>
                </a:solidFill>
              </a:rPr>
              <a:t>Train on the new table.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B4E211-D8D8-CCFB-8614-BDA4C43604BE}"/>
              </a:ext>
            </a:extLst>
          </p:cNvPr>
          <p:cNvSpPr txBox="1"/>
          <p:nvPr/>
        </p:nvSpPr>
        <p:spPr>
          <a:xfrm>
            <a:off x="178527" y="2305288"/>
            <a:ext cx="3590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B415D"/>
                </a:solidFill>
              </a:rPr>
              <a:t>Goal:</a:t>
            </a:r>
            <a:r>
              <a:rPr lang="en-US" dirty="0">
                <a:solidFill>
                  <a:srgbClr val="1B415D"/>
                </a:solidFill>
              </a:rPr>
              <a:t> Predict a "High SCC Event"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4CD2C4-7206-10BC-F5FD-DC3B47DAD2D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14" name="Picture 4" descr="Home – Planet">
            <a:extLst>
              <a:ext uri="{FF2B5EF4-FFF2-40B4-BE49-F238E27FC236}">
                <a16:creationId xmlns:a16="http://schemas.microsoft.com/office/drawing/2014/main" id="{883399BD-8C32-6061-0736-3D3FD6256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E73A0B46-87D8-4166-5797-2CDABE0B2928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6" name="Picture 2" descr="Logo Università di Napoli Federico II">
              <a:extLst>
                <a:ext uri="{FF2B5EF4-FFF2-40B4-BE49-F238E27FC236}">
                  <a16:creationId xmlns:a16="http://schemas.microsoft.com/office/drawing/2014/main" id="{4F4A07ED-6D61-BA70-153B-53475A273E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2" descr="Master Degree | International Relations | Italia">
              <a:extLst>
                <a:ext uri="{FF2B5EF4-FFF2-40B4-BE49-F238E27FC236}">
                  <a16:creationId xmlns:a16="http://schemas.microsoft.com/office/drawing/2014/main" id="{0DF466A5-E9E0-4770-7D93-6D600970CA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0BDB550-9405-57A6-2694-A806497EA670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353415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C9E87-8E20-C37A-868D-FA4D97E80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62D14E5-832E-E20F-5726-E93DE52B651F}"/>
              </a:ext>
            </a:extLst>
          </p:cNvPr>
          <p:cNvSpPr txBox="1"/>
          <p:nvPr/>
        </p:nvSpPr>
        <p:spPr>
          <a:xfrm>
            <a:off x="2887614" y="3118190"/>
            <a:ext cx="6416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Approach 2 </a:t>
            </a:r>
          </a:p>
          <a:p>
            <a:pPr algn="ctr"/>
            <a:r>
              <a:rPr lang="en-US" sz="3600" b="1" dirty="0">
                <a:solidFill>
                  <a:srgbClr val="1B415D"/>
                </a:solidFill>
              </a:rPr>
              <a:t>Deep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92B65D-F8FB-02A0-F445-100462B1F3F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10" name="Picture 12" descr="Classification Flat Icon. Colored Sign From Machine Learning Collection.  Creative Classification Icon Illustration For Web Design, Infographics And  More Royalty Free SVG, Cliparts, Vectors, and Stock Illustration. Image  173534523.">
            <a:extLst>
              <a:ext uri="{FF2B5EF4-FFF2-40B4-BE49-F238E27FC236}">
                <a16:creationId xmlns:a16="http://schemas.microsoft.com/office/drawing/2014/main" id="{A17E1D50-BAE2-DAF6-9C69-3BB38CC00C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" t="17684" r="8417" b="26244"/>
          <a:stretch>
            <a:fillRect/>
          </a:stretch>
        </p:blipFill>
        <p:spPr bwMode="auto">
          <a:xfrm>
            <a:off x="-179612" y="5844286"/>
            <a:ext cx="1837932" cy="114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B99FD9-1E1C-3ADE-1458-3F7C5B1853A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12" name="Picture 4" descr="Home – Planet">
            <a:extLst>
              <a:ext uri="{FF2B5EF4-FFF2-40B4-BE49-F238E27FC236}">
                <a16:creationId xmlns:a16="http://schemas.microsoft.com/office/drawing/2014/main" id="{B4AF168E-427E-94B4-AFA9-9AA54A0F7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06DAFB3-C547-9132-7F68-2704003849DB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4" name="Picture 2" descr="Logo Università di Napoli Federico II">
              <a:extLst>
                <a:ext uri="{FF2B5EF4-FFF2-40B4-BE49-F238E27FC236}">
                  <a16:creationId xmlns:a16="http://schemas.microsoft.com/office/drawing/2014/main" id="{20788C98-00EB-AA99-7D48-3F088AA36B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2" descr="Master Degree | International Relations | Italia">
              <a:extLst>
                <a:ext uri="{FF2B5EF4-FFF2-40B4-BE49-F238E27FC236}">
                  <a16:creationId xmlns:a16="http://schemas.microsoft.com/office/drawing/2014/main" id="{FEAD19EF-A5B9-7FD6-0CD3-442A5544EF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962ED50-E0B0-A0B8-D9F1-3EE71EAE62A1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3792151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49DA-55EB-5532-AD6C-D778D2EC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15DA48-D3F6-EB07-4F24-61EF12DB782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12" descr="Classification Flat Icon. Colored Sign From Machine Learning Collection.  Creative Classification Icon Illustration For Web Design, Infographics And  More Royalty Free SVG, Cliparts, Vectors, and Stock Illustration. Image  173534523.">
            <a:extLst>
              <a:ext uri="{FF2B5EF4-FFF2-40B4-BE49-F238E27FC236}">
                <a16:creationId xmlns:a16="http://schemas.microsoft.com/office/drawing/2014/main" id="{87DFECA2-4222-D59A-48E9-3C9E7DF24F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" t="17684" r="8417" b="26244"/>
          <a:stretch>
            <a:fillRect/>
          </a:stretch>
        </p:blipFill>
        <p:spPr bwMode="auto">
          <a:xfrm>
            <a:off x="-179612" y="5844286"/>
            <a:ext cx="1837932" cy="114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D3B9F2-4529-7C5B-3C26-9BB8FC0BA944}"/>
              </a:ext>
            </a:extLst>
          </p:cNvPr>
          <p:cNvSpPr txBox="1"/>
          <p:nvPr/>
        </p:nvSpPr>
        <p:spPr>
          <a:xfrm>
            <a:off x="178526" y="1370928"/>
            <a:ext cx="9224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Deep Learning Classification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7DAAB-6D33-453E-151A-7A11EFB1185C}"/>
              </a:ext>
            </a:extLst>
          </p:cNvPr>
          <p:cNvSpPr txBox="1"/>
          <p:nvPr/>
        </p:nvSpPr>
        <p:spPr>
          <a:xfrm>
            <a:off x="338600" y="2533447"/>
            <a:ext cx="119114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Takes fixed-length snippet as input [3-day, 7-day]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Assign label to each snippet based on whether high-risk event occurred in 2 days later.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Apply a model to learn on the data. [1D-CNNs or LSTMs]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7EE38F-35DC-C919-97D9-C09B634483C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9" name="Picture 4" descr="Home – Planet">
            <a:extLst>
              <a:ext uri="{FF2B5EF4-FFF2-40B4-BE49-F238E27FC236}">
                <a16:creationId xmlns:a16="http://schemas.microsoft.com/office/drawing/2014/main" id="{9A04947A-EEC3-D2A3-D7F6-0AE22963F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8CB39AB-96D8-8E01-B7DD-C5384F06E602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1" name="Picture 2" descr="Logo Università di Napoli Federico II">
              <a:extLst>
                <a:ext uri="{FF2B5EF4-FFF2-40B4-BE49-F238E27FC236}">
                  <a16:creationId xmlns:a16="http://schemas.microsoft.com/office/drawing/2014/main" id="{429DB219-E433-7D63-FCF0-8B5508A29D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Master Degree | International Relations | Italia">
              <a:extLst>
                <a:ext uri="{FF2B5EF4-FFF2-40B4-BE49-F238E27FC236}">
                  <a16:creationId xmlns:a16="http://schemas.microsoft.com/office/drawing/2014/main" id="{A1EFDC4D-57E5-E8DA-49E8-9B7A30EF6D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4A87A96-9549-9EEA-5C71-68C49024020A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648451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3AC61-5001-7DAB-8F60-121D0398E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3AC776-BE2A-09D1-9FF7-52941D82E03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12" descr="Classification Flat Icon. Colored Sign From Machine Learning Collection.  Creative Classification Icon Illustration For Web Design, Infographics And  More Royalty Free SVG, Cliparts, Vectors, and Stock Illustration. Image  173534523.">
            <a:extLst>
              <a:ext uri="{FF2B5EF4-FFF2-40B4-BE49-F238E27FC236}">
                <a16:creationId xmlns:a16="http://schemas.microsoft.com/office/drawing/2014/main" id="{C647D8AE-E8E6-1314-87B7-BEF36CAE09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" t="17684" r="8417" b="26244"/>
          <a:stretch>
            <a:fillRect/>
          </a:stretch>
        </p:blipFill>
        <p:spPr bwMode="auto">
          <a:xfrm>
            <a:off x="-179612" y="5844286"/>
            <a:ext cx="1837932" cy="114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0A698-41B2-FD4E-9443-9DA92D412B5E}"/>
              </a:ext>
            </a:extLst>
          </p:cNvPr>
          <p:cNvSpPr txBox="1"/>
          <p:nvPr/>
        </p:nvSpPr>
        <p:spPr>
          <a:xfrm>
            <a:off x="178526" y="1370928"/>
            <a:ext cx="1027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Deep Learning Classification : Labeling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FE6177B-0A28-5E90-8410-99B47D8DCB9B}"/>
              </a:ext>
            </a:extLst>
          </p:cNvPr>
          <p:cNvGraphicFramePr>
            <a:graphicFrameLocks noGrp="1"/>
          </p:cNvGraphicFramePr>
          <p:nvPr/>
        </p:nvGraphicFramePr>
        <p:xfrm>
          <a:off x="4668791" y="2186467"/>
          <a:ext cx="7379046" cy="3319370"/>
        </p:xfrm>
        <a:graphic>
          <a:graphicData uri="http://schemas.openxmlformats.org/drawingml/2006/table">
            <a:tbl>
              <a:tblPr/>
              <a:tblGrid>
                <a:gridCol w="1229841">
                  <a:extLst>
                    <a:ext uri="{9D8B030D-6E8A-4147-A177-3AD203B41FA5}">
                      <a16:colId xmlns:a16="http://schemas.microsoft.com/office/drawing/2014/main" val="849944004"/>
                    </a:ext>
                  </a:extLst>
                </a:gridCol>
                <a:gridCol w="1229841">
                  <a:extLst>
                    <a:ext uri="{9D8B030D-6E8A-4147-A177-3AD203B41FA5}">
                      <a16:colId xmlns:a16="http://schemas.microsoft.com/office/drawing/2014/main" val="279171657"/>
                    </a:ext>
                  </a:extLst>
                </a:gridCol>
                <a:gridCol w="1229841">
                  <a:extLst>
                    <a:ext uri="{9D8B030D-6E8A-4147-A177-3AD203B41FA5}">
                      <a16:colId xmlns:a16="http://schemas.microsoft.com/office/drawing/2014/main" val="2432245287"/>
                    </a:ext>
                  </a:extLst>
                </a:gridCol>
                <a:gridCol w="1229841">
                  <a:extLst>
                    <a:ext uri="{9D8B030D-6E8A-4147-A177-3AD203B41FA5}">
                      <a16:colId xmlns:a16="http://schemas.microsoft.com/office/drawing/2014/main" val="136311547"/>
                    </a:ext>
                  </a:extLst>
                </a:gridCol>
                <a:gridCol w="1229841">
                  <a:extLst>
                    <a:ext uri="{9D8B030D-6E8A-4147-A177-3AD203B41FA5}">
                      <a16:colId xmlns:a16="http://schemas.microsoft.com/office/drawing/2014/main" val="652382732"/>
                    </a:ext>
                  </a:extLst>
                </a:gridCol>
                <a:gridCol w="1229841">
                  <a:extLst>
                    <a:ext uri="{9D8B030D-6E8A-4147-A177-3AD203B41FA5}">
                      <a16:colId xmlns:a16="http://schemas.microsoft.com/office/drawing/2014/main" val="3289342483"/>
                    </a:ext>
                  </a:extLst>
                </a:gridCol>
              </a:tblGrid>
              <a:tr h="7135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Animal_ID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Farm_ID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Day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Milk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SCC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THI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57788"/>
                  </a:ext>
                </a:extLst>
              </a:tr>
              <a:tr h="4343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052962"/>
                  </a:ext>
                </a:extLst>
              </a:tr>
              <a:tr h="4343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19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62437"/>
                  </a:ext>
                </a:extLst>
              </a:tr>
              <a:tr h="4343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120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26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789519"/>
                  </a:ext>
                </a:extLst>
              </a:tr>
              <a:tr h="4343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17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150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27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568047"/>
                  </a:ext>
                </a:extLst>
              </a:tr>
              <a:tr h="4343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260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959223"/>
                  </a:ext>
                </a:extLst>
              </a:tr>
              <a:tr h="43431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6423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31723A4-E980-4D25-04A8-89D421BEB479}"/>
              </a:ext>
            </a:extLst>
          </p:cNvPr>
          <p:cNvSpPr txBox="1"/>
          <p:nvPr/>
        </p:nvSpPr>
        <p:spPr>
          <a:xfrm>
            <a:off x="178525" y="3204471"/>
            <a:ext cx="3590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B415D"/>
                </a:solidFill>
              </a:rPr>
              <a:t>High SCC Event </a:t>
            </a:r>
            <a:r>
              <a:rPr lang="en-US" dirty="0">
                <a:solidFill>
                  <a:srgbClr val="1B415D"/>
                </a:solidFill>
                <a:sym typeface="Wingdings" pitchFamily="2" charset="2"/>
              </a:rPr>
              <a:t>  </a:t>
            </a:r>
            <a:r>
              <a:rPr lang="en-US" dirty="0">
                <a:solidFill>
                  <a:srgbClr val="1B415D"/>
                </a:solidFill>
                <a:latin typeface="Courier New" panose="02070309020205020404" pitchFamily="49" charset="0"/>
              </a:rPr>
              <a:t>SCC &gt; 250</a:t>
            </a:r>
            <a:endParaRPr lang="en-US" dirty="0">
              <a:solidFill>
                <a:srgbClr val="1B415D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111B80-67FE-20E2-E3AA-4A68E588B8D8}"/>
              </a:ext>
            </a:extLst>
          </p:cNvPr>
          <p:cNvSpPr txBox="1"/>
          <p:nvPr/>
        </p:nvSpPr>
        <p:spPr>
          <a:xfrm>
            <a:off x="178526" y="2490147"/>
            <a:ext cx="3590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B415D"/>
                </a:solidFill>
              </a:rPr>
              <a:t>Goal:</a:t>
            </a:r>
            <a:r>
              <a:rPr lang="en-US" dirty="0">
                <a:solidFill>
                  <a:srgbClr val="1B415D"/>
                </a:solidFill>
              </a:rPr>
              <a:t> Predict a "High SCC Event"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2FFA8-C67B-FE17-FEDB-71F25E8DABF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9" name="Picture 4" descr="Home – Planet">
            <a:extLst>
              <a:ext uri="{FF2B5EF4-FFF2-40B4-BE49-F238E27FC236}">
                <a16:creationId xmlns:a16="http://schemas.microsoft.com/office/drawing/2014/main" id="{71497017-DDBF-21D1-BA85-671C14C10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7244ECC-2ACE-D820-7EEA-8F9F645A1946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3" name="Picture 2" descr="Logo Università di Napoli Federico II">
              <a:extLst>
                <a:ext uri="{FF2B5EF4-FFF2-40B4-BE49-F238E27FC236}">
                  <a16:creationId xmlns:a16="http://schemas.microsoft.com/office/drawing/2014/main" id="{80ECA417-9301-D520-9ED3-BA9EFCBDC6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Master Degree | International Relations | Italia">
              <a:extLst>
                <a:ext uri="{FF2B5EF4-FFF2-40B4-BE49-F238E27FC236}">
                  <a16:creationId xmlns:a16="http://schemas.microsoft.com/office/drawing/2014/main" id="{4E5CCC71-36A3-CB82-48E7-C7198987C0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50DA4E9-1CB0-9395-29A9-56918B1D1A0D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3352948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65CA3-1710-AC96-2ED4-33ACB886F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7D1A7C-74E2-1A53-CDB1-6FFE945C146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7" name="Picture 12" descr="Classification Flat Icon. Colored Sign From Machine Learning Collection.  Creative Classification Icon Illustration For Web Design, Infographics And  More Royalty Free SVG, Cliparts, Vectors, and Stock Illustration. Image  173534523.">
            <a:extLst>
              <a:ext uri="{FF2B5EF4-FFF2-40B4-BE49-F238E27FC236}">
                <a16:creationId xmlns:a16="http://schemas.microsoft.com/office/drawing/2014/main" id="{BB6D7778-C892-7763-7621-BB1583A572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" t="17684" r="8417" b="26244"/>
          <a:stretch>
            <a:fillRect/>
          </a:stretch>
        </p:blipFill>
        <p:spPr bwMode="auto">
          <a:xfrm>
            <a:off x="-179612" y="5844286"/>
            <a:ext cx="1837932" cy="114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BD8614-6CA8-BD60-259D-A4EDB84FE23B}"/>
              </a:ext>
            </a:extLst>
          </p:cNvPr>
          <p:cNvSpPr txBox="1"/>
          <p:nvPr/>
        </p:nvSpPr>
        <p:spPr>
          <a:xfrm>
            <a:off x="178526" y="1370928"/>
            <a:ext cx="10337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Deep Learning Classification : Labeling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B61776-912F-94A4-9604-BCF0FC557223}"/>
              </a:ext>
            </a:extLst>
          </p:cNvPr>
          <p:cNvSpPr txBox="1"/>
          <p:nvPr/>
        </p:nvSpPr>
        <p:spPr>
          <a:xfrm>
            <a:off x="178525" y="3204471"/>
            <a:ext cx="3590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B415D"/>
                </a:solidFill>
              </a:rPr>
              <a:t>High SCC Event </a:t>
            </a:r>
            <a:r>
              <a:rPr lang="en-US" dirty="0">
                <a:solidFill>
                  <a:srgbClr val="1B415D"/>
                </a:solidFill>
                <a:sym typeface="Wingdings" pitchFamily="2" charset="2"/>
              </a:rPr>
              <a:t>  </a:t>
            </a:r>
            <a:r>
              <a:rPr lang="en-US" dirty="0">
                <a:solidFill>
                  <a:srgbClr val="1B415D"/>
                </a:solidFill>
                <a:latin typeface="Courier New" panose="02070309020205020404" pitchFamily="49" charset="0"/>
              </a:rPr>
              <a:t>SCC &gt; 250</a:t>
            </a:r>
            <a:endParaRPr lang="en-US" dirty="0">
              <a:solidFill>
                <a:srgbClr val="1B415D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9E2C7C-6CD6-7403-264F-AFC3AEB149A2}"/>
              </a:ext>
            </a:extLst>
          </p:cNvPr>
          <p:cNvSpPr txBox="1"/>
          <p:nvPr/>
        </p:nvSpPr>
        <p:spPr>
          <a:xfrm>
            <a:off x="178526" y="2490147"/>
            <a:ext cx="3590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B415D"/>
                </a:solidFill>
              </a:rPr>
              <a:t>Goal:</a:t>
            </a:r>
            <a:r>
              <a:rPr lang="en-US" dirty="0">
                <a:solidFill>
                  <a:srgbClr val="1B415D"/>
                </a:solidFill>
              </a:rPr>
              <a:t> Predict a "High SCC Event"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777DB1-511A-D0CC-BB22-15A2ED68F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880987"/>
              </p:ext>
            </p:extLst>
          </p:nvPr>
        </p:nvGraphicFramePr>
        <p:xfrm>
          <a:off x="305524" y="3944619"/>
          <a:ext cx="5498376" cy="1706880"/>
        </p:xfrm>
        <a:graphic>
          <a:graphicData uri="http://schemas.openxmlformats.org/drawingml/2006/table">
            <a:tbl>
              <a:tblPr/>
              <a:tblGrid>
                <a:gridCol w="4236285">
                  <a:extLst>
                    <a:ext uri="{9D8B030D-6E8A-4147-A177-3AD203B41FA5}">
                      <a16:colId xmlns:a16="http://schemas.microsoft.com/office/drawing/2014/main" val="1340322112"/>
                    </a:ext>
                  </a:extLst>
                </a:gridCol>
                <a:gridCol w="1262091">
                  <a:extLst>
                    <a:ext uri="{9D8B030D-6E8A-4147-A177-3AD203B41FA5}">
                      <a16:colId xmlns:a16="http://schemas.microsoft.com/office/drawing/2014/main" val="9671370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X (The 3-Day Input Snippet)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Label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68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[[20, 100, 22], [19, 110, 23], [18, 120, 26]]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 (Yes)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074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[[19, 110, 23], [18, 120, 26], [17, 150, 27]]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 (Yes)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9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[[18, 120, 26], [17, 150, 27], [15, 260, 28]]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 (No)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00657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F34B182-6FBE-C09B-3CBC-344B90653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611882"/>
              </p:ext>
            </p:extLst>
          </p:nvPr>
        </p:nvGraphicFramePr>
        <p:xfrm>
          <a:off x="6096000" y="2272159"/>
          <a:ext cx="5917474" cy="3379340"/>
        </p:xfrm>
        <a:graphic>
          <a:graphicData uri="http://schemas.openxmlformats.org/drawingml/2006/table">
            <a:tbl>
              <a:tblPr/>
              <a:tblGrid>
                <a:gridCol w="1591181">
                  <a:extLst>
                    <a:ext uri="{9D8B030D-6E8A-4147-A177-3AD203B41FA5}">
                      <a16:colId xmlns:a16="http://schemas.microsoft.com/office/drawing/2014/main" val="849944004"/>
                    </a:ext>
                  </a:extLst>
                </a:gridCol>
                <a:gridCol w="1136558">
                  <a:extLst>
                    <a:ext uri="{9D8B030D-6E8A-4147-A177-3AD203B41FA5}">
                      <a16:colId xmlns:a16="http://schemas.microsoft.com/office/drawing/2014/main" val="279171657"/>
                    </a:ext>
                  </a:extLst>
                </a:gridCol>
                <a:gridCol w="818321">
                  <a:extLst>
                    <a:ext uri="{9D8B030D-6E8A-4147-A177-3AD203B41FA5}">
                      <a16:colId xmlns:a16="http://schemas.microsoft.com/office/drawing/2014/main" val="2432245287"/>
                    </a:ext>
                  </a:extLst>
                </a:gridCol>
                <a:gridCol w="909246">
                  <a:extLst>
                    <a:ext uri="{9D8B030D-6E8A-4147-A177-3AD203B41FA5}">
                      <a16:colId xmlns:a16="http://schemas.microsoft.com/office/drawing/2014/main" val="136311547"/>
                    </a:ext>
                  </a:extLst>
                </a:gridCol>
                <a:gridCol w="761494">
                  <a:extLst>
                    <a:ext uri="{9D8B030D-6E8A-4147-A177-3AD203B41FA5}">
                      <a16:colId xmlns:a16="http://schemas.microsoft.com/office/drawing/2014/main" val="652382732"/>
                    </a:ext>
                  </a:extLst>
                </a:gridCol>
                <a:gridCol w="700674">
                  <a:extLst>
                    <a:ext uri="{9D8B030D-6E8A-4147-A177-3AD203B41FA5}">
                      <a16:colId xmlns:a16="http://schemas.microsoft.com/office/drawing/2014/main" val="3289342483"/>
                    </a:ext>
                  </a:extLst>
                </a:gridCol>
              </a:tblGrid>
              <a:tr h="71533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Animal_ID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Farm_ID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Day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Milk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SCC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THI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57788"/>
                  </a:ext>
                </a:extLst>
              </a:tr>
              <a:tr h="44400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052962"/>
                  </a:ext>
                </a:extLst>
              </a:tr>
              <a:tr h="44400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19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62437"/>
                  </a:ext>
                </a:extLst>
              </a:tr>
              <a:tr h="44400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120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26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789519"/>
                  </a:ext>
                </a:extLst>
              </a:tr>
              <a:tr h="44400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17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150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27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568047"/>
                  </a:ext>
                </a:extLst>
              </a:tr>
              <a:tr h="44400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260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959223"/>
                  </a:ext>
                </a:extLst>
              </a:tr>
              <a:tr h="44400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A-101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Farm-A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200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64230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8F0B8B8-9658-E52D-3193-AC8138186EE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13" name="Picture 4" descr="Home – Planet">
            <a:extLst>
              <a:ext uri="{FF2B5EF4-FFF2-40B4-BE49-F238E27FC236}">
                <a16:creationId xmlns:a16="http://schemas.microsoft.com/office/drawing/2014/main" id="{9C4E904A-ED18-0069-7930-7C9F7CB4E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DF213B03-9F6D-0FD2-D9BE-DCDF883C6B18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5" name="Picture 2" descr="Logo Università di Napoli Federico II">
              <a:extLst>
                <a:ext uri="{FF2B5EF4-FFF2-40B4-BE49-F238E27FC236}">
                  <a16:creationId xmlns:a16="http://schemas.microsoft.com/office/drawing/2014/main" id="{44CA68E8-81E6-FE1E-8146-8D7423E8B93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Master Degree | International Relations | Italia">
              <a:extLst>
                <a:ext uri="{FF2B5EF4-FFF2-40B4-BE49-F238E27FC236}">
                  <a16:creationId xmlns:a16="http://schemas.microsoft.com/office/drawing/2014/main" id="{C4A15F1A-2A24-7B6E-224A-348FE2CD11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28DB37B-6662-E387-F3B1-09E1D1E98CB0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1890525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A8AB3-AC78-8C27-BB4B-1B2AECBD0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633DDC-4819-B4AC-7C96-567EB9E9A38F}"/>
              </a:ext>
            </a:extLst>
          </p:cNvPr>
          <p:cNvSpPr txBox="1"/>
          <p:nvPr/>
        </p:nvSpPr>
        <p:spPr>
          <a:xfrm>
            <a:off x="338602" y="1704850"/>
            <a:ext cx="2362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Prediction </a:t>
            </a:r>
          </a:p>
        </p:txBody>
      </p:sp>
      <p:pic>
        <p:nvPicPr>
          <p:cNvPr id="1036" name="Picture 12" descr="Classification Flat Icon. Colored Sign From Machine Learning Collection.  Creative Classification Icon Illustration For Web Design, Infographics And  More Royalty Free SVG, Cliparts, Vectors, and Stock Illustration. Image  173534523.">
            <a:extLst>
              <a:ext uri="{FF2B5EF4-FFF2-40B4-BE49-F238E27FC236}">
                <a16:creationId xmlns:a16="http://schemas.microsoft.com/office/drawing/2014/main" id="{485AA49E-9CDE-8FD5-1996-86F6A9FDCA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" t="17684" r="8417" b="26244"/>
          <a:stretch>
            <a:fillRect/>
          </a:stretch>
        </p:blipFill>
        <p:spPr bwMode="auto">
          <a:xfrm>
            <a:off x="4667210" y="3022207"/>
            <a:ext cx="2857579" cy="1785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lustering Icon Grafica di aimagenarium · Creative Fabrica">
            <a:extLst>
              <a:ext uri="{FF2B5EF4-FFF2-40B4-BE49-F238E27FC236}">
                <a16:creationId xmlns:a16="http://schemas.microsoft.com/office/drawing/2014/main" id="{1CA2E92D-9CE1-0FB5-94A1-8F8D9C8592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3" t="9663" r="28107" b="29361"/>
          <a:stretch>
            <a:fillRect/>
          </a:stretch>
        </p:blipFill>
        <p:spPr bwMode="auto">
          <a:xfrm>
            <a:off x="9315950" y="2950703"/>
            <a:ext cx="2133601" cy="196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09C8F9-9790-2FBA-DCBB-D5F9DDB96094}"/>
              </a:ext>
            </a:extLst>
          </p:cNvPr>
          <p:cNvSpPr txBox="1"/>
          <p:nvPr/>
        </p:nvSpPr>
        <p:spPr>
          <a:xfrm>
            <a:off x="9086758" y="1704210"/>
            <a:ext cx="2362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Clustering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FD4D2-1406-8D59-C81A-83285197CBC9}"/>
              </a:ext>
            </a:extLst>
          </p:cNvPr>
          <p:cNvSpPr txBox="1"/>
          <p:nvPr/>
        </p:nvSpPr>
        <p:spPr>
          <a:xfrm>
            <a:off x="4497048" y="1708353"/>
            <a:ext cx="313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Classification</a:t>
            </a:r>
          </a:p>
        </p:txBody>
      </p:sp>
      <p:pic>
        <p:nvPicPr>
          <p:cNvPr id="14" name="Picture 2" descr="Predict PNG Transparent Images Free Download | Vector Files | Pngtree">
            <a:extLst>
              <a:ext uri="{FF2B5EF4-FFF2-40B4-BE49-F238E27FC236}">
                <a16:creationId xmlns:a16="http://schemas.microsoft.com/office/drawing/2014/main" id="{5F520961-06DC-26C4-E10F-9A756224E2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75"/>
          <a:stretch>
            <a:fillRect/>
          </a:stretch>
        </p:blipFill>
        <p:spPr bwMode="auto">
          <a:xfrm>
            <a:off x="-248114" y="2328959"/>
            <a:ext cx="3536224" cy="2585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6A3EEF-8994-85F0-1CA5-D88161ECB23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-33752" y="5929314"/>
            <a:ext cx="12308114" cy="10636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63007E7-6C1F-768D-0A99-D7688A98907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3" name="Picture 4" descr="Home – Planet">
            <a:extLst>
              <a:ext uri="{FF2B5EF4-FFF2-40B4-BE49-F238E27FC236}">
                <a16:creationId xmlns:a16="http://schemas.microsoft.com/office/drawing/2014/main" id="{7BAFEDE4-297E-E391-D782-B8D0209ED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673C372-635F-D3C1-0ED7-CAA683418A23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6" name="Picture 2" descr="Logo Università di Napoli Federico II">
              <a:extLst>
                <a:ext uri="{FF2B5EF4-FFF2-40B4-BE49-F238E27FC236}">
                  <a16:creationId xmlns:a16="http://schemas.microsoft.com/office/drawing/2014/main" id="{1C9C9A01-3BF9-717E-3B98-FF11FE884B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12" descr="Master Degree | International Relations | Italia">
              <a:extLst>
                <a:ext uri="{FF2B5EF4-FFF2-40B4-BE49-F238E27FC236}">
                  <a16:creationId xmlns:a16="http://schemas.microsoft.com/office/drawing/2014/main" id="{14402CAB-AA38-E4CA-7CE9-6123859C24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7D456D8-F89E-F02F-EE03-26B63E941675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2354539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78FBE-A18E-3397-63B5-8B9C3591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773D15-634E-E919-85EA-9A688732E8B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14" descr="Clustering Icon Grafica di aimagenarium · Creative Fabrica">
            <a:extLst>
              <a:ext uri="{FF2B5EF4-FFF2-40B4-BE49-F238E27FC236}">
                <a16:creationId xmlns:a16="http://schemas.microsoft.com/office/drawing/2014/main" id="{4FAE2CE3-AB69-8052-70B1-FC92108A1F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3" t="9663" r="28107" b="29361"/>
          <a:stretch>
            <a:fillRect/>
          </a:stretch>
        </p:blipFill>
        <p:spPr bwMode="auto">
          <a:xfrm>
            <a:off x="-68921" y="5898318"/>
            <a:ext cx="1152110" cy="106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530B38-4A2D-BAE6-BF06-ABE62E8DFCE9}"/>
              </a:ext>
            </a:extLst>
          </p:cNvPr>
          <p:cNvSpPr txBox="1"/>
          <p:nvPr/>
        </p:nvSpPr>
        <p:spPr>
          <a:xfrm>
            <a:off x="178526" y="1456237"/>
            <a:ext cx="2362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Clustering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1D08E4-4B12-EB8E-0FF3-600F6B433E68}"/>
              </a:ext>
            </a:extLst>
          </p:cNvPr>
          <p:cNvSpPr txBox="1"/>
          <p:nvPr/>
        </p:nvSpPr>
        <p:spPr>
          <a:xfrm>
            <a:off x="338601" y="2533447"/>
            <a:ext cx="108821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The hierarchy is not a constraint to be fixed.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1B415D"/>
                </a:solidFill>
              </a:rPr>
              <a:t>The hierarchy levels provide different "lenses" for clustering.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625138-C5D8-479E-0758-5693E40C3EC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8" name="Picture 4" descr="Home – Planet">
            <a:extLst>
              <a:ext uri="{FF2B5EF4-FFF2-40B4-BE49-F238E27FC236}">
                <a16:creationId xmlns:a16="http://schemas.microsoft.com/office/drawing/2014/main" id="{7710822E-4C4D-05A3-E1FB-08DCFD6B7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99C0213-5982-8D6A-146C-726CBB972229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1" name="Picture 2" descr="Logo Università di Napoli Federico II">
              <a:extLst>
                <a:ext uri="{FF2B5EF4-FFF2-40B4-BE49-F238E27FC236}">
                  <a16:creationId xmlns:a16="http://schemas.microsoft.com/office/drawing/2014/main" id="{1E5BF51D-7D23-499B-A4B8-F1D929EA2B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2" descr="Master Degree | International Relations | Italia">
              <a:extLst>
                <a:ext uri="{FF2B5EF4-FFF2-40B4-BE49-F238E27FC236}">
                  <a16:creationId xmlns:a16="http://schemas.microsoft.com/office/drawing/2014/main" id="{B843AD2A-C255-6404-36B8-CFEC7C4058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0A83F49-EDB8-70D8-2A3E-9E60A2335558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1044882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D4EC7-5C53-69B2-BFD6-780F96573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4C04E4-AAC1-D604-75EC-58CC098534B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14" descr="Clustering Icon Grafica di aimagenarium · Creative Fabrica">
            <a:extLst>
              <a:ext uri="{FF2B5EF4-FFF2-40B4-BE49-F238E27FC236}">
                <a16:creationId xmlns:a16="http://schemas.microsoft.com/office/drawing/2014/main" id="{7D996E8A-1229-9FB2-23AB-F1BD0A5755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3" t="9663" r="28107" b="29361"/>
          <a:stretch>
            <a:fillRect/>
          </a:stretch>
        </p:blipFill>
        <p:spPr bwMode="auto">
          <a:xfrm>
            <a:off x="-68921" y="5898318"/>
            <a:ext cx="1152110" cy="106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1156F6-5D30-1C64-B268-F28E7C205894}"/>
              </a:ext>
            </a:extLst>
          </p:cNvPr>
          <p:cNvSpPr txBox="1"/>
          <p:nvPr/>
        </p:nvSpPr>
        <p:spPr>
          <a:xfrm>
            <a:off x="178526" y="1456237"/>
            <a:ext cx="2923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Animal-Level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37E9DF-8A2E-082C-AC59-4E18F8309906}"/>
              </a:ext>
            </a:extLst>
          </p:cNvPr>
          <p:cNvSpPr txBox="1"/>
          <p:nvPr/>
        </p:nvSpPr>
        <p:spPr>
          <a:xfrm>
            <a:off x="326244" y="2102568"/>
            <a:ext cx="108821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B415D"/>
                </a:solidFill>
              </a:rPr>
              <a:t>Clusters individual animals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Cluster 1: "Resilient Animals”.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Cluster 2: "Vulnerable Animals".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5058B-EC2B-0DB1-FD02-B1F091C40E4A}"/>
              </a:ext>
            </a:extLst>
          </p:cNvPr>
          <p:cNvSpPr txBox="1"/>
          <p:nvPr/>
        </p:nvSpPr>
        <p:spPr>
          <a:xfrm>
            <a:off x="326244" y="3370437"/>
            <a:ext cx="2923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Farm-Level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CF212D-AF5B-5F9F-A563-D0A93CE40162}"/>
              </a:ext>
            </a:extLst>
          </p:cNvPr>
          <p:cNvSpPr txBox="1"/>
          <p:nvPr/>
        </p:nvSpPr>
        <p:spPr>
          <a:xfrm>
            <a:off x="473962" y="4016768"/>
            <a:ext cx="108821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B415D"/>
                </a:solidFill>
              </a:rPr>
              <a:t>Clusters entire farms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Cluster A: "High-Performance Farms".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Cluster B: "Poorly-Managed Farms".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4D91B1-2665-3927-F161-3F140B87531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8" name="Picture 4" descr="Home – Planet">
            <a:extLst>
              <a:ext uri="{FF2B5EF4-FFF2-40B4-BE49-F238E27FC236}">
                <a16:creationId xmlns:a16="http://schemas.microsoft.com/office/drawing/2014/main" id="{C1B65AAF-7D70-5E6D-31CC-E217D7062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25C97E3-ABBA-E9C9-B9D0-0DA21340CE25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3" name="Picture 2" descr="Logo Università di Napoli Federico II">
              <a:extLst>
                <a:ext uri="{FF2B5EF4-FFF2-40B4-BE49-F238E27FC236}">
                  <a16:creationId xmlns:a16="http://schemas.microsoft.com/office/drawing/2014/main" id="{C9FE2998-79B7-DF82-DE5C-8006995605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Master Degree | International Relations | Italia">
              <a:extLst>
                <a:ext uri="{FF2B5EF4-FFF2-40B4-BE49-F238E27FC236}">
                  <a16:creationId xmlns:a16="http://schemas.microsoft.com/office/drawing/2014/main" id="{2407B7AD-D991-2E67-64B7-2C22677BF8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C053AEA-03CF-3F21-25C7-DFD3C4E31A1E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2250990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AF658-A379-87D0-FE17-9EF1C59F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7AD4F6-BB6A-5B86-E51C-81199392392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14" descr="Clustering Icon Grafica di aimagenarium · Creative Fabrica">
            <a:extLst>
              <a:ext uri="{FF2B5EF4-FFF2-40B4-BE49-F238E27FC236}">
                <a16:creationId xmlns:a16="http://schemas.microsoft.com/office/drawing/2014/main" id="{7B52E95D-13D7-96FB-B8A1-D18EE4A06F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3" t="9663" r="28107" b="29361"/>
          <a:stretch>
            <a:fillRect/>
          </a:stretch>
        </p:blipFill>
        <p:spPr bwMode="auto">
          <a:xfrm>
            <a:off x="-68921" y="5898318"/>
            <a:ext cx="1152110" cy="106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58F237-3925-B0F2-A0AA-3CDC87C5CB21}"/>
              </a:ext>
            </a:extLst>
          </p:cNvPr>
          <p:cNvSpPr txBox="1"/>
          <p:nvPr/>
        </p:nvSpPr>
        <p:spPr>
          <a:xfrm>
            <a:off x="4397298" y="2828835"/>
            <a:ext cx="33974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Approach 1 </a:t>
            </a:r>
          </a:p>
          <a:p>
            <a:pPr algn="ctr"/>
            <a:r>
              <a:rPr lang="en-US" sz="3600" b="1" dirty="0">
                <a:solidFill>
                  <a:srgbClr val="1B415D"/>
                </a:solidFill>
              </a:rPr>
              <a:t> Feature-Based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7126C3-8EC0-C4CC-2B9B-CF23582E29B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8" name="Picture 4" descr="Home – Planet">
            <a:extLst>
              <a:ext uri="{FF2B5EF4-FFF2-40B4-BE49-F238E27FC236}">
                <a16:creationId xmlns:a16="http://schemas.microsoft.com/office/drawing/2014/main" id="{B5B19C64-4C0C-AC20-CDF2-DEB3CFA05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DB41901-2044-9FCA-5B99-FCCD45F338C1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0" name="Picture 2" descr="Logo Università di Napoli Federico II">
              <a:extLst>
                <a:ext uri="{FF2B5EF4-FFF2-40B4-BE49-F238E27FC236}">
                  <a16:creationId xmlns:a16="http://schemas.microsoft.com/office/drawing/2014/main" id="{D54665EE-9820-7BE4-1CB0-4239996EB9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Master Degree | International Relations | Italia">
              <a:extLst>
                <a:ext uri="{FF2B5EF4-FFF2-40B4-BE49-F238E27FC236}">
                  <a16:creationId xmlns:a16="http://schemas.microsoft.com/office/drawing/2014/main" id="{7541BCEF-335A-B6EC-9415-EE1107003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EE89BFC-2798-6D8E-C88B-D1225D702F01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902831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BFCCD-B59B-D6A6-585D-2748E3E3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68AE82-ED59-3462-6052-19E5EF209EF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14" descr="Clustering Icon Grafica di aimagenarium · Creative Fabrica">
            <a:extLst>
              <a:ext uri="{FF2B5EF4-FFF2-40B4-BE49-F238E27FC236}">
                <a16:creationId xmlns:a16="http://schemas.microsoft.com/office/drawing/2014/main" id="{B440BE4D-1C07-7884-2AFC-D1518FDBFF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3" t="9663" r="28107" b="29361"/>
          <a:stretch>
            <a:fillRect/>
          </a:stretch>
        </p:blipFill>
        <p:spPr bwMode="auto">
          <a:xfrm>
            <a:off x="-68921" y="5898318"/>
            <a:ext cx="1152110" cy="106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6A0D81-7B7E-F0C8-A54E-B9FC7A68222B}"/>
              </a:ext>
            </a:extLst>
          </p:cNvPr>
          <p:cNvSpPr txBox="1"/>
          <p:nvPr/>
        </p:nvSpPr>
        <p:spPr>
          <a:xfrm>
            <a:off x="178526" y="1456237"/>
            <a:ext cx="5802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Feature-Based Clustering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21E81-0AC1-22DA-9F93-A4E38B111893}"/>
              </a:ext>
            </a:extLst>
          </p:cNvPr>
          <p:cNvSpPr txBox="1"/>
          <p:nvPr/>
        </p:nvSpPr>
        <p:spPr>
          <a:xfrm>
            <a:off x="326244" y="2102568"/>
            <a:ext cx="1088217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Creates a profile for each animal/farm based on avg features.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Applies K-means on the profiles.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Clusters animals/farms based on different types.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505698-141B-8235-815A-C0EE47987C24}"/>
              </a:ext>
            </a:extLst>
          </p:cNvPr>
          <p:cNvSpPr txBox="1"/>
          <p:nvPr/>
        </p:nvSpPr>
        <p:spPr>
          <a:xfrm>
            <a:off x="326244" y="4633437"/>
            <a:ext cx="2923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cons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6D5BDC-64F0-757B-1E49-15941A5E41D3}"/>
              </a:ext>
            </a:extLst>
          </p:cNvPr>
          <p:cNvSpPr txBox="1"/>
          <p:nvPr/>
        </p:nvSpPr>
        <p:spPr>
          <a:xfrm>
            <a:off x="326244" y="5187320"/>
            <a:ext cx="108821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It uses Average of features instead of day-to-day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4DFF40-6AA8-0997-12CB-368712E2219B}"/>
              </a:ext>
            </a:extLst>
          </p:cNvPr>
          <p:cNvSpPr txBox="1"/>
          <p:nvPr/>
        </p:nvSpPr>
        <p:spPr>
          <a:xfrm>
            <a:off x="326244" y="3586937"/>
            <a:ext cx="2923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pros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88D950-35D5-A5EC-170A-A91DD0E18ACD}"/>
              </a:ext>
            </a:extLst>
          </p:cNvPr>
          <p:cNvSpPr txBox="1"/>
          <p:nvPr/>
        </p:nvSpPr>
        <p:spPr>
          <a:xfrm>
            <a:off x="326244" y="4169721"/>
            <a:ext cx="108821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Highly interpretable and Computationally fast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40B696-82B3-A3EF-CC4C-85BA7184A1F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13" name="Picture 4" descr="Home – Planet">
            <a:extLst>
              <a:ext uri="{FF2B5EF4-FFF2-40B4-BE49-F238E27FC236}">
                <a16:creationId xmlns:a16="http://schemas.microsoft.com/office/drawing/2014/main" id="{68949DC0-9367-094A-A702-142DF69DD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14D8195-A189-709B-7228-3A36B9FF328D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5" name="Picture 2" descr="Logo Università di Napoli Federico II">
              <a:extLst>
                <a:ext uri="{FF2B5EF4-FFF2-40B4-BE49-F238E27FC236}">
                  <a16:creationId xmlns:a16="http://schemas.microsoft.com/office/drawing/2014/main" id="{41E29538-2D51-75AD-1A44-4469EB54B0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2" descr="Master Degree | International Relations | Italia">
              <a:extLst>
                <a:ext uri="{FF2B5EF4-FFF2-40B4-BE49-F238E27FC236}">
                  <a16:creationId xmlns:a16="http://schemas.microsoft.com/office/drawing/2014/main" id="{F57936A2-19F1-FCB4-65C2-62641E8D8F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FEF3ADA-4B97-AEF3-85D9-D1EEDF31CF06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1250429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47055-6316-FA1D-C121-C6C6D7B8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E37372-B7D4-D203-D70B-23C1CF95D8C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14" descr="Clustering Icon Grafica di aimagenarium · Creative Fabrica">
            <a:extLst>
              <a:ext uri="{FF2B5EF4-FFF2-40B4-BE49-F238E27FC236}">
                <a16:creationId xmlns:a16="http://schemas.microsoft.com/office/drawing/2014/main" id="{280CF7CB-E253-37B5-D55B-18E551C2A4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3" t="9663" r="28107" b="29361"/>
          <a:stretch>
            <a:fillRect/>
          </a:stretch>
        </p:blipFill>
        <p:spPr bwMode="auto">
          <a:xfrm>
            <a:off x="-68921" y="5898318"/>
            <a:ext cx="1152110" cy="106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137FBF-8912-3CA6-5C0C-F988FC4B333A}"/>
              </a:ext>
            </a:extLst>
          </p:cNvPr>
          <p:cNvSpPr txBox="1"/>
          <p:nvPr/>
        </p:nvSpPr>
        <p:spPr>
          <a:xfrm>
            <a:off x="4397298" y="2828835"/>
            <a:ext cx="33974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Approach 2 </a:t>
            </a:r>
          </a:p>
          <a:p>
            <a:pPr algn="ctr"/>
            <a:r>
              <a:rPr lang="en-US" sz="3600" b="1" dirty="0">
                <a:solidFill>
                  <a:srgbClr val="1B415D"/>
                </a:solidFill>
              </a:rPr>
              <a:t> Shape-Based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FA7E66-A1BE-1D69-A7C4-DB307D59D81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8" name="Picture 4" descr="Home – Planet">
            <a:extLst>
              <a:ext uri="{FF2B5EF4-FFF2-40B4-BE49-F238E27FC236}">
                <a16:creationId xmlns:a16="http://schemas.microsoft.com/office/drawing/2014/main" id="{54291F4A-54CD-CB74-736E-030C52C87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4389E45-8F3D-C0DC-9715-945C70AD52F8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0" name="Picture 2" descr="Logo Università di Napoli Federico II">
              <a:extLst>
                <a:ext uri="{FF2B5EF4-FFF2-40B4-BE49-F238E27FC236}">
                  <a16:creationId xmlns:a16="http://schemas.microsoft.com/office/drawing/2014/main" id="{06473F8F-2D48-ACEA-542A-CCD973958E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2" descr="Master Degree | International Relations | Italia">
              <a:extLst>
                <a:ext uri="{FF2B5EF4-FFF2-40B4-BE49-F238E27FC236}">
                  <a16:creationId xmlns:a16="http://schemas.microsoft.com/office/drawing/2014/main" id="{B05E73C7-22F0-1BFD-7ABD-3D3BAD77CB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85205D8-9D74-9E4A-33EF-EF1BE2A52313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2618281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6AC03-9143-7702-9029-191D4FE1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A4A1BA-605A-90FD-1B01-3FF17E086AA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14" descr="Clustering Icon Grafica di aimagenarium · Creative Fabrica">
            <a:extLst>
              <a:ext uri="{FF2B5EF4-FFF2-40B4-BE49-F238E27FC236}">
                <a16:creationId xmlns:a16="http://schemas.microsoft.com/office/drawing/2014/main" id="{67C6DBF9-62B8-AEFA-79D7-2338BD37D3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3" t="9663" r="28107" b="29361"/>
          <a:stretch>
            <a:fillRect/>
          </a:stretch>
        </p:blipFill>
        <p:spPr bwMode="auto">
          <a:xfrm>
            <a:off x="-68921" y="5898318"/>
            <a:ext cx="1152110" cy="106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6ABA92-6C30-6BA8-F62E-356E0524F86B}"/>
              </a:ext>
            </a:extLst>
          </p:cNvPr>
          <p:cNvSpPr txBox="1"/>
          <p:nvPr/>
        </p:nvSpPr>
        <p:spPr>
          <a:xfrm>
            <a:off x="178526" y="1456237"/>
            <a:ext cx="5802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Shape-Based Clustering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87DA89-85F9-F6B9-7D79-AFB958725439}"/>
              </a:ext>
            </a:extLst>
          </p:cNvPr>
          <p:cNvSpPr txBox="1"/>
          <p:nvPr/>
        </p:nvSpPr>
        <p:spPr>
          <a:xfrm>
            <a:off x="326244" y="2102568"/>
            <a:ext cx="108821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Extracts fixed-day data and compare with others.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Applies dynamic Time Warping to find similarity.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Clusters animals/farms based on behavioral patterns: 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Cluster 1: “Fast Recovery” 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Cluster 2: “No Recovery”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986FBF-2E56-9184-48E2-CF5AC05B4A1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8" name="Picture 4" descr="Home – Planet">
            <a:extLst>
              <a:ext uri="{FF2B5EF4-FFF2-40B4-BE49-F238E27FC236}">
                <a16:creationId xmlns:a16="http://schemas.microsoft.com/office/drawing/2014/main" id="{5DFC5BC0-03DC-6B34-9534-E1B529B44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90A09E8-6141-B491-3F21-156F7867DA9B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3" name="Picture 2" descr="Logo Università di Napoli Federico II">
              <a:extLst>
                <a:ext uri="{FF2B5EF4-FFF2-40B4-BE49-F238E27FC236}">
                  <a16:creationId xmlns:a16="http://schemas.microsoft.com/office/drawing/2014/main" id="{D05D4984-9C65-3196-6959-1F39FCF38B6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2" descr="Master Degree | International Relations | Italia">
              <a:extLst>
                <a:ext uri="{FF2B5EF4-FFF2-40B4-BE49-F238E27FC236}">
                  <a16:creationId xmlns:a16="http://schemas.microsoft.com/office/drawing/2014/main" id="{5C2E16CE-5170-3F06-C6CA-0850016BF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2610854-ED53-5E01-1173-72365176696C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1163232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2823A-2DF9-65B5-BD72-BA159166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5B514B-E5B1-925D-8487-602187DF01F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68921" y="5929314"/>
            <a:ext cx="12308114" cy="1063680"/>
          </a:xfrm>
          <a:prstGeom prst="rect">
            <a:avLst/>
          </a:prstGeom>
        </p:spPr>
      </p:pic>
      <p:pic>
        <p:nvPicPr>
          <p:cNvPr id="3" name="Picture 14" descr="Clustering Icon Grafica di aimagenarium · Creative Fabrica">
            <a:extLst>
              <a:ext uri="{FF2B5EF4-FFF2-40B4-BE49-F238E27FC236}">
                <a16:creationId xmlns:a16="http://schemas.microsoft.com/office/drawing/2014/main" id="{0E444D51-DA1E-C4D9-9615-4ADB181BDE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63" t="9663" r="28107" b="29361"/>
          <a:stretch>
            <a:fillRect/>
          </a:stretch>
        </p:blipFill>
        <p:spPr bwMode="auto">
          <a:xfrm>
            <a:off x="-68921" y="5898318"/>
            <a:ext cx="1152110" cy="106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C2DDE6-2181-3A8A-E542-7E1E5268A801}"/>
              </a:ext>
            </a:extLst>
          </p:cNvPr>
          <p:cNvSpPr txBox="1"/>
          <p:nvPr/>
        </p:nvSpPr>
        <p:spPr>
          <a:xfrm>
            <a:off x="178526" y="1456237"/>
            <a:ext cx="5802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pros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8C95BA-D6E4-0422-DA8F-00FD6A25F983}"/>
              </a:ext>
            </a:extLst>
          </p:cNvPr>
          <p:cNvSpPr txBox="1"/>
          <p:nvPr/>
        </p:nvSpPr>
        <p:spPr>
          <a:xfrm>
            <a:off x="326244" y="2102568"/>
            <a:ext cx="108821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Finds Behavioral Patterns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Works on raw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9BB199-3502-B2CF-84F9-E0549242ADEA}"/>
              </a:ext>
            </a:extLst>
          </p:cNvPr>
          <p:cNvSpPr txBox="1"/>
          <p:nvPr/>
        </p:nvSpPr>
        <p:spPr>
          <a:xfrm>
            <a:off x="326244" y="3704661"/>
            <a:ext cx="2923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B415D"/>
                </a:solidFill>
              </a:rPr>
              <a:t>cons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A5AA10-545A-1241-C661-78C576632C31}"/>
              </a:ext>
            </a:extLst>
          </p:cNvPr>
          <p:cNvSpPr txBox="1"/>
          <p:nvPr/>
        </p:nvSpPr>
        <p:spPr>
          <a:xfrm>
            <a:off x="326244" y="4490822"/>
            <a:ext cx="108821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415D"/>
                </a:solidFill>
              </a:rPr>
              <a:t>Computationally Expensive</a:t>
            </a:r>
          </a:p>
          <a:p>
            <a:pPr lvl="1"/>
            <a:endParaRPr lang="en-US" sz="2800" dirty="0">
              <a:solidFill>
                <a:srgbClr val="1B415D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A0E337-85A5-E8CB-BDA2-8D053D597C7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8"/>
            <a:ext cx="12308114" cy="1333500"/>
          </a:xfrm>
          <a:prstGeom prst="rect">
            <a:avLst/>
          </a:prstGeom>
        </p:spPr>
      </p:pic>
      <p:pic>
        <p:nvPicPr>
          <p:cNvPr id="16" name="Picture 4" descr="Home – Planet">
            <a:extLst>
              <a:ext uri="{FF2B5EF4-FFF2-40B4-BE49-F238E27FC236}">
                <a16:creationId xmlns:a16="http://schemas.microsoft.com/office/drawing/2014/main" id="{2583A0BA-705E-04DD-895A-F3186C4F7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26" y="5896"/>
            <a:ext cx="2611022" cy="11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B6A2A09-C982-63D8-4DDC-0CD3D8BE0610}"/>
              </a:ext>
            </a:extLst>
          </p:cNvPr>
          <p:cNvGrpSpPr/>
          <p:nvPr/>
        </p:nvGrpSpPr>
        <p:grpSpPr>
          <a:xfrm>
            <a:off x="8803346" y="58766"/>
            <a:ext cx="3388653" cy="1043369"/>
            <a:chOff x="6076930" y="399008"/>
            <a:chExt cx="6115070" cy="1882835"/>
          </a:xfrm>
        </p:grpSpPr>
        <p:pic>
          <p:nvPicPr>
            <p:cNvPr id="18" name="Picture 2" descr="Logo Università di Napoli Federico II">
              <a:extLst>
                <a:ext uri="{FF2B5EF4-FFF2-40B4-BE49-F238E27FC236}">
                  <a16:creationId xmlns:a16="http://schemas.microsoft.com/office/drawing/2014/main" id="{32FDF2CA-AF90-B109-38EC-D8A01CDCE3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2" descr="Master Degree | International Relations | Italia">
              <a:extLst>
                <a:ext uri="{FF2B5EF4-FFF2-40B4-BE49-F238E27FC236}">
                  <a16:creationId xmlns:a16="http://schemas.microsoft.com/office/drawing/2014/main" id="{2B63E9D7-E1F0-865F-850D-6B03966F78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3E8D008-26EF-1D65-F03C-9AF4298E5DEB}"/>
              </a:ext>
            </a:extLst>
          </p:cNvPr>
          <p:cNvSpPr txBox="1"/>
          <p:nvPr/>
        </p:nvSpPr>
        <p:spPr>
          <a:xfrm>
            <a:off x="1474501" y="6256922"/>
            <a:ext cx="92429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</p:spTree>
    <p:extLst>
      <p:ext uri="{BB962C8B-B14F-4D97-AF65-F5344CB8AC3E}">
        <p14:creationId xmlns:p14="http://schemas.microsoft.com/office/powerpoint/2010/main" val="2081436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0F27-0249-7F73-8C19-A70467143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72AE3B-D2BA-6D20-5CB1-0E860341B09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1266" y="4029165"/>
            <a:ext cx="12308114" cy="34955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7EBDE7-973B-174D-4D88-E390173F453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58056" y="-115209"/>
            <a:ext cx="12308114" cy="2944043"/>
          </a:xfrm>
          <a:prstGeom prst="rect">
            <a:avLst/>
          </a:prstGeom>
        </p:spPr>
      </p:pic>
      <p:pic>
        <p:nvPicPr>
          <p:cNvPr id="1028" name="Picture 4" descr="Home – Planet">
            <a:extLst>
              <a:ext uri="{FF2B5EF4-FFF2-40B4-BE49-F238E27FC236}">
                <a16:creationId xmlns:a16="http://schemas.microsoft.com/office/drawing/2014/main" id="{0A2E1ACC-FE0F-5E55-0DD9-BE319286C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0" y="288828"/>
            <a:ext cx="4939115" cy="2167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8DDB38-AC2A-A40B-9011-5FA1A2CFC92C}"/>
              </a:ext>
            </a:extLst>
          </p:cNvPr>
          <p:cNvSpPr txBox="1"/>
          <p:nvPr/>
        </p:nvSpPr>
        <p:spPr>
          <a:xfrm>
            <a:off x="2466497" y="3105834"/>
            <a:ext cx="7259005" cy="64633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sz="3600" b="1" dirty="0">
                <a:solidFill>
                  <a:srgbClr val="1B415D"/>
                </a:solidFill>
              </a:rPr>
              <a:t>Hierarchical Time Series Analysis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7A8C7E-15D5-CCDC-6469-5851843C642A}"/>
              </a:ext>
            </a:extLst>
          </p:cNvPr>
          <p:cNvGrpSpPr/>
          <p:nvPr/>
        </p:nvGrpSpPr>
        <p:grpSpPr>
          <a:xfrm>
            <a:off x="6076930" y="399008"/>
            <a:ext cx="6115070" cy="1882835"/>
            <a:chOff x="6076930" y="399008"/>
            <a:chExt cx="6115070" cy="1882835"/>
          </a:xfrm>
        </p:grpSpPr>
        <p:pic>
          <p:nvPicPr>
            <p:cNvPr id="1026" name="Picture 2" descr="Logo Università di Napoli Federico II">
              <a:extLst>
                <a:ext uri="{FF2B5EF4-FFF2-40B4-BE49-F238E27FC236}">
                  <a16:creationId xmlns:a16="http://schemas.microsoft.com/office/drawing/2014/main" id="{D9017129-6E8C-6E57-100B-D2BCAB919D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119"/>
            <a:stretch>
              <a:fillRect/>
            </a:stretch>
          </p:blipFill>
          <p:spPr bwMode="auto">
            <a:xfrm>
              <a:off x="7985051" y="399008"/>
              <a:ext cx="4206949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Master Degree | International Relations | Italia">
              <a:extLst>
                <a:ext uri="{FF2B5EF4-FFF2-40B4-BE49-F238E27FC236}">
                  <a16:creationId xmlns:a16="http://schemas.microsoft.com/office/drawing/2014/main" id="{45319703-562C-B324-C004-020817BD1D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76930" y="431780"/>
              <a:ext cx="1850063" cy="1850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34E577E-F011-D185-6087-90479D9E2ADA}"/>
              </a:ext>
            </a:extLst>
          </p:cNvPr>
          <p:cNvSpPr txBox="1"/>
          <p:nvPr/>
        </p:nvSpPr>
        <p:spPr>
          <a:xfrm>
            <a:off x="1049217" y="4108409"/>
            <a:ext cx="10093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solidFill>
                  <a:schemeClr val="bg1"/>
                </a:solidFill>
              </a:rPr>
              <a:t>Predictive Analytics of Climate Stress Impact on the Italian Mediterranean Buffalo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6DF06-E116-B69E-4706-664F96329A35}"/>
              </a:ext>
            </a:extLst>
          </p:cNvPr>
          <p:cNvSpPr txBox="1"/>
          <p:nvPr/>
        </p:nvSpPr>
        <p:spPr>
          <a:xfrm>
            <a:off x="0" y="5483494"/>
            <a:ext cx="3009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Presented by</a:t>
            </a:r>
          </a:p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Mohammad Sheikh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2BB002-5B82-97BC-1B9B-94692C1C38F4}"/>
              </a:ext>
            </a:extLst>
          </p:cNvPr>
          <p:cNvSpPr txBox="1"/>
          <p:nvPr/>
        </p:nvSpPr>
        <p:spPr>
          <a:xfrm>
            <a:off x="9090502" y="5483494"/>
            <a:ext cx="3101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sz="2400" b="1" dirty="0"/>
              <a:t>Supervisors</a:t>
            </a:r>
          </a:p>
          <a:p>
            <a:pPr algn="r">
              <a:buNone/>
            </a:pPr>
            <a:r>
              <a:rPr lang="en-US" sz="2400" b="1" dirty="0">
                <a:solidFill>
                  <a:schemeClr val="bg1"/>
                </a:solidFill>
              </a:rPr>
              <a:t>Dr. Luca </a:t>
            </a:r>
            <a:r>
              <a:rPr lang="en-US" sz="2400" b="1" dirty="0" err="1">
                <a:solidFill>
                  <a:schemeClr val="bg1"/>
                </a:solidFill>
              </a:rPr>
              <a:t>Barbierato</a:t>
            </a:r>
            <a:endParaRPr lang="en-US" sz="2400" b="1" dirty="0">
              <a:solidFill>
                <a:schemeClr val="bg1"/>
              </a:solidFill>
            </a:endParaRPr>
          </a:p>
          <a:p>
            <a:pPr algn="r">
              <a:buNone/>
            </a:pPr>
            <a:r>
              <a:rPr lang="en-US" sz="2400" b="1" dirty="0">
                <a:solidFill>
                  <a:schemeClr val="bg1"/>
                </a:solidFill>
              </a:rPr>
              <a:t>Dr. Matteo </a:t>
            </a:r>
            <a:r>
              <a:rPr lang="en-US" sz="2400" b="1" dirty="0" err="1">
                <a:solidFill>
                  <a:schemeClr val="bg1"/>
                </a:solidFill>
              </a:rPr>
              <a:t>Santinello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8D4F66-E139-D986-1E1F-8A39E9A9367A}"/>
              </a:ext>
            </a:extLst>
          </p:cNvPr>
          <p:cNvSpPr txBox="1"/>
          <p:nvPr/>
        </p:nvSpPr>
        <p:spPr>
          <a:xfrm>
            <a:off x="4999036" y="6488668"/>
            <a:ext cx="2193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</a:rPr>
              <a:t>November 2025</a:t>
            </a:r>
          </a:p>
        </p:txBody>
      </p:sp>
    </p:spTree>
    <p:extLst>
      <p:ext uri="{BB962C8B-B14F-4D97-AF65-F5344CB8AC3E}">
        <p14:creationId xmlns:p14="http://schemas.microsoft.com/office/powerpoint/2010/main" val="3620677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10915</TotalTime>
  <Words>1342</Words>
  <Application>Microsoft Macintosh PowerPoint</Application>
  <PresentationFormat>Widescreen</PresentationFormat>
  <Paragraphs>346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Aptos Display</vt:lpstr>
      <vt:lpstr>Arial</vt:lpstr>
      <vt:lpstr>Courier New</vt:lpstr>
      <vt:lpstr>Google Sans Text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Sheikh Ahmadi Gandab  Seyed Mohammad</dc:creator>
  <cp:lastModifiedBy>Sheikh Ahmadi Gandab  Seyed Mohammad</cp:lastModifiedBy>
  <cp:revision>8</cp:revision>
  <cp:lastPrinted>2025-11-14T12:07:20Z</cp:lastPrinted>
  <dcterms:created xsi:type="dcterms:W3CDTF">2025-11-09T12:04:34Z</dcterms:created>
  <dcterms:modified xsi:type="dcterms:W3CDTF">2025-11-23T11:37:16Z</dcterms:modified>
</cp:coreProperties>
</file>