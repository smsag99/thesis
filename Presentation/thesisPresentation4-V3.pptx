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4"/>
    <p:sldMasterId id="2147483767" r:id="rId5"/>
  </p:sldMasterIdLst>
  <p:notesMasterIdLst>
    <p:notesMasterId r:id="rId38"/>
  </p:notesMasterIdLst>
  <p:handoutMasterIdLst>
    <p:handoutMasterId r:id="rId39"/>
  </p:handoutMasterIdLst>
  <p:sldIdLst>
    <p:sldId id="256" r:id="rId6"/>
    <p:sldId id="366" r:id="rId7"/>
    <p:sldId id="367" r:id="rId8"/>
    <p:sldId id="427" r:id="rId9"/>
    <p:sldId id="428" r:id="rId10"/>
    <p:sldId id="429" r:id="rId11"/>
    <p:sldId id="430" r:id="rId12"/>
    <p:sldId id="451" r:id="rId13"/>
    <p:sldId id="452" r:id="rId14"/>
    <p:sldId id="454" r:id="rId15"/>
    <p:sldId id="455" r:id="rId16"/>
    <p:sldId id="456" r:id="rId17"/>
    <p:sldId id="431" r:id="rId18"/>
    <p:sldId id="433" r:id="rId19"/>
    <p:sldId id="434" r:id="rId20"/>
    <p:sldId id="438" r:id="rId21"/>
    <p:sldId id="435" r:id="rId22"/>
    <p:sldId id="436" r:id="rId23"/>
    <p:sldId id="441" r:id="rId24"/>
    <p:sldId id="372" r:id="rId25"/>
    <p:sldId id="443" r:id="rId26"/>
    <p:sldId id="444" r:id="rId27"/>
    <p:sldId id="445" r:id="rId28"/>
    <p:sldId id="447" r:id="rId29"/>
    <p:sldId id="446" r:id="rId30"/>
    <p:sldId id="448" r:id="rId31"/>
    <p:sldId id="449" r:id="rId32"/>
    <p:sldId id="450" r:id="rId33"/>
    <p:sldId id="442" r:id="rId34"/>
    <p:sldId id="439" r:id="rId35"/>
    <p:sldId id="440" r:id="rId36"/>
    <p:sldId id="421" r:id="rId37"/>
  </p:sldIdLst>
  <p:sldSz cx="12192000" cy="6858000"/>
  <p:notesSz cx="6858000" cy="9144000"/>
  <p:embeddedFontLst>
    <p:embeddedFont>
      <p:font typeface="Poppins" pitchFamily="2" charset="77"/>
      <p:regular r:id="rId40"/>
      <p:bold r:id="rId41"/>
      <p:italic r:id="rId42"/>
      <p:boldItalic r:id="rId43"/>
    </p:embeddedFont>
    <p:embeddedFont>
      <p:font typeface="Poppins Medium" panose="00000600000000000000" pitchFamily="2" charset="77"/>
      <p:regular r:id="rId44"/>
      <p:italic r:id="rId45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AF98"/>
    <a:srgbClr val="002A49"/>
    <a:srgbClr val="F2F2F2"/>
    <a:srgbClr val="016BB6"/>
    <a:srgbClr val="002B49"/>
    <a:srgbClr val="AF7550"/>
    <a:srgbClr val="B2BD29"/>
    <a:srgbClr val="E9E7E7"/>
    <a:srgbClr val="006BB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 autoAdjust="0"/>
    <p:restoredTop sz="96000" autoAdjust="0"/>
  </p:normalViewPr>
  <p:slideViewPr>
    <p:cSldViewPr snapToGrid="0" showGuides="1">
      <p:cViewPr varScale="1">
        <p:scale>
          <a:sx n="115" d="100"/>
          <a:sy n="115" d="100"/>
        </p:scale>
        <p:origin x="232" y="2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04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7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6D0A9E-DD06-C7B0-946D-31F9B20149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87193-AB98-65AF-F701-EBFEDD042C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33D1A-776C-2B44-AB57-E14B633AE18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31572-0E60-DFDC-759E-36E167E25E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0B3F7-BC69-9660-AD95-517F134729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FF382-66A3-E447-A138-6DDB2D92E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18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FB3AD-FAF9-A04B-9767-E49F4F24F3E6}" type="datetimeFigureOut">
              <a:rPr lang="it-IT" smtClean="0"/>
              <a:t>27/05/26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8FE5C-85ED-194D-A826-552950995C6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D847-AF6B-CA80-9E40-1A7C6B8E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CD7AB-CF56-AAE3-801B-9AFCFE3CC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91CBF-DD73-0594-5E51-0B06E12C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F7349-08C9-E07E-D038-3BDA6D62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96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AD5B-E8A8-73F9-6E4A-277A8F38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7B312-CE27-0D12-3BA8-DA6567CB5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9224C-7E9F-E12F-E603-211ECD28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0C7B-592E-2203-B2A9-4DBD076F8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53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228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A3C01-C62A-CEF7-D4ED-C8DCC099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F8E34-F86C-2295-B12E-E92F601B9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ECC6-464C-8076-882D-5BD73E793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B15D-8F4D-8E39-6693-217E57F49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4933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FE5E-815D-9198-557F-29ECE68A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9A6B7-9CA1-72FE-1CE7-CF42C9EAC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776FB-8082-560A-9EDB-458E75249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47AB-2F14-D743-2A11-7BA0537E6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207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9B2E-9824-3D2F-405D-A3351C0C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E5D9D-E05B-2B56-C806-572D6A6A8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16D6-4C8C-01AD-D34D-C532D2FB5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707C-E50A-3997-9E6C-6C56794E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129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8927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93C8-5CB6-AC80-5D2E-4D7BA919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7143E-2E22-C170-E9B4-BC628A92C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7FDAC-75D5-7B5C-F765-AB8B6B8E3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941E-3109-64C1-D6A9-C213BE260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8698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105A-5E5A-AFDA-0765-9968265F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561C3-9E42-26F2-C8E4-F8A374959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2BC14-B8D1-F5B7-A9F8-8CBB7100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378C2-2580-E146-7FED-D34025E90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857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6C2D-C59B-8FC6-8731-19E3253C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D5C45-5D73-4DCF-088F-901BB7D13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33CDE-1865-CC8F-27F8-C429134AC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34AB7-FB58-3A81-EE18-7DE633D66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9537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7D66-0A8F-556C-3026-EB2EDEF5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4C9A8-6DA1-1B69-BD27-60C6B7159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AC110-20FD-6A21-81CA-8A5B65B4D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A1966-46FA-0DD3-DAE6-3D941EE93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339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A880-1387-5CC0-B614-E525D86C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641D3-0EB0-D344-8106-D85D2415B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52FD1-AD6D-A6B0-D5AE-9CAEC0ED3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EF28-9960-490B-3EB8-064BD531E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36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2521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Apert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A394C85-E2AD-479A-B76F-DFA5BB41B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9CCE0AB1-41FD-4EDC-AB39-9282210F552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Poppins" panose="00000500000000000000" pitchFamily="2" charset="0"/>
              </a:defRPr>
            </a:lvl1pPr>
          </a:lstStyle>
          <a:p>
            <a:r>
              <a:rPr lang="it-IT" dirty="0"/>
              <a:t>   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049324E1-916B-44BE-A2CA-01572E502A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9">
            <a:extLst>
              <a:ext uri="{FF2B5EF4-FFF2-40B4-BE49-F238E27FC236}">
                <a16:creationId xmlns:a16="http://schemas.microsoft.com/office/drawing/2014/main" id="{BC83BF07-630E-48B5-9C07-F0CEF6A2BF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F9590B-AA34-4576-A95D-7E6FD9F1FF0F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F8C436-50BB-46D3-92D1-A32E72258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4993FE2-BDC7-854D-9E60-5881B6A9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3A3DA46-7DB4-F940-B006-60DA29DE6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779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4FB4A7-FF62-53E7-CC8F-E29751CD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14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C61AA3E-D013-404E-8B75-86054DB2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2441500"/>
            <a:ext cx="11880000" cy="1975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il titolo</a:t>
            </a:r>
          </a:p>
        </p:txBody>
      </p:sp>
    </p:spTree>
    <p:extLst>
      <p:ext uri="{BB962C8B-B14F-4D97-AF65-F5344CB8AC3E}">
        <p14:creationId xmlns:p14="http://schemas.microsoft.com/office/powerpoint/2010/main" val="4203117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6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10387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5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9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AFBBB134-F3B5-014C-81C1-EC3290A3567D}"/>
              </a:ext>
            </a:extLst>
          </p:cNvPr>
          <p:cNvSpPr txBox="1">
            <a:spLocks/>
          </p:cNvSpPr>
          <p:nvPr userDrawn="1"/>
        </p:nvSpPr>
        <p:spPr>
          <a:xfrm>
            <a:off x="3649451" y="6373047"/>
            <a:ext cx="8421867" cy="236542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marR="0" indent="0" algn="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kern="1200" spc="3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mohammad.sheikh@studenti.polito.it</a:t>
            </a:r>
            <a:endParaRPr lang="it-IT" dirty="0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3AEC9288-CBBA-2949-AD51-BD9C863E1BE8}"/>
              </a:ext>
            </a:extLst>
          </p:cNvPr>
          <p:cNvSpPr txBox="1">
            <a:spLocks/>
          </p:cNvSpPr>
          <p:nvPr userDrawn="1"/>
        </p:nvSpPr>
        <p:spPr>
          <a:xfrm>
            <a:off x="3649451" y="6583362"/>
            <a:ext cx="8451065" cy="215816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spc="3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365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8" r:id="rId2"/>
    <p:sldLayoutId id="2147483784" r:id="rId3"/>
    <p:sldLayoutId id="2147483783" r:id="rId4"/>
    <p:sldLayoutId id="21474837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8957977-25F6-6147-A328-F518E0A2B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FE42D3-F4C1-0542-A5D5-F64C362A9D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687C7-54CD-67CF-6E2C-A748E4823F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18D630-6F19-3CA6-B35B-CBADA07415D3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9F753-137C-55E6-5518-E19AAA51D047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452FE7-E166-BF1B-2940-6137B6999FC1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C6D7D03C-9B5A-1FDC-B092-BC0A1CE96270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377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0B032-353C-D9A9-694D-B1F13C39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5494884-6E58-B123-4AD0-B0341A241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Dataset Overview &amp; Base Variables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6A22C-3BA3-0274-0BA9-87B112011B1B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A032-D838-B0BA-9BB4-7C5E3C07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B642-8C2A-361F-9CB0-0F3E103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C2676-9125-A5D2-F9BA-FEC9B3B5F067}"/>
              </a:ext>
            </a:extLst>
          </p:cNvPr>
          <p:cNvSpPr txBox="1"/>
          <p:nvPr/>
        </p:nvSpPr>
        <p:spPr>
          <a:xfrm>
            <a:off x="551542" y="1151234"/>
            <a:ext cx="4642963" cy="181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Animal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2,593,267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1873 in </a:t>
            </a:r>
            <a:r>
              <a:rPr lang="en-US" sz="1900" u="sng" dirty="0"/>
              <a:t>DTB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error values : 118,300 in </a:t>
            </a:r>
            <a:r>
              <a:rPr lang="en-US" sz="1900" u="sng" dirty="0"/>
              <a:t>All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5831D-8617-BF06-7602-776480C2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06" y="1227501"/>
            <a:ext cx="5829300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22180-B09C-53B3-D60D-90FB6F0B7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5" y="3429000"/>
            <a:ext cx="480060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11447E-539F-8342-1694-478F81B0FF24}"/>
              </a:ext>
            </a:extLst>
          </p:cNvPr>
          <p:cNvSpPr txBox="1"/>
          <p:nvPr/>
        </p:nvSpPr>
        <p:spPr>
          <a:xfrm>
            <a:off x="693472" y="5240292"/>
            <a:ext cx="4201465" cy="93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dirty="0"/>
              <a:t>Descriptive statistics for numerical columns</a:t>
            </a:r>
          </a:p>
        </p:txBody>
      </p:sp>
    </p:spTree>
    <p:extLst>
      <p:ext uri="{BB962C8B-B14F-4D97-AF65-F5344CB8AC3E}">
        <p14:creationId xmlns:p14="http://schemas.microsoft.com/office/powerpoint/2010/main" val="112217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DE628-4324-C149-D212-96EE4CD6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5835-8676-0C02-E856-8D697A36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D4DFB-04D4-A729-C9D3-F47ACF57EC0B}"/>
              </a:ext>
            </a:extLst>
          </p:cNvPr>
          <p:cNvSpPr txBox="1"/>
          <p:nvPr/>
        </p:nvSpPr>
        <p:spPr>
          <a:xfrm>
            <a:off x="530700" y="828000"/>
            <a:ext cx="1119418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Farm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329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 in </a:t>
            </a:r>
            <a:r>
              <a:rPr lang="en-US" sz="1900" u="sng" dirty="0" err="1"/>
              <a:t>Provinc</a:t>
            </a:r>
            <a:endParaRPr lang="en-US" sz="19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39478-4688-12AB-A0F5-A25F973D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72" y="1266443"/>
            <a:ext cx="6230816" cy="432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7D60B-AE8C-2B04-7B48-2B4EB32B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0" y="2199529"/>
            <a:ext cx="4469887" cy="39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48FB9-2B88-46B7-5A6B-FA7CC02A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04C4A7C-249D-AA56-8A15-65FF5C76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Calculated Variables (</a:t>
            </a:r>
            <a:r>
              <a:rPr lang="en-US" sz="4400" dirty="0" err="1"/>
              <a:t>FeatureEngineering</a:t>
            </a:r>
            <a:r>
              <a:rPr lang="en-US" sz="4400" dirty="0"/>
              <a:t>)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BCF70-2E87-B461-CB5A-2A889F262E3C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4CB6-7BA3-71A8-E552-DF561CD5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ADB066F-43BB-6793-CCFC-6D6B8165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56" r="8898"/>
          <a:stretch>
            <a:fillRect/>
          </a:stretch>
        </p:blipFill>
        <p:spPr>
          <a:xfrm>
            <a:off x="5450507" y="4024842"/>
            <a:ext cx="3071045" cy="18994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34A8F4-CFBA-D0BA-EFEA-D698357A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A6544-8644-870F-C64E-E18818B57E66}"/>
              </a:ext>
            </a:extLst>
          </p:cNvPr>
          <p:cNvSpPr txBox="1"/>
          <p:nvPr/>
        </p:nvSpPr>
        <p:spPr>
          <a:xfrm>
            <a:off x="530699" y="3277211"/>
            <a:ext cx="6039065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52936-A705-F678-8703-25606103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053" b="26674"/>
          <a:stretch>
            <a:fillRect/>
          </a:stretch>
        </p:blipFill>
        <p:spPr>
          <a:xfrm>
            <a:off x="1350018" y="4371199"/>
            <a:ext cx="3879759" cy="1304040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1F1DC0-EF47-95AA-5663-871D78078780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V="1">
            <a:off x="6360093" y="3831492"/>
            <a:ext cx="774711" cy="5457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BB6998-85DD-D8DA-69B6-CF14CAAD8DE4}"/>
              </a:ext>
            </a:extLst>
          </p:cNvPr>
          <p:cNvSpPr txBox="1"/>
          <p:nvPr/>
        </p:nvSpPr>
        <p:spPr>
          <a:xfrm>
            <a:off x="5589781" y="3286143"/>
            <a:ext cx="17695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Calving</a:t>
            </a:r>
            <a:endParaRPr lang="en-US" sz="1600" u="sng" dirty="0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4B8CA995-6D5B-65BF-ED24-DDF8E39E9676}"/>
              </a:ext>
            </a:extLst>
          </p:cNvPr>
          <p:cNvCxnSpPr>
            <a:cxnSpLocks/>
          </p:cNvCxnSpPr>
          <p:nvPr/>
        </p:nvCxnSpPr>
        <p:spPr>
          <a:xfrm flipV="1">
            <a:off x="8140928" y="3665820"/>
            <a:ext cx="900134" cy="85845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FD5484B-0C40-2727-982B-F3BCCED1FE81}"/>
              </a:ext>
            </a:extLst>
          </p:cNvPr>
          <p:cNvSpPr txBox="1"/>
          <p:nvPr/>
        </p:nvSpPr>
        <p:spPr>
          <a:xfrm>
            <a:off x="8309403" y="3267677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Birth</a:t>
            </a:r>
            <a:endParaRPr lang="en-US" sz="1600" u="sng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C6D135E7-D13C-4222-6A26-8193A291DF7E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20340" y="4982986"/>
            <a:ext cx="1552976" cy="4338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0AA9D3-20C6-7E56-929E-D63F4753BC01}"/>
              </a:ext>
            </a:extLst>
          </p:cNvPr>
          <p:cNvSpPr txBox="1"/>
          <p:nvPr/>
        </p:nvSpPr>
        <p:spPr>
          <a:xfrm>
            <a:off x="8573316" y="4767542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Test</a:t>
            </a:r>
            <a:endParaRPr lang="en-US" sz="1600" u="sng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2743F4E-63F0-23C8-7B03-5DFBDF00B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466" y="1679008"/>
            <a:ext cx="2565400" cy="11176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232427B-D43F-9D4F-CF4A-D1CE23150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0" y="1679008"/>
            <a:ext cx="2565400" cy="11176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FA595E4-389B-D958-9A84-2BEE595A6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134" y="1650687"/>
            <a:ext cx="2743200" cy="11176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BFE6132-0FD0-2F5C-5B62-C914F58AE61B}"/>
              </a:ext>
            </a:extLst>
          </p:cNvPr>
          <p:cNvSpPr txBox="1"/>
          <p:nvPr/>
        </p:nvSpPr>
        <p:spPr>
          <a:xfrm>
            <a:off x="530700" y="1007157"/>
            <a:ext cx="603906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Scaled variables</a:t>
            </a:r>
          </a:p>
        </p:txBody>
      </p:sp>
    </p:spTree>
    <p:extLst>
      <p:ext uri="{BB962C8B-B14F-4D97-AF65-F5344CB8AC3E}">
        <p14:creationId xmlns:p14="http://schemas.microsoft.com/office/powerpoint/2010/main" val="339074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9E13-5016-824B-8FF2-72D86A18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270D-7CD1-9112-41DE-7B4B51F9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491F9-9A9E-EEC8-9E37-B7B9B1F175A9}"/>
              </a:ext>
            </a:extLst>
          </p:cNvPr>
          <p:cNvSpPr txBox="1"/>
          <p:nvPr/>
        </p:nvSpPr>
        <p:spPr>
          <a:xfrm>
            <a:off x="530699" y="799537"/>
            <a:ext cx="2918179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433CC-7D50-D2CF-A333-42111DC6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56" y="1277666"/>
            <a:ext cx="5913784" cy="373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248EF-73F6-C5AA-D7A7-4EDA167F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047" y="1740768"/>
            <a:ext cx="7772400" cy="343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3CFA49-767B-3E8E-769D-8F32645AD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56" y="2219361"/>
            <a:ext cx="5913784" cy="390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E27FDD-A0FC-9C6B-D60E-7CD961AC2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739" y="2509479"/>
            <a:ext cx="2871304" cy="709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70726C-186D-F00F-F9E5-75D886D39D0A}"/>
              </a:ext>
            </a:extLst>
          </p:cNvPr>
          <p:cNvSpPr txBox="1"/>
          <p:nvPr/>
        </p:nvSpPr>
        <p:spPr>
          <a:xfrm>
            <a:off x="530698" y="2966367"/>
            <a:ext cx="3830287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Component Thresholds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4E1DBB-5DCC-084C-A8A5-5C72193138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4284"/>
          <a:stretch>
            <a:fillRect/>
          </a:stretch>
        </p:blipFill>
        <p:spPr>
          <a:xfrm>
            <a:off x="96932" y="3575208"/>
            <a:ext cx="5884526" cy="7090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614725-08FE-F6D2-4F5A-9BA542B382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537" t="24199" r="9754" b="50085"/>
          <a:stretch>
            <a:fillRect/>
          </a:stretch>
        </p:blipFill>
        <p:spPr>
          <a:xfrm>
            <a:off x="646649" y="4393540"/>
            <a:ext cx="4631635" cy="7090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DEDF0B-A25A-781E-F57E-CD8378DE61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0" t="49130" r="1477" b="25154"/>
          <a:stretch>
            <a:fillRect/>
          </a:stretch>
        </p:blipFill>
        <p:spPr>
          <a:xfrm>
            <a:off x="252396" y="5211872"/>
            <a:ext cx="5685184" cy="70907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43FE94-0ED5-E97B-E83C-EDEEBEE24AB2}"/>
              </a:ext>
            </a:extLst>
          </p:cNvPr>
          <p:cNvCxnSpPr>
            <a:cxnSpLocks/>
          </p:cNvCxnSpPr>
          <p:nvPr/>
        </p:nvCxnSpPr>
        <p:spPr>
          <a:xfrm>
            <a:off x="6289966" y="3650796"/>
            <a:ext cx="0" cy="2500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414C0DD7-2E62-2E3E-72EF-466499CBB1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17" t="75278" r="5203" b="1221"/>
          <a:stretch>
            <a:fillRect/>
          </a:stretch>
        </p:blipFill>
        <p:spPr>
          <a:xfrm>
            <a:off x="6554008" y="3544838"/>
            <a:ext cx="5253677" cy="64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A5D3F1-CBB0-2289-CE88-1BC0A93AB8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7367"/>
          <a:stretch>
            <a:fillRect/>
          </a:stretch>
        </p:blipFill>
        <p:spPr>
          <a:xfrm>
            <a:off x="6554008" y="4238641"/>
            <a:ext cx="4587253" cy="9115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B0CB6F-183E-06BF-E464-25AA8DC264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95" t="77656" r="32826" b="4256"/>
          <a:stretch>
            <a:fillRect/>
          </a:stretch>
        </p:blipFill>
        <p:spPr>
          <a:xfrm>
            <a:off x="6642353" y="5865194"/>
            <a:ext cx="1967344" cy="338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31808A-836F-E185-B985-E9D786A044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23" y="5287461"/>
            <a:ext cx="1802804" cy="365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B3B9B-5C2E-E1CA-7515-24B2E3D2C3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7449" y="5241740"/>
            <a:ext cx="995261" cy="3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4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5E23-AB48-2DB0-5252-C090138B1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73FC-B066-04F7-C6BD-04F70E72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 Loss Impact by Filter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8522F-626A-46F5-4C12-5FDE41080F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25"/>
          <a:stretch>
            <a:fillRect/>
          </a:stretch>
        </p:blipFill>
        <p:spPr>
          <a:xfrm>
            <a:off x="279775" y="828000"/>
            <a:ext cx="11632450" cy="547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4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F23E-7AA5-5D3D-B0BB-D150CA58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25E7-F33D-BE49-BC54-7B2A4129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Adjusting AFC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88C57-62B4-2E71-1C90-D682E1FF9C9F}"/>
              </a:ext>
            </a:extLst>
          </p:cNvPr>
          <p:cNvSpPr txBox="1"/>
          <p:nvPr/>
        </p:nvSpPr>
        <p:spPr>
          <a:xfrm>
            <a:off x="515112" y="1128902"/>
            <a:ext cx="5872436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Correct Logic: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Look only at parity 1 rows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AFC between 720–1440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 those </a:t>
            </a:r>
            <a:r>
              <a:rPr lang="en-US" dirty="0" err="1"/>
              <a:t>Animal_IDs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Keep all records (all parities) for those animals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8F88E-2D69-AFA0-EAE8-D64BC78A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" t="-161" r="56530" b="5742"/>
          <a:stretch>
            <a:fillRect/>
          </a:stretch>
        </p:blipFill>
        <p:spPr>
          <a:xfrm>
            <a:off x="6498574" y="1"/>
            <a:ext cx="5513426" cy="6157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7523A7-87F2-96BC-0197-BDAD90CD4260}"/>
              </a:ext>
            </a:extLst>
          </p:cNvPr>
          <p:cNvSpPr txBox="1"/>
          <p:nvPr/>
        </p:nvSpPr>
        <p:spPr>
          <a:xfrm>
            <a:off x="515112" y="3745534"/>
            <a:ext cx="5872436" cy="241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Retained (62.3%):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 data at Parity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Removed (37.7%):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31.2%</a:t>
            </a:r>
            <a:r>
              <a:rPr lang="en-US" dirty="0"/>
              <a:t> Missing Parity 1 records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6.5%</a:t>
            </a:r>
            <a:r>
              <a:rPr lang="en-US" dirty="0"/>
              <a:t> fell outside ranges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F77F0-31C1-5FC6-1F20-5A8934EC0018}"/>
              </a:ext>
            </a:extLst>
          </p:cNvPr>
          <p:cNvSpPr txBox="1"/>
          <p:nvPr/>
        </p:nvSpPr>
        <p:spPr>
          <a:xfrm>
            <a:off x="515112" y="3056320"/>
            <a:ext cx="587243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Drop everyone else</a:t>
            </a:r>
          </a:p>
        </p:txBody>
      </p:sp>
    </p:spTree>
    <p:extLst>
      <p:ext uri="{BB962C8B-B14F-4D97-AF65-F5344CB8AC3E}">
        <p14:creationId xmlns:p14="http://schemas.microsoft.com/office/powerpoint/2010/main" val="2912996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BBD68-45DE-ED0B-1405-F6E8AFB0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8A92-D881-577B-D5DC-DC6DEE91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Adjusting AFC Filter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3D280-EC2E-3397-6A95-2B2954554464}"/>
              </a:ext>
            </a:extLst>
          </p:cNvPr>
          <p:cNvSpPr txBox="1"/>
          <p:nvPr/>
        </p:nvSpPr>
        <p:spPr>
          <a:xfrm>
            <a:off x="515112" y="3745534"/>
            <a:ext cx="5872436" cy="241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Retained (62.3%):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 data at Parity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Removed (37.7%):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31.2%</a:t>
            </a:r>
            <a:r>
              <a:rPr lang="en-US" dirty="0"/>
              <a:t> Missing Parity 1 record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6.5%</a:t>
            </a:r>
            <a:r>
              <a:rPr lang="en-US" dirty="0"/>
              <a:t> fell outside ranges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31877-1ED9-A867-EC9A-C0817E58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35" t="-3000" r="-133" b="352"/>
          <a:stretch>
            <a:fillRect/>
          </a:stretch>
        </p:blipFill>
        <p:spPr>
          <a:xfrm>
            <a:off x="6335056" y="376769"/>
            <a:ext cx="5856944" cy="56368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557892-01A9-53C4-C94E-314ED4880130}"/>
              </a:ext>
            </a:extLst>
          </p:cNvPr>
          <p:cNvSpPr txBox="1"/>
          <p:nvPr/>
        </p:nvSpPr>
        <p:spPr>
          <a:xfrm>
            <a:off x="515112" y="1128902"/>
            <a:ext cx="5872436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Correct Logic: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Look only at parity 1 rows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AFC between 720–1440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 those </a:t>
            </a:r>
            <a:r>
              <a:rPr lang="en-US" dirty="0" err="1"/>
              <a:t>Animal_IDs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Keep all records (all parities) for those animals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C0410-16B0-DED2-9125-E72341F30A1A}"/>
              </a:ext>
            </a:extLst>
          </p:cNvPr>
          <p:cNvSpPr txBox="1"/>
          <p:nvPr/>
        </p:nvSpPr>
        <p:spPr>
          <a:xfrm>
            <a:off x="515112" y="3056320"/>
            <a:ext cx="587243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Drop everyone else</a:t>
            </a:r>
          </a:p>
        </p:txBody>
      </p:sp>
    </p:spTree>
    <p:extLst>
      <p:ext uri="{BB962C8B-B14F-4D97-AF65-F5344CB8AC3E}">
        <p14:creationId xmlns:p14="http://schemas.microsoft.com/office/powerpoint/2010/main" val="186129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9E1E-376D-7609-9E1E-55A3E600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3453-57CA-A879-155E-58A81E26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Adjusting AFC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94A6D-6F42-198C-4586-12C6959A5A93}"/>
              </a:ext>
            </a:extLst>
          </p:cNvPr>
          <p:cNvSpPr txBox="1"/>
          <p:nvPr/>
        </p:nvSpPr>
        <p:spPr>
          <a:xfrm>
            <a:off x="515112" y="3125602"/>
            <a:ext cx="587243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Recover parity-2 starters via AFC estimation.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B7815-1B60-3F53-A3BC-2E4EC575CB4E}"/>
              </a:ext>
            </a:extLst>
          </p:cNvPr>
          <p:cNvSpPr txBox="1"/>
          <p:nvPr/>
        </p:nvSpPr>
        <p:spPr>
          <a:xfrm>
            <a:off x="515112" y="7333686"/>
            <a:ext cx="5872436" cy="241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Retained (62.3%):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 data at Parity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Removed (37.7%):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31.2%</a:t>
            </a:r>
            <a:r>
              <a:rPr lang="en-US" dirty="0"/>
              <a:t> Missing Parity 1 record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6.5%</a:t>
            </a:r>
            <a:r>
              <a:rPr lang="en-US" dirty="0"/>
              <a:t> fell outside ranges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5E307-CFAF-A544-2226-080741BAE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35" t="-3000" r="-133" b="352"/>
          <a:stretch>
            <a:fillRect/>
          </a:stretch>
        </p:blipFill>
        <p:spPr>
          <a:xfrm>
            <a:off x="6335056" y="376769"/>
            <a:ext cx="5856944" cy="56368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C62F6D-0DC3-3DD5-45E2-669006F7C4A5}"/>
              </a:ext>
            </a:extLst>
          </p:cNvPr>
          <p:cNvSpPr txBox="1"/>
          <p:nvPr/>
        </p:nvSpPr>
        <p:spPr>
          <a:xfrm>
            <a:off x="515112" y="1128902"/>
            <a:ext cx="5872436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Correct Logic: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Look only at parity 1 rows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AFC between 720–1440 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 those </a:t>
            </a:r>
            <a:r>
              <a:rPr lang="en-US" dirty="0" err="1"/>
              <a:t>Animal_IDs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Keep all records (all parities) for those animals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FC6EB-A20E-2B29-A640-034AD25CE92B}"/>
              </a:ext>
            </a:extLst>
          </p:cNvPr>
          <p:cNvSpPr txBox="1"/>
          <p:nvPr/>
        </p:nvSpPr>
        <p:spPr>
          <a:xfrm>
            <a:off x="515112" y="3554034"/>
            <a:ext cx="5872436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Drop everyone else</a:t>
            </a:r>
          </a:p>
        </p:txBody>
      </p:sp>
    </p:spTree>
    <p:extLst>
      <p:ext uri="{BB962C8B-B14F-4D97-AF65-F5344CB8AC3E}">
        <p14:creationId xmlns:p14="http://schemas.microsoft.com/office/powerpoint/2010/main" val="21177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615A-1BD2-8919-B780-F2E3BE83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5D7366-E3E0-FF99-F788-265DE51665FA}"/>
              </a:ext>
            </a:extLst>
          </p:cNvPr>
          <p:cNvSpPr txBox="1"/>
          <p:nvPr/>
        </p:nvSpPr>
        <p:spPr>
          <a:xfrm>
            <a:off x="515112" y="7333686"/>
            <a:ext cx="5872436" cy="241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Retained (62.3%):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 data at Parity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Removed (37.7%):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31.2%</a:t>
            </a:r>
            <a:r>
              <a:rPr lang="en-US" dirty="0"/>
              <a:t> Missing Parity 1 record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6.5%</a:t>
            </a:r>
            <a:r>
              <a:rPr lang="en-US" dirty="0"/>
              <a:t> fell outside ranges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C2EB7D-DDED-2BD4-C7B7-A2409353C1A1}"/>
              </a:ext>
            </a:extLst>
          </p:cNvPr>
          <p:cNvSpPr txBox="1"/>
          <p:nvPr/>
        </p:nvSpPr>
        <p:spPr>
          <a:xfrm>
            <a:off x="-306692" y="0"/>
            <a:ext cx="1148783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Recover parity-2 starters via AFC estimation.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2A5718-03CF-55FD-21B3-263702488555}"/>
              </a:ext>
            </a:extLst>
          </p:cNvPr>
          <p:cNvSpPr txBox="1"/>
          <p:nvPr/>
        </p:nvSpPr>
        <p:spPr>
          <a:xfrm>
            <a:off x="345397" y="1384849"/>
            <a:ext cx="8394539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AFC_estimated</a:t>
            </a:r>
            <a:r>
              <a:rPr lang="en-US" sz="2000" dirty="0"/>
              <a:t> = AFC_at_parity_2 – </a:t>
            </a:r>
            <a:r>
              <a:rPr lang="en-US" sz="2000" dirty="0" err="1"/>
              <a:t>Calving_Interval</a:t>
            </a:r>
            <a:r>
              <a:rPr lang="en-US" sz="2000" dirty="0"/>
              <a:t>(CIN)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Filter </a:t>
            </a:r>
            <a:r>
              <a:rPr lang="en-US" sz="2000" dirty="0" err="1"/>
              <a:t>AFC_estimated</a:t>
            </a:r>
            <a:r>
              <a:rPr lang="en-US" sz="2000" dirty="0"/>
              <a:t> between 720–1440 days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57567F-DA3C-E7F6-2A2D-2ED6800565FD}"/>
              </a:ext>
            </a:extLst>
          </p:cNvPr>
          <p:cNvGrpSpPr/>
          <p:nvPr/>
        </p:nvGrpSpPr>
        <p:grpSpPr>
          <a:xfrm>
            <a:off x="1435988" y="2650580"/>
            <a:ext cx="9320023" cy="2249987"/>
            <a:chOff x="1472303" y="1957434"/>
            <a:chExt cx="9320023" cy="224998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22313B1-DE07-F8CF-2F18-94B09017A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89094"/>
            <a:stretch>
              <a:fillRect/>
            </a:stretch>
          </p:blipFill>
          <p:spPr>
            <a:xfrm>
              <a:off x="1472303" y="1957434"/>
              <a:ext cx="9247393" cy="40011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9BFC3E-11E2-A3DE-F2A1-E43DEBA95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774" b="66153"/>
            <a:stretch>
              <a:fillRect/>
            </a:stretch>
          </p:blipFill>
          <p:spPr>
            <a:xfrm>
              <a:off x="1472303" y="2357544"/>
              <a:ext cx="9247393" cy="51628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34B26D-B0A7-D34B-E88E-16FDC0E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1418" b="29392"/>
            <a:stretch>
              <a:fillRect/>
            </a:stretch>
          </p:blipFill>
          <p:spPr>
            <a:xfrm>
              <a:off x="1472303" y="2937413"/>
              <a:ext cx="9247393" cy="70400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D2C8637-77B0-DF09-E797-47B2D3F38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325" t="82986" r="3031" b="11283"/>
            <a:stretch>
              <a:fillRect/>
            </a:stretch>
          </p:blipFill>
          <p:spPr>
            <a:xfrm>
              <a:off x="1472303" y="3723371"/>
              <a:ext cx="6995160" cy="21023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BF6241D-5E99-BADC-20EE-CB3F1338D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42" t="88539" r="76038" b="5731"/>
            <a:stretch>
              <a:fillRect/>
            </a:stretch>
          </p:blipFill>
          <p:spPr>
            <a:xfrm>
              <a:off x="8473441" y="3723371"/>
              <a:ext cx="2156460" cy="21023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7740D8F-95FE-0A6D-632B-645CE6118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356" t="88539" r="4170" b="5731"/>
            <a:stretch>
              <a:fillRect/>
            </a:stretch>
          </p:blipFill>
          <p:spPr>
            <a:xfrm>
              <a:off x="1472303" y="3997188"/>
              <a:ext cx="6609515" cy="21023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572DC17-A081-B625-F85E-6C301809A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41" t="93769" r="70330" b="501"/>
            <a:stretch>
              <a:fillRect/>
            </a:stretch>
          </p:blipFill>
          <p:spPr>
            <a:xfrm>
              <a:off x="8107886" y="3978821"/>
              <a:ext cx="2684440" cy="210233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526A869-C499-399A-77C6-2F4CC85C41D2}"/>
              </a:ext>
            </a:extLst>
          </p:cNvPr>
          <p:cNvSpPr txBox="1"/>
          <p:nvPr/>
        </p:nvSpPr>
        <p:spPr>
          <a:xfrm>
            <a:off x="345397" y="5788199"/>
            <a:ext cx="114285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M. </a:t>
            </a:r>
            <a:r>
              <a:rPr lang="en-US" sz="1400" dirty="0" err="1"/>
              <a:t>Santinello</a:t>
            </a:r>
            <a:r>
              <a:rPr lang="en-US" sz="1400" dirty="0"/>
              <a:t>, G. Neglia </a:t>
            </a:r>
            <a:r>
              <a:rPr lang="en-US" sz="1400" i="1" dirty="0"/>
              <a:t>et al</a:t>
            </a:r>
            <a:r>
              <a:rPr lang="en-US" sz="1400" dirty="0"/>
              <a:t>., "The cost of being early or late: Biological and economic outcomes of age at first calving in dairy buffaloes,” in </a:t>
            </a:r>
            <a:r>
              <a:rPr lang="en-US" sz="1400" i="1" dirty="0"/>
              <a:t>J. Dairy Sci.</a:t>
            </a:r>
            <a:r>
              <a:rPr lang="en-US" sz="1400" dirty="0"/>
              <a:t>, vol. TBC, no. TBC, pp. TBC, 2025, </a:t>
            </a:r>
            <a:r>
              <a:rPr lang="en-US" sz="1400" dirty="0" err="1"/>
              <a:t>doi</a:t>
            </a:r>
            <a:r>
              <a:rPr lang="en-US" sz="1400" dirty="0"/>
              <a:t>: 10.3168/jds.2025-27467.</a:t>
            </a:r>
          </a:p>
        </p:txBody>
      </p:sp>
    </p:spTree>
    <p:extLst>
      <p:ext uri="{BB962C8B-B14F-4D97-AF65-F5344CB8AC3E}">
        <p14:creationId xmlns:p14="http://schemas.microsoft.com/office/powerpoint/2010/main" val="283792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5161-01B0-2D92-5F5B-8AB8916D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E65C-95DF-906B-3722-774020B8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F756F-47CF-2186-30EA-A475AA69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72" y="828001"/>
            <a:ext cx="12163784" cy="521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2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221B3-AF11-985E-325A-1CFEBA5A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717F475-B55D-B21F-1627-3B0DD62F96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Weather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A810B4-1C9F-69CB-E963-2A006813E899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33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B0CE-2524-BF71-3CE2-0A24264F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B47F-EF0B-944D-C9EB-74D75701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Weather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A6C0E-3550-79E4-81D4-438DAA14D303}"/>
              </a:ext>
            </a:extLst>
          </p:cNvPr>
          <p:cNvSpPr txBox="1"/>
          <p:nvPr/>
        </p:nvSpPr>
        <p:spPr>
          <a:xfrm>
            <a:off x="5281798" y="963126"/>
            <a:ext cx="6570229" cy="429717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Open-</a:t>
            </a:r>
            <a:r>
              <a:rPr lang="en-US" sz="24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Meteo</a:t>
            </a: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weather API</a:t>
            </a:r>
            <a:endParaRPr lang="en-US" sz="2000" b="1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endParaRPr lang="en-US" sz="2200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2300" dirty="0"/>
              <a:t>Period : Hourly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Start Date : 2013-01-01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End Date : 2025-12-31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Location : </a:t>
            </a:r>
            <a:r>
              <a:rPr lang="en-US" sz="2300" u="sng" dirty="0"/>
              <a:t>329</a:t>
            </a:r>
            <a:r>
              <a:rPr lang="en-US" sz="2300" dirty="0"/>
              <a:t> individual locations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Variables 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Temperature_2m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relative_humidity_2m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wind_speed_10m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816B1-CE86-17E6-5C21-B9E952A7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0" y="1018500"/>
            <a:ext cx="4902200" cy="42418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33A55-5208-D45D-E0A0-DABD5ACF17ED}"/>
              </a:ext>
            </a:extLst>
          </p:cNvPr>
          <p:cNvCxnSpPr/>
          <p:nvPr/>
        </p:nvCxnSpPr>
        <p:spPr>
          <a:xfrm>
            <a:off x="5167500" y="1018500"/>
            <a:ext cx="0" cy="4241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2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1ED0-DDF0-DA94-C0DA-D597DB43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C3694-D518-9FEA-5943-ADCA4F8270DD}"/>
              </a:ext>
            </a:extLst>
          </p:cNvPr>
          <p:cNvSpPr txBox="1"/>
          <p:nvPr/>
        </p:nvSpPr>
        <p:spPr>
          <a:xfrm>
            <a:off x="530700" y="1074338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THI_1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D9B8E-F9F5-FFEA-6ECB-DB34E01F3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70" b="71478"/>
          <a:stretch>
            <a:fillRect/>
          </a:stretch>
        </p:blipFill>
        <p:spPr>
          <a:xfrm>
            <a:off x="1920239" y="1074338"/>
            <a:ext cx="6632171" cy="644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B1515-2523-44E8-A21C-9F59923F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80" t="33849" b="29422"/>
          <a:stretch>
            <a:fillRect/>
          </a:stretch>
        </p:blipFill>
        <p:spPr>
          <a:xfrm>
            <a:off x="1920239" y="1727475"/>
            <a:ext cx="5916338" cy="829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04991B-E3BC-C443-5E1E-E7B26F71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0" t="80343"/>
          <a:stretch>
            <a:fillRect/>
          </a:stretch>
        </p:blipFill>
        <p:spPr>
          <a:xfrm>
            <a:off x="1920239" y="3693487"/>
            <a:ext cx="7078287" cy="443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74415-E940-8F4A-A761-387770ACF348}"/>
              </a:ext>
            </a:extLst>
          </p:cNvPr>
          <p:cNvSpPr txBox="1"/>
          <p:nvPr/>
        </p:nvSpPr>
        <p:spPr>
          <a:xfrm>
            <a:off x="530700" y="1805650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THI_2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41EB2-4E3A-25FC-A5C0-47781CAE25A0}"/>
              </a:ext>
            </a:extLst>
          </p:cNvPr>
          <p:cNvSpPr txBox="1"/>
          <p:nvPr/>
        </p:nvSpPr>
        <p:spPr>
          <a:xfrm>
            <a:off x="530700" y="3580325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WHI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7B12D-12C0-276E-8C69-CB6CA335A1A7}"/>
              </a:ext>
            </a:extLst>
          </p:cNvPr>
          <p:cNvSpPr txBox="1"/>
          <p:nvPr/>
        </p:nvSpPr>
        <p:spPr>
          <a:xfrm>
            <a:off x="530700" y="2803140"/>
            <a:ext cx="2744515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 </a:t>
            </a:r>
            <a:r>
              <a:rPr lang="en-US" sz="1900" b="1" dirty="0" err="1"/>
              <a:t>Composit</a:t>
            </a:r>
            <a:r>
              <a:rPr lang="en-US" sz="1900" b="1" dirty="0"/>
              <a:t>  </a:t>
            </a:r>
            <a:r>
              <a:rPr lang="en-US" sz="1900" dirty="0"/>
              <a:t>=</a:t>
            </a:r>
            <a:endParaRPr lang="en-US" sz="19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9C5B8A-B165-9C9B-9A51-35378CFE5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75" y="2769467"/>
            <a:ext cx="5665387" cy="740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89FE72-F7A9-7FA0-C0CE-568801901787}"/>
              </a:ext>
            </a:extLst>
          </p:cNvPr>
          <p:cNvSpPr txBox="1"/>
          <p:nvPr/>
        </p:nvSpPr>
        <p:spPr>
          <a:xfrm>
            <a:off x="530699" y="4472558"/>
            <a:ext cx="8242263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Aggregate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THI_1, THI_2, WHI (min, max, average)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FD23F-0AAB-E12B-9E19-78D3E542982A}"/>
              </a:ext>
            </a:extLst>
          </p:cNvPr>
          <p:cNvSpPr txBox="1"/>
          <p:nvPr/>
        </p:nvSpPr>
        <p:spPr>
          <a:xfrm>
            <a:off x="530699" y="5052235"/>
            <a:ext cx="1077461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Lag Features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THI_1, THI_2, WHI, Temperature, Humidity, Wind(1-day, 2-day, 3-day)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83DE44-7223-3C92-17F4-FA97C0112183}"/>
              </a:ext>
            </a:extLst>
          </p:cNvPr>
          <p:cNvSpPr txBox="1"/>
          <p:nvPr/>
        </p:nvSpPr>
        <p:spPr>
          <a:xfrm>
            <a:off x="530699" y="5609243"/>
            <a:ext cx="1077461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Lag Features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Milk, Protein(1-record, 2-record) </a:t>
            </a:r>
          </a:p>
        </p:txBody>
      </p:sp>
    </p:spTree>
    <p:extLst>
      <p:ext uri="{BB962C8B-B14F-4D97-AF65-F5344CB8AC3E}">
        <p14:creationId xmlns:p14="http://schemas.microsoft.com/office/powerpoint/2010/main" val="3946220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30381-55BA-95AD-D566-81DB76D8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48FE463-E7D8-27A2-46A2-896288ECD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Merged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321CA5-A3C0-A8A1-2B3C-F9A63C209A34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95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A81A-0A35-7F74-91FE-87561A59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82B1-9111-67B6-EA86-A44677FF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Merged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37A06-5779-5350-BA41-2200662B666D}"/>
              </a:ext>
            </a:extLst>
          </p:cNvPr>
          <p:cNvSpPr txBox="1"/>
          <p:nvPr/>
        </p:nvSpPr>
        <p:spPr>
          <a:xfrm>
            <a:off x="618923" y="997308"/>
            <a:ext cx="2142934" cy="5265839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671,655 records</a:t>
            </a:r>
          </a:p>
          <a:p>
            <a:pPr>
              <a:spcAft>
                <a:spcPts val="600"/>
              </a:spcAft>
            </a:pPr>
            <a:r>
              <a:rPr lang="en-US" b="1" dirty="0"/>
              <a:t>81,119 Animals</a:t>
            </a:r>
          </a:p>
          <a:p>
            <a:pPr>
              <a:spcAft>
                <a:spcPts val="600"/>
              </a:spcAft>
            </a:pPr>
            <a:r>
              <a:rPr lang="en-US" b="1" dirty="0"/>
              <a:t>314 Farms</a:t>
            </a:r>
          </a:p>
          <a:p>
            <a:pPr>
              <a:spcAft>
                <a:spcPts val="600"/>
              </a:spcAft>
            </a:pPr>
            <a:r>
              <a:rPr lang="en-US" b="1" dirty="0"/>
              <a:t>57 columns: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Farm_Code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Animal_ID</a:t>
            </a:r>
            <a:r>
              <a:rPr lang="en-US" dirty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dtb</a:t>
            </a:r>
            <a:r>
              <a:rPr lang="en-US" dirty="0"/>
              <a:t>
</a:t>
            </a:r>
            <a:r>
              <a:rPr lang="en-US" dirty="0" err="1"/>
              <a:t>dtc</a:t>
            </a:r>
            <a:r>
              <a:rPr lang="en-US" dirty="0"/>
              <a:t>
</a:t>
            </a:r>
            <a:r>
              <a:rPr lang="en-US" dirty="0" err="1"/>
              <a:t>dtt</a:t>
            </a:r>
            <a:r>
              <a:rPr lang="en-US" dirty="0"/>
              <a:t>
parity
</a:t>
            </a:r>
            <a:r>
              <a:rPr lang="en-US" dirty="0" err="1"/>
              <a:t>milk_kg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fat_p</a:t>
            </a:r>
            <a:r>
              <a:rPr lang="en-US" dirty="0"/>
              <a:t>
</a:t>
            </a:r>
            <a:r>
              <a:rPr lang="en-US" dirty="0" err="1"/>
              <a:t>protein_p</a:t>
            </a:r>
            <a:r>
              <a:rPr lang="en-US" dirty="0"/>
              <a:t>
cells
NM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5BEC3-5B71-1419-F022-83F0D93B8FDD}"/>
              </a:ext>
            </a:extLst>
          </p:cNvPr>
          <p:cNvSpPr txBox="1"/>
          <p:nvPr/>
        </p:nvSpPr>
        <p:spPr>
          <a:xfrm>
            <a:off x="7490815" y="291636"/>
            <a:ext cx="2941211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THI_2_min
THI_2_max
</a:t>
            </a:r>
            <a:r>
              <a:rPr lang="en-US" dirty="0" err="1"/>
              <a:t>WHI_avg</a:t>
            </a:r>
            <a:r>
              <a:rPr lang="en-US" dirty="0"/>
              <a:t>
</a:t>
            </a:r>
            <a:r>
              <a:rPr lang="en-US" dirty="0" err="1"/>
              <a:t>WHI_min</a:t>
            </a:r>
            <a:r>
              <a:rPr lang="en-US" dirty="0"/>
              <a:t>
</a:t>
            </a:r>
            <a:r>
              <a:rPr lang="en-US" dirty="0" err="1"/>
              <a:t>WHI_max</a:t>
            </a:r>
            <a:endParaRPr lang="fa-IR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t_avg_lag1/2/3
h_avg_lag1/2/3
ws_avg_lag1/2/3
THI_1_avg_lag1/2/3
THI_2_avg_lag1/2/3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WHI_avg_lag1/2/3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THI_1_Compose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THI_2_Compose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Milk_kg_lag1/2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Protein_p_lag1/2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9F073-BBBD-7B16-5BE0-E018B6BF9053}"/>
              </a:ext>
            </a:extLst>
          </p:cNvPr>
          <p:cNvSpPr txBox="1"/>
          <p:nvPr/>
        </p:nvSpPr>
        <p:spPr>
          <a:xfrm>
            <a:off x="3569772" y="291636"/>
            <a:ext cx="2710004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ECM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SCS
AFC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DIM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/>
              <a:t>temperature_avg</a:t>
            </a:r>
            <a:r>
              <a:rPr lang="en-US" sz="1800" dirty="0"/>
              <a:t>
</a:t>
            </a:r>
            <a:r>
              <a:rPr lang="en-US" sz="1800" dirty="0" err="1"/>
              <a:t>temperature_max</a:t>
            </a:r>
            <a:r>
              <a:rPr lang="en-US" sz="1800" dirty="0"/>
              <a:t>
</a:t>
            </a:r>
            <a:r>
              <a:rPr lang="en-US" sz="1800" dirty="0" err="1"/>
              <a:t>temperature_min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humidity_avg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humidity_max</a:t>
            </a:r>
            <a:r>
              <a:rPr lang="en-US" dirty="0"/>
              <a:t>
</a:t>
            </a:r>
            <a:r>
              <a:rPr lang="en-US" dirty="0" err="1"/>
              <a:t>humidity_min</a:t>
            </a:r>
            <a:r>
              <a:rPr lang="en-US" dirty="0"/>
              <a:t>
</a:t>
            </a:r>
            <a:r>
              <a:rPr lang="en-US" dirty="0" err="1"/>
              <a:t>wind_speed_avg</a:t>
            </a:r>
            <a:endParaRPr lang="fa-IR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wind_speed_max</a:t>
            </a:r>
            <a:r>
              <a:rPr lang="en-US" dirty="0"/>
              <a:t> 
</a:t>
            </a:r>
            <a:r>
              <a:rPr lang="en-US" dirty="0" err="1"/>
              <a:t>wind_speed_min</a:t>
            </a:r>
            <a:r>
              <a:rPr lang="en-US" dirty="0"/>
              <a:t>
THI_1_avg
THI_1_min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THI_1_max
THI_2_avg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59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303FC-AED7-3C64-A3AB-A7FB3F33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1A956D3-8B25-5659-ABAB-9807FBE963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Hierarchical Structure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6F3-7EAC-ACFA-DF31-F5170D612EC8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53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FFC0-6C72-C825-351D-B1EBC551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1588-3E8E-2720-0A1A-5E0FF977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Our Case Representation in HTS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E4B9067-9CC8-FBB5-1FA0-F7ABB4EBB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233" b="43113" l="16602" r="23926">
                        <a14:foregroundMark x1="16699" y1="34347" x2="16797" y2="33453"/>
                        <a14:foregroundMark x1="22949" y1="33095" x2="24121" y2="33274"/>
                        <a14:foregroundMark x1="21387" y1="34526" x2="21387" y2="37209"/>
                        <a14:foregroundMark x1="20801" y1="40787" x2="20020" y2="39535"/>
                        <a14:foregroundMark x1="20605" y1="40966" x2="20898" y2="39714"/>
                        <a14:foregroundMark x1="21484" y1="40250" x2="20801" y2="43113"/>
                        <a14:foregroundMark x1="19531" y1="41145" x2="21777" y2="40250"/>
                        <a14:foregroundMark x1="19727" y1="40429" x2="19043" y2="40608"/>
                        <a14:backgroundMark x1="20605" y1="29517" x2="20605" y2="29517"/>
                        <a14:backgroundMark x1="20605" y1="29517" x2="20898" y2="29696"/>
                      </a14:backgroundRemoval>
                    </a14:imgEffect>
                  </a14:imgLayer>
                </a14:imgProps>
              </a:ext>
            </a:extLst>
          </a:blip>
          <a:srcRect l="15814" t="29097" r="75272" b="57716"/>
          <a:stretch>
            <a:fillRect/>
          </a:stretch>
        </p:blipFill>
        <p:spPr>
          <a:xfrm>
            <a:off x="3452704" y="4149228"/>
            <a:ext cx="851605" cy="68649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9B02BAD-AAE3-DF45-C4BD-A61923AE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3059750" y="5385988"/>
            <a:ext cx="829706" cy="3665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DB6DF68-27CE-F17B-735A-966B554382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rcRect l="44569" t="30016" r="44627" b="57306"/>
          <a:stretch>
            <a:fillRect/>
          </a:stretch>
        </p:blipFill>
        <p:spPr>
          <a:xfrm>
            <a:off x="4158344" y="2626062"/>
            <a:ext cx="1098105" cy="70213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F303D11-FE26-03FA-9099-82C5C2E70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233" b="43113" l="16602" r="23926">
                        <a14:foregroundMark x1="16699" y1="34347" x2="16797" y2="33453"/>
                        <a14:foregroundMark x1="22949" y1="33095" x2="24121" y2="33274"/>
                        <a14:foregroundMark x1="21387" y1="34526" x2="21387" y2="37209"/>
                        <a14:foregroundMark x1="20801" y1="40787" x2="20020" y2="39535"/>
                        <a14:foregroundMark x1="20605" y1="40966" x2="20898" y2="39714"/>
                        <a14:foregroundMark x1="21484" y1="40250" x2="20801" y2="43113"/>
                        <a14:foregroundMark x1="19531" y1="41145" x2="21777" y2="40250"/>
                        <a14:foregroundMark x1="19727" y1="40429" x2="19043" y2="40608"/>
                        <a14:backgroundMark x1="20605" y1="29517" x2="20605" y2="29517"/>
                        <a14:backgroundMark x1="20605" y1="29517" x2="20898" y2="29696"/>
                      </a14:backgroundRemoval>
                    </a14:imgEffect>
                  </a14:imgLayer>
                </a14:imgProps>
              </a:ext>
            </a:extLst>
          </a:blip>
          <a:srcRect l="15814" t="29097" r="75272" b="57716"/>
          <a:stretch>
            <a:fillRect/>
          </a:stretch>
        </p:blipFill>
        <p:spPr>
          <a:xfrm>
            <a:off x="5088181" y="4149227"/>
            <a:ext cx="851605" cy="686497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0BB6F82-4E25-D332-E12C-2DA955135D7E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4707397" y="3328196"/>
            <a:ext cx="806587" cy="8210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56F8A1B-EC12-F541-D8CE-478456FC9DD4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3878507" y="3328196"/>
            <a:ext cx="795709" cy="821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0E3E4520-D863-7AFD-F03D-8D178F971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3889456" y="5385988"/>
            <a:ext cx="829706" cy="36650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C3A94B9-F531-EF97-9A33-3849727698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4719162" y="5385987"/>
            <a:ext cx="829706" cy="36650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7E53146-4AAD-83C3-EE48-AE21464264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5548868" y="5385987"/>
            <a:ext cx="829706" cy="366508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D4DB928-3271-721D-96D6-2555FB0344EC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3474603" y="4873712"/>
            <a:ext cx="380856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002CCAA-94CE-366E-C699-226D7B87A6AA}"/>
              </a:ext>
            </a:extLst>
          </p:cNvPr>
          <p:cNvCxnSpPr>
            <a:cxnSpLocks/>
          </p:cNvCxnSpPr>
          <p:nvPr/>
        </p:nvCxnSpPr>
        <p:spPr>
          <a:xfrm flipH="1">
            <a:off x="5134015" y="4866010"/>
            <a:ext cx="380856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EEE2927-8B69-A314-8EE9-F3814F91B4E7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889456" y="4873712"/>
            <a:ext cx="414853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4EF858D-1BE6-FB89-BB8E-1E35611DB88B}"/>
              </a:ext>
            </a:extLst>
          </p:cNvPr>
          <p:cNvCxnSpPr>
            <a:cxnSpLocks/>
          </p:cNvCxnSpPr>
          <p:nvPr/>
        </p:nvCxnSpPr>
        <p:spPr>
          <a:xfrm>
            <a:off x="5548868" y="4854717"/>
            <a:ext cx="414853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5FB262B4-2983-FD34-24A2-93BB2F0FE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233" b="43113" l="16602" r="23926">
                        <a14:foregroundMark x1="16699" y1="34347" x2="16797" y2="33453"/>
                        <a14:foregroundMark x1="22949" y1="33095" x2="24121" y2="33274"/>
                        <a14:foregroundMark x1="21387" y1="34526" x2="21387" y2="37209"/>
                        <a14:foregroundMark x1="20801" y1="40787" x2="20020" y2="39535"/>
                        <a14:foregroundMark x1="20605" y1="40966" x2="20898" y2="39714"/>
                        <a14:foregroundMark x1="21484" y1="40250" x2="20801" y2="43113"/>
                        <a14:foregroundMark x1="19531" y1="41145" x2="21777" y2="40250"/>
                        <a14:foregroundMark x1="19727" y1="40429" x2="19043" y2="40608"/>
                        <a14:backgroundMark x1="20605" y1="29517" x2="20605" y2="29517"/>
                        <a14:backgroundMark x1="20605" y1="29517" x2="20898" y2="29696"/>
                      </a14:backgroundRemoval>
                    </a14:imgEffect>
                  </a14:imgLayer>
                </a14:imgProps>
              </a:ext>
            </a:extLst>
          </a:blip>
          <a:srcRect l="15814" t="29097" r="75272" b="57716"/>
          <a:stretch>
            <a:fillRect/>
          </a:stretch>
        </p:blipFill>
        <p:spPr>
          <a:xfrm>
            <a:off x="7791626" y="4149229"/>
            <a:ext cx="851605" cy="68649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FD6E84B-F206-1915-7413-04616559D6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7398672" y="5385989"/>
            <a:ext cx="829706" cy="36650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4E7718B-368D-735E-E8C4-9D63A781CE2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rcRect l="44569" t="30016" r="44627" b="57306"/>
          <a:stretch>
            <a:fillRect/>
          </a:stretch>
        </p:blipFill>
        <p:spPr>
          <a:xfrm>
            <a:off x="8497266" y="2626063"/>
            <a:ext cx="1098105" cy="70213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277CC58-7E76-01B2-8C68-9EE77B31C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0233" b="43113" l="16602" r="23926">
                        <a14:foregroundMark x1="16699" y1="34347" x2="16797" y2="33453"/>
                        <a14:foregroundMark x1="22949" y1="33095" x2="24121" y2="33274"/>
                        <a14:foregroundMark x1="21387" y1="34526" x2="21387" y2="37209"/>
                        <a14:foregroundMark x1="20801" y1="40787" x2="20020" y2="39535"/>
                        <a14:foregroundMark x1="20605" y1="40966" x2="20898" y2="39714"/>
                        <a14:foregroundMark x1="21484" y1="40250" x2="20801" y2="43113"/>
                        <a14:foregroundMark x1="19531" y1="41145" x2="21777" y2="40250"/>
                        <a14:foregroundMark x1="19727" y1="40429" x2="19043" y2="40608"/>
                        <a14:backgroundMark x1="20605" y1="29517" x2="20605" y2="29517"/>
                        <a14:backgroundMark x1="20605" y1="29517" x2="20898" y2="29696"/>
                      </a14:backgroundRemoval>
                    </a14:imgEffect>
                  </a14:imgLayer>
                </a14:imgProps>
              </a:ext>
            </a:extLst>
          </a:blip>
          <a:srcRect l="15814" t="29097" r="75272" b="57716"/>
          <a:stretch>
            <a:fillRect/>
          </a:stretch>
        </p:blipFill>
        <p:spPr>
          <a:xfrm>
            <a:off x="9427103" y="4149228"/>
            <a:ext cx="851605" cy="686497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5C58362-A0A2-81ED-F43F-2726874BA9EA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9046319" y="3328197"/>
            <a:ext cx="806587" cy="8210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E429CF-23C3-7458-A919-FE0764ACD40B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8217429" y="3328197"/>
            <a:ext cx="795709" cy="821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591D5CFE-9035-3F75-F221-AFC0099C9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8228378" y="5385989"/>
            <a:ext cx="829706" cy="36650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C8D6A37-AB3E-8676-EABF-A582645683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9058084" y="5385988"/>
            <a:ext cx="829706" cy="36650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9F0A07D-01C6-2BBC-FFE2-64B43A10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61" t="57864" r="62119" b="30040"/>
          <a:stretch>
            <a:fillRect/>
          </a:stretch>
        </p:blipFill>
        <p:spPr>
          <a:xfrm>
            <a:off x="9887790" y="5385988"/>
            <a:ext cx="829706" cy="366508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E0A5196-27C6-73D1-854E-CA6B6ABB5C9A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7813525" y="4873713"/>
            <a:ext cx="380856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FD33B86-BCAE-63FD-5B07-0779B650FB19}"/>
              </a:ext>
            </a:extLst>
          </p:cNvPr>
          <p:cNvCxnSpPr>
            <a:cxnSpLocks/>
          </p:cNvCxnSpPr>
          <p:nvPr/>
        </p:nvCxnSpPr>
        <p:spPr>
          <a:xfrm flipH="1">
            <a:off x="9472937" y="4866011"/>
            <a:ext cx="380856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EBA84D-85D5-E95B-49BE-3DCB4AFE2F5F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8228378" y="4873713"/>
            <a:ext cx="414853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ACB811-D4C4-73A3-2FD3-DEBBDF4F661E}"/>
              </a:ext>
            </a:extLst>
          </p:cNvPr>
          <p:cNvCxnSpPr>
            <a:cxnSpLocks/>
          </p:cNvCxnSpPr>
          <p:nvPr/>
        </p:nvCxnSpPr>
        <p:spPr>
          <a:xfrm>
            <a:off x="9887790" y="4854718"/>
            <a:ext cx="414853" cy="512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787835-9EFA-F175-0354-5C3CEF324789}"/>
              </a:ext>
            </a:extLst>
          </p:cNvPr>
          <p:cNvCxnSpPr>
            <a:cxnSpLocks/>
          </p:cNvCxnSpPr>
          <p:nvPr/>
        </p:nvCxnSpPr>
        <p:spPr>
          <a:xfrm>
            <a:off x="2361760" y="3017400"/>
            <a:ext cx="6979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085BD9D-4DFD-E27A-2952-82AD2A0BA60F}"/>
              </a:ext>
            </a:extLst>
          </p:cNvPr>
          <p:cNvSpPr txBox="1"/>
          <p:nvPr/>
        </p:nvSpPr>
        <p:spPr>
          <a:xfrm>
            <a:off x="729959" y="2832734"/>
            <a:ext cx="141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Farm Level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CC6149-2184-E048-1A0D-AE02034145EA}"/>
              </a:ext>
            </a:extLst>
          </p:cNvPr>
          <p:cNvCxnSpPr>
            <a:cxnSpLocks/>
          </p:cNvCxnSpPr>
          <p:nvPr/>
        </p:nvCxnSpPr>
        <p:spPr>
          <a:xfrm>
            <a:off x="2361760" y="4498467"/>
            <a:ext cx="6979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108550C-D623-00E4-54E7-FE41CF77D867}"/>
              </a:ext>
            </a:extLst>
          </p:cNvPr>
          <p:cNvSpPr txBox="1"/>
          <p:nvPr/>
        </p:nvSpPr>
        <p:spPr>
          <a:xfrm>
            <a:off x="453089" y="4307809"/>
            <a:ext cx="1689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Animal Level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188CBF4-2090-8B66-BBAC-89616837B5C3}"/>
              </a:ext>
            </a:extLst>
          </p:cNvPr>
          <p:cNvCxnSpPr>
            <a:cxnSpLocks/>
          </p:cNvCxnSpPr>
          <p:nvPr/>
        </p:nvCxnSpPr>
        <p:spPr>
          <a:xfrm>
            <a:off x="2337895" y="5508916"/>
            <a:ext cx="6979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097A9CA-3F00-1275-519E-3DEC54F1CDF2}"/>
              </a:ext>
            </a:extLst>
          </p:cNvPr>
          <p:cNvSpPr txBox="1"/>
          <p:nvPr/>
        </p:nvSpPr>
        <p:spPr>
          <a:xfrm>
            <a:off x="896671" y="5324250"/>
            <a:ext cx="1245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Milk Level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F4D0C9-AB8B-13CE-1114-104873A7080B}"/>
              </a:ext>
            </a:extLst>
          </p:cNvPr>
          <p:cNvSpPr txBox="1"/>
          <p:nvPr/>
        </p:nvSpPr>
        <p:spPr>
          <a:xfrm>
            <a:off x="6493565" y="1638689"/>
            <a:ext cx="8027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TOTAL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EDA4D1E-443E-C185-2A38-F6F800CB082D}"/>
              </a:ext>
            </a:extLst>
          </p:cNvPr>
          <p:cNvCxnSpPr>
            <a:cxnSpLocks/>
            <a:stCxn id="76" idx="2"/>
            <a:endCxn id="46" idx="0"/>
          </p:cNvCxnSpPr>
          <p:nvPr/>
        </p:nvCxnSpPr>
        <p:spPr>
          <a:xfrm flipH="1">
            <a:off x="4707397" y="2008021"/>
            <a:ext cx="2187528" cy="61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6AF1CD9-554B-6B50-FD0D-1C2F4EEE875E}"/>
              </a:ext>
            </a:extLst>
          </p:cNvPr>
          <p:cNvCxnSpPr>
            <a:cxnSpLocks/>
            <a:stCxn id="76" idx="2"/>
            <a:endCxn id="59" idx="0"/>
          </p:cNvCxnSpPr>
          <p:nvPr/>
        </p:nvCxnSpPr>
        <p:spPr>
          <a:xfrm>
            <a:off x="6894925" y="2008021"/>
            <a:ext cx="2151394" cy="618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202EC0C-EC4E-E6C7-051F-8A940BDD0A72}"/>
              </a:ext>
            </a:extLst>
          </p:cNvPr>
          <p:cNvCxnSpPr>
            <a:cxnSpLocks/>
          </p:cNvCxnSpPr>
          <p:nvPr/>
        </p:nvCxnSpPr>
        <p:spPr>
          <a:xfrm>
            <a:off x="2337895" y="1930469"/>
            <a:ext cx="6979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6FE4200-0299-D407-A6CF-8A80BD4BFE4F}"/>
              </a:ext>
            </a:extLst>
          </p:cNvPr>
          <p:cNvSpPr txBox="1"/>
          <p:nvPr/>
        </p:nvSpPr>
        <p:spPr>
          <a:xfrm>
            <a:off x="1182007" y="1745803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Level 0</a:t>
            </a:r>
          </a:p>
        </p:txBody>
      </p:sp>
    </p:spTree>
    <p:extLst>
      <p:ext uri="{BB962C8B-B14F-4D97-AF65-F5344CB8AC3E}">
        <p14:creationId xmlns:p14="http://schemas.microsoft.com/office/powerpoint/2010/main" val="1527186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1FCF-28FF-03BE-494D-F32DC485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1">
            <a:extLst>
              <a:ext uri="{FF2B5EF4-FFF2-40B4-BE49-F238E27FC236}">
                <a16:creationId xmlns:a16="http://schemas.microsoft.com/office/drawing/2014/main" id="{1058151B-9402-B608-5B66-CF03DBE305E4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b="1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6903C0ED-6105-400C-015A-10500859A900}"/>
              </a:ext>
            </a:extLst>
          </p:cNvPr>
          <p:cNvSpPr/>
          <p:nvPr/>
        </p:nvSpPr>
        <p:spPr>
          <a:xfrm>
            <a:off x="6309954" y="4775553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B30D257F-AD98-B41C-EBBD-B8C469D94F9A}"/>
              </a:ext>
            </a:extLst>
          </p:cNvPr>
          <p:cNvSpPr/>
          <p:nvPr/>
        </p:nvSpPr>
        <p:spPr>
          <a:xfrm>
            <a:off x="6575438" y="4384964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3F8B86D-7849-1800-9509-EADFC6C9A104}"/>
              </a:ext>
            </a:extLst>
          </p:cNvPr>
          <p:cNvSpPr/>
          <p:nvPr/>
        </p:nvSpPr>
        <p:spPr>
          <a:xfrm>
            <a:off x="6659041" y="442834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6BD186E-1D35-0327-3BAA-F1D0826FDF0E}"/>
              </a:ext>
            </a:extLst>
          </p:cNvPr>
          <p:cNvSpPr/>
          <p:nvPr/>
        </p:nvSpPr>
        <p:spPr>
          <a:xfrm>
            <a:off x="2450676" y="477358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38843718-0BBC-AB15-F117-DB606CDF1919}"/>
              </a:ext>
            </a:extLst>
          </p:cNvPr>
          <p:cNvSpPr/>
          <p:nvPr/>
        </p:nvSpPr>
        <p:spPr>
          <a:xfrm>
            <a:off x="4384300" y="4800492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6AD24471-D16C-D280-BE7C-2CC2577919EB}"/>
              </a:ext>
            </a:extLst>
          </p:cNvPr>
          <p:cNvSpPr/>
          <p:nvPr/>
        </p:nvSpPr>
        <p:spPr>
          <a:xfrm>
            <a:off x="2693378" y="4384964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D0D0300-54E7-EBCB-CEEE-D4052B1A84E8}"/>
              </a:ext>
            </a:extLst>
          </p:cNvPr>
          <p:cNvSpPr/>
          <p:nvPr/>
        </p:nvSpPr>
        <p:spPr>
          <a:xfrm>
            <a:off x="2804845" y="443068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66C81B94-7B44-EB18-6D96-8719BE37C35D}"/>
              </a:ext>
            </a:extLst>
          </p:cNvPr>
          <p:cNvSpPr/>
          <p:nvPr/>
        </p:nvSpPr>
        <p:spPr>
          <a:xfrm>
            <a:off x="4634408" y="4388858"/>
            <a:ext cx="1720689" cy="77724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FD878-758E-85D3-9F63-5C4CC94C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772F99-6B79-FFA3-F443-98F1DCEDE1B2}"/>
              </a:ext>
            </a:extLst>
          </p:cNvPr>
          <p:cNvSpPr txBox="1"/>
          <p:nvPr/>
        </p:nvSpPr>
        <p:spPr>
          <a:xfrm>
            <a:off x="570853" y="1700605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10636E8-6E00-DFA4-E20B-368906A85D75}"/>
              </a:ext>
            </a:extLst>
          </p:cNvPr>
          <p:cNvSpPr/>
          <p:nvPr/>
        </p:nvSpPr>
        <p:spPr>
          <a:xfrm>
            <a:off x="752348" y="4384964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212B339-91AD-BAC9-1790-CD79D9172E1F}"/>
              </a:ext>
            </a:extLst>
          </p:cNvPr>
          <p:cNvSpPr/>
          <p:nvPr/>
        </p:nvSpPr>
        <p:spPr>
          <a:xfrm>
            <a:off x="858313" y="4445493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6F32A0F-9351-5FBD-3196-9A4F18341C54}"/>
              </a:ext>
            </a:extLst>
          </p:cNvPr>
          <p:cNvSpPr/>
          <p:nvPr/>
        </p:nvSpPr>
        <p:spPr>
          <a:xfrm>
            <a:off x="4737616" y="443068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510C552-9274-55F5-6C3F-557A35780C2F}"/>
              </a:ext>
            </a:extLst>
          </p:cNvPr>
          <p:cNvSpPr/>
          <p:nvPr/>
        </p:nvSpPr>
        <p:spPr>
          <a:xfrm>
            <a:off x="2779206" y="523520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92997831-3D74-B4AA-93DA-301041E66C77}"/>
              </a:ext>
            </a:extLst>
          </p:cNvPr>
          <p:cNvSpPr/>
          <p:nvPr/>
        </p:nvSpPr>
        <p:spPr>
          <a:xfrm>
            <a:off x="4809606" y="522043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A4F8F6A-1272-7A89-5FDB-AD85BA2069E3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F658ED9E-294D-3165-A181-7BD0C2BE35CC}"/>
              </a:ext>
            </a:extLst>
          </p:cNvPr>
          <p:cNvSpPr/>
          <p:nvPr/>
        </p:nvSpPr>
        <p:spPr>
          <a:xfrm>
            <a:off x="6713905" y="51850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ACFB10D1-6388-E0B7-57BD-ECD66B2ECE66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B0E8E145-04A7-C518-12AA-800D0FF6C66C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DCE8D2CC-3002-9CBE-9678-DB49DE5BBB2A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20ED80A0-92FC-D71E-B3D7-FFC37F48989E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096189C5-86E9-3E8E-8157-F5BF65795673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6C3CB940-2FC8-A30B-C9F3-07623654510A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2157A3A6-508E-BD20-1FBC-BB3221514F29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23BB2CFD-043D-43C4-2A56-85DEC10AAAF8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BADED580-A136-B94F-604A-6601A7A24C79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59D0B890-9594-ACC4-D420-5056859FD360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635AC25E-1F59-148B-D447-BCFBECEBD33D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ED3575-77FD-C067-2C0B-E6722615C582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130021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4A536-FB4C-8895-C65D-93D8CE17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1">
            <a:extLst>
              <a:ext uri="{FF2B5EF4-FFF2-40B4-BE49-F238E27FC236}">
                <a16:creationId xmlns:a16="http://schemas.microsoft.com/office/drawing/2014/main" id="{43C359F2-1359-327C-D996-84540BFC74E4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b="1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0415E44-C489-F9CF-A5CA-AD0E6C05D75B}"/>
              </a:ext>
            </a:extLst>
          </p:cNvPr>
          <p:cNvSpPr/>
          <p:nvPr/>
        </p:nvSpPr>
        <p:spPr>
          <a:xfrm>
            <a:off x="849999" y="2264956"/>
            <a:ext cx="7575416" cy="2394483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F5B55A-138B-3783-492A-BCD5EFACA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547099"/>
              </p:ext>
            </p:extLst>
          </p:nvPr>
        </p:nvGraphicFramePr>
        <p:xfrm>
          <a:off x="1162250" y="2379717"/>
          <a:ext cx="6660028" cy="209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007">
                  <a:extLst>
                    <a:ext uri="{9D8B030D-6E8A-4147-A177-3AD203B41FA5}">
                      <a16:colId xmlns:a16="http://schemas.microsoft.com/office/drawing/2014/main" val="819847346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1859125530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2380311273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4021272459"/>
                    </a:ext>
                  </a:extLst>
                </a:gridCol>
              </a:tblGrid>
              <a:tr h="349370"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723399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857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161016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9514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89140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907651"/>
                  </a:ext>
                </a:extLst>
              </a:tr>
            </a:tbl>
          </a:graphicData>
        </a:graphic>
      </p:graphicFrame>
      <p:sp>
        <p:nvSpPr>
          <p:cNvPr id="11" name="Shape 12">
            <a:extLst>
              <a:ext uri="{FF2B5EF4-FFF2-40B4-BE49-F238E27FC236}">
                <a16:creationId xmlns:a16="http://schemas.microsoft.com/office/drawing/2014/main" id="{94E51D01-C307-4272-894F-D16C629410DC}"/>
              </a:ext>
            </a:extLst>
          </p:cNvPr>
          <p:cNvSpPr/>
          <p:nvPr/>
        </p:nvSpPr>
        <p:spPr>
          <a:xfrm>
            <a:off x="6301641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849FDA8-6E80-988D-E724-6BE29FC94428}"/>
              </a:ext>
            </a:extLst>
          </p:cNvPr>
          <p:cNvSpPr/>
          <p:nvPr/>
        </p:nvSpPr>
        <p:spPr>
          <a:xfrm>
            <a:off x="6567125" y="4983481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B4EA6A86-8559-5215-64FA-2C650F201242}"/>
              </a:ext>
            </a:extLst>
          </p:cNvPr>
          <p:cNvSpPr/>
          <p:nvPr/>
        </p:nvSpPr>
        <p:spPr>
          <a:xfrm>
            <a:off x="6650728" y="502686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4EF047F-0388-D91D-E2CF-DA5ED41F7AF3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20B8B05-77C0-1227-6AF2-D8C9C90CCC89}"/>
              </a:ext>
            </a:extLst>
          </p:cNvPr>
          <p:cNvSpPr/>
          <p:nvPr/>
        </p:nvSpPr>
        <p:spPr>
          <a:xfrm>
            <a:off x="4375987" y="5399009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F68F847-2D21-8C6D-F7BC-AE1BB5247862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C07240A-BBF9-EBFE-EB2A-38AA71D1DBFD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281EE4E4-8E6B-3EDC-7A91-630DD8764136}"/>
              </a:ext>
            </a:extLst>
          </p:cNvPr>
          <p:cNvSpPr/>
          <p:nvPr/>
        </p:nvSpPr>
        <p:spPr>
          <a:xfrm>
            <a:off x="4626095" y="4987375"/>
            <a:ext cx="1720689" cy="77724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781AC-06AE-A10D-93D5-BB8CED8E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00F719-C377-C4E9-1A0E-D636ACFC176D}"/>
              </a:ext>
            </a:extLst>
          </p:cNvPr>
          <p:cNvSpPr txBox="1"/>
          <p:nvPr/>
        </p:nvSpPr>
        <p:spPr>
          <a:xfrm>
            <a:off x="552881" y="1003191"/>
            <a:ext cx="7661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9AAC6D6-F4F5-4B18-0064-490C38F4F88C}"/>
              </a:ext>
            </a:extLst>
          </p:cNvPr>
          <p:cNvSpPr/>
          <p:nvPr/>
        </p:nvSpPr>
        <p:spPr>
          <a:xfrm>
            <a:off x="1210999" y="2320730"/>
            <a:ext cx="7263166" cy="2375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b="1" dirty="0"/>
              <a:t>    </a:t>
            </a:r>
            <a:r>
              <a:rPr lang="en-US" sz="1400" b="1" dirty="0" err="1"/>
              <a:t>Farm_CODE</a:t>
            </a:r>
            <a:r>
              <a:rPr lang="en-US" sz="1400" dirty="0"/>
              <a:t> 	   </a:t>
            </a:r>
            <a:r>
              <a:rPr lang="en-US" sz="1400" b="1" dirty="0" err="1"/>
              <a:t>Animal_ID</a:t>
            </a:r>
            <a:r>
              <a:rPr lang="en-US" sz="1400" dirty="0"/>
              <a:t> 	       </a:t>
            </a:r>
            <a:r>
              <a:rPr lang="en-US" sz="1400" b="1" dirty="0" err="1"/>
              <a:t>dtt</a:t>
            </a:r>
            <a:r>
              <a:rPr lang="en-US" sz="1400" dirty="0"/>
              <a:t>	                </a:t>
            </a:r>
            <a:r>
              <a:rPr lang="en-US" sz="1400" b="1" dirty="0" err="1"/>
              <a:t>milk_kg</a:t>
            </a:r>
            <a:endParaRPr lang="en-US" sz="1400" dirty="0"/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/>
              <a:t>          521513               IT003990057639	2013-06-04	   6.8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/>
              <a:t>          521513               IT003990057639	2013-07-02	   8.0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/>
              <a:t>          521513               IT003990057639  	2013-09-03	   7.8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/>
              <a:t>          521513               IT003990057639 	2013-10-02 	   8.2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/>
              <a:t>          521513               IT003990057639 	2013-11-04 	   5.2</a:t>
            </a:r>
          </a:p>
          <a:p>
            <a:pPr marL="0" indent="0" algn="ctr">
              <a:lnSpc>
                <a:spcPct val="150000"/>
              </a:lnSpc>
              <a:spcAft>
                <a:spcPts val="300"/>
              </a:spcAft>
              <a:buNone/>
            </a:pPr>
            <a:endParaRPr lang="en-US" sz="1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B26F10C2-9E33-3464-394A-C696B02AF80B}"/>
              </a:ext>
            </a:extLst>
          </p:cNvPr>
          <p:cNvSpPr/>
          <p:nvPr/>
        </p:nvSpPr>
        <p:spPr>
          <a:xfrm>
            <a:off x="4729303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9FC554E6-155B-3550-6FED-06017441212D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B893CD2-AF99-C7DB-B5E6-F644D534B903}"/>
              </a:ext>
            </a:extLst>
          </p:cNvPr>
          <p:cNvSpPr/>
          <p:nvPr/>
        </p:nvSpPr>
        <p:spPr>
          <a:xfrm>
            <a:off x="4801293" y="58189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77A9B0AD-67CF-2307-0365-761918B93C4E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7BBCF906-A78B-BC28-C9BB-0E4298C1BE9C}"/>
              </a:ext>
            </a:extLst>
          </p:cNvPr>
          <p:cNvSpPr/>
          <p:nvPr/>
        </p:nvSpPr>
        <p:spPr>
          <a:xfrm>
            <a:off x="6705592" y="5783581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EF74896F-E3CC-F25A-36D2-EA46DB3D9465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67C840AA-CCD9-1297-DB36-EDB0CBE45B17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25A7C470-C44D-4AF3-62BE-00847ED0D9DA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52D5B7D1-5C2E-D6D4-924E-BEDB5D80B262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A437CF0C-C3A5-F959-D1B3-EFA9895479C8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C922BFFC-C2A9-D232-5DB8-89B70494E550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61521D88-F75A-D8AA-28E0-5EEDF6D0109D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6C564B89-104D-1FAB-ABBD-5FEF9F7FD0AA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8BEF9318-ED98-7C08-A2A1-FBA93956FD6C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880B25BD-F73E-9757-CB6D-5D1C47F65231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2FADF0F5-C5AB-E918-62DA-1B80B103DADC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1A1960-1FC9-4144-C0E4-DEA2B9DE2D81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CCCA9F0-E6F5-AE59-9BFE-CD8E0593D78A}"/>
              </a:ext>
            </a:extLst>
          </p:cNvPr>
          <p:cNvSpPr/>
          <p:nvPr/>
        </p:nvSpPr>
        <p:spPr>
          <a:xfrm rot="16200000">
            <a:off x="7380149" y="3084927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1851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30"/>
                            </p:stCondLst>
                            <p:childTnLst>
                              <p:par>
                                <p:cTn id="1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65"/>
                            </p:stCondLst>
                            <p:childTnLst>
                              <p:par>
                                <p:cTn id="2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75"/>
                            </p:stCondLst>
                            <p:childTnLst>
                              <p:par>
                                <p:cTn id="33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85"/>
                            </p:stCondLst>
                            <p:childTnLst>
                              <p:par>
                                <p:cTn id="41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995"/>
                            </p:stCondLst>
                            <p:childTnLst>
                              <p:par>
                                <p:cTn id="4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5"/>
                            </p:stCondLst>
                            <p:childTnLst>
                              <p:par>
                                <p:cTn id="5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0892-DEA7-A19B-7A58-75B9F65B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5">
            <a:extLst>
              <a:ext uri="{FF2B5EF4-FFF2-40B4-BE49-F238E27FC236}">
                <a16:creationId xmlns:a16="http://schemas.microsoft.com/office/drawing/2014/main" id="{8E865A42-5CB0-4C6A-32F6-97CA80AF119F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FAC90158-23C5-DD5C-07B8-604D0FAA0BFD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5D3D6794-9305-8A26-09E6-477B63C54294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01F7F5CD-DA18-4601-4C88-E7FE7643AA0D}"/>
              </a:ext>
            </a:extLst>
          </p:cNvPr>
          <p:cNvSpPr/>
          <p:nvPr/>
        </p:nvSpPr>
        <p:spPr>
          <a:xfrm>
            <a:off x="896323" y="2101712"/>
            <a:ext cx="7674886" cy="2556271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1E05107-1638-E2FD-25F0-27E1C7DA68B0}"/>
              </a:ext>
            </a:extLst>
          </p:cNvPr>
          <p:cNvGraphicFramePr>
            <a:graphicFrameLocks noGrp="1"/>
          </p:cNvGraphicFramePr>
          <p:nvPr/>
        </p:nvGraphicFramePr>
        <p:xfrm>
          <a:off x="1162250" y="2379717"/>
          <a:ext cx="6660028" cy="209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007">
                  <a:extLst>
                    <a:ext uri="{9D8B030D-6E8A-4147-A177-3AD203B41FA5}">
                      <a16:colId xmlns:a16="http://schemas.microsoft.com/office/drawing/2014/main" val="819847346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1859125530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2380311273"/>
                    </a:ext>
                  </a:extLst>
                </a:gridCol>
                <a:gridCol w="1665007">
                  <a:extLst>
                    <a:ext uri="{9D8B030D-6E8A-4147-A177-3AD203B41FA5}">
                      <a16:colId xmlns:a16="http://schemas.microsoft.com/office/drawing/2014/main" val="4021272459"/>
                    </a:ext>
                  </a:extLst>
                </a:gridCol>
              </a:tblGrid>
              <a:tr h="349370"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723399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857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161016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9514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891400"/>
                  </a:ext>
                </a:extLst>
              </a:tr>
              <a:tr h="349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907651"/>
                  </a:ext>
                </a:extLst>
              </a:tr>
            </a:tbl>
          </a:graphicData>
        </a:graphic>
      </p:graphicFrame>
      <p:sp>
        <p:nvSpPr>
          <p:cNvPr id="11" name="Shape 12">
            <a:extLst>
              <a:ext uri="{FF2B5EF4-FFF2-40B4-BE49-F238E27FC236}">
                <a16:creationId xmlns:a16="http://schemas.microsoft.com/office/drawing/2014/main" id="{62F68954-82FE-2F0F-02F8-929A25DFA7FA}"/>
              </a:ext>
            </a:extLst>
          </p:cNvPr>
          <p:cNvSpPr/>
          <p:nvPr/>
        </p:nvSpPr>
        <p:spPr>
          <a:xfrm>
            <a:off x="6301641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9FD9A891-5D8F-9025-F6FA-F1E4FFCB83F5}"/>
              </a:ext>
            </a:extLst>
          </p:cNvPr>
          <p:cNvSpPr/>
          <p:nvPr/>
        </p:nvSpPr>
        <p:spPr>
          <a:xfrm>
            <a:off x="6567125" y="4983481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845A680-4B1C-4158-2CCB-7FAC79FB2A8A}"/>
              </a:ext>
            </a:extLst>
          </p:cNvPr>
          <p:cNvSpPr/>
          <p:nvPr/>
        </p:nvSpPr>
        <p:spPr>
          <a:xfrm>
            <a:off x="6650728" y="502686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A9ADCCD-B3A0-22D5-3FC3-FF7F83C0A64B}"/>
              </a:ext>
            </a:extLst>
          </p:cNvPr>
          <p:cNvSpPr/>
          <p:nvPr/>
        </p:nvSpPr>
        <p:spPr>
          <a:xfrm>
            <a:off x="4705840" y="5407321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58B894E-5BEB-EC92-C6BA-702C5EEB5960}"/>
              </a:ext>
            </a:extLst>
          </p:cNvPr>
          <p:cNvSpPr/>
          <p:nvPr/>
        </p:nvSpPr>
        <p:spPr>
          <a:xfrm>
            <a:off x="4626095" y="4987375"/>
            <a:ext cx="1720689" cy="77724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2EDB8-46A2-2419-BAAD-1DB10AF3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81B4C5-B2F6-9B1A-174B-B25F3100D898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C9CF9B9-760B-BB14-AB17-51896ECA954A}"/>
              </a:ext>
            </a:extLst>
          </p:cNvPr>
          <p:cNvSpPr/>
          <p:nvPr/>
        </p:nvSpPr>
        <p:spPr>
          <a:xfrm>
            <a:off x="1210999" y="2320730"/>
            <a:ext cx="7263166" cy="2375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    </a:t>
            </a:r>
            <a:r>
              <a:rPr lang="en-US" sz="1400" b="1" dirty="0" err="1">
                <a:solidFill>
                  <a:schemeClr val="bg1"/>
                </a:solidFill>
              </a:rPr>
              <a:t>Farm_CODE</a:t>
            </a:r>
            <a:r>
              <a:rPr lang="en-US" sz="1400" dirty="0">
                <a:solidFill>
                  <a:schemeClr val="bg1"/>
                </a:solidFill>
              </a:rPr>
              <a:t> 	   </a:t>
            </a:r>
            <a:r>
              <a:rPr lang="en-US" sz="1400" b="1" dirty="0" err="1">
                <a:solidFill>
                  <a:schemeClr val="bg1"/>
                </a:solidFill>
              </a:rPr>
              <a:t>Animal_ID</a:t>
            </a:r>
            <a:r>
              <a:rPr lang="en-US" sz="1400" dirty="0">
                <a:solidFill>
                  <a:schemeClr val="bg1"/>
                </a:solidFill>
              </a:rPr>
              <a:t> 	       </a:t>
            </a:r>
            <a:r>
              <a:rPr lang="en-US" sz="1400" b="1" dirty="0" err="1">
                <a:solidFill>
                  <a:schemeClr val="bg1"/>
                </a:solidFill>
              </a:rPr>
              <a:t>dtt</a:t>
            </a:r>
            <a:r>
              <a:rPr lang="en-US" sz="1400" dirty="0">
                <a:solidFill>
                  <a:schemeClr val="bg1"/>
                </a:solidFill>
              </a:rPr>
              <a:t>	                </a:t>
            </a:r>
            <a:r>
              <a:rPr lang="en-US" sz="1400" b="1" dirty="0" err="1">
                <a:solidFill>
                  <a:schemeClr val="bg1"/>
                </a:solidFill>
              </a:rPr>
              <a:t>milk_kg</a:t>
            </a:r>
            <a:endParaRPr lang="en-US" sz="1400" dirty="0">
              <a:solidFill>
                <a:schemeClr val="bg1"/>
              </a:solidFill>
            </a:endParaRP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          521513               IT003990057639	2013-06-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01</a:t>
            </a:r>
            <a:r>
              <a:rPr lang="en-US" sz="1400" dirty="0">
                <a:solidFill>
                  <a:schemeClr val="bg1"/>
                </a:solidFill>
              </a:rPr>
              <a:t>	   6.8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          521513               IT003990057639	2013-07-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01</a:t>
            </a:r>
            <a:r>
              <a:rPr lang="en-US" sz="1400" dirty="0">
                <a:solidFill>
                  <a:schemeClr val="bg1"/>
                </a:solidFill>
              </a:rPr>
              <a:t>	   8.0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          521513               IT003990057639  	2013-09-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01</a:t>
            </a:r>
            <a:r>
              <a:rPr lang="en-US" sz="1400" dirty="0">
                <a:solidFill>
                  <a:schemeClr val="bg1"/>
                </a:solidFill>
              </a:rPr>
              <a:t>	   7.8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          521513               IT003990057639 	2013-10-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01 </a:t>
            </a:r>
            <a:r>
              <a:rPr lang="en-US" sz="1400" dirty="0">
                <a:solidFill>
                  <a:schemeClr val="bg1"/>
                </a:solidFill>
              </a:rPr>
              <a:t>	   8.2</a:t>
            </a:r>
          </a:p>
          <a:p>
            <a:pPr fontAlgn="t"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          521513               IT003990057639 	2013-11-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01</a:t>
            </a:r>
            <a:r>
              <a:rPr lang="en-US" sz="1400" dirty="0">
                <a:solidFill>
                  <a:schemeClr val="bg1"/>
                </a:solidFill>
              </a:rPr>
              <a:t>	 	   5.2</a:t>
            </a:r>
          </a:p>
          <a:p>
            <a:pPr marL="0" indent="0" algn="ctr">
              <a:lnSpc>
                <a:spcPct val="150000"/>
              </a:lnSpc>
              <a:spcAft>
                <a:spcPts val="300"/>
              </a:spcAft>
              <a:buNone/>
            </a:pPr>
            <a:endParaRPr lang="en-US" sz="11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4B5DB258-FBBC-1FED-F31C-5FD3AE1D2103}"/>
              </a:ext>
            </a:extLst>
          </p:cNvPr>
          <p:cNvSpPr/>
          <p:nvPr/>
        </p:nvSpPr>
        <p:spPr>
          <a:xfrm>
            <a:off x="4729303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95C03D0F-5B0B-8117-FAD4-87A7EE71A0CC}"/>
              </a:ext>
            </a:extLst>
          </p:cNvPr>
          <p:cNvSpPr/>
          <p:nvPr/>
        </p:nvSpPr>
        <p:spPr>
          <a:xfrm>
            <a:off x="4801293" y="58189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75C686F0-18A7-A287-0007-60D42C8C6E73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820970EA-0527-D239-7B16-6DA7A6C0347D}"/>
              </a:ext>
            </a:extLst>
          </p:cNvPr>
          <p:cNvSpPr/>
          <p:nvPr/>
        </p:nvSpPr>
        <p:spPr>
          <a:xfrm>
            <a:off x="6705592" y="5783581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D9293E07-14AD-8A6D-45D2-E203A89BB3E6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5D4C7F47-404C-B04B-76F1-B528D8A3C051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DFFB9EAA-1FA5-D2C3-EDB3-136D24189BC7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0F6DE7F0-9FAB-F6F6-342D-CA9721EDCB43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9B411C8-B775-05B3-4C0D-A840E0262316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A569B4DF-7969-8481-B8F4-FF63BD139E1E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79224343-2419-B7D6-85B5-CE54DF2EAF90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58085217-2F6E-D2C8-C3D3-29C5C3881F1C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A85C4106-FCF8-9824-ADF2-0B5DFA54649D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7D37A1BA-6960-C201-8735-DF094BFC2849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351FC6-9173-AE99-898D-E33899C8D924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5EED343-A6E3-7B20-C166-1A6526DEA8C7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FED525F-A024-86E8-FBAD-7B56CEDB9049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5FDE58A-ABC3-A82B-5056-BBC3292F9B46}"/>
              </a:ext>
            </a:extLst>
          </p:cNvPr>
          <p:cNvSpPr/>
          <p:nvPr/>
        </p:nvSpPr>
        <p:spPr>
          <a:xfrm rot="16200000">
            <a:off x="7456519" y="298732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</p:spTree>
    <p:extLst>
      <p:ext uri="{BB962C8B-B14F-4D97-AF65-F5344CB8AC3E}">
        <p14:creationId xmlns:p14="http://schemas.microsoft.com/office/powerpoint/2010/main" val="164322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30"/>
                            </p:stCondLst>
                            <p:childTnLst>
                              <p:par>
                                <p:cTn id="1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65"/>
                            </p:stCondLst>
                            <p:childTnLst>
                              <p:par>
                                <p:cTn id="2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75"/>
                            </p:stCondLst>
                            <p:childTnLst>
                              <p:par>
                                <p:cTn id="33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85"/>
                            </p:stCondLst>
                            <p:childTnLst>
                              <p:par>
                                <p:cTn id="41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995"/>
                            </p:stCondLst>
                            <p:childTnLst>
                              <p:par>
                                <p:cTn id="4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5"/>
                            </p:stCondLst>
                            <p:childTnLst>
                              <p:par>
                                <p:cTn id="5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4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" decel="50000" autoRev="1" fill="hold">
                                          <p:stCondLst>
                                            <p:cond delay="1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" fill="hold">
                                          <p:stCondLst>
                                            <p:cond delay="2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82A4-CA73-AB2C-B05C-7153D675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5">
            <a:extLst>
              <a:ext uri="{FF2B5EF4-FFF2-40B4-BE49-F238E27FC236}">
                <a16:creationId xmlns:a16="http://schemas.microsoft.com/office/drawing/2014/main" id="{D7A8D621-1498-65FE-1564-56249B7AC39D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219C55CD-212A-E2E2-FB54-49F65F3B2201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07B0362-85EF-6772-F5BB-581989682CEF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7C86726B-4C63-F809-E9CB-46E7BA3B5C01}"/>
              </a:ext>
            </a:extLst>
          </p:cNvPr>
          <p:cNvSpPr/>
          <p:nvPr/>
        </p:nvSpPr>
        <p:spPr>
          <a:xfrm>
            <a:off x="6567125" y="4983481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9A9D8295-70B1-815C-B888-4CF99691DA25}"/>
              </a:ext>
            </a:extLst>
          </p:cNvPr>
          <p:cNvSpPr/>
          <p:nvPr/>
        </p:nvSpPr>
        <p:spPr>
          <a:xfrm>
            <a:off x="6650728" y="502686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72523804-B427-8B17-8BC5-7E3F8C15BA2D}"/>
              </a:ext>
            </a:extLst>
          </p:cNvPr>
          <p:cNvSpPr/>
          <p:nvPr/>
        </p:nvSpPr>
        <p:spPr>
          <a:xfrm>
            <a:off x="1400858" y="2101712"/>
            <a:ext cx="6341062" cy="2702432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369DB-D837-8288-2BC9-B75CB041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C9EADD-F9E0-4B5C-3D0B-4643160C9EC2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902BAD7-134A-87BD-71E2-E45F86AC885E}"/>
              </a:ext>
            </a:extLst>
          </p:cNvPr>
          <p:cNvSpPr/>
          <p:nvPr/>
        </p:nvSpPr>
        <p:spPr>
          <a:xfrm>
            <a:off x="4729303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09F4845D-177E-0C9B-3177-A83C9FE38F37}"/>
              </a:ext>
            </a:extLst>
          </p:cNvPr>
          <p:cNvSpPr/>
          <p:nvPr/>
        </p:nvSpPr>
        <p:spPr>
          <a:xfrm>
            <a:off x="4801293" y="58189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6482870-05D3-FE00-BC40-E88975537803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FA7CB98-70C9-9F94-1D74-F9DE881710AD}"/>
              </a:ext>
            </a:extLst>
          </p:cNvPr>
          <p:cNvSpPr/>
          <p:nvPr/>
        </p:nvSpPr>
        <p:spPr>
          <a:xfrm>
            <a:off x="6705592" y="5783581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B5240EA8-02C1-3A1F-A9A6-985EE09F1D78}"/>
              </a:ext>
            </a:extLst>
          </p:cNvPr>
          <p:cNvSpPr/>
          <p:nvPr/>
        </p:nvSpPr>
        <p:spPr>
          <a:xfrm>
            <a:off x="1793050" y="2256020"/>
            <a:ext cx="5257219" cy="2402957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AFAEC2F1-CA94-546F-5EE0-5174EA6A9F29}"/>
              </a:ext>
            </a:extLst>
          </p:cNvPr>
          <p:cNvSpPr/>
          <p:nvPr/>
        </p:nvSpPr>
        <p:spPr>
          <a:xfrm>
            <a:off x="1785520" y="2256020"/>
            <a:ext cx="393501" cy="2402957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6C31816E-CDC3-1CAA-B2A2-DB7FAE9E6BD0}"/>
              </a:ext>
            </a:extLst>
          </p:cNvPr>
          <p:cNvSpPr/>
          <p:nvPr/>
        </p:nvSpPr>
        <p:spPr>
          <a:xfrm>
            <a:off x="1785520" y="2130834"/>
            <a:ext cx="630287" cy="66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B83340F0-EDD7-7497-8FD0-2565882DCEE9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6795660C-A3DF-D916-5825-0FA6BEBDC12B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1C6FDF79-EE1C-DF58-DAA2-F342A1804D9F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47978BA7-68F7-4D22-7332-2CAA82AEFEE7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3429F027-A235-4647-A2B4-6DE7CD996E40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97665CC3-FF1E-8BBD-0AE2-2DC9ADCFEBC1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0A49F05A-9A76-AC5D-5230-538614B4B6D4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C5E396-D5A6-99E4-4542-436ED9320B8D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465A4A9-5F16-4E22-8A65-EB55AB8B3308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B7E4710-F017-57A2-E03B-2376113F9F2E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843A5EE-E732-5A28-076F-51D45E64D03E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A0F0731-C222-B86F-78ED-98E7BDE88A34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2F61903-33DF-542C-2B4D-EB82B8B3D255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D3014A81-9E00-E69C-4699-966937AE26A5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B46BFE5B-0B3A-FCDB-1410-A70C3D0FAD2B}"/>
              </a:ext>
            </a:extLst>
          </p:cNvPr>
          <p:cNvSpPr/>
          <p:nvPr/>
        </p:nvSpPr>
        <p:spPr>
          <a:xfrm>
            <a:off x="2429455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85A9AF-796E-EE4F-B5AB-07AC248986EC}"/>
              </a:ext>
            </a:extLst>
          </p:cNvPr>
          <p:cNvGrpSpPr/>
          <p:nvPr/>
        </p:nvGrpSpPr>
        <p:grpSpPr>
          <a:xfrm>
            <a:off x="2182651" y="2247863"/>
            <a:ext cx="4935332" cy="2411114"/>
            <a:chOff x="1631793" y="2321792"/>
            <a:chExt cx="4962747" cy="258871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B8292D5-5793-C465-4F4B-BFDBA8478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3438"/>
            <a:stretch>
              <a:fillRect/>
            </a:stretch>
          </p:blipFill>
          <p:spPr>
            <a:xfrm>
              <a:off x="1631794" y="2321792"/>
              <a:ext cx="4962746" cy="85333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A95F884-6C6F-86AF-9B35-FE57E9C71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1794" y="3169229"/>
              <a:ext cx="4962746" cy="32263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01F8DB-F274-E29A-4BFB-E7A4990A9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1793" y="3474901"/>
              <a:ext cx="4962746" cy="1435607"/>
            </a:xfrm>
            <a:prstGeom prst="rect">
              <a:avLst/>
            </a:prstGeom>
          </p:spPr>
        </p:pic>
      </p:grpSp>
      <p:sp>
        <p:nvSpPr>
          <p:cNvPr id="29" name="Shape 22">
            <a:extLst>
              <a:ext uri="{FF2B5EF4-FFF2-40B4-BE49-F238E27FC236}">
                <a16:creationId xmlns:a16="http://schemas.microsoft.com/office/drawing/2014/main" id="{F5190D70-0F70-B90B-13A3-B5A83689C764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532FDAA7-653C-A184-3B9B-422EC952DA2F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9155D194-7825-25C1-CC3B-9FC5AB7A3247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5F95FB-5BF8-99DC-583C-FA6E7EA5C6A2}"/>
              </a:ext>
            </a:extLst>
          </p:cNvPr>
          <p:cNvSpPr txBox="1"/>
          <p:nvPr/>
        </p:nvSpPr>
        <p:spPr>
          <a:xfrm rot="16200000">
            <a:off x="6539687" y="3058311"/>
            <a:ext cx="1840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</p:spTree>
    <p:extLst>
      <p:ext uri="{BB962C8B-B14F-4D97-AF65-F5344CB8AC3E}">
        <p14:creationId xmlns:p14="http://schemas.microsoft.com/office/powerpoint/2010/main" val="306620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F8BEE-6EFE-BF75-1804-4BBD714A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1">
            <a:extLst>
              <a:ext uri="{FF2B5EF4-FFF2-40B4-BE49-F238E27FC236}">
                <a16:creationId xmlns:a16="http://schemas.microsoft.com/office/drawing/2014/main" id="{075A79B3-3196-F3B4-A38C-E5927A529BE6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DF7AE2F0-849C-AD38-22E1-70C9FB79C035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E43D94A-FACD-47F2-3C15-E445DFF55F0D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03AB42D-ADD0-9A12-22F4-96F4EB5072DA}"/>
              </a:ext>
            </a:extLst>
          </p:cNvPr>
          <p:cNvSpPr/>
          <p:nvPr/>
        </p:nvSpPr>
        <p:spPr>
          <a:xfrm>
            <a:off x="6567125" y="4983481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CCB0E73-9D3B-9E4E-5AD2-418D101B2442}"/>
              </a:ext>
            </a:extLst>
          </p:cNvPr>
          <p:cNvSpPr/>
          <p:nvPr/>
        </p:nvSpPr>
        <p:spPr>
          <a:xfrm>
            <a:off x="6650728" y="502686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31DFF885-ACAB-ECAA-8086-1053451B87C3}"/>
              </a:ext>
            </a:extLst>
          </p:cNvPr>
          <p:cNvSpPr/>
          <p:nvPr/>
        </p:nvSpPr>
        <p:spPr>
          <a:xfrm>
            <a:off x="1400858" y="2101712"/>
            <a:ext cx="6695864" cy="2702432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8497F-B8FB-BE46-C66E-42B89A80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092C0A-0F94-9488-6BE3-DDA67BFB8223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3390E8A-CD64-4A69-595F-DCBE6D3B5C0B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84176D1F-0EFD-2088-5F77-C1FF00419AC2}"/>
              </a:ext>
            </a:extLst>
          </p:cNvPr>
          <p:cNvSpPr/>
          <p:nvPr/>
        </p:nvSpPr>
        <p:spPr>
          <a:xfrm>
            <a:off x="6705592" y="5783581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CCB5FCBE-D98E-C843-ED98-616F235F0086}"/>
              </a:ext>
            </a:extLst>
          </p:cNvPr>
          <p:cNvSpPr/>
          <p:nvPr/>
        </p:nvSpPr>
        <p:spPr>
          <a:xfrm>
            <a:off x="1793050" y="2256020"/>
            <a:ext cx="5257219" cy="2402957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F6C5B73A-DA4D-EF1A-8249-956CD3DEA153}"/>
              </a:ext>
            </a:extLst>
          </p:cNvPr>
          <p:cNvSpPr/>
          <p:nvPr/>
        </p:nvSpPr>
        <p:spPr>
          <a:xfrm>
            <a:off x="1785520" y="2256020"/>
            <a:ext cx="393501" cy="2402957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C1474022-E1DF-022A-B4FD-727F5B67E94C}"/>
              </a:ext>
            </a:extLst>
          </p:cNvPr>
          <p:cNvSpPr/>
          <p:nvPr/>
        </p:nvSpPr>
        <p:spPr>
          <a:xfrm>
            <a:off x="1785520" y="2130834"/>
            <a:ext cx="630287" cy="66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A78133E5-4363-1090-08FE-871DADDCC5E0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4A8F0FC0-8950-61FB-1953-9ED0C6E3DC1D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2C92105D-2709-3F43-018F-9BC3BD50DBE5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4E374DA9-4E8C-1276-427B-1D3C4AA80A20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CF28B5-B837-14D1-4091-BD61317DB321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E01FA52-D5A4-88AC-DE9D-59EEA75E244A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6C92757-C67A-C257-DC53-CB91FDAC3473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C235E1C-56E6-7FD1-C513-700C27DD0F8E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D9D3FCF-6446-8A25-20EE-4EA11BD75752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EB2849D-22AF-408C-A459-8F0FDF95B6E1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454172E1-1F8E-1C4F-1CBF-F90AD576C156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F7AE0AEB-3BA0-A066-3B9F-2EF814F72B28}"/>
              </a:ext>
            </a:extLst>
          </p:cNvPr>
          <p:cNvSpPr/>
          <p:nvPr/>
        </p:nvSpPr>
        <p:spPr>
          <a:xfrm>
            <a:off x="2429455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F3FF6E4-824A-1D21-D63D-BCFE96AA27C4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83BF407C-0C84-2635-1074-CA8B57B066A3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E36E333-0EF8-4619-8461-943FAFAF6E19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715A90-50C7-132A-B8DB-AB02B30A737E}"/>
              </a:ext>
            </a:extLst>
          </p:cNvPr>
          <p:cNvGrpSpPr/>
          <p:nvPr/>
        </p:nvGrpSpPr>
        <p:grpSpPr>
          <a:xfrm>
            <a:off x="2179021" y="2236170"/>
            <a:ext cx="5231629" cy="2436207"/>
            <a:chOff x="2179021" y="2264956"/>
            <a:chExt cx="5399276" cy="1722001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17024AA-E8D1-9E53-7174-F0C200C4D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8382"/>
            <a:stretch>
              <a:fillRect/>
            </a:stretch>
          </p:blipFill>
          <p:spPr>
            <a:xfrm>
              <a:off x="2179021" y="2264957"/>
              <a:ext cx="5119339" cy="17220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385BF8F-8C55-9796-2F7A-031731D5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8382"/>
            <a:stretch>
              <a:fillRect/>
            </a:stretch>
          </p:blipFill>
          <p:spPr>
            <a:xfrm>
              <a:off x="7294182" y="2264956"/>
              <a:ext cx="284115" cy="1722000"/>
            </a:xfrm>
            <a:prstGeom prst="rect">
              <a:avLst/>
            </a:prstGeom>
          </p:spPr>
        </p:pic>
      </p:grpSp>
      <p:sp>
        <p:nvSpPr>
          <p:cNvPr id="58" name="Shape 26">
            <a:extLst>
              <a:ext uri="{FF2B5EF4-FFF2-40B4-BE49-F238E27FC236}">
                <a16:creationId xmlns:a16="http://schemas.microsoft.com/office/drawing/2014/main" id="{901269DD-9EF1-5CAB-1C12-24DBCCFD5625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2D983F95-6E9E-6C66-A902-190860241AC0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725F0B58-D1C1-3935-2B25-C6D3EA7A6A33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7277F8-F13B-FD67-3844-3F374A5ACB73}"/>
              </a:ext>
            </a:extLst>
          </p:cNvPr>
          <p:cNvSpPr txBox="1"/>
          <p:nvPr/>
        </p:nvSpPr>
        <p:spPr>
          <a:xfrm rot="16200000">
            <a:off x="6830350" y="3058311"/>
            <a:ext cx="1840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</p:spTree>
    <p:extLst>
      <p:ext uri="{BB962C8B-B14F-4D97-AF65-F5344CB8AC3E}">
        <p14:creationId xmlns:p14="http://schemas.microsoft.com/office/powerpoint/2010/main" val="4279036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01D6-AAFC-CA2F-E7BD-418D074E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5">
            <a:extLst>
              <a:ext uri="{FF2B5EF4-FFF2-40B4-BE49-F238E27FC236}">
                <a16:creationId xmlns:a16="http://schemas.microsoft.com/office/drawing/2014/main" id="{9BA59A41-71CB-295E-524D-12DC7463E139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D39A96BD-5D26-3347-6036-225552FE66CC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A8AA8E6-2678-02B5-E80A-4914B8BCCBA0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8775292-FD83-188C-87F6-5E5A66E7C49D}"/>
              </a:ext>
            </a:extLst>
          </p:cNvPr>
          <p:cNvSpPr/>
          <p:nvPr/>
        </p:nvSpPr>
        <p:spPr>
          <a:xfrm>
            <a:off x="6567125" y="4983481"/>
            <a:ext cx="1720689" cy="777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8223882B-DCF8-62DF-6B61-663A887D8149}"/>
              </a:ext>
            </a:extLst>
          </p:cNvPr>
          <p:cNvSpPr/>
          <p:nvPr/>
        </p:nvSpPr>
        <p:spPr>
          <a:xfrm>
            <a:off x="6650728" y="502686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3F786092-1458-A91C-C6BB-39C2FE2E28A7}"/>
              </a:ext>
            </a:extLst>
          </p:cNvPr>
          <p:cNvSpPr/>
          <p:nvPr/>
        </p:nvSpPr>
        <p:spPr>
          <a:xfrm>
            <a:off x="2639950" y="2089478"/>
            <a:ext cx="4268542" cy="2702432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38AB4-DE4C-643A-12EC-E8351F98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A6BBCB-BF13-AA70-1DD4-8235A06E37BC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FCB568-23E4-BE51-5C0A-DE4CD5D0C4CD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A4BFAA48-3AF5-301F-31F2-7D7196280DC1}"/>
              </a:ext>
            </a:extLst>
          </p:cNvPr>
          <p:cNvSpPr/>
          <p:nvPr/>
        </p:nvSpPr>
        <p:spPr>
          <a:xfrm>
            <a:off x="6705592" y="5783581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Plot</a:t>
            </a: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AD15BF2F-5EFB-4CED-113A-A993FE3FC8F3}"/>
              </a:ext>
            </a:extLst>
          </p:cNvPr>
          <p:cNvSpPr/>
          <p:nvPr/>
        </p:nvSpPr>
        <p:spPr>
          <a:xfrm>
            <a:off x="3024612" y="2243786"/>
            <a:ext cx="393501" cy="2391431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77AD7182-E2E8-7CD8-39CE-7CEC0169DD8C}"/>
              </a:ext>
            </a:extLst>
          </p:cNvPr>
          <p:cNvSpPr/>
          <p:nvPr/>
        </p:nvSpPr>
        <p:spPr>
          <a:xfrm>
            <a:off x="3024612" y="2118600"/>
            <a:ext cx="630287" cy="66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Tags</a:t>
            </a:r>
            <a:endParaRPr lang="en-US" sz="1400" dirty="0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139AB634-282A-CE94-CFE9-A9572AA1AF9C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0818A4AF-6D31-F629-BE6E-9F4980A8D5C3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8263DB26-EF0B-4239-EA2E-844DF8A468C8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82FD2F73-B212-B4DF-9C23-F0460AEB069D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9F232C-9738-387E-0479-211CFB0A16FA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ED283DB-8149-8269-D1B6-9829644E358C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3FDDB5E-0160-E760-F4EE-8E7744A8D7D5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3E13397-C61C-A73D-EB5E-10E8281BC86D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154D9CA-997A-DAFD-D1CD-77702D5D0FF1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0C40FDD-6815-6F37-0E7B-47120BCB8C31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C528B190-AE98-6B59-C8C9-B3E8BECD0A50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D8D3FEC-0966-484E-E9C0-D61D15F5F2D8}"/>
              </a:ext>
            </a:extLst>
          </p:cNvPr>
          <p:cNvSpPr/>
          <p:nvPr/>
        </p:nvSpPr>
        <p:spPr>
          <a:xfrm>
            <a:off x="2429455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001F50F-0DFC-DC72-CA0F-A18BB04D7A62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4E7B4DE-849C-F5FF-A75E-F9332A095BAF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C4DD8C67-8EE7-AA6B-7469-6C1384F484F9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D0919-9762-A745-A855-14DB4DB67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13" y="2243786"/>
            <a:ext cx="2766359" cy="2391431"/>
          </a:xfrm>
          <a:prstGeom prst="rect">
            <a:avLst/>
          </a:prstGeom>
        </p:spPr>
      </p:pic>
      <p:sp>
        <p:nvSpPr>
          <p:cNvPr id="14" name="Shape 26">
            <a:extLst>
              <a:ext uri="{FF2B5EF4-FFF2-40B4-BE49-F238E27FC236}">
                <a16:creationId xmlns:a16="http://schemas.microsoft.com/office/drawing/2014/main" id="{22FD6C1E-BF7D-43CC-4526-D727EE4E977D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9EE2F77E-0E06-65E8-8508-1A5F88AABCE4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5D2E49BB-D69F-7477-9CD8-54DDCC1DB5A5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D26AA-3D3A-91C8-6B70-01716F8FEFF7}"/>
              </a:ext>
            </a:extLst>
          </p:cNvPr>
          <p:cNvSpPr txBox="1"/>
          <p:nvPr/>
        </p:nvSpPr>
        <p:spPr>
          <a:xfrm rot="16200000">
            <a:off x="5657688" y="3051685"/>
            <a:ext cx="1840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</p:spTree>
    <p:extLst>
      <p:ext uri="{BB962C8B-B14F-4D97-AF65-F5344CB8AC3E}">
        <p14:creationId xmlns:p14="http://schemas.microsoft.com/office/powerpoint/2010/main" val="3193067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8532-ED80-8A3A-B3DE-CE620CE3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9">
            <a:extLst>
              <a:ext uri="{FF2B5EF4-FFF2-40B4-BE49-F238E27FC236}">
                <a16:creationId xmlns:a16="http://schemas.microsoft.com/office/drawing/2014/main" id="{21F7E3D5-B81F-39F5-C267-2E7A54B9F9CA}"/>
              </a:ext>
            </a:extLst>
          </p:cNvPr>
          <p:cNvSpPr/>
          <p:nvPr/>
        </p:nvSpPr>
        <p:spPr>
          <a:xfrm>
            <a:off x="4350448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D351A9E9-8FFE-0CA5-193F-DC9EFA59FE24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25">
            <a:extLst>
              <a:ext uri="{FF2B5EF4-FFF2-40B4-BE49-F238E27FC236}">
                <a16:creationId xmlns:a16="http://schemas.microsoft.com/office/drawing/2014/main" id="{D9EFFC74-5564-9AF4-3720-EE700AAF6824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4B008515-F697-54DF-5690-F28BB853A5E2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172F716-8594-7225-AE46-2F3B656DAAB8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87D8A14F-A97B-DB1B-6A0E-3E28F45B67A5}"/>
              </a:ext>
            </a:extLst>
          </p:cNvPr>
          <p:cNvSpPr/>
          <p:nvPr/>
        </p:nvSpPr>
        <p:spPr>
          <a:xfrm>
            <a:off x="1872609" y="2101712"/>
            <a:ext cx="5549271" cy="27446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5A583BDF-E598-153A-3EA9-7AF5A3960967}"/>
              </a:ext>
            </a:extLst>
          </p:cNvPr>
          <p:cNvSpPr/>
          <p:nvPr/>
        </p:nvSpPr>
        <p:spPr>
          <a:xfrm rot="16200000">
            <a:off x="6407199" y="308210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01AF-9E9D-7F56-7E1C-7A9B3948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DBAC88-522F-970B-ED04-DF1C4D6DF8D8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2FB467F-9596-AF28-6632-2655281D0C26}"/>
              </a:ext>
            </a:extLst>
          </p:cNvPr>
          <p:cNvSpPr/>
          <p:nvPr/>
        </p:nvSpPr>
        <p:spPr>
          <a:xfrm>
            <a:off x="4801293" y="58189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DB985D22-8B71-A05B-4AC2-A001BD8B0C2C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9354B893-361E-9735-6F2C-A99BE06C4D1E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D473D36C-3753-72AD-D989-730708641CA8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89D54FC9-7610-5A2A-906A-DCB22DBADFF1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9BA381-B561-B162-A03C-385BD1678474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01ECCFC-00AA-CEDB-D95B-E88A56E3A71D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5EE8183-F3E2-9E5F-9998-ECFEA23FB1CC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C80DF59A-75F3-1CF9-6352-8B2094CDF253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E1B969D-79F7-3D08-3DA4-695F32B83FAA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CA2FB68-D393-325E-928A-E5FD34FE0B3D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6D5166C5-0BA2-32F6-D3B2-35C438F31E2A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F25DC1B-6D85-FE76-4A05-BA3EB4C35CC7}"/>
              </a:ext>
            </a:extLst>
          </p:cNvPr>
          <p:cNvSpPr/>
          <p:nvPr/>
        </p:nvSpPr>
        <p:spPr>
          <a:xfrm>
            <a:off x="2429455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4465E71-5EBA-21FD-EF63-8D35B0058954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92B7E82B-4089-44A9-38EB-47A76B8A17F5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D2CFB34F-73AF-641C-4D87-FE7417B3E5BF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D6F83AD6-37D2-B313-DC93-C50FDAE8E7BA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619F9DC8-4F56-ED88-8C64-BD886F741691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5A44C977-C45D-3FE5-25F4-E99B61E59BD3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049EC842-BB76-936D-5914-98D81433A2E4}"/>
              </a:ext>
            </a:extLst>
          </p:cNvPr>
          <p:cNvSpPr/>
          <p:nvPr/>
        </p:nvSpPr>
        <p:spPr>
          <a:xfrm>
            <a:off x="4626095" y="4987375"/>
            <a:ext cx="1720689" cy="77724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28ABBA18-6A74-E748-F71C-37DE07F0810E}"/>
              </a:ext>
            </a:extLst>
          </p:cNvPr>
          <p:cNvSpPr/>
          <p:nvPr/>
        </p:nvSpPr>
        <p:spPr>
          <a:xfrm>
            <a:off x="4729303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DC0ED0-6CBE-133D-632A-45C7AC8BE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044" y="2250276"/>
            <a:ext cx="4571142" cy="24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4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B1C2-E629-E895-A1F3-AEA42199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9">
            <a:extLst>
              <a:ext uri="{FF2B5EF4-FFF2-40B4-BE49-F238E27FC236}">
                <a16:creationId xmlns:a16="http://schemas.microsoft.com/office/drawing/2014/main" id="{70167BE2-5C14-601E-0C65-DFDBAD3B72AB}"/>
              </a:ext>
            </a:extLst>
          </p:cNvPr>
          <p:cNvSpPr/>
          <p:nvPr/>
        </p:nvSpPr>
        <p:spPr>
          <a:xfrm>
            <a:off x="9088201" y="3671942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25">
            <a:extLst>
              <a:ext uri="{FF2B5EF4-FFF2-40B4-BE49-F238E27FC236}">
                <a16:creationId xmlns:a16="http://schemas.microsoft.com/office/drawing/2014/main" id="{F46558A3-FC06-A180-A715-4C7C26D87450}"/>
              </a:ext>
            </a:extLst>
          </p:cNvPr>
          <p:cNvSpPr/>
          <p:nvPr/>
        </p:nvSpPr>
        <p:spPr>
          <a:xfrm>
            <a:off x="9088201" y="2535121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F6A1AA4-A2E9-E657-D205-F2B2638042F7}"/>
              </a:ext>
            </a:extLst>
          </p:cNvPr>
          <p:cNvSpPr/>
          <p:nvPr/>
        </p:nvSpPr>
        <p:spPr>
          <a:xfrm>
            <a:off x="9088201" y="1396276"/>
            <a:ext cx="1840568" cy="1051560"/>
          </a:xfrm>
          <a:prstGeom prst="rect">
            <a:avLst/>
          </a:prstGeom>
          <a:solidFill>
            <a:srgbClr val="F8FA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3C1CF8E-884E-6620-C98E-8DA0477BB68E}"/>
              </a:ext>
            </a:extLst>
          </p:cNvPr>
          <p:cNvSpPr/>
          <p:nvPr/>
        </p:nvSpPr>
        <p:spPr>
          <a:xfrm>
            <a:off x="2049150" y="5352204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281FFAD7-345E-6615-6A06-F4A143DCCDD5}"/>
              </a:ext>
            </a:extLst>
          </p:cNvPr>
          <p:cNvSpPr/>
          <p:nvPr/>
        </p:nvSpPr>
        <p:spPr>
          <a:xfrm>
            <a:off x="1872609" y="2101712"/>
            <a:ext cx="5549271" cy="27446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CE2A0D1-5F03-1FC4-EF23-3423A2AD56AD}"/>
              </a:ext>
            </a:extLst>
          </p:cNvPr>
          <p:cNvSpPr/>
          <p:nvPr/>
        </p:nvSpPr>
        <p:spPr>
          <a:xfrm rot="16200000">
            <a:off x="6407199" y="308210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Visualise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0EE87-6FF2-4FF3-9383-1840C4DF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What This Stage Does?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DFF7A7-357F-7AA1-684E-F2A42B5818A6}"/>
              </a:ext>
            </a:extLst>
          </p:cNvPr>
          <p:cNvSpPr txBox="1"/>
          <p:nvPr/>
        </p:nvSpPr>
        <p:spPr>
          <a:xfrm>
            <a:off x="552881" y="1003191"/>
            <a:ext cx="8146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key outputs produced: </a:t>
            </a:r>
            <a:r>
              <a:rPr lang="en-US" dirty="0" err="1"/>
              <a:t>Y_df</a:t>
            </a:r>
            <a:r>
              <a:rPr lang="en-US" dirty="0"/>
              <a:t>, </a:t>
            </a:r>
            <a:r>
              <a:rPr lang="en-US" dirty="0" err="1"/>
              <a:t>S_df</a:t>
            </a:r>
            <a:r>
              <a:rPr lang="en-US" dirty="0"/>
              <a:t>,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outputs saved to parquet / JSON for the forecasting stage</a:t>
            </a: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AC035A7C-FED5-E514-D8FF-BDF001B98427}"/>
              </a:ext>
            </a:extLst>
          </p:cNvPr>
          <p:cNvSpPr/>
          <p:nvPr/>
        </p:nvSpPr>
        <p:spPr>
          <a:xfrm>
            <a:off x="4801293" y="58189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cs typeface="Poppins" pitchFamily="2" charset="77"/>
              </a:rPr>
              <a:t>Y_df · S_df · tags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B64D214C-319B-F312-DE7B-ED948AF2200F}"/>
              </a:ext>
            </a:extLst>
          </p:cNvPr>
          <p:cNvSpPr/>
          <p:nvPr/>
        </p:nvSpPr>
        <p:spPr>
          <a:xfrm>
            <a:off x="9042480" y="326664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AA92C9BA-6746-3413-425A-35E901128079}"/>
              </a:ext>
            </a:extLst>
          </p:cNvPr>
          <p:cNvSpPr/>
          <p:nvPr/>
        </p:nvSpPr>
        <p:spPr>
          <a:xfrm>
            <a:off x="9088200" y="367396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F010EF08-AA77-9855-CC80-5C40070A5DB3}"/>
              </a:ext>
            </a:extLst>
          </p:cNvPr>
          <p:cNvSpPr/>
          <p:nvPr/>
        </p:nvSpPr>
        <p:spPr>
          <a:xfrm>
            <a:off x="9313110" y="3727737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8371EED0-CFB9-3581-133B-A044B9A115CD}"/>
              </a:ext>
            </a:extLst>
          </p:cNvPr>
          <p:cNvSpPr/>
          <p:nvPr/>
        </p:nvSpPr>
        <p:spPr>
          <a:xfrm>
            <a:off x="9319412" y="4089395"/>
            <a:ext cx="11380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→ series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EA834A-D2C0-4DBF-BB1A-4F93AA6E6654}"/>
              </a:ext>
            </a:extLst>
          </p:cNvPr>
          <p:cNvSpPr txBox="1"/>
          <p:nvPr/>
        </p:nvSpPr>
        <p:spPr>
          <a:xfrm>
            <a:off x="9425900" y="779482"/>
            <a:ext cx="14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A87942D-0899-9563-10CE-78F4240E70B4}"/>
              </a:ext>
            </a:extLst>
          </p:cNvPr>
          <p:cNvSpPr/>
          <p:nvPr/>
        </p:nvSpPr>
        <p:spPr>
          <a:xfrm>
            <a:off x="744035" y="4982026"/>
            <a:ext cx="1720689" cy="7772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723A571-85F7-8263-B5BB-78815B9FCDB6}"/>
              </a:ext>
            </a:extLst>
          </p:cNvPr>
          <p:cNvSpPr/>
          <p:nvPr/>
        </p:nvSpPr>
        <p:spPr>
          <a:xfrm>
            <a:off x="850000" y="5042555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Raw Data</a:t>
            </a:r>
            <a:endParaRPr lang="en-US" sz="1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72A2D710-4104-7985-6800-F779D6DB362A}"/>
              </a:ext>
            </a:extLst>
          </p:cNvPr>
          <p:cNvSpPr/>
          <p:nvPr/>
        </p:nvSpPr>
        <p:spPr>
          <a:xfrm>
            <a:off x="2732954" y="538691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D92C00B-9197-25FD-8646-68C27597F46C}"/>
              </a:ext>
            </a:extLst>
          </p:cNvPr>
          <p:cNvSpPr/>
          <p:nvPr/>
        </p:nvSpPr>
        <p:spPr>
          <a:xfrm>
            <a:off x="2685065" y="4983481"/>
            <a:ext cx="1720689" cy="777240"/>
          </a:xfrm>
          <a:prstGeom prst="roundRect">
            <a:avLst/>
          </a:prstGeom>
          <a:solidFill>
            <a:srgbClr val="3B6FD4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346BDF5-544F-BD2A-C8FB-53BAE7553405}"/>
              </a:ext>
            </a:extLst>
          </p:cNvPr>
          <p:cNvSpPr/>
          <p:nvPr/>
        </p:nvSpPr>
        <p:spPr>
          <a:xfrm>
            <a:off x="2796532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Monthly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Resample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D45B6E8A-3A1A-B8E4-F680-3D3308CA1B47}"/>
              </a:ext>
            </a:extLst>
          </p:cNvPr>
          <p:cNvSpPr/>
          <p:nvPr/>
        </p:nvSpPr>
        <p:spPr>
          <a:xfrm>
            <a:off x="2770893" y="58337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6FD4"/>
                </a:solidFill>
                <a:latin typeface="Poppins" pitchFamily="2" charset="77"/>
                <a:ea typeface="Calibri" pitchFamily="34" charset="-122"/>
                <a:cs typeface="Poppins" pitchFamily="2" charset="77"/>
              </a:rPr>
              <a:t>df_monthly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841EFFA8-880A-E4BC-D52E-C939CA204005}"/>
              </a:ext>
            </a:extLst>
          </p:cNvPr>
          <p:cNvSpPr/>
          <p:nvPr/>
        </p:nvSpPr>
        <p:spPr>
          <a:xfrm>
            <a:off x="2429455" y="5374070"/>
            <a:ext cx="279854" cy="6650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9E7C329-9FED-0301-C163-215AD3B49F85}"/>
              </a:ext>
            </a:extLst>
          </p:cNvPr>
          <p:cNvSpPr/>
          <p:nvPr/>
        </p:nvSpPr>
        <p:spPr>
          <a:xfrm>
            <a:off x="9088200" y="1396276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DBAC7ECD-AB7A-ED83-BCEA-E942732BA16D}"/>
              </a:ext>
            </a:extLst>
          </p:cNvPr>
          <p:cNvSpPr/>
          <p:nvPr/>
        </p:nvSpPr>
        <p:spPr>
          <a:xfrm>
            <a:off x="9325112" y="1464856"/>
            <a:ext cx="672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Y_df</a:t>
            </a:r>
            <a:endParaRPr lang="en-US" sz="14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D066FEE-1101-5E7A-4193-392E08655D11}"/>
              </a:ext>
            </a:extLst>
          </p:cNvPr>
          <p:cNvSpPr/>
          <p:nvPr/>
        </p:nvSpPr>
        <p:spPr>
          <a:xfrm>
            <a:off x="9357360" y="1853476"/>
            <a:ext cx="12579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Long-format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× all dates</a:t>
            </a:r>
            <a:endParaRPr lang="en-US" sz="1000" dirty="0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15092218-B853-D23F-2D8A-720383CD0015}"/>
              </a:ext>
            </a:extLst>
          </p:cNvPr>
          <p:cNvSpPr/>
          <p:nvPr/>
        </p:nvSpPr>
        <p:spPr>
          <a:xfrm>
            <a:off x="9088200" y="2535121"/>
            <a:ext cx="60960" cy="1051560"/>
          </a:xfrm>
          <a:prstGeom prst="rect">
            <a:avLst/>
          </a:prstGeom>
          <a:solidFill>
            <a:srgbClr val="80AF9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D767F525-48BC-344E-48EE-BA99555073B8}"/>
              </a:ext>
            </a:extLst>
          </p:cNvPr>
          <p:cNvSpPr/>
          <p:nvPr/>
        </p:nvSpPr>
        <p:spPr>
          <a:xfrm>
            <a:off x="9319412" y="2579829"/>
            <a:ext cx="5753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S_df</a:t>
            </a:r>
            <a:endParaRPr lang="en-US" sz="14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A995B80E-095F-005C-6196-1ED934BBF6FC}"/>
              </a:ext>
            </a:extLst>
          </p:cNvPr>
          <p:cNvSpPr/>
          <p:nvPr/>
        </p:nvSpPr>
        <p:spPr>
          <a:xfrm>
            <a:off x="9319412" y="2945589"/>
            <a:ext cx="1231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n_series × n_bottom</a:t>
            </a:r>
            <a:endParaRPr lang="en-US" sz="10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A33AC29F-4613-41D7-AE53-BA5BF7FE1063}"/>
              </a:ext>
            </a:extLst>
          </p:cNvPr>
          <p:cNvSpPr/>
          <p:nvPr/>
        </p:nvSpPr>
        <p:spPr>
          <a:xfrm>
            <a:off x="4626095" y="4987375"/>
            <a:ext cx="1720689" cy="777240"/>
          </a:xfrm>
          <a:prstGeom prst="roundRect">
            <a:avLst/>
          </a:prstGeom>
          <a:solidFill>
            <a:srgbClr val="00B0F0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1DB70D68-818B-59B3-021D-02FBE5D6CC80}"/>
              </a:ext>
            </a:extLst>
          </p:cNvPr>
          <p:cNvSpPr/>
          <p:nvPr/>
        </p:nvSpPr>
        <p:spPr>
          <a:xfrm>
            <a:off x="4729303" y="5029201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Hierarchy</a:t>
            </a:r>
          </a:p>
          <a:p>
            <a:pPr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Construct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C963ED-AE63-8C96-FEF6-27FF218A9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" y="-17217"/>
            <a:ext cx="12180189" cy="62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9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FB832-0727-39D9-AF44-CEF0FCB0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A63394D-DC6E-B52A-1E93-DD394B6E4F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Correlation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0B113-9C76-C425-9963-5E6AC7983C3D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67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446E-84E8-49B7-27EF-275D9E82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D767-169A-D0B8-7957-FE8CC48C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Correlation </a:t>
            </a:r>
            <a:r>
              <a:rPr lang="en-US" sz="3200" dirty="0" err="1"/>
              <a:t>HeatMap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3BE41-58B2-CB6F-0353-CD55C9FB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913" y="8093"/>
            <a:ext cx="7062019" cy="6202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ADE25-A9AE-0449-9AAB-2DDEFF19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14" y="1337702"/>
            <a:ext cx="3910814" cy="1921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2D79B3-9F83-1685-6B92-73DDA6DD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13" y="3251590"/>
            <a:ext cx="3910813" cy="195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81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A00C-C2F6-C3BA-CB8C-79E2EF81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3FA2-C154-7DA7-F295-F47DC360B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Correlation </a:t>
            </a:r>
            <a:r>
              <a:rPr lang="en-US" sz="3200" dirty="0" err="1"/>
              <a:t>HeatMap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C961D-753A-04AF-C460-6EFFBD92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2" t="86429" r="9705" b="-43"/>
          <a:stretch>
            <a:fillRect/>
          </a:stretch>
        </p:blipFill>
        <p:spPr>
          <a:xfrm>
            <a:off x="333037" y="3986281"/>
            <a:ext cx="11525926" cy="1595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FF248-FDF0-4474-9A47-1A5D8CD79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01" y="1276455"/>
            <a:ext cx="3910814" cy="1921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A28632-1B40-7841-6513-787685DD9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292" y="1276455"/>
            <a:ext cx="3910813" cy="195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0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8453-6EAD-E46A-30DC-C6085B53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75A5EED-870E-4D99-2D2E-D1D38BC6A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FA5FE9-E117-4AFD-C1B4-0521EF71D1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BDFE6-577D-28B6-C3AB-96C270AB6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68DC29-694F-D7B8-8DE5-8B14BC409FFE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53D0-BB9C-A482-E5B7-989E96A45641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11F971-9757-D85C-BB51-34BE7B2D807F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5BD78BC-A553-BBA7-3124-064E6A1872C8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11227986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ito template_ITA" id="{B4DE900A-7F1E-FB4B-BE2A-0D4B6B8B958A}" vid="{413DD7D1-C3E5-6A4B-BFB7-237394F1067C}"/>
    </a:ext>
  </a:extLst>
</a:theme>
</file>

<file path=ppt/theme/theme2.xml><?xml version="1.0" encoding="utf-8"?>
<a:theme xmlns:a="http://schemas.openxmlformats.org/drawingml/2006/main" name="CONTENUTI 1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olito template_ITA" id="{B4DE900A-7F1E-FB4B-BE2A-0D4B6B8B958A}" vid="{A7BD8485-1F4D-B940-AD4F-9A9144EBD7DF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4CAB1AA5B43F4D9AAF01BADE0E3A4F" ma:contentTypeVersion="8" ma:contentTypeDescription="Creare un nuovo documento." ma:contentTypeScope="" ma:versionID="59c7fa7676cd10170f585e95f6181454">
  <xsd:schema xmlns:xsd="http://www.w3.org/2001/XMLSchema" xmlns:xs="http://www.w3.org/2001/XMLSchema" xmlns:p="http://schemas.microsoft.com/office/2006/metadata/properties" xmlns:ns2="ee8ce87a-fc1e-415b-8f19-964dc6e332da" targetNamespace="http://schemas.microsoft.com/office/2006/metadata/properties" ma:root="true" ma:fieldsID="e3f9aa92bd1d0291e55783ad41e7d77e" ns2:_="">
    <xsd:import namespace="ee8ce87a-fc1e-415b-8f19-964dc6e33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ce87a-fc1e-415b-8f19-964dc6e33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F9F511-3832-4B05-91B3-5180D7ACFDC9}">
  <ds:schemaRefs>
    <ds:schemaRef ds:uri="http://purl.org/dc/terms/"/>
    <ds:schemaRef ds:uri="ee8ce87a-fc1e-415b-8f19-964dc6e332da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46FE114-0C58-4EEA-8876-F3C08EF0B5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4A7BA3-74A2-491B-AF81-6CB1FF0218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8ce87a-fc1e-415b-8f19-964dc6e332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COPERTINE</Template>
  <TotalTime>79739</TotalTime>
  <Words>1562</Words>
  <Application>Microsoft Macintosh PowerPoint</Application>
  <PresentationFormat>Widescreen</PresentationFormat>
  <Paragraphs>367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Aptos</vt:lpstr>
      <vt:lpstr>Poppins</vt:lpstr>
      <vt:lpstr>Poppins Medium</vt:lpstr>
      <vt:lpstr>COPERTINE</vt:lpstr>
      <vt:lpstr>CONTENUTI 1 _ titoli blu</vt:lpstr>
      <vt:lpstr>PowerPoint Presentation</vt:lpstr>
      <vt:lpstr>PowerPoint Presentation</vt:lpstr>
      <vt:lpstr>Dataset Overview &amp; Base Variables</vt:lpstr>
      <vt:lpstr>Dataset Overview &amp; Base Variables</vt:lpstr>
      <vt:lpstr>PowerPoint Presentation</vt:lpstr>
      <vt:lpstr>Feature Engineering</vt:lpstr>
      <vt:lpstr>Feature Engineering</vt:lpstr>
      <vt:lpstr>Data Loss Impact by Filter Type</vt:lpstr>
      <vt:lpstr>Adjusting AFC Filter</vt:lpstr>
      <vt:lpstr>Adjusting AFC Filter</vt:lpstr>
      <vt:lpstr>Adjusting AFC Filter</vt:lpstr>
      <vt:lpstr>PowerPoint Presentation</vt:lpstr>
      <vt:lpstr>Dataset Overview &amp; Base Variables</vt:lpstr>
      <vt:lpstr>PowerPoint Presentation</vt:lpstr>
      <vt:lpstr>Weather Data</vt:lpstr>
      <vt:lpstr>Additional Features</vt:lpstr>
      <vt:lpstr>PowerPoint Presentation</vt:lpstr>
      <vt:lpstr>Merged Data</vt:lpstr>
      <vt:lpstr>PowerPoint Presentation</vt:lpstr>
      <vt:lpstr>Our Case Representation in HTS</vt:lpstr>
      <vt:lpstr>What This Stage Does?</vt:lpstr>
      <vt:lpstr>What This Stage Does?</vt:lpstr>
      <vt:lpstr>What This Stage Does?</vt:lpstr>
      <vt:lpstr>What This Stage Does?</vt:lpstr>
      <vt:lpstr>What This Stage Does?</vt:lpstr>
      <vt:lpstr>What This Stage Does?</vt:lpstr>
      <vt:lpstr>What This Stage Does?</vt:lpstr>
      <vt:lpstr>What This Stage Does?</vt:lpstr>
      <vt:lpstr>PowerPoint Presentation</vt:lpstr>
      <vt:lpstr>Correlation HeatMap</vt:lpstr>
      <vt:lpstr>Correlation HeatMap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Massimo Messori</dc:creator>
  <cp:lastModifiedBy>Sheikh Ahmadi Gandab  Seyed Mohammad</cp:lastModifiedBy>
  <cp:revision>40</cp:revision>
  <dcterms:created xsi:type="dcterms:W3CDTF">2024-10-30T07:55:12Z</dcterms:created>
  <dcterms:modified xsi:type="dcterms:W3CDTF">2026-05-27T15:45:32Z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0x010100AD4CAB1AA5B43F4D9AAF01BADE0E3A4F</vt:lpwstr>
  </property>
</Properties>
</file>